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1" r:id="rId1"/>
  </p:sldMasterIdLst>
  <p:notesMasterIdLst>
    <p:notesMasterId r:id="rId6"/>
  </p:notesMasterIdLst>
  <p:handoutMasterIdLst>
    <p:handoutMasterId r:id="rId7"/>
  </p:handoutMasterIdLst>
  <p:sldIdLst>
    <p:sldId id="719" r:id="rId2"/>
    <p:sldId id="722" r:id="rId3"/>
    <p:sldId id="720" r:id="rId4"/>
    <p:sldId id="721" r:id="rId5"/>
  </p:sldIdLst>
  <p:sldSz cx="9144000" cy="6858000" type="screen4x3"/>
  <p:notesSz cx="7099300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CC66FF"/>
    <a:srgbClr val="FF00FF"/>
    <a:srgbClr val="CCFFFF"/>
    <a:srgbClr val="996633"/>
    <a:srgbClr val="00FF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09" autoAdjust="0"/>
    <p:restoredTop sz="97698" autoAdjust="0"/>
  </p:normalViewPr>
  <p:slideViewPr>
    <p:cSldViewPr>
      <p:cViewPr varScale="1">
        <p:scale>
          <a:sx n="110" d="100"/>
          <a:sy n="110" d="100"/>
        </p:scale>
        <p:origin x="163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2B7E8D7-CBE4-49C7-B9E8-E312E1BA74F9}" type="datetimeFigureOut">
              <a:rPr lang="ja-JP" altLang="en-US"/>
              <a:pPr>
                <a:defRPr/>
              </a:pPr>
              <a:t>2025/1/8</a:t>
            </a:fld>
            <a:endParaRPr lang="ja-JP" alt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AA951429-0D1E-4A7F-B12C-AA1421022C25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38270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538B93C7-BEC3-44A2-B2DC-E51DA1FDF03A}" type="datetimeFigureOut">
              <a:rPr lang="ja-JP" altLang="en-US"/>
              <a:pPr>
                <a:defRPr/>
              </a:pPr>
              <a:t>2025/1/8</a:t>
            </a:fld>
            <a:endParaRPr lang="ja-JP" alt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2 レベル</a:t>
            </a:r>
          </a:p>
          <a:p>
            <a:pPr lvl="2"/>
            <a:r>
              <a:rPr lang="ja-JP" altLang="en-US" noProof="0"/>
              <a:t>第 3 レベル</a:t>
            </a:r>
          </a:p>
          <a:p>
            <a:pPr lvl="3"/>
            <a:r>
              <a:rPr lang="ja-JP" altLang="en-US" noProof="0"/>
              <a:t>第 4 レベル</a:t>
            </a:r>
          </a:p>
          <a:p>
            <a:pPr lvl="4"/>
            <a:r>
              <a:rPr lang="ja-JP" altLang="en-US" noProof="0"/>
              <a:t>第 5 レベル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7536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11F39B7-5B31-48AF-BC52-1FF16DC4A2F7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34333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alibri" pitchFamily="34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830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45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527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15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12E64-12FE-44CE-B40F-AFD0D6298A2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1337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3860BF-5BE6-4AED-AA2B-5BD62D786CB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623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027731-66D1-426A-A359-41D2303056B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0526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8AD75-D792-4D85-96E2-FECEE2D2C9A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0571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6F66E-F943-401A-AC05-801D37A7059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3407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91144-87CC-437C-A40B-44AA6D74276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6440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D9434-4DC6-4CFD-AA19-B1B274E2B8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3333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006230-0539-4B11-826E-9F6CD3F2E90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3864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01EC7-BD47-437E-8483-6824F686E8B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6747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0583DC-9300-4329-A93E-97DE4F0AD48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9908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EB7BEC-4644-41AB-A864-518E349DBF7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142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fld id="{4A793C2C-78A7-4143-AB37-87D575DE99F8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C6FF70F-74C3-4860-B3EB-4EDC4931C3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E6C749D1-39B9-43EF-8EA9-DFFB8BDC4A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86762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AF90131B-4F96-472F-A509-C9EBFAFE72DB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‹#›</a:t>
            </a:fld>
            <a:endParaRPr lang="en-US" altLang="ja-JP" sz="2400" dirty="0">
              <a:latin typeface="Tahoma" panose="020B0604030504040204" pitchFamily="34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231D8CA-8D00-4F20-9418-ED20A0DE7CD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" y="6400800"/>
            <a:ext cx="424763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93" r:id="rId1"/>
    <p:sldLayoutId id="2147487394" r:id="rId2"/>
    <p:sldLayoutId id="2147487395" r:id="rId3"/>
    <p:sldLayoutId id="2147487396" r:id="rId4"/>
    <p:sldLayoutId id="2147487397" r:id="rId5"/>
    <p:sldLayoutId id="2147487398" r:id="rId6"/>
    <p:sldLayoutId id="2147487399" r:id="rId7"/>
    <p:sldLayoutId id="2147487400" r:id="rId8"/>
    <p:sldLayoutId id="2147487401" r:id="rId9"/>
    <p:sldLayoutId id="2147487402" r:id="rId10"/>
    <p:sldLayoutId id="214748740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53975"/>
            <a:ext cx="5545137" cy="896938"/>
          </a:xfrm>
        </p:spPr>
        <p:txBody>
          <a:bodyPr/>
          <a:lstStyle/>
          <a:p>
            <a:pPr eaLnBrk="1" hangingPunct="1"/>
            <a:r>
              <a:rPr lang="en-US" altLang="ja-JP" sz="4000"/>
              <a:t>Lecture materials Table 1</a:t>
            </a:r>
            <a:endParaRPr lang="ja-JP" altLang="en-US" sz="4000">
              <a:latin typeface="Century Gothic" panose="020B0502020202020204" pitchFamily="34" charset="0"/>
            </a:endParaRPr>
          </a:p>
        </p:txBody>
      </p:sp>
      <p:sp>
        <p:nvSpPr>
          <p:cNvPr id="13319" name="Rectangle 8"/>
          <p:cNvSpPr txBox="1">
            <a:spLocks noChangeArrowheads="1"/>
          </p:cNvSpPr>
          <p:nvPr/>
        </p:nvSpPr>
        <p:spPr bwMode="auto">
          <a:xfrm>
            <a:off x="558799" y="936625"/>
            <a:ext cx="79549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Startup</a:t>
            </a:r>
            <a:r>
              <a:rPr lang="ja-JP" altLang="en-US" sz="2400" dirty="0">
                <a:solidFill>
                  <a:schemeClr val="accent2"/>
                </a:solidFill>
              </a:rPr>
              <a:t>： </a:t>
            </a:r>
            <a:r>
              <a:rPr lang="en-US" altLang="ja-JP" sz="2400" dirty="0">
                <a:solidFill>
                  <a:schemeClr val="accent2"/>
                </a:solidFill>
              </a:rPr>
              <a:t>Basic information for learning PHITS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A3DE4C9-31A0-4084-B646-9CADA98F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89075"/>
            <a:ext cx="8353425" cy="3236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BasicPhysics-en.pptx: 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ja-JP" sz="24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Phits-introduction-en.pptx: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ja-JP" sz="24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QuickReference-en.docx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endParaRPr lang="en-US" altLang="ja-JP" sz="2400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 dirty="0">
                <a:solidFill>
                  <a:schemeClr val="accent2"/>
                </a:solidFill>
              </a:rPr>
              <a:t>Terminology-en.docx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CDB6BD6-4C8E-4DAF-A792-18F0232E3A2D}"/>
              </a:ext>
            </a:extLst>
          </p:cNvPr>
          <p:cNvSpPr/>
          <p:nvPr/>
        </p:nvSpPr>
        <p:spPr>
          <a:xfrm>
            <a:off x="1115616" y="1908601"/>
            <a:ext cx="775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Basic knowledge of radiation physics used in PHITS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5D2FDF2-9C9A-4D00-BBBB-BDBA5FB6B8A5}"/>
              </a:ext>
            </a:extLst>
          </p:cNvPr>
          <p:cNvSpPr/>
          <p:nvPr/>
        </p:nvSpPr>
        <p:spPr>
          <a:xfrm>
            <a:off x="1099585" y="2780928"/>
            <a:ext cx="775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Introduction of physics models and applications of PHITS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DA4EB0C-8EA0-467C-92AB-DD629AB5D670}"/>
              </a:ext>
            </a:extLst>
          </p:cNvPr>
          <p:cNvSpPr/>
          <p:nvPr/>
        </p:nvSpPr>
        <p:spPr>
          <a:xfrm>
            <a:off x="1115616" y="3654574"/>
            <a:ext cx="7756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Quick reference for the input format of PHITS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9A7AC4-6D1B-41CB-86CD-002DD336E182}"/>
              </a:ext>
            </a:extLst>
          </p:cNvPr>
          <p:cNvSpPr/>
          <p:nvPr/>
        </p:nvSpPr>
        <p:spPr>
          <a:xfrm>
            <a:off x="1099585" y="4523043"/>
            <a:ext cx="53446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ja-JP" dirty="0"/>
              <a:t>Basic terminology used in PHITS tutorial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53975"/>
            <a:ext cx="5545137" cy="896938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Lecture materials Table 2</a:t>
            </a:r>
            <a:endParaRPr lang="ja-JP" altLang="en-US" sz="4000" dirty="0">
              <a:latin typeface="Century Gothic" panose="020B0502020202020204" pitchFamily="34" charset="0"/>
            </a:endParaRPr>
          </a:p>
        </p:txBody>
      </p:sp>
      <p:sp>
        <p:nvSpPr>
          <p:cNvPr id="13319" name="Rectangle 8"/>
          <p:cNvSpPr txBox="1">
            <a:spLocks noChangeArrowheads="1"/>
          </p:cNvSpPr>
          <p:nvPr/>
        </p:nvSpPr>
        <p:spPr bwMode="auto">
          <a:xfrm>
            <a:off x="558800" y="936625"/>
            <a:ext cx="6750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>
                <a:solidFill>
                  <a:schemeClr val="accent2"/>
                </a:solidFill>
              </a:rPr>
              <a:t>Basic</a:t>
            </a:r>
            <a:r>
              <a:rPr lang="ja-JP" altLang="en-US" sz="2400">
                <a:solidFill>
                  <a:schemeClr val="accent2"/>
                </a:solidFill>
              </a:rPr>
              <a:t>： </a:t>
            </a:r>
            <a:r>
              <a:rPr lang="en-US" altLang="ja-JP" sz="2400">
                <a:solidFill>
                  <a:schemeClr val="accent2"/>
                </a:solidFill>
              </a:rPr>
              <a:t>Basic training for how to use PHITS</a:t>
            </a:r>
          </a:p>
        </p:txBody>
      </p:sp>
      <p:sp>
        <p:nvSpPr>
          <p:cNvPr id="13320" name="Rectangle 8"/>
          <p:cNvSpPr txBox="1">
            <a:spLocks noChangeArrowheads="1"/>
          </p:cNvSpPr>
          <p:nvPr/>
        </p:nvSpPr>
        <p:spPr bwMode="auto">
          <a:xfrm>
            <a:off x="755650" y="1489075"/>
            <a:ext cx="7758113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lec01: Overview, making geometry, and setting source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lec02</a:t>
            </a:r>
            <a:r>
              <a:rPr lang="ja-JP" altLang="en-US" sz="2400"/>
              <a:t>： </a:t>
            </a:r>
            <a:r>
              <a:rPr lang="en-US" altLang="ja-JP" sz="2400"/>
              <a:t>Setting tally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lec03</a:t>
            </a:r>
            <a:r>
              <a:rPr lang="ja-JP" altLang="en-US" sz="2400"/>
              <a:t>： </a:t>
            </a:r>
            <a:r>
              <a:rPr lang="en-US" altLang="ja-JP" sz="2400"/>
              <a:t>Setting conditions of simulation (statistics, physical model, etc.)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homework</a:t>
            </a:r>
            <a:r>
              <a:rPr lang="ja-JP" altLang="en-US" sz="2400"/>
              <a:t>： </a:t>
            </a:r>
            <a:r>
              <a:rPr lang="en-US" altLang="ja-JP" sz="2400"/>
              <a:t>Sample files for homework of Basic training</a:t>
            </a:r>
          </a:p>
        </p:txBody>
      </p:sp>
      <p:sp>
        <p:nvSpPr>
          <p:cNvPr id="13321" name="Rectangle 8"/>
          <p:cNvSpPr txBox="1">
            <a:spLocks noChangeArrowheads="1"/>
          </p:cNvSpPr>
          <p:nvPr/>
        </p:nvSpPr>
        <p:spPr bwMode="auto">
          <a:xfrm>
            <a:off x="558800" y="3573463"/>
            <a:ext cx="6750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>
                <a:solidFill>
                  <a:schemeClr val="accent2"/>
                </a:solidFill>
              </a:rPr>
              <a:t>Exercise</a:t>
            </a:r>
            <a:r>
              <a:rPr lang="ja-JP" altLang="en-US" sz="2400">
                <a:solidFill>
                  <a:schemeClr val="accent2"/>
                </a:solidFill>
              </a:rPr>
              <a:t>： </a:t>
            </a:r>
            <a:r>
              <a:rPr lang="en-US" altLang="ja-JP" sz="2400">
                <a:solidFill>
                  <a:schemeClr val="accent2"/>
                </a:solidFill>
              </a:rPr>
              <a:t>Practical training</a:t>
            </a:r>
          </a:p>
        </p:txBody>
      </p:sp>
      <p:sp>
        <p:nvSpPr>
          <p:cNvPr id="13322" name="Rectangle 8"/>
          <p:cNvSpPr txBox="1">
            <a:spLocks noChangeArrowheads="1"/>
          </p:cNvSpPr>
          <p:nvPr/>
        </p:nvSpPr>
        <p:spPr bwMode="auto">
          <a:xfrm>
            <a:off x="762000" y="4005263"/>
            <a:ext cx="8202613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misc: Training using recommendation settings and useful tools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range</a:t>
            </a:r>
            <a:r>
              <a:rPr lang="ja-JP" altLang="en-US" sz="2400"/>
              <a:t>： </a:t>
            </a:r>
            <a:r>
              <a:rPr lang="en-US" altLang="ja-JP" sz="2400"/>
              <a:t>How to stop α, β, γ-rays and neutrons?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snowman</a:t>
            </a:r>
            <a:r>
              <a:rPr lang="ja-JP" altLang="en-US" sz="2400"/>
              <a:t>： </a:t>
            </a:r>
            <a:r>
              <a:rPr lang="en-US" altLang="ja-JP" sz="2400"/>
              <a:t>Melt a snowman by proton beam!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shield: Shielding exercise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ja-JP" sz="2400"/>
              <a:t>shortcourse</a:t>
            </a:r>
            <a:r>
              <a:rPr lang="ja-JP" altLang="en-US" sz="2400"/>
              <a:t>： </a:t>
            </a:r>
            <a:r>
              <a:rPr lang="en-US" altLang="ja-JP" sz="2400"/>
              <a:t>Material for short course (Japanese only)</a:t>
            </a:r>
          </a:p>
        </p:txBody>
      </p:sp>
    </p:spTree>
    <p:extLst>
      <p:ext uri="{BB962C8B-B14F-4D97-AF65-F5344CB8AC3E}">
        <p14:creationId xmlns:p14="http://schemas.microsoft.com/office/powerpoint/2010/main" val="342822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 txBox="1">
            <a:spLocks noChangeArrowheads="1"/>
          </p:cNvSpPr>
          <p:nvPr/>
        </p:nvSpPr>
        <p:spPr bwMode="auto">
          <a:xfrm>
            <a:off x="179512" y="883605"/>
            <a:ext cx="863441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Advanced</a:t>
            </a:r>
            <a:r>
              <a:rPr lang="ja-JP" altLang="en-US" sz="2400" dirty="0">
                <a:solidFill>
                  <a:schemeClr val="accent2"/>
                </a:solidFill>
              </a:rPr>
              <a:t>： </a:t>
            </a:r>
            <a:r>
              <a:rPr lang="en-US" altLang="ja-JP" sz="2400" dirty="0">
                <a:solidFill>
                  <a:schemeClr val="accent2"/>
                </a:solidFill>
              </a:rPr>
              <a:t>Used in intermediate and advanced course</a:t>
            </a:r>
          </a:p>
        </p:txBody>
      </p:sp>
      <p:sp>
        <p:nvSpPr>
          <p:cNvPr id="14343" name="正方形/長方形 4"/>
          <p:cNvSpPr>
            <a:spLocks noChangeArrowheads="1"/>
          </p:cNvSpPr>
          <p:nvPr/>
        </p:nvSpPr>
        <p:spPr bwMode="auto">
          <a:xfrm>
            <a:off x="34925" y="1436341"/>
            <a:ext cx="9059863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autorun: Automatic execution of PHITS using script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cosmicray</a:t>
            </a:r>
            <a:r>
              <a:rPr lang="en-US" altLang="ja-JP" sz="1800" dirty="0">
                <a:solidFill>
                  <a:srgbClr val="000000"/>
                </a:solidFill>
              </a:rPr>
              <a:t>: How to use cosmic-ray source mode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DCHAIN1&amp;2: How to use DCHAIN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detector: Application to detector response simulation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High-E-N-Phys: Application to high-energy nuclear physics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neutron: How to design neutron beamline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options: [transform], [magnetic field], [multiplier], [counter] sections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paraview</a:t>
            </a:r>
            <a:r>
              <a:rPr lang="en-US" altLang="ja-JP" sz="1800" dirty="0">
                <a:solidFill>
                  <a:srgbClr val="000000"/>
                </a:solidFill>
              </a:rPr>
              <a:t>: How to use 3D-visualization application </a:t>
            </a:r>
            <a:r>
              <a:rPr lang="en-US" altLang="ja-JP" sz="1800" dirty="0" err="1">
                <a:solidFill>
                  <a:srgbClr val="000000"/>
                </a:solidFill>
              </a:rPr>
              <a:t>paraview</a:t>
            </a:r>
            <a:endParaRPr lang="en-US" altLang="ja-JP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PHIG-3D: Advanced usage of PHIG-3D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script-advanced: How to make script files for automatic execution of PHITS (Japanese only)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shielding: application to shielding calculation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sourceA</a:t>
            </a:r>
            <a:r>
              <a:rPr lang="ja-JP" altLang="en-US" sz="1800" dirty="0">
                <a:solidFill>
                  <a:srgbClr val="000000"/>
                </a:solidFill>
              </a:rPr>
              <a:t>： </a:t>
            </a:r>
            <a:r>
              <a:rPr lang="en-US" altLang="ja-JP" sz="1800" dirty="0">
                <a:solidFill>
                  <a:srgbClr val="000000"/>
                </a:solidFill>
              </a:rPr>
              <a:t>Setting source with energy distribution and multi-source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 err="1">
                <a:solidFill>
                  <a:srgbClr val="000000"/>
                </a:solidFill>
              </a:rPr>
              <a:t>sourceB</a:t>
            </a:r>
            <a:r>
              <a:rPr lang="ja-JP" altLang="en-US" sz="1800" dirty="0">
                <a:solidFill>
                  <a:srgbClr val="000000"/>
                </a:solidFill>
              </a:rPr>
              <a:t>： </a:t>
            </a:r>
            <a:r>
              <a:rPr lang="en-US" altLang="ja-JP" sz="1800" dirty="0">
                <a:solidFill>
                  <a:srgbClr val="000000"/>
                </a:solidFill>
              </a:rPr>
              <a:t>2-step calculation using dump data as source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voxel</a:t>
            </a:r>
            <a:r>
              <a:rPr lang="ja-JP" altLang="en-US" sz="1800" dirty="0">
                <a:solidFill>
                  <a:srgbClr val="000000"/>
                </a:solidFill>
              </a:rPr>
              <a:t>： </a:t>
            </a:r>
            <a:r>
              <a:rPr lang="en-US" altLang="ja-JP" sz="1800" dirty="0">
                <a:solidFill>
                  <a:srgbClr val="000000"/>
                </a:solidFill>
              </a:rPr>
              <a:t>Making voxel phantom (Lattice and Universe)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uncertainty: How to evaluate statistical and systematic uncertainties (Japanese only)</a:t>
            </a: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ja-JP" sz="1800" dirty="0">
                <a:solidFill>
                  <a:srgbClr val="000000"/>
                </a:solidFill>
              </a:rPr>
              <a:t>variance-reduction: How to use variance reduction techniques</a:t>
            </a:r>
          </a:p>
        </p:txBody>
      </p:sp>
      <p:sp>
        <p:nvSpPr>
          <p:cNvPr id="1434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53975"/>
            <a:ext cx="5545137" cy="896938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Lecture materials Table 3</a:t>
            </a:r>
            <a:endParaRPr lang="ja-JP" altLang="en-US" sz="4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8"/>
          <p:cNvSpPr txBox="1">
            <a:spLocks noChangeArrowheads="1"/>
          </p:cNvSpPr>
          <p:nvPr/>
        </p:nvSpPr>
        <p:spPr bwMode="auto">
          <a:xfrm>
            <a:off x="233363" y="625475"/>
            <a:ext cx="8515101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</a:rPr>
              <a:t>Therapy</a:t>
            </a:r>
            <a:r>
              <a:rPr lang="ja-JP" altLang="en-US" sz="2400" dirty="0">
                <a:solidFill>
                  <a:schemeClr val="accent2"/>
                </a:solidFill>
              </a:rPr>
              <a:t>： </a:t>
            </a:r>
            <a:r>
              <a:rPr lang="en-US" altLang="ja-JP" sz="2400" dirty="0">
                <a:solidFill>
                  <a:schemeClr val="accent2"/>
                </a:solidFill>
              </a:rPr>
              <a:t>Exercise for medical application (mostly Japanese only)</a:t>
            </a:r>
          </a:p>
        </p:txBody>
      </p:sp>
      <p:sp>
        <p:nvSpPr>
          <p:cNvPr id="15367" name="正方形/長方形 2"/>
          <p:cNvSpPr>
            <a:spLocks noChangeArrowheads="1"/>
          </p:cNvSpPr>
          <p:nvPr/>
        </p:nvSpPr>
        <p:spPr bwMode="auto">
          <a:xfrm>
            <a:off x="76200" y="1058069"/>
            <a:ext cx="9029700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>
                <a:solidFill>
                  <a:srgbClr val="000000"/>
                </a:solidFill>
              </a:rPr>
              <a:t>Backscatter</a:t>
            </a:r>
            <a:r>
              <a:rPr lang="en-US" altLang="ja-JP" sz="2000" dirty="0">
                <a:solidFill>
                  <a:srgbClr val="000000"/>
                </a:solidFill>
              </a:rPr>
              <a:t>: Backscattering simulation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basic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>
                <a:solidFill>
                  <a:srgbClr val="000000"/>
                </a:solidFill>
              </a:rPr>
              <a:t>Basic for X-ray simulation (review of how to use PHITS)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BNCT: Boron Neutron Capture Therapy dosimetry (</a:t>
            </a:r>
            <a:r>
              <a:rPr lang="en-US" altLang="ja-JP" sz="2000" dirty="0">
                <a:solidFill>
                  <a:srgbClr val="FF0000"/>
                </a:solidFill>
              </a:rPr>
              <a:t>English version is available</a:t>
            </a:r>
            <a:r>
              <a:rPr lang="en-US" altLang="ja-JP" sz="2000" dirty="0">
                <a:solidFill>
                  <a:srgbClr val="000000"/>
                </a:solidFill>
              </a:rPr>
              <a:t>)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ElectronTherapy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>
                <a:solidFill>
                  <a:srgbClr val="000000"/>
                </a:solidFill>
              </a:rPr>
              <a:t>Simulation of  electron beam treatment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IMRT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/>
              <a:t>Intensity Modulated Radiation Therapy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Linac</a:t>
            </a:r>
            <a:r>
              <a:rPr lang="en-US" altLang="ja-JP" sz="2000" dirty="0">
                <a:solidFill>
                  <a:srgbClr val="000000"/>
                </a:solidFill>
              </a:rPr>
              <a:t>: Modeling and induced radioactivity of </a:t>
            </a:r>
            <a:r>
              <a:rPr lang="en-US" altLang="ja-JP" sz="2000" dirty="0" err="1">
                <a:solidFill>
                  <a:srgbClr val="000000"/>
                </a:solidFill>
              </a:rPr>
              <a:t>Linac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PhaseSpaceFile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>
                <a:solidFill>
                  <a:srgbClr val="000000"/>
                </a:solidFill>
              </a:rPr>
              <a:t>Simulation using IAEA Phase Space File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RidgeFilter</a:t>
            </a:r>
            <a:r>
              <a:rPr lang="en-US" altLang="ja-JP" sz="2000" dirty="0">
                <a:solidFill>
                  <a:srgbClr val="000000"/>
                </a:solidFill>
              </a:rPr>
              <a:t>: Note to make a geometry of ridge filter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TreatmentPlanning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>
                <a:solidFill>
                  <a:srgbClr val="000000"/>
                </a:solidFill>
              </a:rPr>
              <a:t>Simulation using DICOM2PHITS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VarianceReductionXray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1800" dirty="0">
                <a:solidFill>
                  <a:srgbClr val="000000"/>
                </a:solidFill>
              </a:rPr>
              <a:t>Variance reduction for medical application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>
                <a:solidFill>
                  <a:srgbClr val="000000"/>
                </a:solidFill>
              </a:rPr>
              <a:t>VMAT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/>
              <a:t>Volumetric Modulated Arc Therapy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XrayTherapy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>
                <a:solidFill>
                  <a:srgbClr val="000000"/>
                </a:solidFill>
              </a:rPr>
              <a:t>Simulation of X-ray treatment (</a:t>
            </a:r>
            <a:r>
              <a:rPr lang="en-US" altLang="ja-JP" sz="2000" dirty="0">
                <a:solidFill>
                  <a:srgbClr val="FF0000"/>
                </a:solidFill>
              </a:rPr>
              <a:t>English version is available</a:t>
            </a:r>
            <a:r>
              <a:rPr lang="en-US" altLang="ja-JP" sz="2000" dirty="0">
                <a:solidFill>
                  <a:srgbClr val="000000"/>
                </a:solidFill>
              </a:rPr>
              <a:t>)</a:t>
            </a:r>
          </a:p>
          <a:p>
            <a:pPr marL="342900" indent="-342900" eaLnBrk="1" hangingPunct="1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 err="1">
                <a:solidFill>
                  <a:srgbClr val="000000"/>
                </a:solidFill>
              </a:rPr>
              <a:t>XrayTherapyCT</a:t>
            </a:r>
            <a:r>
              <a:rPr lang="ja-JP" altLang="en-US" sz="2000" dirty="0">
                <a:solidFill>
                  <a:srgbClr val="000000"/>
                </a:solidFill>
              </a:rPr>
              <a:t>： </a:t>
            </a:r>
            <a:r>
              <a:rPr lang="en-US" altLang="ja-JP" sz="2000" dirty="0">
                <a:solidFill>
                  <a:srgbClr val="000000"/>
                </a:solidFill>
              </a:rPr>
              <a:t>CT simulation using voxel phantom</a:t>
            </a:r>
          </a:p>
        </p:txBody>
      </p:sp>
      <p:sp>
        <p:nvSpPr>
          <p:cNvPr id="15368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-60325"/>
            <a:ext cx="5545137" cy="896938"/>
          </a:xfrm>
        </p:spPr>
        <p:txBody>
          <a:bodyPr/>
          <a:lstStyle/>
          <a:p>
            <a:pPr eaLnBrk="1" hangingPunct="1"/>
            <a:r>
              <a:rPr lang="en-US" altLang="ja-JP" sz="4000" dirty="0"/>
              <a:t>Lecture materials Table 4</a:t>
            </a:r>
            <a:endParaRPr lang="ja-JP" altLang="en-US" sz="4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34127</TotalTime>
  <Words>432</Words>
  <Application>Microsoft Office PowerPoint</Application>
  <PresentationFormat>画面に合わせる (4:3)</PresentationFormat>
  <Paragraphs>58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Calibri</vt:lpstr>
      <vt:lpstr>Century Gothic</vt:lpstr>
      <vt:lpstr>Tahoma</vt:lpstr>
      <vt:lpstr>Times New Roman</vt:lpstr>
      <vt:lpstr>Wingdings</vt:lpstr>
      <vt:lpstr>5_標準デザイン</vt:lpstr>
      <vt:lpstr>Lecture materials Table 1</vt:lpstr>
      <vt:lpstr>Lecture materials Table 2</vt:lpstr>
      <vt:lpstr>Lecture materials Table 3</vt:lpstr>
      <vt:lpstr>Lecture materials Table 4</vt:lpstr>
    </vt:vector>
  </TitlesOfParts>
  <Company>だいきょーど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PHITS</dc:title>
  <dc:creator>のりひろ</dc:creator>
  <cp:lastModifiedBy>Tatsuhiko Sato</cp:lastModifiedBy>
  <cp:revision>1940</cp:revision>
  <dcterms:created xsi:type="dcterms:W3CDTF">2010-07-09T05:14:57Z</dcterms:created>
  <dcterms:modified xsi:type="dcterms:W3CDTF">2025-01-07T16:42:13Z</dcterms:modified>
</cp:coreProperties>
</file>