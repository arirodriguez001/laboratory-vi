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handoutMasterIdLst>
    <p:handoutMasterId r:id="rId26"/>
  </p:handoutMasterIdLst>
  <p:sldIdLst>
    <p:sldId id="272" r:id="rId3"/>
    <p:sldId id="284" r:id="rId4"/>
    <p:sldId id="303" r:id="rId5"/>
    <p:sldId id="256" r:id="rId6"/>
    <p:sldId id="296" r:id="rId7"/>
    <p:sldId id="285" r:id="rId8"/>
    <p:sldId id="305" r:id="rId9"/>
    <p:sldId id="304" r:id="rId10"/>
    <p:sldId id="299" r:id="rId11"/>
    <p:sldId id="286" r:id="rId12"/>
    <p:sldId id="288" r:id="rId13"/>
    <p:sldId id="279" r:id="rId14"/>
    <p:sldId id="289" r:id="rId15"/>
    <p:sldId id="300" r:id="rId16"/>
    <p:sldId id="301" r:id="rId17"/>
    <p:sldId id="290" r:id="rId18"/>
    <p:sldId id="302" r:id="rId19"/>
    <p:sldId id="297" r:id="rId20"/>
    <p:sldId id="298" r:id="rId21"/>
    <p:sldId id="293" r:id="rId22"/>
    <p:sldId id="291" r:id="rId23"/>
    <p:sldId id="292" r:id="rId24"/>
  </p:sldIdLst>
  <p:sldSz cx="10080625" cy="7559675"/>
  <p:notesSz cx="7559675" cy="106918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9FC"/>
    <a:srgbClr val="BEB76B"/>
    <a:srgbClr val="558ED5"/>
    <a:srgbClr val="4472AB"/>
    <a:srgbClr val="999356"/>
    <a:srgbClr val="B2AE9D"/>
    <a:srgbClr val="DDD9C3"/>
    <a:srgbClr val="AC7F64"/>
    <a:srgbClr val="D69E7C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45" autoAdjust="0"/>
  </p:normalViewPr>
  <p:slideViewPr>
    <p:cSldViewPr snapToGrid="0" showGuides="1">
      <p:cViewPr>
        <p:scale>
          <a:sx n="75" d="100"/>
          <a:sy n="75" d="100"/>
        </p:scale>
        <p:origin x="1536" y="1038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2"/>
          </p:nvPr>
        </p:nvSpPr>
        <p:spPr>
          <a:xfrm>
            <a:off x="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99ED169D-BEF8-4CE6-A6B6-5A034628F716}" type="slidenum">
              <a:t>‹#›</a:t>
            </a:fld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309611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 idx="2"/>
          </p:nvPr>
        </p:nvSpPr>
        <p:spPr>
          <a:xfrm>
            <a:off x="1106999" y="812520"/>
            <a:ext cx="5345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19"/>
            <a:ext cx="6047639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x-none" altLang="ja-JP"/>
          </a:p>
        </p:txBody>
      </p:sp>
      <p:sp>
        <p:nvSpPr>
          <p:cNvPr id="4" name="ヘッダー プレースホルダー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4"/>
          </p:nvPr>
        </p:nvSpPr>
        <p:spPr>
          <a:xfrm>
            <a:off x="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fld id="{F2A25022-72BD-4303-9A8F-B3671FF1EC71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9879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x-none" altLang="ja-JP" sz="2000" b="0" i="0" u="none" strike="noStrike" kern="1200">
        <a:ln>
          <a:noFill/>
        </a:ln>
        <a:latin typeface="Arial" pitchFamily="18"/>
        <a:cs typeface="Tahoma" pitchFamily="2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ln/>
        </p:spPr>
      </p:sp>
      <p:sp>
        <p:nvSpPr>
          <p:cNvPr id="10342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88324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F2A25022-72BD-4303-9A8F-B3671FF1EC71}" type="slidenum">
              <a:rPr lang="en-US" altLang="ja-JP" smtClean="0"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23406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  <p:extLst>
      <p:ext uri="{BB962C8B-B14F-4D97-AF65-F5344CB8AC3E}">
        <p14:creationId xmlns:p14="http://schemas.microsoft.com/office/powerpoint/2010/main" val="1477268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  <p:extLst>
      <p:ext uri="{BB962C8B-B14F-4D97-AF65-F5344CB8AC3E}">
        <p14:creationId xmlns:p14="http://schemas.microsoft.com/office/powerpoint/2010/main" val="1549010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  <p:extLst>
      <p:ext uri="{BB962C8B-B14F-4D97-AF65-F5344CB8AC3E}">
        <p14:creationId xmlns:p14="http://schemas.microsoft.com/office/powerpoint/2010/main" val="1757201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  <p:extLst>
      <p:ext uri="{BB962C8B-B14F-4D97-AF65-F5344CB8AC3E}">
        <p14:creationId xmlns:p14="http://schemas.microsoft.com/office/powerpoint/2010/main" val="1591841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  <p:extLst>
      <p:ext uri="{BB962C8B-B14F-4D97-AF65-F5344CB8AC3E}">
        <p14:creationId xmlns:p14="http://schemas.microsoft.com/office/powerpoint/2010/main" val="3651713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  <p:extLst>
      <p:ext uri="{BB962C8B-B14F-4D97-AF65-F5344CB8AC3E}">
        <p14:creationId xmlns:p14="http://schemas.microsoft.com/office/powerpoint/2010/main" val="3265324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  <p:extLst>
      <p:ext uri="{BB962C8B-B14F-4D97-AF65-F5344CB8AC3E}">
        <p14:creationId xmlns:p14="http://schemas.microsoft.com/office/powerpoint/2010/main" val="746252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  <p:extLst>
      <p:ext uri="{BB962C8B-B14F-4D97-AF65-F5344CB8AC3E}">
        <p14:creationId xmlns:p14="http://schemas.microsoft.com/office/powerpoint/2010/main" val="2617635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6AFC7ED-7E7C-429E-B9C4-124F0F19B136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57640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3C4E5F8-C071-47EF-9E82-30CFB70686BA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15136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33C3C14-3FAD-4999-85A4-6F50794623B7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52302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989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989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9BB4C7C-F144-42EB-AD3E-3BDD81A0ECBD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83423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ADCB55-799D-40F1-9E32-89C6B30AF3FE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29622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1E559C7-313D-48F5-9F41-7F44A06A77AD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331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A0DA1BA-15AD-4563-8F38-52F7A5590E4E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938594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4B06F0F-6DEC-4142-9188-45561CAF5EA7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0817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0C4141E-0982-44BF-83DA-C5B0BC1F1685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44728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79F0EFD-70DB-4209-A47A-D6920A92B502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3336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6456363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6456363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8605D0F-192B-424E-87D9-5C84E6092407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14818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56047" y="2348400"/>
            <a:ext cx="8568531" cy="162043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12094" y="4283816"/>
            <a:ext cx="7056438" cy="1931917"/>
          </a:xfrm>
        </p:spPr>
        <p:txBody>
          <a:bodyPr/>
          <a:lstStyle>
            <a:lvl1pPr marL="0" indent="0" algn="ctr">
              <a:buNone/>
              <a:defRPr/>
            </a:lvl1pPr>
            <a:lvl2pPr marL="503972" indent="0" algn="ctr">
              <a:buNone/>
              <a:defRPr/>
            </a:lvl2pPr>
            <a:lvl3pPr marL="1007943" indent="0" algn="ctr">
              <a:buNone/>
              <a:defRPr/>
            </a:lvl3pPr>
            <a:lvl4pPr marL="1511915" indent="0" algn="ctr">
              <a:buNone/>
              <a:defRPr/>
            </a:lvl4pPr>
            <a:lvl5pPr marL="2015886" indent="0" algn="ctr">
              <a:buNone/>
              <a:defRPr/>
            </a:lvl5pPr>
            <a:lvl6pPr marL="2519858" indent="0" algn="ctr">
              <a:buNone/>
              <a:defRPr/>
            </a:lvl6pPr>
            <a:lvl7pPr marL="3023829" indent="0" algn="ctr">
              <a:buNone/>
              <a:defRPr/>
            </a:lvl7pPr>
            <a:lvl8pPr marL="3527801" indent="0" algn="ctr">
              <a:buNone/>
              <a:defRPr/>
            </a:lvl8pPr>
            <a:lvl9pPr marL="4031772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D60D0B-D6AA-47A9-84DE-9BF82EA5B0A6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711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91B703-D8A0-41AA-A21C-FDF9BA75AF98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219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96300" y="4857792"/>
            <a:ext cx="8568531" cy="1501435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96300" y="3204114"/>
            <a:ext cx="8568531" cy="1653678"/>
          </a:xfrm>
        </p:spPr>
        <p:txBody>
          <a:bodyPr anchor="b"/>
          <a:lstStyle>
            <a:lvl1pPr marL="0" indent="0">
              <a:buNone/>
              <a:defRPr sz="2200"/>
            </a:lvl1pPr>
            <a:lvl2pPr marL="503972" indent="0">
              <a:buNone/>
              <a:defRPr sz="2000"/>
            </a:lvl2pPr>
            <a:lvl3pPr marL="1007943" indent="0">
              <a:buNone/>
              <a:defRPr sz="1800"/>
            </a:lvl3pPr>
            <a:lvl4pPr marL="1511915" indent="0">
              <a:buNone/>
              <a:defRPr sz="1500"/>
            </a:lvl4pPr>
            <a:lvl5pPr marL="2015886" indent="0">
              <a:buNone/>
              <a:defRPr sz="1500"/>
            </a:lvl5pPr>
            <a:lvl6pPr marL="2519858" indent="0">
              <a:buNone/>
              <a:defRPr sz="1500"/>
            </a:lvl6pPr>
            <a:lvl7pPr marL="3023829" indent="0">
              <a:buNone/>
              <a:defRPr sz="1500"/>
            </a:lvl7pPr>
            <a:lvl8pPr marL="3527801" indent="0">
              <a:buNone/>
              <a:defRPr sz="1500"/>
            </a:lvl8pPr>
            <a:lvl9pPr marL="4031772" indent="0">
              <a:buNone/>
              <a:defRPr sz="15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77FAB5-4D49-4B70-9831-30C70C8D3515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760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56047" y="2183906"/>
            <a:ext cx="4200260" cy="4535805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124318" y="2183906"/>
            <a:ext cx="4200260" cy="4535805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FAC204-713D-4BE2-A142-8E48B9DF7548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0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031" y="302737"/>
            <a:ext cx="9072563" cy="1259946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504031" y="1692178"/>
            <a:ext cx="4454027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04031" y="2397397"/>
            <a:ext cx="4454027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120818" y="1692178"/>
            <a:ext cx="4455776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120818" y="2397397"/>
            <a:ext cx="4455776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F47656-3058-400E-88E1-8A3DA0D9A2B9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0641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343011-A72D-4E6C-8051-63D4D32BBFC7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694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DE8EA6-BD83-4B80-9348-645B3ECCE3F1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8728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032" y="300987"/>
            <a:ext cx="3316456" cy="1280945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941245" y="300988"/>
            <a:ext cx="5635349" cy="645197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504032" y="1581933"/>
            <a:ext cx="3316456" cy="5171028"/>
          </a:xfrm>
        </p:spPr>
        <p:txBody>
          <a:bodyPr/>
          <a:lstStyle>
            <a:lvl1pPr marL="0" indent="0">
              <a:buNone/>
              <a:defRPr sz="15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29CA4D-AC21-4E32-9D49-16B91744F2D6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8714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75873" y="5291772"/>
            <a:ext cx="6048375" cy="62472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75873" y="675471"/>
            <a:ext cx="6048375" cy="4535805"/>
          </a:xfrm>
        </p:spPr>
        <p:txBody>
          <a:bodyPr/>
          <a:lstStyle>
            <a:lvl1pPr marL="0" indent="0">
              <a:buNone/>
              <a:defRPr sz="3500"/>
            </a:lvl1pPr>
            <a:lvl2pPr marL="503972" indent="0">
              <a:buNone/>
              <a:defRPr sz="3100"/>
            </a:lvl2pPr>
            <a:lvl3pPr marL="1007943" indent="0">
              <a:buNone/>
              <a:defRPr sz="2600"/>
            </a:lvl3pPr>
            <a:lvl4pPr marL="1511915" indent="0">
              <a:buNone/>
              <a:defRPr sz="2200"/>
            </a:lvl4pPr>
            <a:lvl5pPr marL="2015886" indent="0">
              <a:buNone/>
              <a:defRPr sz="2200"/>
            </a:lvl5pPr>
            <a:lvl6pPr marL="2519858" indent="0">
              <a:buNone/>
              <a:defRPr sz="2200"/>
            </a:lvl6pPr>
            <a:lvl7pPr marL="3023829" indent="0">
              <a:buNone/>
              <a:defRPr sz="2200"/>
            </a:lvl7pPr>
            <a:lvl8pPr marL="3527801" indent="0">
              <a:buNone/>
              <a:defRPr sz="2200"/>
            </a:lvl8pPr>
            <a:lvl9pPr marL="4031772" indent="0">
              <a:buNone/>
              <a:defRPr sz="22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75873" y="5916496"/>
            <a:ext cx="6048375" cy="887211"/>
          </a:xfrm>
        </p:spPr>
        <p:txBody>
          <a:bodyPr/>
          <a:lstStyle>
            <a:lvl1pPr marL="0" indent="0">
              <a:buNone/>
              <a:defRPr sz="15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07C05D-716E-430B-8F1B-696FE9865A7B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1254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656C1D-A0E4-4894-B766-752C565B9C64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6838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182445" y="671971"/>
            <a:ext cx="2142133" cy="604774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756047" y="671971"/>
            <a:ext cx="6258388" cy="604774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13D808-7D6D-40D6-BC10-FDB01196358E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15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x-none" altLang="ja-JP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503999" y="1769039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x-none" altLang="ja-JP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79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ct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6887160"/>
            <a:ext cx="2348279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fld id="{0DC9A31C-2487-4200-99F4-7475058B3987}" type="slidenum"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hangingPunct="0">
        <a:tabLst/>
        <a:defRPr lang="x-none" altLang="ja-JP" sz="4400" b="0" i="0" u="none" strike="noStrike" kern="1200">
          <a:ln>
            <a:noFill/>
          </a:ln>
          <a:latin typeface="Arial" pitchFamily="18"/>
          <a:cs typeface="Tahoma" pitchFamily="2"/>
        </a:defRPr>
      </a:lvl1pPr>
    </p:titleStyle>
    <p:bodyStyle>
      <a:lvl1pPr rtl="0" hangingPunct="0">
        <a:spcBef>
          <a:spcPts val="0"/>
        </a:spcBef>
        <a:spcAft>
          <a:spcPts val="1417"/>
        </a:spcAft>
        <a:tabLst/>
        <a:defRPr lang="x-none" altLang="ja-JP" sz="3200" b="0" i="0" u="none" strike="noStrike" kern="1200">
          <a:ln>
            <a:noFill/>
          </a:ln>
          <a:latin typeface="Arial" pitchFamily="18"/>
          <a:cs typeface="Tahoma" pitchFamily="2"/>
        </a:defRPr>
      </a:lvl1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6047" y="671971"/>
            <a:ext cx="8568531" cy="125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6047" y="2183906"/>
            <a:ext cx="8568531" cy="4535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6047" y="6887704"/>
            <a:ext cx="2100130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500">
                <a:latin typeface="Times New Roman" charset="0"/>
                <a:ea typeface="ＭＳ Ｐゴシック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44214" y="6887704"/>
            <a:ext cx="3192198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500">
                <a:latin typeface="Times New Roman" charset="0"/>
                <a:ea typeface="ＭＳ Ｐゴシック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24448" y="6887704"/>
            <a:ext cx="2100130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5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A9DE9F4-1B0D-41D4-BB45-F82231040046}" type="slidenum">
              <a:rPr lang="en-US" altLang="ja-JP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19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5pPr>
      <a:lvl6pPr marL="503972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6pPr>
      <a:lvl7pPr marL="1007943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7pPr>
      <a:lvl8pPr marL="1511915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8pPr>
      <a:lvl9pPr marL="2015886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9pPr>
    </p:titleStyle>
    <p:bodyStyle>
      <a:lvl1pPr marL="377979" indent="-377979" algn="l" rtl="0" eaLnBrk="0" fontAlgn="base" hangingPunct="0">
        <a:spcBef>
          <a:spcPct val="20000"/>
        </a:spcBef>
        <a:spcAft>
          <a:spcPct val="0"/>
        </a:spcAft>
        <a:buChar char="•"/>
        <a:defRPr kumimoji="1" sz="3500">
          <a:solidFill>
            <a:schemeClr val="tx1"/>
          </a:solidFill>
          <a:latin typeface="+mn-lt"/>
          <a:ea typeface="+mn-ea"/>
          <a:cs typeface="+mn-cs"/>
        </a:defRPr>
      </a:lvl1pPr>
      <a:lvl2pPr marL="818954" indent="-314982" algn="l" rtl="0" eaLnBrk="0" fontAlgn="base" hangingPunct="0">
        <a:spcBef>
          <a:spcPct val="20000"/>
        </a:spcBef>
        <a:spcAft>
          <a:spcPct val="0"/>
        </a:spcAft>
        <a:buChar char="–"/>
        <a:defRPr kumimoji="1" sz="3100">
          <a:solidFill>
            <a:schemeClr val="tx1"/>
          </a:solidFill>
          <a:latin typeface="+mn-lt"/>
          <a:ea typeface="+mn-ea"/>
        </a:defRPr>
      </a:lvl2pPr>
      <a:lvl3pPr marL="1259929" indent="-251986" algn="l" rtl="0" eaLnBrk="0" fontAlgn="base" hangingPunct="0">
        <a:spcBef>
          <a:spcPct val="20000"/>
        </a:spcBef>
        <a:spcAft>
          <a:spcPct val="0"/>
        </a:spcAft>
        <a:buChar char="•"/>
        <a:defRPr kumimoji="1" sz="2600">
          <a:solidFill>
            <a:schemeClr val="tx1"/>
          </a:solidFill>
          <a:latin typeface="+mn-lt"/>
          <a:ea typeface="+mn-ea"/>
        </a:defRPr>
      </a:lvl3pPr>
      <a:lvl4pPr marL="1763900" indent="-251986" algn="l" rtl="0" eaLnBrk="0" fontAlgn="base" hangingPunct="0">
        <a:spcBef>
          <a:spcPct val="20000"/>
        </a:spcBef>
        <a:spcAft>
          <a:spcPct val="0"/>
        </a:spcAft>
        <a:buChar char="–"/>
        <a:defRPr kumimoji="1" sz="2200">
          <a:solidFill>
            <a:schemeClr val="tx1"/>
          </a:solidFill>
          <a:latin typeface="+mn-lt"/>
          <a:ea typeface="+mn-ea"/>
        </a:defRPr>
      </a:lvl4pPr>
      <a:lvl5pPr marL="2267872" indent="-251986" algn="l" rtl="0" eaLnBrk="0" fontAlgn="base" hangingPunct="0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5pPr>
      <a:lvl6pPr marL="2771844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6pPr>
      <a:lvl7pPr marL="3275815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7pPr>
      <a:lvl8pPr marL="3779787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8pPr>
      <a:lvl9pPr marL="4283758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7" y="7108196"/>
            <a:ext cx="2054627" cy="395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6976951"/>
            <a:ext cx="10038622" cy="78746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83" tIns="50392" rIns="100783" bIns="50392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ja-JP" altLang="en-US" sz="2600">
              <a:solidFill>
                <a:srgbClr val="000000"/>
              </a:solidFill>
            </a:endParaRP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A148F4B-369D-1979-534A-65909A5EE163}"/>
              </a:ext>
            </a:extLst>
          </p:cNvPr>
          <p:cNvSpPr txBox="1"/>
          <p:nvPr/>
        </p:nvSpPr>
        <p:spPr>
          <a:xfrm>
            <a:off x="2293408" y="3611563"/>
            <a:ext cx="54938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 eaLnBrk="1" hangingPunct="1">
              <a:buNone/>
              <a:defRPr/>
            </a:pPr>
            <a:r>
              <a:rPr lang="ja-JP" altLang="en-US" sz="3600" dirty="0">
                <a:solidFill>
                  <a:srgbClr val="010000"/>
                </a:solidFill>
                <a:latin typeface="+mn-ea"/>
              </a:rPr>
              <a:t>応用</a:t>
            </a:r>
            <a:r>
              <a:rPr lang="ja-JP" altLang="en-US" sz="3600" dirty="0">
                <a:solidFill>
                  <a:srgbClr val="010000"/>
                </a:solidFill>
                <a:latin typeface="+mj-ea"/>
                <a:ea typeface="+mj-ea"/>
              </a:rPr>
              <a:t>実習用資料</a:t>
            </a:r>
            <a:endParaRPr lang="en-US" altLang="ja-JP" sz="3600" dirty="0">
              <a:solidFill>
                <a:srgbClr val="010000"/>
              </a:solidFill>
              <a:latin typeface="+mj-ea"/>
              <a:ea typeface="+mj-ea"/>
            </a:endParaRPr>
          </a:p>
          <a:p>
            <a:pPr marL="0" indent="0" algn="ctr" eaLnBrk="1" hangingPunct="1">
              <a:buNone/>
              <a:defRPr/>
            </a:pPr>
            <a:r>
              <a:rPr lang="en-US" altLang="ja-JP" sz="3600" dirty="0">
                <a:solidFill>
                  <a:srgbClr val="010000"/>
                </a:solidFill>
                <a:ea typeface="ＭＳ Ｐゴシック" panose="020B0600070205080204" pitchFamily="50" charset="-128"/>
              </a:rPr>
              <a:t>Single Event Upset</a:t>
            </a:r>
            <a:r>
              <a:rPr lang="ja-JP" altLang="en-US" sz="3600" dirty="0">
                <a:solidFill>
                  <a:srgbClr val="010000"/>
                </a:solidFill>
                <a:ea typeface="ＭＳ Ｐゴシック" panose="020B0600070205080204" pitchFamily="50" charset="-128"/>
              </a:rPr>
              <a:t> </a:t>
            </a:r>
            <a:r>
              <a:rPr lang="en-US" altLang="ja-JP" sz="3600" dirty="0">
                <a:solidFill>
                  <a:srgbClr val="010000"/>
                </a:solidFill>
                <a:ea typeface="ＭＳ Ｐゴシック" panose="020B0600070205080204" pitchFamily="50" charset="-128"/>
              </a:rPr>
              <a:t>(SEU)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CFF2F8A-B31D-631A-466B-69BEF6221CE7}"/>
              </a:ext>
            </a:extLst>
          </p:cNvPr>
          <p:cNvSpPr txBox="1"/>
          <p:nvPr/>
        </p:nvSpPr>
        <p:spPr>
          <a:xfrm>
            <a:off x="2990713" y="1041232"/>
            <a:ext cx="4099199" cy="1954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21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ja-JP" sz="96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</a:t>
            </a:r>
            <a:r>
              <a:rPr lang="en-US" altLang="ja-JP" sz="108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sz="96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BF383C7-C000-10BE-C773-7D3DDEC18202}"/>
              </a:ext>
            </a:extLst>
          </p:cNvPr>
          <p:cNvSpPr txBox="1"/>
          <p:nvPr/>
        </p:nvSpPr>
        <p:spPr>
          <a:xfrm>
            <a:off x="1035946" y="2699717"/>
            <a:ext cx="8008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Multi-Purpose </a:t>
            </a:r>
            <a:r>
              <a:rPr lang="en-US" altLang="ja-JP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ja-JP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 and </a:t>
            </a:r>
            <a:r>
              <a:rPr lang="en-US" altLang="ja-JP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ja-JP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eavy </a:t>
            </a:r>
            <a:r>
              <a:rPr lang="en-US" altLang="ja-JP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ja-JP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altLang="ja-JP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ransport code </a:t>
            </a:r>
            <a:r>
              <a:rPr lang="en-US" altLang="ja-JP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ja-JP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ystem</a:t>
            </a:r>
          </a:p>
        </p:txBody>
      </p:sp>
      <p:sp>
        <p:nvSpPr>
          <p:cNvPr id="2" name="Text Box 15"/>
          <p:cNvSpPr txBox="1">
            <a:spLocks noChangeArrowheads="1"/>
          </p:cNvSpPr>
          <p:nvPr/>
        </p:nvSpPr>
        <p:spPr bwMode="auto">
          <a:xfrm>
            <a:off x="3477468" y="5725756"/>
            <a:ext cx="3097692" cy="57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ja-JP" sz="3100" dirty="0">
                <a:solidFill>
                  <a:srgbClr val="FF0000"/>
                </a:solidFill>
                <a:latin typeface="+mn-lt"/>
                <a:ea typeface="ＭＳ Ｐゴシック"/>
              </a:rPr>
              <a:t>2025</a:t>
            </a:r>
            <a:r>
              <a:rPr lang="ja-JP" altLang="en-US" sz="3100" dirty="0">
                <a:solidFill>
                  <a:srgbClr val="FF0000"/>
                </a:solidFill>
                <a:latin typeface="+mn-lt"/>
                <a:ea typeface="ＭＳ Ｐゴシック"/>
              </a:rPr>
              <a:t>年</a:t>
            </a:r>
            <a:r>
              <a:rPr lang="en-US" altLang="ja-JP" sz="3100">
                <a:solidFill>
                  <a:srgbClr val="FF0000"/>
                </a:solidFill>
                <a:latin typeface="+mn-lt"/>
                <a:ea typeface="ＭＳ Ｐゴシック"/>
              </a:rPr>
              <a:t>2</a:t>
            </a:r>
            <a:r>
              <a:rPr lang="ja-JP" altLang="en-US" sz="3100">
                <a:solidFill>
                  <a:srgbClr val="FF0000"/>
                </a:solidFill>
                <a:latin typeface="+mn-lt"/>
                <a:ea typeface="ＭＳ Ｐゴシック"/>
              </a:rPr>
              <a:t>月</a:t>
            </a:r>
            <a:r>
              <a:rPr lang="ja-JP" altLang="en-US" sz="3100" dirty="0">
                <a:solidFill>
                  <a:srgbClr val="FF0000"/>
                </a:solidFill>
                <a:latin typeface="+mn-lt"/>
                <a:ea typeface="ＭＳ Ｐゴシック"/>
              </a:rPr>
              <a:t>改訂</a:t>
            </a:r>
            <a:endParaRPr lang="en-US" altLang="ja-JP" sz="3100" dirty="0">
              <a:solidFill>
                <a:srgbClr val="FF0000"/>
              </a:solidFill>
              <a:latin typeface="+mn-lt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7021071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D224FEF-91D2-20C9-D290-F2A0190F62EB}"/>
              </a:ext>
            </a:extLst>
          </p:cNvPr>
          <p:cNvSpPr txBox="1"/>
          <p:nvPr/>
        </p:nvSpPr>
        <p:spPr>
          <a:xfrm>
            <a:off x="1932731" y="280084"/>
            <a:ext cx="62151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400" dirty="0"/>
              <a:t>本実習のおおまなか手順</a:t>
            </a:r>
            <a:endParaRPr kumimoji="1" lang="ja-JP" altLang="en-US" sz="4400" dirty="0"/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EF484696-159E-6914-777B-839946C5F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2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1D0AAC2-8380-DB18-9C1C-1C2984078EC0}"/>
              </a:ext>
            </a:extLst>
          </p:cNvPr>
          <p:cNvSpPr txBox="1"/>
          <p:nvPr/>
        </p:nvSpPr>
        <p:spPr>
          <a:xfrm>
            <a:off x="81684" y="1208586"/>
            <a:ext cx="7029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n"/>
            </a:pPr>
            <a:r>
              <a:rPr kumimoji="1" lang="en-US" altLang="ja-JP" sz="2800" b="1" dirty="0" err="1">
                <a:solidFill>
                  <a:schemeClr val="tx2"/>
                </a:solidFill>
              </a:rPr>
              <a:t>semiconductor.inp</a:t>
            </a:r>
            <a:r>
              <a:rPr kumimoji="1" lang="ja-JP" altLang="en-US" sz="2800" b="1" dirty="0">
                <a:solidFill>
                  <a:schemeClr val="tx2"/>
                </a:solidFill>
              </a:rPr>
              <a:t>を用いた作業</a:t>
            </a:r>
            <a:endParaRPr kumimoji="1" lang="ja-JP" altLang="en-US" sz="28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1D0AAC2-8380-DB18-9C1C-1C2984078EC0}"/>
              </a:ext>
            </a:extLst>
          </p:cNvPr>
          <p:cNvSpPr txBox="1"/>
          <p:nvPr/>
        </p:nvSpPr>
        <p:spPr>
          <a:xfrm>
            <a:off x="448592" y="2460333"/>
            <a:ext cx="8099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chemeClr val="tx2"/>
                </a:solidFill>
              </a:rPr>
              <a:t>ステップ</a:t>
            </a:r>
            <a:r>
              <a:rPr kumimoji="1" lang="en-US" altLang="ja-JP" sz="2800" b="1" dirty="0">
                <a:solidFill>
                  <a:schemeClr val="tx2"/>
                </a:solidFill>
              </a:rPr>
              <a:t>2:</a:t>
            </a:r>
            <a:r>
              <a:rPr kumimoji="1" lang="ja-JP" altLang="en-US" sz="2800" b="1" dirty="0">
                <a:solidFill>
                  <a:schemeClr val="tx2"/>
                </a:solidFill>
              </a:rPr>
              <a:t>　</a:t>
            </a:r>
            <a:r>
              <a:rPr lang="ja-JP" altLang="en-US" sz="2800" b="1" dirty="0">
                <a:solidFill>
                  <a:schemeClr val="tx2"/>
                </a:solidFill>
              </a:rPr>
              <a:t>半導体素子へのイオン照射計算</a:t>
            </a:r>
            <a:endParaRPr kumimoji="1" lang="ja-JP" altLang="en-US" sz="28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E08DD1D-0C4D-AD93-81E4-32C4A3FAA38C}"/>
              </a:ext>
            </a:extLst>
          </p:cNvPr>
          <p:cNvSpPr txBox="1"/>
          <p:nvPr/>
        </p:nvSpPr>
        <p:spPr>
          <a:xfrm>
            <a:off x="448591" y="1832688"/>
            <a:ext cx="7863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chemeClr val="tx2"/>
                </a:solidFill>
              </a:rPr>
              <a:t>ステップ</a:t>
            </a:r>
            <a:r>
              <a:rPr kumimoji="1" lang="en-US" altLang="ja-JP" sz="2800" b="1" dirty="0">
                <a:solidFill>
                  <a:schemeClr val="tx2"/>
                </a:solidFill>
              </a:rPr>
              <a:t>1:</a:t>
            </a:r>
            <a:r>
              <a:rPr kumimoji="1" lang="ja-JP" altLang="en-US" sz="2800" b="1" dirty="0">
                <a:solidFill>
                  <a:schemeClr val="tx2"/>
                </a:solidFill>
              </a:rPr>
              <a:t>　半導体素子を模した計算体系の編集</a:t>
            </a:r>
            <a:endParaRPr kumimoji="1" lang="ja-JP" altLang="en-US" sz="28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1D0AAC2-8380-DB18-9C1C-1C2984078EC0}"/>
              </a:ext>
            </a:extLst>
          </p:cNvPr>
          <p:cNvSpPr txBox="1"/>
          <p:nvPr/>
        </p:nvSpPr>
        <p:spPr>
          <a:xfrm>
            <a:off x="81684" y="4480186"/>
            <a:ext cx="7029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Wingdings" panose="05000000000000000000" pitchFamily="2" charset="2"/>
              <a:buChar char="n"/>
            </a:pPr>
            <a:r>
              <a:rPr kumimoji="1" lang="en-US" altLang="ja-JP" sz="2800" b="1" dirty="0">
                <a:solidFill>
                  <a:schemeClr val="accent2"/>
                </a:solidFill>
              </a:rPr>
              <a:t>small-</a:t>
            </a:r>
            <a:r>
              <a:rPr kumimoji="1" lang="en-US" altLang="ja-JP" sz="2800" b="1" dirty="0" err="1">
                <a:solidFill>
                  <a:schemeClr val="accent2"/>
                </a:solidFill>
              </a:rPr>
              <a:t>satellite.inp</a:t>
            </a:r>
            <a:r>
              <a:rPr kumimoji="1" lang="ja-JP" altLang="en-US" sz="2800" b="1" dirty="0">
                <a:solidFill>
                  <a:schemeClr val="accent2"/>
                </a:solidFill>
              </a:rPr>
              <a:t>を用いた作業</a:t>
            </a:r>
            <a:endParaRPr kumimoji="1" lang="ja-JP" altLang="en-US" sz="2800" dirty="0">
              <a:solidFill>
                <a:schemeClr val="accent2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1D0AAC2-8380-DB18-9C1C-1C2984078EC0}"/>
              </a:ext>
            </a:extLst>
          </p:cNvPr>
          <p:cNvSpPr txBox="1"/>
          <p:nvPr/>
        </p:nvSpPr>
        <p:spPr>
          <a:xfrm>
            <a:off x="448592" y="5086170"/>
            <a:ext cx="7257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2"/>
                </a:solidFill>
              </a:rPr>
              <a:t>ステップ</a:t>
            </a:r>
            <a:r>
              <a:rPr lang="en-US" altLang="ja-JP" sz="2800" b="1" dirty="0">
                <a:solidFill>
                  <a:schemeClr val="accent2"/>
                </a:solidFill>
              </a:rPr>
              <a:t>5</a:t>
            </a:r>
            <a:r>
              <a:rPr kumimoji="1" lang="en-US" altLang="ja-JP" sz="2800" b="1" dirty="0">
                <a:solidFill>
                  <a:schemeClr val="accent2"/>
                </a:solidFill>
              </a:rPr>
              <a:t>:</a:t>
            </a:r>
            <a:r>
              <a:rPr kumimoji="1" lang="ja-JP" altLang="en-US" sz="2800" b="1" dirty="0">
                <a:solidFill>
                  <a:schemeClr val="accent2"/>
                </a:solidFill>
              </a:rPr>
              <a:t>　</a:t>
            </a:r>
            <a:r>
              <a:rPr lang="en-US" altLang="ja-JP" sz="2800" b="1" dirty="0">
                <a:solidFill>
                  <a:schemeClr val="accent2"/>
                </a:solidFill>
              </a:rPr>
              <a:t> SEU</a:t>
            </a:r>
            <a:r>
              <a:rPr lang="ja-JP" altLang="en-US" sz="2800" b="1" dirty="0">
                <a:solidFill>
                  <a:schemeClr val="accent2"/>
                </a:solidFill>
              </a:rPr>
              <a:t>断面積を</a:t>
            </a:r>
            <a:r>
              <a:rPr lang="en-US" altLang="ja-JP" sz="2800" b="1" dirty="0">
                <a:solidFill>
                  <a:schemeClr val="accent2"/>
                </a:solidFill>
              </a:rPr>
              <a:t>[Multiplier]</a:t>
            </a:r>
            <a:r>
              <a:rPr lang="ja-JP" altLang="en-US" sz="2800" b="1" dirty="0">
                <a:solidFill>
                  <a:schemeClr val="accent2"/>
                </a:solidFill>
              </a:rPr>
              <a:t>に設定</a:t>
            </a:r>
            <a:endParaRPr kumimoji="1" lang="ja-JP" altLang="en-US" sz="2800" dirty="0">
              <a:solidFill>
                <a:schemeClr val="accent2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1E4FC4E-6661-60F7-78F1-F56C41F18805}"/>
              </a:ext>
            </a:extLst>
          </p:cNvPr>
          <p:cNvSpPr txBox="1"/>
          <p:nvPr/>
        </p:nvSpPr>
        <p:spPr>
          <a:xfrm>
            <a:off x="446882" y="5711176"/>
            <a:ext cx="7536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2"/>
                </a:solidFill>
              </a:rPr>
              <a:t>ステップ</a:t>
            </a:r>
            <a:r>
              <a:rPr lang="en-US" altLang="ja-JP" sz="2800" b="1" dirty="0">
                <a:solidFill>
                  <a:schemeClr val="accent2"/>
                </a:solidFill>
              </a:rPr>
              <a:t>6</a:t>
            </a:r>
            <a:r>
              <a:rPr kumimoji="1" lang="en-US" altLang="ja-JP" sz="2800" b="1" dirty="0">
                <a:solidFill>
                  <a:schemeClr val="accent2"/>
                </a:solidFill>
              </a:rPr>
              <a:t>:</a:t>
            </a:r>
            <a:r>
              <a:rPr kumimoji="1" lang="ja-JP" altLang="en-US" sz="2800" b="1" dirty="0">
                <a:solidFill>
                  <a:schemeClr val="accent2"/>
                </a:solidFill>
              </a:rPr>
              <a:t>　</a:t>
            </a:r>
            <a:r>
              <a:rPr lang="ja-JP" altLang="en-US" sz="2800" b="1" dirty="0">
                <a:solidFill>
                  <a:schemeClr val="accent2"/>
                </a:solidFill>
              </a:rPr>
              <a:t>人工衛星内での</a:t>
            </a:r>
            <a:r>
              <a:rPr lang="en-US" altLang="ja-JP" sz="2800" b="1" dirty="0">
                <a:solidFill>
                  <a:schemeClr val="accent2"/>
                </a:solidFill>
              </a:rPr>
              <a:t>SEU</a:t>
            </a:r>
            <a:r>
              <a:rPr lang="ja-JP" altLang="en-US" sz="2800" b="1" dirty="0">
                <a:solidFill>
                  <a:schemeClr val="accent2"/>
                </a:solidFill>
              </a:rPr>
              <a:t>発生率の計算</a:t>
            </a:r>
            <a:endParaRPr kumimoji="1" lang="ja-JP" altLang="en-US" sz="2800" dirty="0">
              <a:solidFill>
                <a:schemeClr val="accent2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31C4624-9AB7-C7A8-195C-5F6BC5F458B0}"/>
              </a:ext>
            </a:extLst>
          </p:cNvPr>
          <p:cNvSpPr txBox="1"/>
          <p:nvPr/>
        </p:nvSpPr>
        <p:spPr>
          <a:xfrm>
            <a:off x="446881" y="6328883"/>
            <a:ext cx="8872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2"/>
                </a:solidFill>
              </a:rPr>
              <a:t>ステップ</a:t>
            </a:r>
            <a:r>
              <a:rPr lang="en-US" altLang="ja-JP" sz="2800" b="1" dirty="0">
                <a:solidFill>
                  <a:schemeClr val="accent2"/>
                </a:solidFill>
              </a:rPr>
              <a:t>7</a:t>
            </a:r>
            <a:r>
              <a:rPr kumimoji="1" lang="en-US" altLang="ja-JP" sz="2800" b="1" dirty="0">
                <a:solidFill>
                  <a:schemeClr val="accent2"/>
                </a:solidFill>
              </a:rPr>
              <a:t>:</a:t>
            </a:r>
            <a:r>
              <a:rPr kumimoji="1" lang="ja-JP" altLang="en-US" sz="2800" b="1" dirty="0">
                <a:solidFill>
                  <a:schemeClr val="accent2"/>
                </a:solidFill>
              </a:rPr>
              <a:t>　外壁を厚くした際の</a:t>
            </a:r>
            <a:r>
              <a:rPr lang="en-US" altLang="ja-JP" sz="2800" b="1" dirty="0">
                <a:solidFill>
                  <a:schemeClr val="accent2"/>
                </a:solidFill>
              </a:rPr>
              <a:t>SEU</a:t>
            </a:r>
            <a:r>
              <a:rPr lang="ja-JP" altLang="en-US" sz="2800" b="1" dirty="0">
                <a:solidFill>
                  <a:schemeClr val="accent2"/>
                </a:solidFill>
              </a:rPr>
              <a:t>発生率の変化の調査</a:t>
            </a:r>
            <a:endParaRPr kumimoji="1" lang="ja-JP" altLang="en-US" sz="2800" dirty="0">
              <a:solidFill>
                <a:schemeClr val="accent2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1D0AAC2-8380-DB18-9C1C-1C2984078EC0}"/>
              </a:ext>
            </a:extLst>
          </p:cNvPr>
          <p:cNvSpPr txBox="1"/>
          <p:nvPr/>
        </p:nvSpPr>
        <p:spPr>
          <a:xfrm>
            <a:off x="448591" y="3087978"/>
            <a:ext cx="9013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chemeClr val="tx2"/>
                </a:solidFill>
              </a:rPr>
              <a:t>ステップ</a:t>
            </a:r>
            <a:r>
              <a:rPr kumimoji="1" lang="en-US" altLang="ja-JP" sz="2800" b="1" dirty="0">
                <a:solidFill>
                  <a:schemeClr val="tx2"/>
                </a:solidFill>
              </a:rPr>
              <a:t>3:</a:t>
            </a:r>
            <a:r>
              <a:rPr kumimoji="1" lang="ja-JP" altLang="en-US" sz="2800" b="1" dirty="0">
                <a:solidFill>
                  <a:schemeClr val="tx2"/>
                </a:solidFill>
              </a:rPr>
              <a:t>　</a:t>
            </a:r>
            <a:r>
              <a:rPr lang="en-US" altLang="ja-JP" sz="2800" b="1" dirty="0">
                <a:solidFill>
                  <a:schemeClr val="tx2"/>
                </a:solidFill>
              </a:rPr>
              <a:t>SEU</a:t>
            </a:r>
            <a:r>
              <a:rPr lang="ja-JP" altLang="en-US" sz="2800" b="1" dirty="0">
                <a:solidFill>
                  <a:schemeClr val="tx2"/>
                </a:solidFill>
              </a:rPr>
              <a:t>断面積の算出</a:t>
            </a:r>
            <a:endParaRPr kumimoji="1" lang="ja-JP" altLang="en-US" sz="28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8FC57E3-2152-D989-2396-6597C0B58369}"/>
              </a:ext>
            </a:extLst>
          </p:cNvPr>
          <p:cNvSpPr txBox="1"/>
          <p:nvPr/>
        </p:nvSpPr>
        <p:spPr>
          <a:xfrm>
            <a:off x="446881" y="3719096"/>
            <a:ext cx="9013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chemeClr val="tx2"/>
                </a:solidFill>
              </a:rPr>
              <a:t>ステップ</a:t>
            </a:r>
            <a:r>
              <a:rPr kumimoji="1" lang="en-US" altLang="ja-JP" sz="2800" b="1" dirty="0">
                <a:solidFill>
                  <a:schemeClr val="tx2"/>
                </a:solidFill>
              </a:rPr>
              <a:t>4:</a:t>
            </a:r>
            <a:r>
              <a:rPr kumimoji="1" lang="ja-JP" altLang="en-US" sz="2800" b="1" dirty="0">
                <a:solidFill>
                  <a:schemeClr val="tx2"/>
                </a:solidFill>
              </a:rPr>
              <a:t>　</a:t>
            </a:r>
            <a:r>
              <a:rPr lang="en-US" altLang="ja-JP" sz="2800" b="1" dirty="0">
                <a:solidFill>
                  <a:schemeClr val="tx2"/>
                </a:solidFill>
              </a:rPr>
              <a:t>SEU</a:t>
            </a:r>
            <a:r>
              <a:rPr lang="ja-JP" altLang="en-US" sz="2800" b="1" dirty="0">
                <a:solidFill>
                  <a:schemeClr val="tx2"/>
                </a:solidFill>
              </a:rPr>
              <a:t>断面積の入射エネルギー依存性の算出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87560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5902EFF-1E64-456D-2240-756A99EDB873}"/>
              </a:ext>
            </a:extLst>
          </p:cNvPr>
          <p:cNvSpPr txBox="1"/>
          <p:nvPr/>
        </p:nvSpPr>
        <p:spPr>
          <a:xfrm>
            <a:off x="1745545" y="4782"/>
            <a:ext cx="65895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4400" b="1" dirty="0" err="1">
                <a:solidFill>
                  <a:schemeClr val="tx2"/>
                </a:solidFill>
              </a:rPr>
              <a:t>semiconductor.inp</a:t>
            </a:r>
            <a:r>
              <a:rPr lang="ja-JP" altLang="en-US" sz="4400" b="1" dirty="0">
                <a:solidFill>
                  <a:schemeClr val="tx2"/>
                </a:solidFill>
              </a:rPr>
              <a:t>を開く</a:t>
            </a:r>
            <a:endParaRPr kumimoji="1" lang="ja-JP" altLang="en-US" sz="4400" b="1" dirty="0">
              <a:solidFill>
                <a:schemeClr val="tx2"/>
              </a:solidFill>
            </a:endParaRPr>
          </a:p>
        </p:txBody>
      </p:sp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1252A29D-1C53-EE87-05E4-123B6CF09272}"/>
              </a:ext>
            </a:extLst>
          </p:cNvPr>
          <p:cNvGrpSpPr/>
          <p:nvPr/>
        </p:nvGrpSpPr>
        <p:grpSpPr>
          <a:xfrm>
            <a:off x="-13493" y="1704117"/>
            <a:ext cx="9943480" cy="4332435"/>
            <a:chOff x="-13493" y="3008572"/>
            <a:chExt cx="9943480" cy="4332435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92477ADC-6071-D581-5E53-B6126F2BBF93}"/>
                </a:ext>
              </a:extLst>
            </p:cNvPr>
            <p:cNvGrpSpPr/>
            <p:nvPr/>
          </p:nvGrpSpPr>
          <p:grpSpPr>
            <a:xfrm>
              <a:off x="333258" y="3392507"/>
              <a:ext cx="3989170" cy="3948500"/>
              <a:chOff x="268616" y="3075921"/>
              <a:chExt cx="3989170" cy="3948500"/>
            </a:xfrm>
          </p:grpSpPr>
          <p:sp>
            <p:nvSpPr>
              <p:cNvPr id="78" name="テキスト ボックス 34">
                <a:extLst>
                  <a:ext uri="{FF2B5EF4-FFF2-40B4-BE49-F238E27FC236}">
                    <a16:creationId xmlns:a16="http://schemas.microsoft.com/office/drawing/2014/main" id="{3D7A02BF-CAE0-D91A-E325-DC0EFFD65A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349" y="4566454"/>
                <a:ext cx="1145992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500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79" name="テキスト ボックス 34">
                <a:extLst>
                  <a:ext uri="{FF2B5EF4-FFF2-40B4-BE49-F238E27FC236}">
                    <a16:creationId xmlns:a16="http://schemas.microsoft.com/office/drawing/2014/main" id="{79D1977C-DF91-0448-6AEC-3EAF5F462B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796" y="6420533"/>
                <a:ext cx="1176545" cy="36933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500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80" name="テキスト ボックス 34">
                <a:extLst>
                  <a:ext uri="{FF2B5EF4-FFF2-40B4-BE49-F238E27FC236}">
                    <a16:creationId xmlns:a16="http://schemas.microsoft.com/office/drawing/2014/main" id="{F2D1B7BE-A9A4-43EB-845F-6FA659F27A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461" y="5127548"/>
                <a:ext cx="1064880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3.0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81" name="テキスト ボックス 34">
                <a:extLst>
                  <a:ext uri="{FF2B5EF4-FFF2-40B4-BE49-F238E27FC236}">
                    <a16:creationId xmlns:a16="http://schemas.microsoft.com/office/drawing/2014/main" id="{EBCD671F-73C2-A05F-C825-693DAD98E8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616" y="5416977"/>
                <a:ext cx="1197725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0.35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cxnSp>
            <p:nvCxnSpPr>
              <p:cNvPr id="82" name="直線矢印コネクタ 81">
                <a:extLst>
                  <a:ext uri="{FF2B5EF4-FFF2-40B4-BE49-F238E27FC236}">
                    <a16:creationId xmlns:a16="http://schemas.microsoft.com/office/drawing/2014/main" id="{B75E2BD9-9F8A-CD13-52DA-7D96071491F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4259962"/>
                <a:ext cx="0" cy="900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線矢印コネクタ 82">
                <a:extLst>
                  <a:ext uri="{FF2B5EF4-FFF2-40B4-BE49-F238E27FC236}">
                    <a16:creationId xmlns:a16="http://schemas.microsoft.com/office/drawing/2014/main" id="{E25C6496-9362-2756-FF53-8F9541AF48A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6124421"/>
                <a:ext cx="0" cy="900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4" name="グループ化 83">
                <a:extLst>
                  <a:ext uri="{FF2B5EF4-FFF2-40B4-BE49-F238E27FC236}">
                    <a16:creationId xmlns:a16="http://schemas.microsoft.com/office/drawing/2014/main" id="{265482D9-5C4A-F017-E851-A934E62F6FB2}"/>
                  </a:ext>
                </a:extLst>
              </p:cNvPr>
              <p:cNvGrpSpPr/>
              <p:nvPr/>
            </p:nvGrpSpPr>
            <p:grpSpPr>
              <a:xfrm>
                <a:off x="1553072" y="3522332"/>
                <a:ext cx="2239685" cy="3482678"/>
                <a:chOff x="3328100" y="515605"/>
                <a:chExt cx="2239685" cy="3482678"/>
              </a:xfrm>
            </p:grpSpPr>
            <p:sp>
              <p:nvSpPr>
                <p:cNvPr id="93" name="平行四辺形 92">
                  <a:extLst>
                    <a:ext uri="{FF2B5EF4-FFF2-40B4-BE49-F238E27FC236}">
                      <a16:creationId xmlns:a16="http://schemas.microsoft.com/office/drawing/2014/main" id="{6C40A1F4-E273-DC36-634F-544FF13FA85E}"/>
                    </a:ext>
                  </a:extLst>
                </p:cNvPr>
                <p:cNvSpPr/>
                <p:nvPr/>
              </p:nvSpPr>
              <p:spPr>
                <a:xfrm rot="16200000" flipH="1">
                  <a:off x="4360510" y="2791008"/>
                  <a:ext cx="1694550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4472AB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4" name="平行四辺形 93">
                  <a:extLst>
                    <a:ext uri="{FF2B5EF4-FFF2-40B4-BE49-F238E27FC236}">
                      <a16:creationId xmlns:a16="http://schemas.microsoft.com/office/drawing/2014/main" id="{1F17DF22-1901-4C7B-5330-DA32A046978F}"/>
                    </a:ext>
                  </a:extLst>
                </p:cNvPr>
                <p:cNvSpPr/>
                <p:nvPr/>
              </p:nvSpPr>
              <p:spPr>
                <a:xfrm rot="16200000" flipH="1">
                  <a:off x="4721785" y="2182244"/>
                  <a:ext cx="972000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999356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5" name="平行四辺形 94">
                  <a:extLst>
                    <a:ext uri="{FF2B5EF4-FFF2-40B4-BE49-F238E27FC236}">
                      <a16:creationId xmlns:a16="http://schemas.microsoft.com/office/drawing/2014/main" id="{E1018C92-447D-7A74-73E7-2F7847FC583C}"/>
                    </a:ext>
                  </a:extLst>
                </p:cNvPr>
                <p:cNvSpPr/>
                <p:nvPr/>
              </p:nvSpPr>
              <p:spPr>
                <a:xfrm rot="16200000" flipH="1">
                  <a:off x="4721785" y="1939504"/>
                  <a:ext cx="972000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B2AE9D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6" name="平行四辺形 95">
                  <a:extLst>
                    <a:ext uri="{FF2B5EF4-FFF2-40B4-BE49-F238E27FC236}">
                      <a16:creationId xmlns:a16="http://schemas.microsoft.com/office/drawing/2014/main" id="{23CC1CA0-2E77-03C2-94A4-B839E0F5FDF1}"/>
                    </a:ext>
                  </a:extLst>
                </p:cNvPr>
                <p:cNvSpPr/>
                <p:nvPr/>
              </p:nvSpPr>
              <p:spPr>
                <a:xfrm rot="16200000" flipH="1">
                  <a:off x="4667785" y="1636896"/>
                  <a:ext cx="1080000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AC7F64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7" name="平行四辺形 96">
                  <a:extLst>
                    <a:ext uri="{FF2B5EF4-FFF2-40B4-BE49-F238E27FC236}">
                      <a16:creationId xmlns:a16="http://schemas.microsoft.com/office/drawing/2014/main" id="{823C802F-7823-27E0-1FE7-2F9A7A344A82}"/>
                    </a:ext>
                  </a:extLst>
                </p:cNvPr>
                <p:cNvSpPr/>
                <p:nvPr/>
              </p:nvSpPr>
              <p:spPr>
                <a:xfrm rot="16200000" flipH="1">
                  <a:off x="4374571" y="989002"/>
                  <a:ext cx="1666428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666666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8" name="正方形/長方形 97">
                  <a:extLst>
                    <a:ext uri="{FF2B5EF4-FFF2-40B4-BE49-F238E27FC236}">
                      <a16:creationId xmlns:a16="http://schemas.microsoft.com/office/drawing/2014/main" id="{E24E5C20-E356-03B1-9D10-3ADE22C4A6A1}"/>
                    </a:ext>
                  </a:extLst>
                </p:cNvPr>
                <p:cNvSpPr/>
                <p:nvPr/>
              </p:nvSpPr>
              <p:spPr>
                <a:xfrm>
                  <a:off x="3328100" y="2982273"/>
                  <a:ext cx="1522800" cy="1016009"/>
                </a:xfrm>
                <a:prstGeom prst="rect">
                  <a:avLst/>
                </a:prstGeom>
                <a:solidFill>
                  <a:srgbClr val="558ED5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" name="正方形/長方形 98">
                  <a:extLst>
                    <a:ext uri="{FF2B5EF4-FFF2-40B4-BE49-F238E27FC236}">
                      <a16:creationId xmlns:a16="http://schemas.microsoft.com/office/drawing/2014/main" id="{3762A96D-0DB6-9B50-A9FA-59CDCBD882B2}"/>
                    </a:ext>
                  </a:extLst>
                </p:cNvPr>
                <p:cNvSpPr/>
                <p:nvPr/>
              </p:nvSpPr>
              <p:spPr>
                <a:xfrm>
                  <a:off x="3328100" y="2673263"/>
                  <a:ext cx="1522800" cy="356782"/>
                </a:xfrm>
                <a:prstGeom prst="rect">
                  <a:avLst/>
                </a:prstGeom>
                <a:solidFill>
                  <a:srgbClr val="BEB76B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" name="正方形/長方形 99">
                  <a:extLst>
                    <a:ext uri="{FF2B5EF4-FFF2-40B4-BE49-F238E27FC236}">
                      <a16:creationId xmlns:a16="http://schemas.microsoft.com/office/drawing/2014/main" id="{A3D5E1E8-9584-58D8-5DFB-6555DC01C6E8}"/>
                    </a:ext>
                  </a:extLst>
                </p:cNvPr>
                <p:cNvSpPr/>
                <p:nvPr/>
              </p:nvSpPr>
              <p:spPr>
                <a:xfrm>
                  <a:off x="3328100" y="2395100"/>
                  <a:ext cx="1522800" cy="394432"/>
                </a:xfrm>
                <a:prstGeom prst="rect">
                  <a:avLst/>
                </a:prstGeom>
                <a:solidFill>
                  <a:srgbClr val="DDD9C3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" name="正方形/長方形 100">
                  <a:extLst>
                    <a:ext uri="{FF2B5EF4-FFF2-40B4-BE49-F238E27FC236}">
                      <a16:creationId xmlns:a16="http://schemas.microsoft.com/office/drawing/2014/main" id="{81A17EED-5C76-DDB3-E7E0-7E5C01589907}"/>
                    </a:ext>
                  </a:extLst>
                </p:cNvPr>
                <p:cNvSpPr/>
                <p:nvPr/>
              </p:nvSpPr>
              <p:spPr>
                <a:xfrm>
                  <a:off x="3328100" y="2167026"/>
                  <a:ext cx="1522800" cy="369460"/>
                </a:xfrm>
                <a:prstGeom prst="rect">
                  <a:avLst/>
                </a:prstGeom>
                <a:solidFill>
                  <a:srgbClr val="D69E7C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" name="正方形/長方形 101">
                  <a:extLst>
                    <a:ext uri="{FF2B5EF4-FFF2-40B4-BE49-F238E27FC236}">
                      <a16:creationId xmlns:a16="http://schemas.microsoft.com/office/drawing/2014/main" id="{8701A7D2-8EA7-F838-478D-A879E1F543DB}"/>
                    </a:ext>
                  </a:extLst>
                </p:cNvPr>
                <p:cNvSpPr/>
                <p:nvPr/>
              </p:nvSpPr>
              <p:spPr>
                <a:xfrm>
                  <a:off x="3328100" y="1235606"/>
                  <a:ext cx="1522800" cy="943308"/>
                </a:xfrm>
                <a:prstGeom prst="rect">
                  <a:avLst/>
                </a:prstGeom>
                <a:solidFill>
                  <a:srgbClr val="7F7F7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" name="平行四辺形 102">
                  <a:extLst>
                    <a:ext uri="{FF2B5EF4-FFF2-40B4-BE49-F238E27FC236}">
                      <a16:creationId xmlns:a16="http://schemas.microsoft.com/office/drawing/2014/main" id="{B95B899B-D369-B2FD-A791-7888D287B439}"/>
                    </a:ext>
                  </a:extLst>
                </p:cNvPr>
                <p:cNvSpPr/>
                <p:nvPr/>
              </p:nvSpPr>
              <p:spPr>
                <a:xfrm>
                  <a:off x="3334432" y="515605"/>
                  <a:ext cx="2233353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989898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85" name="テキスト ボックス 34">
                <a:extLst>
                  <a:ext uri="{FF2B5EF4-FFF2-40B4-BE49-F238E27FC236}">
                    <a16:creationId xmlns:a16="http://schemas.microsoft.com/office/drawing/2014/main" id="{63C48E97-52E6-9163-9418-0EBC312D01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4631" y="3527616"/>
                <a:ext cx="964359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2.0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cxnSp>
            <p:nvCxnSpPr>
              <p:cNvPr id="86" name="直線矢印コネクタ 85">
                <a:extLst>
                  <a:ext uri="{FF2B5EF4-FFF2-40B4-BE49-F238E27FC236}">
                    <a16:creationId xmlns:a16="http://schemas.microsoft.com/office/drawing/2014/main" id="{665BEDE4-B63F-CA85-4EF0-3D54EF6C28B0}"/>
                  </a:ext>
                </a:extLst>
              </p:cNvPr>
              <p:cNvCxnSpPr/>
              <p:nvPr/>
            </p:nvCxnSpPr>
            <p:spPr bwMode="auto">
              <a:xfrm rot="5400000">
                <a:off x="1507908" y="3493428"/>
                <a:ext cx="684000" cy="684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線矢印コネクタ 86">
                <a:extLst>
                  <a:ext uri="{FF2B5EF4-FFF2-40B4-BE49-F238E27FC236}">
                    <a16:creationId xmlns:a16="http://schemas.microsoft.com/office/drawing/2014/main" id="{47A6C28F-C5C8-F909-9C16-A9BAC3668608}"/>
                  </a:ext>
                </a:extLst>
              </p:cNvPr>
              <p:cNvCxnSpPr/>
              <p:nvPr/>
            </p:nvCxnSpPr>
            <p:spPr bwMode="auto">
              <a:xfrm rot="10800000">
                <a:off x="2320398" y="3441328"/>
                <a:ext cx="1440000" cy="104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テキスト ボックス 34">
                <a:extLst>
                  <a:ext uri="{FF2B5EF4-FFF2-40B4-BE49-F238E27FC236}">
                    <a16:creationId xmlns:a16="http://schemas.microsoft.com/office/drawing/2014/main" id="{A0FCA0C9-AFF2-9354-BBB8-F9D26C2994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8279" y="3075921"/>
                <a:ext cx="969507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dirty="0">
                    <a:cs typeface="Arial" pitchFamily="34" charset="0"/>
                  </a:rPr>
                  <a:t>2.0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89" name="テキスト ボックス 34">
                <a:extLst>
                  <a:ext uri="{FF2B5EF4-FFF2-40B4-BE49-F238E27FC236}">
                    <a16:creationId xmlns:a16="http://schemas.microsoft.com/office/drawing/2014/main" id="{F6172DA8-4313-6C9E-8F5F-6433817AB6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616" y="5800286"/>
                <a:ext cx="1197725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0.25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cxnSp>
            <p:nvCxnSpPr>
              <p:cNvPr id="90" name="直線矢印コネクタ 89">
                <a:extLst>
                  <a:ext uri="{FF2B5EF4-FFF2-40B4-BE49-F238E27FC236}">
                    <a16:creationId xmlns:a16="http://schemas.microsoft.com/office/drawing/2014/main" id="{D51F33AE-59D3-06D7-DE54-C60A360A17F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5218496"/>
                <a:ext cx="0" cy="324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線矢印コネクタ 90">
                <a:extLst>
                  <a:ext uri="{FF2B5EF4-FFF2-40B4-BE49-F238E27FC236}">
                    <a16:creationId xmlns:a16="http://schemas.microsoft.com/office/drawing/2014/main" id="{04B6305E-DEC3-E1CF-44DF-7B8EB56F271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5554305"/>
                <a:ext cx="0" cy="216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線矢印コネクタ 91">
                <a:extLst>
                  <a:ext uri="{FF2B5EF4-FFF2-40B4-BE49-F238E27FC236}">
                    <a16:creationId xmlns:a16="http://schemas.microsoft.com/office/drawing/2014/main" id="{67E4DDDB-4D22-AC2B-C27F-0A880273626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5808074"/>
                <a:ext cx="0" cy="216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9E07EF7C-E176-71F2-9C47-D7DF789C237A}"/>
                </a:ext>
              </a:extLst>
            </p:cNvPr>
            <p:cNvGrpSpPr/>
            <p:nvPr/>
          </p:nvGrpSpPr>
          <p:grpSpPr>
            <a:xfrm>
              <a:off x="6013916" y="4772239"/>
              <a:ext cx="2785442" cy="646331"/>
              <a:chOff x="6076960" y="4603014"/>
              <a:chExt cx="2785442" cy="646331"/>
            </a:xfrm>
          </p:grpSpPr>
          <p:sp>
            <p:nvSpPr>
              <p:cNvPr id="76" name="テキスト ボックス 155">
                <a:extLst>
                  <a:ext uri="{FF2B5EF4-FFF2-40B4-BE49-F238E27FC236}">
                    <a16:creationId xmlns:a16="http://schemas.microsoft.com/office/drawing/2014/main" id="{B6AFD436-73EC-C53D-9160-9E4537FB13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8340" y="4603014"/>
                <a:ext cx="2424062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dirty="0">
                    <a:cs typeface="Arial" pitchFamily="34" charset="0"/>
                  </a:rPr>
                  <a:t>Insulation layer</a:t>
                </a:r>
                <a:r>
                  <a:rPr lang="ja-JP" altLang="en-US" dirty="0">
                    <a:cs typeface="Arial" pitchFamily="34" charset="0"/>
                  </a:rPr>
                  <a:t> </a:t>
                </a:r>
                <a:r>
                  <a:rPr lang="en-US" altLang="ja-JP" dirty="0">
                    <a:cs typeface="Arial" pitchFamily="34" charset="0"/>
                  </a:rPr>
                  <a:t>(SiO</a:t>
                </a:r>
                <a:r>
                  <a:rPr lang="en-US" altLang="ja-JP" baseline="-25000" dirty="0">
                    <a:cs typeface="Arial" pitchFamily="34" charset="0"/>
                  </a:rPr>
                  <a:t>2</a:t>
                </a:r>
                <a:r>
                  <a:rPr lang="en-US" altLang="ja-JP" dirty="0">
                    <a:cs typeface="Arial" pitchFamily="34" charset="0"/>
                  </a:rPr>
                  <a:t>)</a:t>
                </a:r>
              </a:p>
              <a:p>
                <a:r>
                  <a:rPr lang="en-US" altLang="ja-JP" i="1" dirty="0">
                    <a:cs typeface="Arial" pitchFamily="34" charset="0"/>
                  </a:rPr>
                  <a:t>ρ</a:t>
                </a:r>
                <a:r>
                  <a:rPr lang="en-US" altLang="ja-JP" dirty="0">
                    <a:cs typeface="Arial" pitchFamily="34" charset="0"/>
                  </a:rPr>
                  <a:t> = 2.65 g/cm</a:t>
                </a:r>
                <a:r>
                  <a:rPr lang="en-US" altLang="ja-JP" baseline="30000" dirty="0">
                    <a:cs typeface="Arial" pitchFamily="34" charset="0"/>
                  </a:rPr>
                  <a:t>3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77" name="正方形/長方形 76">
                <a:extLst>
                  <a:ext uri="{FF2B5EF4-FFF2-40B4-BE49-F238E27FC236}">
                    <a16:creationId xmlns:a16="http://schemas.microsoft.com/office/drawing/2014/main" id="{6F492692-B365-EFEE-B239-39549415F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6960" y="4680767"/>
                <a:ext cx="288000" cy="216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 sz="1200" dirty="0">
                  <a:cs typeface="Arial" pitchFamily="34" charset="0"/>
                </a:endParaRPr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C0AA028B-DA7A-2B72-82A2-F9D44938AFEE}"/>
                </a:ext>
              </a:extLst>
            </p:cNvPr>
            <p:cNvGrpSpPr/>
            <p:nvPr/>
          </p:nvGrpSpPr>
          <p:grpSpPr>
            <a:xfrm>
              <a:off x="6013917" y="3356959"/>
              <a:ext cx="3916070" cy="646331"/>
              <a:chOff x="6076961" y="3719175"/>
              <a:chExt cx="3916070" cy="646331"/>
            </a:xfrm>
          </p:grpSpPr>
          <p:sp>
            <p:nvSpPr>
              <p:cNvPr id="74" name="正方形/長方形 73">
                <a:extLst>
                  <a:ext uri="{FF2B5EF4-FFF2-40B4-BE49-F238E27FC236}">
                    <a16:creationId xmlns:a16="http://schemas.microsoft.com/office/drawing/2014/main" id="{D7CDA821-5DB1-D907-1CCE-FE40C6CFD7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6961" y="3796928"/>
                <a:ext cx="288000" cy="216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 sz="1200" dirty="0">
                  <a:cs typeface="Arial" pitchFamily="34" charset="0"/>
                </a:endParaRPr>
              </a:p>
            </p:txBody>
          </p:sp>
          <p:sp>
            <p:nvSpPr>
              <p:cNvPr id="75" name="テキスト ボックス 159">
                <a:extLst>
                  <a:ext uri="{FF2B5EF4-FFF2-40B4-BE49-F238E27FC236}">
                    <a16:creationId xmlns:a16="http://schemas.microsoft.com/office/drawing/2014/main" id="{4B966E85-8ACA-9FCC-233D-3A00471006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8340" y="3719175"/>
                <a:ext cx="3554691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dirty="0">
                    <a:cs typeface="Arial" pitchFamily="34" charset="0"/>
                  </a:rPr>
                  <a:t>Package layer</a:t>
                </a:r>
                <a:r>
                  <a:rPr lang="ja-JP" altLang="en-US" dirty="0">
                    <a:cs typeface="Arial" pitchFamily="34" charset="0"/>
                  </a:rPr>
                  <a:t> </a:t>
                </a:r>
                <a:r>
                  <a:rPr lang="en-US" altLang="ja-JP" dirty="0">
                    <a:cs typeface="Arial" pitchFamily="34" charset="0"/>
                  </a:rPr>
                  <a:t>(Epoxy, C</a:t>
                </a:r>
                <a:r>
                  <a:rPr lang="en-US" altLang="ja-JP" baseline="-25000" dirty="0">
                    <a:cs typeface="Arial" pitchFamily="34" charset="0"/>
                  </a:rPr>
                  <a:t>18</a:t>
                </a:r>
                <a:r>
                  <a:rPr lang="en-US" altLang="ja-JP" dirty="0">
                    <a:cs typeface="Arial" pitchFamily="34" charset="0"/>
                  </a:rPr>
                  <a:t>H</a:t>
                </a:r>
                <a:r>
                  <a:rPr lang="en-US" altLang="ja-JP" baseline="-25000" dirty="0">
                    <a:cs typeface="Arial" pitchFamily="34" charset="0"/>
                  </a:rPr>
                  <a:t>19</a:t>
                </a:r>
                <a:r>
                  <a:rPr lang="en-US" altLang="ja-JP" dirty="0">
                    <a:cs typeface="Arial" pitchFamily="34" charset="0"/>
                  </a:rPr>
                  <a:t>O</a:t>
                </a:r>
                <a:r>
                  <a:rPr lang="en-US" altLang="ja-JP" baseline="-25000" dirty="0">
                    <a:cs typeface="Arial" pitchFamily="34" charset="0"/>
                  </a:rPr>
                  <a:t>5</a:t>
                </a:r>
                <a:r>
                  <a:rPr lang="en-US" altLang="ja-JP" dirty="0">
                    <a:cs typeface="Arial" pitchFamily="34" charset="0"/>
                  </a:rPr>
                  <a:t>)</a:t>
                </a:r>
              </a:p>
              <a:p>
                <a:r>
                  <a:rPr lang="en-US" altLang="ja-JP" i="1" dirty="0">
                    <a:cs typeface="Arial" pitchFamily="34" charset="0"/>
                  </a:rPr>
                  <a:t>ρ</a:t>
                </a:r>
                <a:r>
                  <a:rPr lang="en-US" altLang="ja-JP" dirty="0">
                    <a:cs typeface="Arial" pitchFamily="34" charset="0"/>
                  </a:rPr>
                  <a:t> = 1.85 g/cm</a:t>
                </a:r>
                <a:r>
                  <a:rPr lang="en-US" altLang="ja-JP" baseline="30000" dirty="0">
                    <a:cs typeface="Arial" pitchFamily="34" charset="0"/>
                  </a:rPr>
                  <a:t>3</a:t>
                </a:r>
                <a:endParaRPr lang="ja-JP" altLang="en-US" dirty="0">
                  <a:cs typeface="Arial" pitchFamily="34" charset="0"/>
                </a:endParaRPr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6B802D9C-FA49-E3CE-ABFA-6F13BE97719F}"/>
                </a:ext>
              </a:extLst>
            </p:cNvPr>
            <p:cNvGrpSpPr/>
            <p:nvPr/>
          </p:nvGrpSpPr>
          <p:grpSpPr>
            <a:xfrm>
              <a:off x="6013917" y="6187519"/>
              <a:ext cx="2660966" cy="646331"/>
              <a:chOff x="6076961" y="5205289"/>
              <a:chExt cx="2660966" cy="646331"/>
            </a:xfrm>
          </p:grpSpPr>
          <p:sp>
            <p:nvSpPr>
              <p:cNvPr id="72" name="テキスト ボックス 150">
                <a:extLst>
                  <a:ext uri="{FF2B5EF4-FFF2-40B4-BE49-F238E27FC236}">
                    <a16:creationId xmlns:a16="http://schemas.microsoft.com/office/drawing/2014/main" id="{FD5AF479-5F3C-774C-8477-36A14BA916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7297" y="5205289"/>
                <a:ext cx="2300630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dirty="0">
                    <a:cs typeface="Arial" pitchFamily="34" charset="0"/>
                  </a:rPr>
                  <a:t>Silicon substrate</a:t>
                </a:r>
                <a:r>
                  <a:rPr lang="ja-JP" altLang="en-US" dirty="0">
                    <a:cs typeface="Arial" pitchFamily="34" charset="0"/>
                  </a:rPr>
                  <a:t> </a:t>
                </a:r>
                <a:r>
                  <a:rPr lang="en-US" altLang="ja-JP" dirty="0">
                    <a:cs typeface="Arial" pitchFamily="34" charset="0"/>
                  </a:rPr>
                  <a:t>(Si)</a:t>
                </a:r>
              </a:p>
              <a:p>
                <a:r>
                  <a:rPr lang="en-US" altLang="ja-JP" i="1" dirty="0">
                    <a:cs typeface="Arial" pitchFamily="34" charset="0"/>
                  </a:rPr>
                  <a:t>ρ</a:t>
                </a:r>
                <a:r>
                  <a:rPr lang="en-US" altLang="ja-JP" dirty="0">
                    <a:cs typeface="Arial" pitchFamily="34" charset="0"/>
                  </a:rPr>
                  <a:t> = 2.329 g/cm</a:t>
                </a:r>
                <a:r>
                  <a:rPr lang="en-US" altLang="ja-JP" baseline="30000" dirty="0">
                    <a:cs typeface="Arial" pitchFamily="34" charset="0"/>
                  </a:rPr>
                  <a:t>3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73" name="正方形/長方形 72">
                <a:extLst>
                  <a:ext uri="{FF2B5EF4-FFF2-40B4-BE49-F238E27FC236}">
                    <a16:creationId xmlns:a16="http://schemas.microsoft.com/office/drawing/2014/main" id="{3205D0E8-88E1-A528-A913-DF59256EE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6961" y="5283042"/>
                <a:ext cx="288000" cy="21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 sz="1200" dirty="0">
                  <a:cs typeface="Arial" pitchFamily="34" charset="0"/>
                </a:endParaRPr>
              </a:p>
            </p:txBody>
          </p:sp>
        </p:grp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3A8987B9-5A3E-D812-2FD2-A2AB18665EB5}"/>
                </a:ext>
              </a:extLst>
            </p:cNvPr>
            <p:cNvGrpSpPr/>
            <p:nvPr/>
          </p:nvGrpSpPr>
          <p:grpSpPr>
            <a:xfrm>
              <a:off x="6013918" y="5479879"/>
              <a:ext cx="2037398" cy="646331"/>
              <a:chOff x="6076962" y="4908070"/>
              <a:chExt cx="2037398" cy="646331"/>
            </a:xfrm>
          </p:grpSpPr>
          <p:sp>
            <p:nvSpPr>
              <p:cNvPr id="70" name="テキスト ボックス 150">
                <a:extLst>
                  <a:ext uri="{FF2B5EF4-FFF2-40B4-BE49-F238E27FC236}">
                    <a16:creationId xmlns:a16="http://schemas.microsoft.com/office/drawing/2014/main" id="{F34D09D4-8D08-351B-090B-38701018EE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7298" y="4908070"/>
                <a:ext cx="1677062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dirty="0">
                    <a:cs typeface="Arial" pitchFamily="34" charset="0"/>
                  </a:rPr>
                  <a:t>STI (SiO</a:t>
                </a:r>
                <a:r>
                  <a:rPr lang="en-US" altLang="ja-JP" baseline="-25000" dirty="0">
                    <a:cs typeface="Arial" pitchFamily="34" charset="0"/>
                  </a:rPr>
                  <a:t>2</a:t>
                </a:r>
                <a:r>
                  <a:rPr lang="en-US" altLang="ja-JP" dirty="0">
                    <a:cs typeface="Arial" pitchFamily="34" charset="0"/>
                  </a:rPr>
                  <a:t>)</a:t>
                </a:r>
              </a:p>
              <a:p>
                <a:r>
                  <a:rPr lang="en-US" altLang="ja-JP" i="1" dirty="0">
                    <a:cs typeface="Arial" pitchFamily="34" charset="0"/>
                  </a:rPr>
                  <a:t>ρ</a:t>
                </a:r>
                <a:r>
                  <a:rPr lang="en-US" altLang="ja-JP" dirty="0">
                    <a:cs typeface="Arial" pitchFamily="34" charset="0"/>
                  </a:rPr>
                  <a:t> = 2.65 g/cm</a:t>
                </a:r>
                <a:r>
                  <a:rPr lang="en-US" altLang="ja-JP" baseline="30000" dirty="0">
                    <a:cs typeface="Arial" pitchFamily="34" charset="0"/>
                  </a:rPr>
                  <a:t>3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71" name="正方形/長方形 70">
                <a:extLst>
                  <a:ext uri="{FF2B5EF4-FFF2-40B4-BE49-F238E27FC236}">
                    <a16:creationId xmlns:a16="http://schemas.microsoft.com/office/drawing/2014/main" id="{0E952E27-3889-CBE0-375B-E397CB0470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6962" y="4985823"/>
                <a:ext cx="288000" cy="216000"/>
              </a:xfrm>
              <a:prstGeom prst="rect">
                <a:avLst/>
              </a:prstGeom>
              <a:solidFill>
                <a:srgbClr val="BEB76B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 sz="1200" dirty="0">
                  <a:cs typeface="Arial" pitchFamily="34" charset="0"/>
                </a:endParaRPr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8F37B64A-C765-F6F5-A976-786D1CB3C3BE}"/>
                </a:ext>
              </a:extLst>
            </p:cNvPr>
            <p:cNvGrpSpPr/>
            <p:nvPr/>
          </p:nvGrpSpPr>
          <p:grpSpPr>
            <a:xfrm>
              <a:off x="6013918" y="4064599"/>
              <a:ext cx="3692294" cy="646331"/>
              <a:chOff x="5926620" y="3643269"/>
              <a:chExt cx="3692294" cy="646331"/>
            </a:xfrm>
          </p:grpSpPr>
          <p:grpSp>
            <p:nvGrpSpPr>
              <p:cNvPr id="66" name="グループ化 65">
                <a:extLst>
                  <a:ext uri="{FF2B5EF4-FFF2-40B4-BE49-F238E27FC236}">
                    <a16:creationId xmlns:a16="http://schemas.microsoft.com/office/drawing/2014/main" id="{3C345437-9ADE-67F4-1EA7-017D17DDEC7B}"/>
                  </a:ext>
                </a:extLst>
              </p:cNvPr>
              <p:cNvGrpSpPr/>
              <p:nvPr/>
            </p:nvGrpSpPr>
            <p:grpSpPr>
              <a:xfrm>
                <a:off x="5926620" y="3643269"/>
                <a:ext cx="3561294" cy="646331"/>
                <a:chOff x="6076962" y="4008822"/>
                <a:chExt cx="3561294" cy="646331"/>
              </a:xfrm>
            </p:grpSpPr>
            <p:sp>
              <p:nvSpPr>
                <p:cNvPr id="68" name="テキスト ボックス 157">
                  <a:extLst>
                    <a:ext uri="{FF2B5EF4-FFF2-40B4-BE49-F238E27FC236}">
                      <a16:creationId xmlns:a16="http://schemas.microsoft.com/office/drawing/2014/main" id="{3A466B3F-327C-8477-6367-87B911D9BDF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38341" y="4008822"/>
                  <a:ext cx="3199915" cy="646331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ja-JP" dirty="0">
                      <a:cs typeface="Arial" pitchFamily="34" charset="0"/>
                    </a:rPr>
                    <a:t>Metal layer</a:t>
                  </a:r>
                  <a:r>
                    <a:rPr lang="ja-JP" altLang="en-US" dirty="0">
                      <a:cs typeface="Arial" pitchFamily="34" charset="0"/>
                    </a:rPr>
                    <a:t> </a:t>
                  </a:r>
                  <a:r>
                    <a:rPr lang="en-US" altLang="ja-JP" dirty="0">
                      <a:cs typeface="Arial" pitchFamily="34" charset="0"/>
                    </a:rPr>
                    <a:t>(Cu : SiO</a:t>
                  </a:r>
                  <a:r>
                    <a:rPr lang="en-US" altLang="ja-JP" baseline="-25000" dirty="0">
                      <a:cs typeface="Arial" pitchFamily="34" charset="0"/>
                    </a:rPr>
                    <a:t>2</a:t>
                  </a:r>
                  <a:r>
                    <a:rPr lang="en-US" altLang="ja-JP" dirty="0">
                      <a:cs typeface="Arial" pitchFamily="34" charset="0"/>
                    </a:rPr>
                    <a:t> = 3 : 1)</a:t>
                  </a:r>
                </a:p>
                <a:p>
                  <a:r>
                    <a:rPr lang="en-US" altLang="ja-JP" i="1" dirty="0">
                      <a:cs typeface="Arial" pitchFamily="34" charset="0"/>
                    </a:rPr>
                    <a:t>ρ</a:t>
                  </a:r>
                  <a:r>
                    <a:rPr lang="en-US" altLang="ja-JP" dirty="0">
                      <a:cs typeface="Arial" pitchFamily="34" charset="0"/>
                    </a:rPr>
                    <a:t> = 5.69 g/cm</a:t>
                  </a:r>
                  <a:r>
                    <a:rPr lang="en-US" altLang="ja-JP" baseline="30000" dirty="0">
                      <a:cs typeface="Arial" pitchFamily="34" charset="0"/>
                    </a:rPr>
                    <a:t>3</a:t>
                  </a:r>
                  <a:endParaRPr lang="ja-JP" altLang="en-US" dirty="0">
                    <a:cs typeface="Arial" pitchFamily="34" charset="0"/>
                  </a:endParaRPr>
                </a:p>
              </p:txBody>
            </p:sp>
            <p:sp>
              <p:nvSpPr>
                <p:cNvPr id="69" name="正方形/長方形 68">
                  <a:extLst>
                    <a:ext uri="{FF2B5EF4-FFF2-40B4-BE49-F238E27FC236}">
                      <a16:creationId xmlns:a16="http://schemas.microsoft.com/office/drawing/2014/main" id="{D8B0599C-B3B5-31B8-F6A5-994E757A4D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76962" y="4086575"/>
                  <a:ext cx="288000" cy="216000"/>
                </a:xfrm>
                <a:prstGeom prst="rect">
                  <a:avLst/>
                </a:prstGeom>
                <a:solidFill>
                  <a:srgbClr val="D69E7C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ja-JP" altLang="en-US" sz="1200" dirty="0">
                    <a:cs typeface="Arial" pitchFamily="34" charset="0"/>
                  </a:endParaRPr>
                </a:p>
              </p:txBody>
            </p:sp>
          </p:grpSp>
          <p:sp>
            <p:nvSpPr>
              <p:cNvPr id="67" name="テキスト ボックス 66">
                <a:extLst>
                  <a:ext uri="{FF2B5EF4-FFF2-40B4-BE49-F238E27FC236}">
                    <a16:creationId xmlns:a16="http://schemas.microsoft.com/office/drawing/2014/main" id="{FDF94BC8-20F6-6B42-1563-47B0436EA443}"/>
                  </a:ext>
                </a:extLst>
              </p:cNvPr>
              <p:cNvSpPr txBox="1"/>
              <p:nvPr/>
            </p:nvSpPr>
            <p:spPr>
              <a:xfrm>
                <a:off x="8509315" y="3930790"/>
                <a:ext cx="11095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600" dirty="0">
                    <a:cs typeface="Arial" pitchFamily="34" charset="0"/>
                  </a:rPr>
                  <a:t>* mol ratio</a:t>
                </a:r>
                <a:endParaRPr kumimoji="1" lang="ja-JP" altLang="en-US" sz="1600" dirty="0"/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4E8A0E96-6D79-4752-46CE-9F3C15C2D1C7}"/>
                </a:ext>
              </a:extLst>
            </p:cNvPr>
            <p:cNvGrpSpPr/>
            <p:nvPr/>
          </p:nvGrpSpPr>
          <p:grpSpPr>
            <a:xfrm>
              <a:off x="1444719" y="3008572"/>
              <a:ext cx="2659702" cy="1177920"/>
              <a:chOff x="1444719" y="2924682"/>
              <a:chExt cx="2659702" cy="1177920"/>
            </a:xfrm>
          </p:grpSpPr>
          <p:cxnSp>
            <p:nvCxnSpPr>
              <p:cNvPr id="62" name="直線矢印コネクタ 61">
                <a:extLst>
                  <a:ext uri="{FF2B5EF4-FFF2-40B4-BE49-F238E27FC236}">
                    <a16:creationId xmlns:a16="http://schemas.microsoft.com/office/drawing/2014/main" id="{11627D89-264C-2F9E-36B7-C690F63F51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2963" y="3382602"/>
                <a:ext cx="0" cy="720000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prstDash val="sysDot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8394F110-1B5A-D44D-7EF4-24D5DF94F162}"/>
                  </a:ext>
                </a:extLst>
              </p:cNvPr>
              <p:cNvSpPr txBox="1"/>
              <p:nvPr/>
            </p:nvSpPr>
            <p:spPr>
              <a:xfrm>
                <a:off x="1444719" y="2924682"/>
                <a:ext cx="265970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sz="2400" b="1" dirty="0">
                    <a:solidFill>
                      <a:srgbClr val="FFC000"/>
                    </a:solidFill>
                  </a:rPr>
                  <a:t>線源粒子入射方向</a:t>
                </a:r>
              </a:p>
            </p:txBody>
          </p:sp>
        </p:grp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FF44F252-BE4E-EEC6-3420-D2D22898CB5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7525" y="3461068"/>
              <a:ext cx="837540" cy="826448"/>
              <a:chOff x="2349451" y="1962929"/>
              <a:chExt cx="1318560" cy="1301098"/>
            </a:xfrm>
          </p:grpSpPr>
          <p:grpSp>
            <p:nvGrpSpPr>
              <p:cNvPr id="54" name="グループ化 53">
                <a:extLst>
                  <a:ext uri="{FF2B5EF4-FFF2-40B4-BE49-F238E27FC236}">
                    <a16:creationId xmlns:a16="http://schemas.microsoft.com/office/drawing/2014/main" id="{A9E0C668-500B-A270-093F-86A6CAFBD31D}"/>
                  </a:ext>
                </a:extLst>
              </p:cNvPr>
              <p:cNvGrpSpPr/>
              <p:nvPr/>
            </p:nvGrpSpPr>
            <p:grpSpPr>
              <a:xfrm>
                <a:off x="2444011" y="2396359"/>
                <a:ext cx="1224000" cy="720000"/>
                <a:chOff x="6455838" y="295710"/>
                <a:chExt cx="1224000" cy="720000"/>
              </a:xfrm>
            </p:grpSpPr>
            <p:cxnSp>
              <p:nvCxnSpPr>
                <p:cNvPr id="58" name="直線矢印コネクタ 57">
                  <a:extLst>
                    <a:ext uri="{FF2B5EF4-FFF2-40B4-BE49-F238E27FC236}">
                      <a16:creationId xmlns:a16="http://schemas.microsoft.com/office/drawing/2014/main" id="{24675730-D714-6087-0B8C-55106D76DF0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6959838" y="295710"/>
                  <a:ext cx="0" cy="72000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headEnd type="none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線矢印コネクタ 58">
                  <a:extLst>
                    <a:ext uri="{FF2B5EF4-FFF2-40B4-BE49-F238E27FC236}">
                      <a16:creationId xmlns:a16="http://schemas.microsoft.com/office/drawing/2014/main" id="{B8BF8132-5A37-53BC-64C0-66B7E0007BD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5400000">
                  <a:off x="6455838" y="295710"/>
                  <a:ext cx="504000" cy="50400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headEnd type="none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線矢印コネクタ 59">
                  <a:extLst>
                    <a:ext uri="{FF2B5EF4-FFF2-40B4-BE49-F238E27FC236}">
                      <a16:creationId xmlns:a16="http://schemas.microsoft.com/office/drawing/2014/main" id="{FDAAB3DA-B51D-44E4-48BD-E58542B96AB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10800000">
                  <a:off x="6959838" y="295711"/>
                  <a:ext cx="720000" cy="1043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headEnd type="stealt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4C243870-8A8D-6BCF-DAA4-17CF8E86FF6A}"/>
                  </a:ext>
                </a:extLst>
              </p:cNvPr>
              <p:cNvSpPr txBox="1"/>
              <p:nvPr/>
            </p:nvSpPr>
            <p:spPr>
              <a:xfrm>
                <a:off x="3207485" y="1962929"/>
                <a:ext cx="432048" cy="484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400" dirty="0">
                    <a:solidFill>
                      <a:schemeClr val="bg1">
                        <a:lumMod val="50000"/>
                      </a:schemeClr>
                    </a:solidFill>
                  </a:rPr>
                  <a:t>x</a:t>
                </a:r>
                <a:endParaRPr kumimoji="1" lang="ja-JP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C47C8FD5-871E-9C29-F1ED-E4784EC3B793}"/>
                  </a:ext>
                </a:extLst>
              </p:cNvPr>
              <p:cNvSpPr txBox="1"/>
              <p:nvPr/>
            </p:nvSpPr>
            <p:spPr>
              <a:xfrm>
                <a:off x="2349451" y="2265676"/>
                <a:ext cx="432048" cy="4845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400" dirty="0">
                    <a:solidFill>
                      <a:schemeClr val="bg1">
                        <a:lumMod val="50000"/>
                      </a:schemeClr>
                    </a:solidFill>
                  </a:rPr>
                  <a:t>y</a:t>
                </a:r>
                <a:endParaRPr kumimoji="1" lang="ja-JP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3A8F86F2-0E34-8271-6AF5-2F65EDB85557}"/>
                  </a:ext>
                </a:extLst>
              </p:cNvPr>
              <p:cNvSpPr txBox="1"/>
              <p:nvPr/>
            </p:nvSpPr>
            <p:spPr>
              <a:xfrm>
                <a:off x="2949152" y="2779486"/>
                <a:ext cx="432048" cy="484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chemeClr val="bg1">
                        <a:lumMod val="50000"/>
                      </a:schemeClr>
                    </a:solidFill>
                  </a:rPr>
                  <a:t>z</a:t>
                </a:r>
                <a:endParaRPr kumimoji="1" lang="ja-JP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C0C4049F-975E-A8B0-4EE4-174DC60F97C9}"/>
                </a:ext>
              </a:extLst>
            </p:cNvPr>
            <p:cNvCxnSpPr/>
            <p:nvPr/>
          </p:nvCxnSpPr>
          <p:spPr>
            <a:xfrm>
              <a:off x="812158" y="6110515"/>
              <a:ext cx="792000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D7E87E81-7891-BFB7-F0EC-87F1F2A88F57}"/>
                </a:ext>
              </a:extLst>
            </p:cNvPr>
            <p:cNvSpPr txBox="1"/>
            <p:nvPr/>
          </p:nvSpPr>
          <p:spPr>
            <a:xfrm>
              <a:off x="-13493" y="5955862"/>
              <a:ext cx="8803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solidFill>
                    <a:schemeClr val="bg1">
                      <a:lumMod val="50000"/>
                    </a:schemeClr>
                  </a:solidFill>
                </a:rPr>
                <a:t>z = 0 </a:t>
              </a:r>
              <a:r>
                <a:rPr kumimoji="1" lang="el-GR" altLang="ja-JP" sz="1400" dirty="0">
                  <a:solidFill>
                    <a:schemeClr val="bg1">
                      <a:lumMod val="50000"/>
                    </a:schemeClr>
                  </a:solidFill>
                </a:rPr>
                <a:t>μ</a:t>
              </a:r>
              <a:r>
                <a:rPr kumimoji="1" lang="en-US" altLang="ja-JP" sz="1400" dirty="0">
                  <a:solidFill>
                    <a:schemeClr val="bg1">
                      <a:lumMod val="50000"/>
                    </a:schemeClr>
                  </a:solidFill>
                </a:rPr>
                <a:t>m</a:t>
              </a:r>
              <a:endParaRPr kumimoji="1" lang="ja-JP" altLang="en-US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C1B06700-93AB-1AB2-4C5F-F5C61E70658D}"/>
                </a:ext>
              </a:extLst>
            </p:cNvPr>
            <p:cNvGrpSpPr/>
            <p:nvPr/>
          </p:nvGrpSpPr>
          <p:grpSpPr>
            <a:xfrm>
              <a:off x="4115402" y="4390791"/>
              <a:ext cx="1681473" cy="1555200"/>
              <a:chOff x="4115402" y="4390791"/>
              <a:chExt cx="1681473" cy="1555200"/>
            </a:xfrm>
          </p:grpSpPr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8A79FE77-398A-4E45-1610-C201616E0AB4}"/>
                  </a:ext>
                </a:extLst>
              </p:cNvPr>
              <p:cNvSpPr/>
              <p:nvPr/>
            </p:nvSpPr>
            <p:spPr>
              <a:xfrm>
                <a:off x="4115402" y="4390791"/>
                <a:ext cx="1522799" cy="1555200"/>
              </a:xfrm>
              <a:prstGeom prst="rect">
                <a:avLst/>
              </a:prstGeom>
              <a:solidFill>
                <a:srgbClr val="BEB76B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2" name="直線矢印コネクタ 41">
                <a:extLst>
                  <a:ext uri="{FF2B5EF4-FFF2-40B4-BE49-F238E27FC236}">
                    <a16:creationId xmlns:a16="http://schemas.microsoft.com/office/drawing/2014/main" id="{A7857327-84DC-87EC-83AE-B18527836B9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5142645" y="5045316"/>
                <a:ext cx="0" cy="252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矢印コネクタ 42">
                <a:extLst>
                  <a:ext uri="{FF2B5EF4-FFF2-40B4-BE49-F238E27FC236}">
                    <a16:creationId xmlns:a16="http://schemas.microsoft.com/office/drawing/2014/main" id="{BAEF5544-BD05-F284-4AD2-AF7BE6C0C8E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696191" y="4974813"/>
                <a:ext cx="3600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テキスト ボックス 34">
                <a:extLst>
                  <a:ext uri="{FF2B5EF4-FFF2-40B4-BE49-F238E27FC236}">
                    <a16:creationId xmlns:a16="http://schemas.microsoft.com/office/drawing/2014/main" id="{6B93AD7C-87A8-8C7A-6536-C83CEE585D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4288" y="4582820"/>
                <a:ext cx="1053098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dirty="0">
                    <a:cs typeface="Times New Roman" panose="02020603050405020304" pitchFamily="18" charset="0"/>
                  </a:rPr>
                  <a:t>0.2 </a:t>
                </a:r>
                <a:r>
                  <a:rPr lang="en-US" altLang="ja-JP" dirty="0" err="1">
                    <a:cs typeface="Times New Roman" panose="02020603050405020304" pitchFamily="18" charset="0"/>
                  </a:rPr>
                  <a:t>μm</a:t>
                </a:r>
                <a:endParaRPr lang="ja-JP" altLang="en-US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テキスト ボックス 34">
                <a:extLst>
                  <a:ext uri="{FF2B5EF4-FFF2-40B4-BE49-F238E27FC236}">
                    <a16:creationId xmlns:a16="http://schemas.microsoft.com/office/drawing/2014/main" id="{ADD32ABD-ABEA-585B-23FA-69878E4ACA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3777" y="5291466"/>
                <a:ext cx="1053098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dirty="0">
                    <a:cs typeface="Times New Roman" panose="02020603050405020304" pitchFamily="18" charset="0"/>
                  </a:rPr>
                  <a:t>0.1 </a:t>
                </a:r>
                <a:r>
                  <a:rPr lang="en-US" altLang="ja-JP" dirty="0" err="1">
                    <a:cs typeface="Times New Roman" panose="02020603050405020304" pitchFamily="18" charset="0"/>
                  </a:rPr>
                  <a:t>μm</a:t>
                </a:r>
                <a:endParaRPr lang="ja-JP" altLang="en-US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4F27D2A0-5AC7-FDC7-5490-00D8D52E5F0E}"/>
                  </a:ext>
                </a:extLst>
              </p:cNvPr>
              <p:cNvSpPr/>
              <p:nvPr/>
            </p:nvSpPr>
            <p:spPr>
              <a:xfrm>
                <a:off x="4696191" y="5042391"/>
                <a:ext cx="361220" cy="252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180135B0-3093-6C50-329E-300A96790BB6}"/>
                </a:ext>
              </a:extLst>
            </p:cNvPr>
            <p:cNvGrpSpPr/>
            <p:nvPr/>
          </p:nvGrpSpPr>
          <p:grpSpPr>
            <a:xfrm>
              <a:off x="4115401" y="6108817"/>
              <a:ext cx="1522800" cy="1212777"/>
              <a:chOff x="4115401" y="6108817"/>
              <a:chExt cx="1522800" cy="1212777"/>
            </a:xfrm>
          </p:grpSpPr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7497E6E7-632E-B1F8-D501-7537318C81D3}"/>
                  </a:ext>
                </a:extLst>
              </p:cNvPr>
              <p:cNvSpPr/>
              <p:nvPr/>
            </p:nvSpPr>
            <p:spPr>
              <a:xfrm>
                <a:off x="4115402" y="6108817"/>
                <a:ext cx="1522799" cy="241205"/>
              </a:xfrm>
              <a:prstGeom prst="rect">
                <a:avLst/>
              </a:prstGeom>
              <a:solidFill>
                <a:srgbClr val="BEB76B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フリーフォーム: 図形 50">
                <a:extLst>
                  <a:ext uri="{FF2B5EF4-FFF2-40B4-BE49-F238E27FC236}">
                    <a16:creationId xmlns:a16="http://schemas.microsoft.com/office/drawing/2014/main" id="{2044577C-9334-1EF8-5B80-98D01C5DA853}"/>
                  </a:ext>
                </a:extLst>
              </p:cNvPr>
              <p:cNvSpPr/>
              <p:nvPr/>
            </p:nvSpPr>
            <p:spPr>
              <a:xfrm>
                <a:off x="4115401" y="6108817"/>
                <a:ext cx="1522800" cy="1212777"/>
              </a:xfrm>
              <a:custGeom>
                <a:avLst/>
                <a:gdLst>
                  <a:gd name="connsiteX0" fmla="*/ 580790 w 1522800"/>
                  <a:gd name="connsiteY0" fmla="*/ 0 h 1212777"/>
                  <a:gd name="connsiteX1" fmla="*/ 942010 w 1522800"/>
                  <a:gd name="connsiteY1" fmla="*/ 0 h 1212777"/>
                  <a:gd name="connsiteX2" fmla="*/ 942010 w 1522800"/>
                  <a:gd name="connsiteY2" fmla="*/ 241204 h 1212777"/>
                  <a:gd name="connsiteX3" fmla="*/ 1522800 w 1522800"/>
                  <a:gd name="connsiteY3" fmla="*/ 241204 h 1212777"/>
                  <a:gd name="connsiteX4" fmla="*/ 1522800 w 1522800"/>
                  <a:gd name="connsiteY4" fmla="*/ 1212777 h 1212777"/>
                  <a:gd name="connsiteX5" fmla="*/ 0 w 1522800"/>
                  <a:gd name="connsiteY5" fmla="*/ 1212777 h 1212777"/>
                  <a:gd name="connsiteX6" fmla="*/ 0 w 1522800"/>
                  <a:gd name="connsiteY6" fmla="*/ 241204 h 1212777"/>
                  <a:gd name="connsiteX7" fmla="*/ 580790 w 1522800"/>
                  <a:gd name="connsiteY7" fmla="*/ 241204 h 1212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2800" h="1212777">
                    <a:moveTo>
                      <a:pt x="580790" y="0"/>
                    </a:moveTo>
                    <a:lnTo>
                      <a:pt x="942010" y="0"/>
                    </a:lnTo>
                    <a:lnTo>
                      <a:pt x="942010" y="241204"/>
                    </a:lnTo>
                    <a:lnTo>
                      <a:pt x="1522800" y="241204"/>
                    </a:lnTo>
                    <a:lnTo>
                      <a:pt x="1522800" y="1212777"/>
                    </a:lnTo>
                    <a:lnTo>
                      <a:pt x="0" y="1212777"/>
                    </a:lnTo>
                    <a:lnTo>
                      <a:pt x="0" y="241204"/>
                    </a:lnTo>
                    <a:lnTo>
                      <a:pt x="580790" y="241204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 sz="1200" dirty="0"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52" name="Text Box 8">
            <a:extLst>
              <a:ext uri="{FF2B5EF4-FFF2-40B4-BE49-F238E27FC236}">
                <a16:creationId xmlns:a16="http://schemas.microsoft.com/office/drawing/2014/main" id="{5E60B107-1E1D-452D-2E97-D2824A719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3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24F2C329-1BCB-56B4-3D7A-0E60CB58F63C}"/>
              </a:ext>
            </a:extLst>
          </p:cNvPr>
          <p:cNvSpPr txBox="1"/>
          <p:nvPr/>
        </p:nvSpPr>
        <p:spPr>
          <a:xfrm>
            <a:off x="198249" y="893997"/>
            <a:ext cx="9777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PHIG-3D</a:t>
            </a:r>
            <a:r>
              <a:rPr lang="ja-JP" altLang="en-US" sz="3200" dirty="0"/>
              <a:t>や</a:t>
            </a:r>
            <a:r>
              <a:rPr lang="en-US" altLang="ja-JP" sz="3200" dirty="0"/>
              <a:t>[T-Track]</a:t>
            </a:r>
            <a:r>
              <a:rPr lang="ja-JP" altLang="en-US" sz="3200" dirty="0"/>
              <a:t>を用いて計算体系を確認する。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687533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38A52E-CECB-6111-7F14-10215D843B4C}"/>
              </a:ext>
            </a:extLst>
          </p:cNvPr>
          <p:cNvSpPr txBox="1"/>
          <p:nvPr/>
        </p:nvSpPr>
        <p:spPr>
          <a:xfrm>
            <a:off x="1672252" y="0"/>
            <a:ext cx="67361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 b="1" dirty="0">
                <a:solidFill>
                  <a:schemeClr val="tx2"/>
                </a:solidFill>
              </a:rPr>
              <a:t>ステップ</a:t>
            </a:r>
            <a:r>
              <a:rPr kumimoji="1" lang="en-US" altLang="ja-JP" sz="4400" b="1" dirty="0">
                <a:solidFill>
                  <a:schemeClr val="tx2"/>
                </a:solidFill>
              </a:rPr>
              <a:t>1: </a:t>
            </a:r>
            <a:r>
              <a:rPr kumimoji="1" lang="ja-JP" altLang="en-US" sz="4400" b="1" dirty="0">
                <a:solidFill>
                  <a:schemeClr val="tx2"/>
                </a:solidFill>
              </a:rPr>
              <a:t>計算体系の編集</a:t>
            </a:r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AB7F3E80-5616-99BA-D328-EA3ABAC38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4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8E73D714-0A71-A069-1336-73D72865B31B}"/>
              </a:ext>
            </a:extLst>
          </p:cNvPr>
          <p:cNvSpPr txBox="1"/>
          <p:nvPr/>
        </p:nvSpPr>
        <p:spPr>
          <a:xfrm>
            <a:off x="198248" y="730909"/>
            <a:ext cx="60096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3200" dirty="0">
                <a:solidFill>
                  <a:srgbClr val="FF0000"/>
                </a:solidFill>
              </a:rPr>
              <a:t>有感領域（セル番号</a:t>
            </a:r>
            <a:r>
              <a:rPr lang="en-US" altLang="ja-JP" sz="3200" dirty="0">
                <a:solidFill>
                  <a:srgbClr val="FF0000"/>
                </a:solidFill>
              </a:rPr>
              <a:t>10</a:t>
            </a:r>
            <a:r>
              <a:rPr lang="ja-JP" altLang="en-US" sz="3200" dirty="0">
                <a:solidFill>
                  <a:srgbClr val="FF0000"/>
                </a:solidFill>
              </a:rPr>
              <a:t>）</a:t>
            </a:r>
            <a:r>
              <a:rPr lang="ja-JP" altLang="en-US" sz="3200" dirty="0"/>
              <a:t>を</a:t>
            </a:r>
            <a:r>
              <a:rPr lang="en-US" altLang="ja-JP" sz="3200" dirty="0"/>
              <a:t>Silicon substrate</a:t>
            </a:r>
            <a:r>
              <a:rPr lang="ja-JP" altLang="en-US" sz="3200" dirty="0"/>
              <a:t>内に定義する。</a:t>
            </a:r>
            <a:endParaRPr kumimoji="1" lang="ja-JP" altLang="en-US" sz="3200" dirty="0"/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5C9573FD-11DC-1532-B52D-AECDC50A829C}"/>
              </a:ext>
            </a:extLst>
          </p:cNvPr>
          <p:cNvSpPr txBox="1"/>
          <p:nvPr/>
        </p:nvSpPr>
        <p:spPr>
          <a:xfrm>
            <a:off x="170678" y="1871944"/>
            <a:ext cx="68173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PHIG-3D</a:t>
            </a:r>
            <a:r>
              <a:rPr lang="ja-JP" altLang="en-US" sz="3200" dirty="0"/>
              <a:t>や</a:t>
            </a:r>
            <a:r>
              <a:rPr lang="en-US" altLang="ja-JP" sz="3200" dirty="0"/>
              <a:t>[T-Track]</a:t>
            </a:r>
            <a:r>
              <a:rPr lang="ja-JP" altLang="en-US" sz="3200" dirty="0"/>
              <a:t>を用いて、</a:t>
            </a:r>
            <a:endParaRPr lang="en-US" altLang="ja-JP" sz="3200" dirty="0"/>
          </a:p>
          <a:p>
            <a:r>
              <a:rPr lang="ja-JP" altLang="en-US" sz="3200" dirty="0"/>
              <a:t>  正しく定義されていることを確認する。</a:t>
            </a:r>
            <a:endParaRPr lang="en-US" altLang="ja-JP" sz="3200" dirty="0"/>
          </a:p>
        </p:txBody>
      </p:sp>
      <p:grpSp>
        <p:nvGrpSpPr>
          <p:cNvPr id="92" name="グループ化 91">
            <a:extLst>
              <a:ext uri="{FF2B5EF4-FFF2-40B4-BE49-F238E27FC236}">
                <a16:creationId xmlns:a16="http://schemas.microsoft.com/office/drawing/2014/main" id="{1168A41D-97C5-7E36-6746-C5AFB7143EFD}"/>
              </a:ext>
            </a:extLst>
          </p:cNvPr>
          <p:cNvGrpSpPr/>
          <p:nvPr/>
        </p:nvGrpSpPr>
        <p:grpSpPr>
          <a:xfrm>
            <a:off x="-13493" y="3008572"/>
            <a:ext cx="9943480" cy="4532917"/>
            <a:chOff x="-13493" y="2924682"/>
            <a:chExt cx="9943480" cy="4532917"/>
          </a:xfrm>
        </p:grpSpPr>
        <p:grpSp>
          <p:nvGrpSpPr>
            <p:cNvPr id="76" name="グループ化 75">
              <a:extLst>
                <a:ext uri="{FF2B5EF4-FFF2-40B4-BE49-F238E27FC236}">
                  <a16:creationId xmlns:a16="http://schemas.microsoft.com/office/drawing/2014/main" id="{ED69276C-E381-4FF1-C005-0A32D693DFAD}"/>
                </a:ext>
              </a:extLst>
            </p:cNvPr>
            <p:cNvGrpSpPr/>
            <p:nvPr/>
          </p:nvGrpSpPr>
          <p:grpSpPr>
            <a:xfrm>
              <a:off x="333258" y="3308617"/>
              <a:ext cx="3989170" cy="3948500"/>
              <a:chOff x="268616" y="3075921"/>
              <a:chExt cx="3989170" cy="3948500"/>
            </a:xfrm>
          </p:grpSpPr>
          <p:sp>
            <p:nvSpPr>
              <p:cNvPr id="178" name="テキスト ボックス 34">
                <a:extLst>
                  <a:ext uri="{FF2B5EF4-FFF2-40B4-BE49-F238E27FC236}">
                    <a16:creationId xmlns:a16="http://schemas.microsoft.com/office/drawing/2014/main" id="{149406A1-24C4-FEA5-75CA-D6E7B8DB05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349" y="4566454"/>
                <a:ext cx="1145992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500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179" name="テキスト ボックス 34">
                <a:extLst>
                  <a:ext uri="{FF2B5EF4-FFF2-40B4-BE49-F238E27FC236}">
                    <a16:creationId xmlns:a16="http://schemas.microsoft.com/office/drawing/2014/main" id="{D1B64C7D-7633-0414-F89C-46144ECC7C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796" y="6420533"/>
                <a:ext cx="1176545" cy="36933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500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180" name="テキスト ボックス 34">
                <a:extLst>
                  <a:ext uri="{FF2B5EF4-FFF2-40B4-BE49-F238E27FC236}">
                    <a16:creationId xmlns:a16="http://schemas.microsoft.com/office/drawing/2014/main" id="{365DA9AE-4325-F533-7702-C8C76EBE08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461" y="5127548"/>
                <a:ext cx="1064880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3.0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181" name="テキスト ボックス 34">
                <a:extLst>
                  <a:ext uri="{FF2B5EF4-FFF2-40B4-BE49-F238E27FC236}">
                    <a16:creationId xmlns:a16="http://schemas.microsoft.com/office/drawing/2014/main" id="{9466D51A-592E-2018-4B30-2690ECE3E8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616" y="5416977"/>
                <a:ext cx="1197725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0.35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cxnSp>
            <p:nvCxnSpPr>
              <p:cNvPr id="182" name="直線矢印コネクタ 181">
                <a:extLst>
                  <a:ext uri="{FF2B5EF4-FFF2-40B4-BE49-F238E27FC236}">
                    <a16:creationId xmlns:a16="http://schemas.microsoft.com/office/drawing/2014/main" id="{6BA3A77B-240D-E698-6534-7B55B9159CA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4259962"/>
                <a:ext cx="0" cy="900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線矢印コネクタ 182">
                <a:extLst>
                  <a:ext uri="{FF2B5EF4-FFF2-40B4-BE49-F238E27FC236}">
                    <a16:creationId xmlns:a16="http://schemas.microsoft.com/office/drawing/2014/main" id="{DE614ED5-CE0C-8BB5-1B10-DDEA203DBA1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6124421"/>
                <a:ext cx="0" cy="900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4" name="グループ化 183">
                <a:extLst>
                  <a:ext uri="{FF2B5EF4-FFF2-40B4-BE49-F238E27FC236}">
                    <a16:creationId xmlns:a16="http://schemas.microsoft.com/office/drawing/2014/main" id="{6100D140-FC44-2A61-1F5A-6B9A49EA4900}"/>
                  </a:ext>
                </a:extLst>
              </p:cNvPr>
              <p:cNvGrpSpPr/>
              <p:nvPr/>
            </p:nvGrpSpPr>
            <p:grpSpPr>
              <a:xfrm>
                <a:off x="1553072" y="3522332"/>
                <a:ext cx="2239685" cy="3482678"/>
                <a:chOff x="3328100" y="515605"/>
                <a:chExt cx="2239685" cy="3482678"/>
              </a:xfrm>
            </p:grpSpPr>
            <p:sp>
              <p:nvSpPr>
                <p:cNvPr id="193" name="平行四辺形 192">
                  <a:extLst>
                    <a:ext uri="{FF2B5EF4-FFF2-40B4-BE49-F238E27FC236}">
                      <a16:creationId xmlns:a16="http://schemas.microsoft.com/office/drawing/2014/main" id="{8A885AB1-F64F-C323-8709-7FDD4FF08188}"/>
                    </a:ext>
                  </a:extLst>
                </p:cNvPr>
                <p:cNvSpPr/>
                <p:nvPr/>
              </p:nvSpPr>
              <p:spPr>
                <a:xfrm rot="16200000" flipH="1">
                  <a:off x="4360510" y="2791008"/>
                  <a:ext cx="1694550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4472AB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94" name="平行四辺形 193">
                  <a:extLst>
                    <a:ext uri="{FF2B5EF4-FFF2-40B4-BE49-F238E27FC236}">
                      <a16:creationId xmlns:a16="http://schemas.microsoft.com/office/drawing/2014/main" id="{F6CC1968-234B-7CC1-B9A4-9F3E1E22D5BC}"/>
                    </a:ext>
                  </a:extLst>
                </p:cNvPr>
                <p:cNvSpPr/>
                <p:nvPr/>
              </p:nvSpPr>
              <p:spPr>
                <a:xfrm rot="16200000" flipH="1">
                  <a:off x="4721785" y="2182244"/>
                  <a:ext cx="972000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999356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95" name="平行四辺形 194">
                  <a:extLst>
                    <a:ext uri="{FF2B5EF4-FFF2-40B4-BE49-F238E27FC236}">
                      <a16:creationId xmlns:a16="http://schemas.microsoft.com/office/drawing/2014/main" id="{375E6509-F1EB-6741-4756-D5296A154CE3}"/>
                    </a:ext>
                  </a:extLst>
                </p:cNvPr>
                <p:cNvSpPr/>
                <p:nvPr/>
              </p:nvSpPr>
              <p:spPr>
                <a:xfrm rot="16200000" flipH="1">
                  <a:off x="4721785" y="1939504"/>
                  <a:ext cx="972000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B2AE9D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96" name="平行四辺形 195">
                  <a:extLst>
                    <a:ext uri="{FF2B5EF4-FFF2-40B4-BE49-F238E27FC236}">
                      <a16:creationId xmlns:a16="http://schemas.microsoft.com/office/drawing/2014/main" id="{A8945048-9BD6-4038-58C5-76157CA1C837}"/>
                    </a:ext>
                  </a:extLst>
                </p:cNvPr>
                <p:cNvSpPr/>
                <p:nvPr/>
              </p:nvSpPr>
              <p:spPr>
                <a:xfrm rot="16200000" flipH="1">
                  <a:off x="4667785" y="1636896"/>
                  <a:ext cx="1080000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AC7F64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97" name="平行四辺形 196">
                  <a:extLst>
                    <a:ext uri="{FF2B5EF4-FFF2-40B4-BE49-F238E27FC236}">
                      <a16:creationId xmlns:a16="http://schemas.microsoft.com/office/drawing/2014/main" id="{F689C936-B842-3872-B90B-DBBD360B98BA}"/>
                    </a:ext>
                  </a:extLst>
                </p:cNvPr>
                <p:cNvSpPr/>
                <p:nvPr/>
              </p:nvSpPr>
              <p:spPr>
                <a:xfrm rot="16200000" flipH="1">
                  <a:off x="4374571" y="989002"/>
                  <a:ext cx="1666428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666666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98" name="正方形/長方形 197">
                  <a:extLst>
                    <a:ext uri="{FF2B5EF4-FFF2-40B4-BE49-F238E27FC236}">
                      <a16:creationId xmlns:a16="http://schemas.microsoft.com/office/drawing/2014/main" id="{C190FA23-0D01-3366-A0D9-014279FDD0BC}"/>
                    </a:ext>
                  </a:extLst>
                </p:cNvPr>
                <p:cNvSpPr/>
                <p:nvPr/>
              </p:nvSpPr>
              <p:spPr>
                <a:xfrm>
                  <a:off x="3328100" y="2982273"/>
                  <a:ext cx="1522800" cy="1016009"/>
                </a:xfrm>
                <a:prstGeom prst="rect">
                  <a:avLst/>
                </a:prstGeom>
                <a:solidFill>
                  <a:srgbClr val="558ED5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正方形/長方形 198">
                  <a:extLst>
                    <a:ext uri="{FF2B5EF4-FFF2-40B4-BE49-F238E27FC236}">
                      <a16:creationId xmlns:a16="http://schemas.microsoft.com/office/drawing/2014/main" id="{C97686CA-6134-861B-7AA8-276684D8CF04}"/>
                    </a:ext>
                  </a:extLst>
                </p:cNvPr>
                <p:cNvSpPr/>
                <p:nvPr/>
              </p:nvSpPr>
              <p:spPr>
                <a:xfrm>
                  <a:off x="3328100" y="2673263"/>
                  <a:ext cx="1522800" cy="356782"/>
                </a:xfrm>
                <a:prstGeom prst="rect">
                  <a:avLst/>
                </a:prstGeom>
                <a:solidFill>
                  <a:srgbClr val="BEB76B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0" name="正方形/長方形 199">
                  <a:extLst>
                    <a:ext uri="{FF2B5EF4-FFF2-40B4-BE49-F238E27FC236}">
                      <a16:creationId xmlns:a16="http://schemas.microsoft.com/office/drawing/2014/main" id="{1D2D78F5-A760-318D-B3D0-F92DA82E0BD5}"/>
                    </a:ext>
                  </a:extLst>
                </p:cNvPr>
                <p:cNvSpPr/>
                <p:nvPr/>
              </p:nvSpPr>
              <p:spPr>
                <a:xfrm>
                  <a:off x="3328100" y="2395100"/>
                  <a:ext cx="1522800" cy="394432"/>
                </a:xfrm>
                <a:prstGeom prst="rect">
                  <a:avLst/>
                </a:prstGeom>
                <a:solidFill>
                  <a:srgbClr val="DDD9C3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1" name="正方形/長方形 200">
                  <a:extLst>
                    <a:ext uri="{FF2B5EF4-FFF2-40B4-BE49-F238E27FC236}">
                      <a16:creationId xmlns:a16="http://schemas.microsoft.com/office/drawing/2014/main" id="{8C287A98-89A5-E34B-6490-3CE2F72A1268}"/>
                    </a:ext>
                  </a:extLst>
                </p:cNvPr>
                <p:cNvSpPr/>
                <p:nvPr/>
              </p:nvSpPr>
              <p:spPr>
                <a:xfrm>
                  <a:off x="3328100" y="2167026"/>
                  <a:ext cx="1522800" cy="369460"/>
                </a:xfrm>
                <a:prstGeom prst="rect">
                  <a:avLst/>
                </a:prstGeom>
                <a:solidFill>
                  <a:srgbClr val="D69E7C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2" name="正方形/長方形 201">
                  <a:extLst>
                    <a:ext uri="{FF2B5EF4-FFF2-40B4-BE49-F238E27FC236}">
                      <a16:creationId xmlns:a16="http://schemas.microsoft.com/office/drawing/2014/main" id="{3ACCF491-86F9-6848-5F5D-5225E244317E}"/>
                    </a:ext>
                  </a:extLst>
                </p:cNvPr>
                <p:cNvSpPr/>
                <p:nvPr/>
              </p:nvSpPr>
              <p:spPr>
                <a:xfrm>
                  <a:off x="3328100" y="1235606"/>
                  <a:ext cx="1522800" cy="943308"/>
                </a:xfrm>
                <a:prstGeom prst="rect">
                  <a:avLst/>
                </a:prstGeom>
                <a:solidFill>
                  <a:srgbClr val="7F7F7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 dirty="0"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3" name="平行四辺形 202">
                  <a:extLst>
                    <a:ext uri="{FF2B5EF4-FFF2-40B4-BE49-F238E27FC236}">
                      <a16:creationId xmlns:a16="http://schemas.microsoft.com/office/drawing/2014/main" id="{3DD22AB7-078B-CEE8-C17E-43C2777A0517}"/>
                    </a:ext>
                  </a:extLst>
                </p:cNvPr>
                <p:cNvSpPr/>
                <p:nvPr/>
              </p:nvSpPr>
              <p:spPr>
                <a:xfrm>
                  <a:off x="3334432" y="515605"/>
                  <a:ext cx="2233353" cy="720000"/>
                </a:xfrm>
                <a:prstGeom prst="parallelogram">
                  <a:avLst>
                    <a:gd name="adj" fmla="val 100520"/>
                  </a:avLst>
                </a:prstGeom>
                <a:solidFill>
                  <a:srgbClr val="989898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185" name="テキスト ボックス 34">
                <a:extLst>
                  <a:ext uri="{FF2B5EF4-FFF2-40B4-BE49-F238E27FC236}">
                    <a16:creationId xmlns:a16="http://schemas.microsoft.com/office/drawing/2014/main" id="{56EF6001-A1B2-1D1B-4071-9F0095AA56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4631" y="3527616"/>
                <a:ext cx="964359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2.0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cxnSp>
            <p:nvCxnSpPr>
              <p:cNvPr id="186" name="直線矢印コネクタ 185">
                <a:extLst>
                  <a:ext uri="{FF2B5EF4-FFF2-40B4-BE49-F238E27FC236}">
                    <a16:creationId xmlns:a16="http://schemas.microsoft.com/office/drawing/2014/main" id="{821DFC68-8CFE-7F98-41DD-F17266C0E465}"/>
                  </a:ext>
                </a:extLst>
              </p:cNvPr>
              <p:cNvCxnSpPr/>
              <p:nvPr/>
            </p:nvCxnSpPr>
            <p:spPr bwMode="auto">
              <a:xfrm rot="5400000">
                <a:off x="1507908" y="3493428"/>
                <a:ext cx="684000" cy="684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線矢印コネクタ 186">
                <a:extLst>
                  <a:ext uri="{FF2B5EF4-FFF2-40B4-BE49-F238E27FC236}">
                    <a16:creationId xmlns:a16="http://schemas.microsoft.com/office/drawing/2014/main" id="{A1D7A197-73B3-F486-FC74-FEA57836C82B}"/>
                  </a:ext>
                </a:extLst>
              </p:cNvPr>
              <p:cNvCxnSpPr/>
              <p:nvPr/>
            </p:nvCxnSpPr>
            <p:spPr bwMode="auto">
              <a:xfrm rot="10800000">
                <a:off x="2320398" y="3441328"/>
                <a:ext cx="1440000" cy="104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テキスト ボックス 34">
                <a:extLst>
                  <a:ext uri="{FF2B5EF4-FFF2-40B4-BE49-F238E27FC236}">
                    <a16:creationId xmlns:a16="http://schemas.microsoft.com/office/drawing/2014/main" id="{00E84C08-8F2E-1873-5D48-8221E254F6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8279" y="3075921"/>
                <a:ext cx="969507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ja-JP" dirty="0">
                    <a:cs typeface="Arial" pitchFamily="34" charset="0"/>
                  </a:rPr>
                  <a:t>2.0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189" name="テキスト ボックス 34">
                <a:extLst>
                  <a:ext uri="{FF2B5EF4-FFF2-40B4-BE49-F238E27FC236}">
                    <a16:creationId xmlns:a16="http://schemas.microsoft.com/office/drawing/2014/main" id="{942D774A-CA86-B182-47D7-B7A55AB543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616" y="5800286"/>
                <a:ext cx="1197725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ja-JP" dirty="0">
                    <a:cs typeface="Arial" pitchFamily="34" charset="0"/>
                  </a:rPr>
                  <a:t>0.25 </a:t>
                </a:r>
                <a:r>
                  <a:rPr lang="en-US" altLang="ja-JP" dirty="0" err="1">
                    <a:cs typeface="Arial" pitchFamily="34" charset="0"/>
                  </a:rPr>
                  <a:t>μm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cxnSp>
            <p:nvCxnSpPr>
              <p:cNvPr id="190" name="直線矢印コネクタ 189">
                <a:extLst>
                  <a:ext uri="{FF2B5EF4-FFF2-40B4-BE49-F238E27FC236}">
                    <a16:creationId xmlns:a16="http://schemas.microsoft.com/office/drawing/2014/main" id="{7AE89C34-006F-11A9-564E-652452FA737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5218496"/>
                <a:ext cx="0" cy="324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線矢印コネクタ 190">
                <a:extLst>
                  <a:ext uri="{FF2B5EF4-FFF2-40B4-BE49-F238E27FC236}">
                    <a16:creationId xmlns:a16="http://schemas.microsoft.com/office/drawing/2014/main" id="{4CED82BC-BB59-7D9A-B04E-324937CA52A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5554305"/>
                <a:ext cx="0" cy="216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線矢印コネクタ 191">
                <a:extLst>
                  <a:ext uri="{FF2B5EF4-FFF2-40B4-BE49-F238E27FC236}">
                    <a16:creationId xmlns:a16="http://schemas.microsoft.com/office/drawing/2014/main" id="{80AF0DD6-C517-9935-0248-BEB4986E7F7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1460843" y="5808074"/>
                <a:ext cx="0" cy="216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グループ化 77">
              <a:extLst>
                <a:ext uri="{FF2B5EF4-FFF2-40B4-BE49-F238E27FC236}">
                  <a16:creationId xmlns:a16="http://schemas.microsoft.com/office/drawing/2014/main" id="{7246BAEB-6FF6-5E19-1E7F-B4B207F4364A}"/>
                </a:ext>
              </a:extLst>
            </p:cNvPr>
            <p:cNvGrpSpPr/>
            <p:nvPr/>
          </p:nvGrpSpPr>
          <p:grpSpPr>
            <a:xfrm>
              <a:off x="6013916" y="4688349"/>
              <a:ext cx="2785442" cy="646331"/>
              <a:chOff x="6076960" y="4603014"/>
              <a:chExt cx="2785442" cy="646331"/>
            </a:xfrm>
          </p:grpSpPr>
          <p:sp>
            <p:nvSpPr>
              <p:cNvPr id="170" name="テキスト ボックス 155">
                <a:extLst>
                  <a:ext uri="{FF2B5EF4-FFF2-40B4-BE49-F238E27FC236}">
                    <a16:creationId xmlns:a16="http://schemas.microsoft.com/office/drawing/2014/main" id="{58A233D1-CD8D-D40E-CDBC-4178C3CE6B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8340" y="4603014"/>
                <a:ext cx="2424062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dirty="0">
                    <a:cs typeface="Arial" pitchFamily="34" charset="0"/>
                  </a:rPr>
                  <a:t>Insulation layer</a:t>
                </a:r>
                <a:r>
                  <a:rPr lang="ja-JP" altLang="en-US" dirty="0">
                    <a:cs typeface="Arial" pitchFamily="34" charset="0"/>
                  </a:rPr>
                  <a:t> </a:t>
                </a:r>
                <a:r>
                  <a:rPr lang="en-US" altLang="ja-JP" dirty="0">
                    <a:cs typeface="Arial" pitchFamily="34" charset="0"/>
                  </a:rPr>
                  <a:t>(SiO</a:t>
                </a:r>
                <a:r>
                  <a:rPr lang="en-US" altLang="ja-JP" baseline="-25000" dirty="0">
                    <a:cs typeface="Arial" pitchFamily="34" charset="0"/>
                  </a:rPr>
                  <a:t>2</a:t>
                </a:r>
                <a:r>
                  <a:rPr lang="en-US" altLang="ja-JP" dirty="0">
                    <a:cs typeface="Arial" pitchFamily="34" charset="0"/>
                  </a:rPr>
                  <a:t>)</a:t>
                </a:r>
              </a:p>
              <a:p>
                <a:r>
                  <a:rPr lang="en-US" altLang="ja-JP" i="1" dirty="0">
                    <a:cs typeface="Arial" pitchFamily="34" charset="0"/>
                  </a:rPr>
                  <a:t>ρ</a:t>
                </a:r>
                <a:r>
                  <a:rPr lang="en-US" altLang="ja-JP" dirty="0">
                    <a:cs typeface="Arial" pitchFamily="34" charset="0"/>
                  </a:rPr>
                  <a:t> = 2.65 g/cm</a:t>
                </a:r>
                <a:r>
                  <a:rPr lang="en-US" altLang="ja-JP" baseline="30000" dirty="0">
                    <a:cs typeface="Arial" pitchFamily="34" charset="0"/>
                  </a:rPr>
                  <a:t>3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171" name="正方形/長方形 170">
                <a:extLst>
                  <a:ext uri="{FF2B5EF4-FFF2-40B4-BE49-F238E27FC236}">
                    <a16:creationId xmlns:a16="http://schemas.microsoft.com/office/drawing/2014/main" id="{AC7860C0-D8B7-E00D-C366-235D9E5E5D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6960" y="4680767"/>
                <a:ext cx="288000" cy="216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 sz="1200" dirty="0">
                  <a:cs typeface="Arial" pitchFamily="34" charset="0"/>
                </a:endParaRPr>
              </a:p>
            </p:txBody>
          </p:sp>
        </p:grpSp>
        <p:grpSp>
          <p:nvGrpSpPr>
            <p:cNvPr id="79" name="グループ化 78">
              <a:extLst>
                <a:ext uri="{FF2B5EF4-FFF2-40B4-BE49-F238E27FC236}">
                  <a16:creationId xmlns:a16="http://schemas.microsoft.com/office/drawing/2014/main" id="{D98E3E66-B65A-65D5-9215-636D2A4B9BC8}"/>
                </a:ext>
              </a:extLst>
            </p:cNvPr>
            <p:cNvGrpSpPr/>
            <p:nvPr/>
          </p:nvGrpSpPr>
          <p:grpSpPr>
            <a:xfrm>
              <a:off x="6013917" y="3273069"/>
              <a:ext cx="3916070" cy="646331"/>
              <a:chOff x="6076961" y="3719175"/>
              <a:chExt cx="3916070" cy="646331"/>
            </a:xfrm>
          </p:grpSpPr>
          <p:sp>
            <p:nvSpPr>
              <p:cNvPr id="168" name="正方形/長方形 167">
                <a:extLst>
                  <a:ext uri="{FF2B5EF4-FFF2-40B4-BE49-F238E27FC236}">
                    <a16:creationId xmlns:a16="http://schemas.microsoft.com/office/drawing/2014/main" id="{ABFC06B2-9794-C512-3EF1-7E482F7FD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6961" y="3796928"/>
                <a:ext cx="288000" cy="216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 sz="1200" dirty="0">
                  <a:cs typeface="Arial" pitchFamily="34" charset="0"/>
                </a:endParaRPr>
              </a:p>
            </p:txBody>
          </p:sp>
          <p:sp>
            <p:nvSpPr>
              <p:cNvPr id="169" name="テキスト ボックス 159">
                <a:extLst>
                  <a:ext uri="{FF2B5EF4-FFF2-40B4-BE49-F238E27FC236}">
                    <a16:creationId xmlns:a16="http://schemas.microsoft.com/office/drawing/2014/main" id="{68C89E70-5BDB-A0FF-EB99-C9E91FD618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8340" y="3719175"/>
                <a:ext cx="3554691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dirty="0">
                    <a:cs typeface="Arial" pitchFamily="34" charset="0"/>
                  </a:rPr>
                  <a:t>Package layer</a:t>
                </a:r>
                <a:r>
                  <a:rPr lang="ja-JP" altLang="en-US" dirty="0">
                    <a:cs typeface="Arial" pitchFamily="34" charset="0"/>
                  </a:rPr>
                  <a:t> </a:t>
                </a:r>
                <a:r>
                  <a:rPr lang="en-US" altLang="ja-JP" dirty="0">
                    <a:cs typeface="Arial" pitchFamily="34" charset="0"/>
                  </a:rPr>
                  <a:t>(Epoxy, C</a:t>
                </a:r>
                <a:r>
                  <a:rPr lang="en-US" altLang="ja-JP" baseline="-25000" dirty="0">
                    <a:cs typeface="Arial" pitchFamily="34" charset="0"/>
                  </a:rPr>
                  <a:t>18</a:t>
                </a:r>
                <a:r>
                  <a:rPr lang="en-US" altLang="ja-JP" dirty="0">
                    <a:cs typeface="Arial" pitchFamily="34" charset="0"/>
                  </a:rPr>
                  <a:t>H</a:t>
                </a:r>
                <a:r>
                  <a:rPr lang="en-US" altLang="ja-JP" baseline="-25000" dirty="0">
                    <a:cs typeface="Arial" pitchFamily="34" charset="0"/>
                  </a:rPr>
                  <a:t>19</a:t>
                </a:r>
                <a:r>
                  <a:rPr lang="en-US" altLang="ja-JP" dirty="0">
                    <a:cs typeface="Arial" pitchFamily="34" charset="0"/>
                  </a:rPr>
                  <a:t>O</a:t>
                </a:r>
                <a:r>
                  <a:rPr lang="en-US" altLang="ja-JP" baseline="-25000" dirty="0">
                    <a:cs typeface="Arial" pitchFamily="34" charset="0"/>
                  </a:rPr>
                  <a:t>5</a:t>
                </a:r>
                <a:r>
                  <a:rPr lang="en-US" altLang="ja-JP" dirty="0">
                    <a:cs typeface="Arial" pitchFamily="34" charset="0"/>
                  </a:rPr>
                  <a:t>)</a:t>
                </a:r>
              </a:p>
              <a:p>
                <a:r>
                  <a:rPr lang="en-US" altLang="ja-JP" i="1" dirty="0">
                    <a:cs typeface="Arial" pitchFamily="34" charset="0"/>
                  </a:rPr>
                  <a:t>ρ</a:t>
                </a:r>
                <a:r>
                  <a:rPr lang="en-US" altLang="ja-JP" dirty="0">
                    <a:cs typeface="Arial" pitchFamily="34" charset="0"/>
                  </a:rPr>
                  <a:t> = 1.85 g/cm</a:t>
                </a:r>
                <a:r>
                  <a:rPr lang="en-US" altLang="ja-JP" baseline="30000" dirty="0">
                    <a:cs typeface="Arial" pitchFamily="34" charset="0"/>
                  </a:rPr>
                  <a:t>3</a:t>
                </a:r>
                <a:endParaRPr lang="ja-JP" altLang="en-US" dirty="0">
                  <a:cs typeface="Arial" pitchFamily="34" charset="0"/>
                </a:endParaRPr>
              </a:p>
            </p:txBody>
          </p:sp>
        </p:grpSp>
        <p:grpSp>
          <p:nvGrpSpPr>
            <p:cNvPr id="80" name="グループ化 79">
              <a:extLst>
                <a:ext uri="{FF2B5EF4-FFF2-40B4-BE49-F238E27FC236}">
                  <a16:creationId xmlns:a16="http://schemas.microsoft.com/office/drawing/2014/main" id="{8B838EB5-BE17-27CF-457B-57D9BE3019BD}"/>
                </a:ext>
              </a:extLst>
            </p:cNvPr>
            <p:cNvGrpSpPr/>
            <p:nvPr/>
          </p:nvGrpSpPr>
          <p:grpSpPr>
            <a:xfrm>
              <a:off x="6013917" y="6103629"/>
              <a:ext cx="2660966" cy="646331"/>
              <a:chOff x="6076961" y="5205289"/>
              <a:chExt cx="2660966" cy="646331"/>
            </a:xfrm>
          </p:grpSpPr>
          <p:sp>
            <p:nvSpPr>
              <p:cNvPr id="166" name="テキスト ボックス 150">
                <a:extLst>
                  <a:ext uri="{FF2B5EF4-FFF2-40B4-BE49-F238E27FC236}">
                    <a16:creationId xmlns:a16="http://schemas.microsoft.com/office/drawing/2014/main" id="{25AC19CB-A7B8-198F-4C8D-530D75620E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7297" y="5205289"/>
                <a:ext cx="2300630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dirty="0">
                    <a:cs typeface="Arial" pitchFamily="34" charset="0"/>
                  </a:rPr>
                  <a:t>Silicon substrate</a:t>
                </a:r>
                <a:r>
                  <a:rPr lang="ja-JP" altLang="en-US" dirty="0">
                    <a:cs typeface="Arial" pitchFamily="34" charset="0"/>
                  </a:rPr>
                  <a:t> </a:t>
                </a:r>
                <a:r>
                  <a:rPr lang="en-US" altLang="ja-JP" dirty="0">
                    <a:cs typeface="Arial" pitchFamily="34" charset="0"/>
                  </a:rPr>
                  <a:t>(Si)</a:t>
                </a:r>
              </a:p>
              <a:p>
                <a:r>
                  <a:rPr lang="en-US" altLang="ja-JP" i="1" dirty="0">
                    <a:cs typeface="Arial" pitchFamily="34" charset="0"/>
                  </a:rPr>
                  <a:t>ρ</a:t>
                </a:r>
                <a:r>
                  <a:rPr lang="en-US" altLang="ja-JP" dirty="0">
                    <a:cs typeface="Arial" pitchFamily="34" charset="0"/>
                  </a:rPr>
                  <a:t> = 2.329 g/cm</a:t>
                </a:r>
                <a:r>
                  <a:rPr lang="en-US" altLang="ja-JP" baseline="30000" dirty="0">
                    <a:cs typeface="Arial" pitchFamily="34" charset="0"/>
                  </a:rPr>
                  <a:t>3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167" name="正方形/長方形 166">
                <a:extLst>
                  <a:ext uri="{FF2B5EF4-FFF2-40B4-BE49-F238E27FC236}">
                    <a16:creationId xmlns:a16="http://schemas.microsoft.com/office/drawing/2014/main" id="{907E37CC-8571-E93B-0812-FF4816A1A7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6961" y="5283042"/>
                <a:ext cx="288000" cy="216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 sz="1200" dirty="0">
                  <a:cs typeface="Arial" pitchFamily="34" charset="0"/>
                </a:endParaRPr>
              </a:p>
            </p:txBody>
          </p:sp>
        </p:grpSp>
        <p:grpSp>
          <p:nvGrpSpPr>
            <p:cNvPr id="85" name="グループ化 84">
              <a:extLst>
                <a:ext uri="{FF2B5EF4-FFF2-40B4-BE49-F238E27FC236}">
                  <a16:creationId xmlns:a16="http://schemas.microsoft.com/office/drawing/2014/main" id="{24542352-05A9-829F-9D43-E5AB18565D05}"/>
                </a:ext>
              </a:extLst>
            </p:cNvPr>
            <p:cNvGrpSpPr/>
            <p:nvPr/>
          </p:nvGrpSpPr>
          <p:grpSpPr>
            <a:xfrm>
              <a:off x="6013918" y="5395989"/>
              <a:ext cx="2037398" cy="646331"/>
              <a:chOff x="6076962" y="4908070"/>
              <a:chExt cx="2037398" cy="646331"/>
            </a:xfrm>
          </p:grpSpPr>
          <p:sp>
            <p:nvSpPr>
              <p:cNvPr id="160" name="テキスト ボックス 150">
                <a:extLst>
                  <a:ext uri="{FF2B5EF4-FFF2-40B4-BE49-F238E27FC236}">
                    <a16:creationId xmlns:a16="http://schemas.microsoft.com/office/drawing/2014/main" id="{20EE238F-FE36-75C5-C15F-8ACDFF1A32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7298" y="4908070"/>
                <a:ext cx="1677062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dirty="0">
                    <a:cs typeface="Arial" pitchFamily="34" charset="0"/>
                  </a:rPr>
                  <a:t>STI (SiO</a:t>
                </a:r>
                <a:r>
                  <a:rPr lang="en-US" altLang="ja-JP" baseline="-25000" dirty="0">
                    <a:cs typeface="Arial" pitchFamily="34" charset="0"/>
                  </a:rPr>
                  <a:t>2</a:t>
                </a:r>
                <a:r>
                  <a:rPr lang="en-US" altLang="ja-JP" dirty="0">
                    <a:cs typeface="Arial" pitchFamily="34" charset="0"/>
                  </a:rPr>
                  <a:t>)</a:t>
                </a:r>
              </a:p>
              <a:p>
                <a:r>
                  <a:rPr lang="en-US" altLang="ja-JP" i="1" dirty="0">
                    <a:cs typeface="Arial" pitchFamily="34" charset="0"/>
                  </a:rPr>
                  <a:t>ρ</a:t>
                </a:r>
                <a:r>
                  <a:rPr lang="en-US" altLang="ja-JP" dirty="0">
                    <a:cs typeface="Arial" pitchFamily="34" charset="0"/>
                  </a:rPr>
                  <a:t> = 2.65 g/cm</a:t>
                </a:r>
                <a:r>
                  <a:rPr lang="en-US" altLang="ja-JP" baseline="30000" dirty="0">
                    <a:cs typeface="Arial" pitchFamily="34" charset="0"/>
                  </a:rPr>
                  <a:t>3</a:t>
                </a:r>
                <a:endParaRPr lang="ja-JP" altLang="en-US" dirty="0">
                  <a:cs typeface="Arial" pitchFamily="34" charset="0"/>
                </a:endParaRPr>
              </a:p>
            </p:txBody>
          </p:sp>
          <p:sp>
            <p:nvSpPr>
              <p:cNvPr id="165" name="正方形/長方形 164">
                <a:extLst>
                  <a:ext uri="{FF2B5EF4-FFF2-40B4-BE49-F238E27FC236}">
                    <a16:creationId xmlns:a16="http://schemas.microsoft.com/office/drawing/2014/main" id="{0BCB14FF-29C3-BC1C-119B-565377D725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76962" y="4985823"/>
                <a:ext cx="288000" cy="216000"/>
              </a:xfrm>
              <a:prstGeom prst="rect">
                <a:avLst/>
              </a:prstGeom>
              <a:solidFill>
                <a:srgbClr val="BEB76B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ja-JP" altLang="en-US" sz="1200" dirty="0">
                  <a:cs typeface="Arial" pitchFamily="34" charset="0"/>
                </a:endParaRPr>
              </a:p>
            </p:txBody>
          </p:sp>
        </p:grpSp>
        <p:grpSp>
          <p:nvGrpSpPr>
            <p:cNvPr id="87" name="グループ化 86">
              <a:extLst>
                <a:ext uri="{FF2B5EF4-FFF2-40B4-BE49-F238E27FC236}">
                  <a16:creationId xmlns:a16="http://schemas.microsoft.com/office/drawing/2014/main" id="{00A7F61D-3DFC-EE09-3511-FE54C9B2FEBD}"/>
                </a:ext>
              </a:extLst>
            </p:cNvPr>
            <p:cNvGrpSpPr/>
            <p:nvPr/>
          </p:nvGrpSpPr>
          <p:grpSpPr>
            <a:xfrm>
              <a:off x="6013918" y="3980709"/>
              <a:ext cx="3692294" cy="646331"/>
              <a:chOff x="5926620" y="3643269"/>
              <a:chExt cx="3692294" cy="646331"/>
            </a:xfrm>
          </p:grpSpPr>
          <p:grpSp>
            <p:nvGrpSpPr>
              <p:cNvPr id="130" name="グループ化 129">
                <a:extLst>
                  <a:ext uri="{FF2B5EF4-FFF2-40B4-BE49-F238E27FC236}">
                    <a16:creationId xmlns:a16="http://schemas.microsoft.com/office/drawing/2014/main" id="{A86E930A-7777-4B31-391B-815D06CFFDFF}"/>
                  </a:ext>
                </a:extLst>
              </p:cNvPr>
              <p:cNvGrpSpPr/>
              <p:nvPr/>
            </p:nvGrpSpPr>
            <p:grpSpPr>
              <a:xfrm>
                <a:off x="5926620" y="3643269"/>
                <a:ext cx="3561294" cy="646331"/>
                <a:chOff x="6076962" y="4008822"/>
                <a:chExt cx="3561294" cy="646331"/>
              </a:xfrm>
            </p:grpSpPr>
            <p:sp>
              <p:nvSpPr>
                <p:cNvPr id="132" name="テキスト ボックス 157">
                  <a:extLst>
                    <a:ext uri="{FF2B5EF4-FFF2-40B4-BE49-F238E27FC236}">
                      <a16:creationId xmlns:a16="http://schemas.microsoft.com/office/drawing/2014/main" id="{D834C61E-9BDE-2846-2896-0BA9A90C57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438341" y="4008822"/>
                  <a:ext cx="3199915" cy="646331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ja-JP" dirty="0">
                      <a:cs typeface="Arial" pitchFamily="34" charset="0"/>
                    </a:rPr>
                    <a:t>Metal layer</a:t>
                  </a:r>
                  <a:r>
                    <a:rPr lang="ja-JP" altLang="en-US" dirty="0">
                      <a:cs typeface="Arial" pitchFamily="34" charset="0"/>
                    </a:rPr>
                    <a:t> </a:t>
                  </a:r>
                  <a:r>
                    <a:rPr lang="en-US" altLang="ja-JP" dirty="0">
                      <a:cs typeface="Arial" pitchFamily="34" charset="0"/>
                    </a:rPr>
                    <a:t>(Cu : SiO</a:t>
                  </a:r>
                  <a:r>
                    <a:rPr lang="en-US" altLang="ja-JP" baseline="-25000" dirty="0">
                      <a:cs typeface="Arial" pitchFamily="34" charset="0"/>
                    </a:rPr>
                    <a:t>2</a:t>
                  </a:r>
                  <a:r>
                    <a:rPr lang="en-US" altLang="ja-JP" dirty="0">
                      <a:cs typeface="Arial" pitchFamily="34" charset="0"/>
                    </a:rPr>
                    <a:t> = 3 : 1)</a:t>
                  </a:r>
                </a:p>
                <a:p>
                  <a:r>
                    <a:rPr lang="en-US" altLang="ja-JP" i="1" dirty="0">
                      <a:cs typeface="Arial" pitchFamily="34" charset="0"/>
                    </a:rPr>
                    <a:t>ρ</a:t>
                  </a:r>
                  <a:r>
                    <a:rPr lang="en-US" altLang="ja-JP" dirty="0">
                      <a:cs typeface="Arial" pitchFamily="34" charset="0"/>
                    </a:rPr>
                    <a:t> = 5.69 g/cm</a:t>
                  </a:r>
                  <a:r>
                    <a:rPr lang="en-US" altLang="ja-JP" baseline="30000" dirty="0">
                      <a:cs typeface="Arial" pitchFamily="34" charset="0"/>
                    </a:rPr>
                    <a:t>3</a:t>
                  </a:r>
                  <a:endParaRPr lang="ja-JP" altLang="en-US" dirty="0">
                    <a:cs typeface="Arial" pitchFamily="34" charset="0"/>
                  </a:endParaRPr>
                </a:p>
              </p:txBody>
            </p:sp>
            <p:sp>
              <p:nvSpPr>
                <p:cNvPr id="133" name="正方形/長方形 132">
                  <a:extLst>
                    <a:ext uri="{FF2B5EF4-FFF2-40B4-BE49-F238E27FC236}">
                      <a16:creationId xmlns:a16="http://schemas.microsoft.com/office/drawing/2014/main" id="{BB87DB0C-586A-1B90-821C-43A9E15955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76962" y="4086575"/>
                  <a:ext cx="288000" cy="216000"/>
                </a:xfrm>
                <a:prstGeom prst="rect">
                  <a:avLst/>
                </a:prstGeom>
                <a:solidFill>
                  <a:srgbClr val="D69E7C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ja-JP" altLang="en-US" sz="1200" dirty="0">
                    <a:cs typeface="Arial" pitchFamily="34" charset="0"/>
                  </a:endParaRPr>
                </a:p>
              </p:txBody>
            </p:sp>
          </p:grpSp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91309486-554C-E3A7-2250-05BF9086C6CA}"/>
                  </a:ext>
                </a:extLst>
              </p:cNvPr>
              <p:cNvSpPr txBox="1"/>
              <p:nvPr/>
            </p:nvSpPr>
            <p:spPr>
              <a:xfrm>
                <a:off x="8509315" y="3930790"/>
                <a:ext cx="11095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600" dirty="0">
                    <a:cs typeface="Arial" pitchFamily="34" charset="0"/>
                  </a:rPr>
                  <a:t>* mol ratio</a:t>
                </a:r>
                <a:endParaRPr kumimoji="1" lang="ja-JP" altLang="en-US" sz="1600" dirty="0"/>
              </a:p>
            </p:txBody>
          </p:sp>
        </p:grp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CB0886DB-B004-6BB0-D2DF-7935A383189C}"/>
                </a:ext>
              </a:extLst>
            </p:cNvPr>
            <p:cNvGrpSpPr/>
            <p:nvPr/>
          </p:nvGrpSpPr>
          <p:grpSpPr>
            <a:xfrm>
              <a:off x="1444719" y="2924682"/>
              <a:ext cx="2659702" cy="1177920"/>
              <a:chOff x="1444719" y="2924682"/>
              <a:chExt cx="2659702" cy="1177920"/>
            </a:xfrm>
          </p:grpSpPr>
          <p:cxnSp>
            <p:nvCxnSpPr>
              <p:cNvPr id="90" name="直線矢印コネクタ 89">
                <a:extLst>
                  <a:ext uri="{FF2B5EF4-FFF2-40B4-BE49-F238E27FC236}">
                    <a16:creationId xmlns:a16="http://schemas.microsoft.com/office/drawing/2014/main" id="{31FA3E4F-07B0-B7C0-481A-FF8B6EAB17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3093" y="3382602"/>
                <a:ext cx="0" cy="720000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prstDash val="sysDot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F62FCA62-12F5-47A0-6666-04DF8924816F}"/>
                  </a:ext>
                </a:extLst>
              </p:cNvPr>
              <p:cNvSpPr txBox="1"/>
              <p:nvPr/>
            </p:nvSpPr>
            <p:spPr>
              <a:xfrm>
                <a:off x="1444719" y="2924682"/>
                <a:ext cx="265970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ja-JP" altLang="en-US" sz="2400" b="1" dirty="0">
                    <a:solidFill>
                      <a:srgbClr val="FFC000"/>
                    </a:solidFill>
                  </a:rPr>
                  <a:t>線源粒子入射方向</a:t>
                </a:r>
              </a:p>
            </p:txBody>
          </p:sp>
        </p:grpSp>
        <p:grpSp>
          <p:nvGrpSpPr>
            <p:cNvPr id="95" name="グループ化 94">
              <a:extLst>
                <a:ext uri="{FF2B5EF4-FFF2-40B4-BE49-F238E27FC236}">
                  <a16:creationId xmlns:a16="http://schemas.microsoft.com/office/drawing/2014/main" id="{1CBCBDC6-5FBE-47E0-1CF3-CDDA1F81523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7525" y="3377178"/>
              <a:ext cx="837540" cy="826448"/>
              <a:chOff x="2349451" y="1962929"/>
              <a:chExt cx="1318560" cy="1301098"/>
            </a:xfrm>
          </p:grpSpPr>
          <p:grpSp>
            <p:nvGrpSpPr>
              <p:cNvPr id="114" name="グループ化 113">
                <a:extLst>
                  <a:ext uri="{FF2B5EF4-FFF2-40B4-BE49-F238E27FC236}">
                    <a16:creationId xmlns:a16="http://schemas.microsoft.com/office/drawing/2014/main" id="{9B97C1D2-09EB-1877-4390-C8FEB086C0FC}"/>
                  </a:ext>
                </a:extLst>
              </p:cNvPr>
              <p:cNvGrpSpPr/>
              <p:nvPr/>
            </p:nvGrpSpPr>
            <p:grpSpPr>
              <a:xfrm>
                <a:off x="2444011" y="2396359"/>
                <a:ext cx="1224000" cy="720000"/>
                <a:chOff x="6455838" y="295710"/>
                <a:chExt cx="1224000" cy="720000"/>
              </a:xfrm>
            </p:grpSpPr>
            <p:cxnSp>
              <p:nvCxnSpPr>
                <p:cNvPr id="127" name="直線矢印コネクタ 126">
                  <a:extLst>
                    <a:ext uri="{FF2B5EF4-FFF2-40B4-BE49-F238E27FC236}">
                      <a16:creationId xmlns:a16="http://schemas.microsoft.com/office/drawing/2014/main" id="{AC9403DD-ADED-716C-6F8E-880EB3E7617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>
                  <a:off x="6959838" y="295710"/>
                  <a:ext cx="0" cy="72000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headEnd type="none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線矢印コネクタ 127">
                  <a:extLst>
                    <a:ext uri="{FF2B5EF4-FFF2-40B4-BE49-F238E27FC236}">
                      <a16:creationId xmlns:a16="http://schemas.microsoft.com/office/drawing/2014/main" id="{BE523234-778F-DAE4-C536-0E292788FC5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5400000">
                  <a:off x="6455838" y="295710"/>
                  <a:ext cx="504000" cy="50400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headEnd type="none"/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線矢印コネクタ 128">
                  <a:extLst>
                    <a:ext uri="{FF2B5EF4-FFF2-40B4-BE49-F238E27FC236}">
                      <a16:creationId xmlns:a16="http://schemas.microsoft.com/office/drawing/2014/main" id="{A6D65A3B-E2EC-55B7-509D-4A1DB109A38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10800000">
                  <a:off x="6959838" y="295711"/>
                  <a:ext cx="720000" cy="1043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headEnd type="stealth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4B28300F-8B69-4980-DDB2-60A4ED56E987}"/>
                  </a:ext>
                </a:extLst>
              </p:cNvPr>
              <p:cNvSpPr txBox="1"/>
              <p:nvPr/>
            </p:nvSpPr>
            <p:spPr>
              <a:xfrm>
                <a:off x="3207485" y="1962929"/>
                <a:ext cx="432048" cy="484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400" dirty="0">
                    <a:solidFill>
                      <a:schemeClr val="bg1">
                        <a:lumMod val="50000"/>
                      </a:schemeClr>
                    </a:solidFill>
                  </a:rPr>
                  <a:t>x</a:t>
                </a:r>
                <a:endParaRPr kumimoji="1" lang="ja-JP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58CF9F52-32D5-253E-3F44-DE21E1DC72CC}"/>
                  </a:ext>
                </a:extLst>
              </p:cNvPr>
              <p:cNvSpPr txBox="1"/>
              <p:nvPr/>
            </p:nvSpPr>
            <p:spPr>
              <a:xfrm>
                <a:off x="2349451" y="2265676"/>
                <a:ext cx="432048" cy="4845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400" dirty="0">
                    <a:solidFill>
                      <a:schemeClr val="bg1">
                        <a:lumMod val="50000"/>
                      </a:schemeClr>
                    </a:solidFill>
                  </a:rPr>
                  <a:t>y</a:t>
                </a:r>
                <a:endParaRPr kumimoji="1" lang="ja-JP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6" name="テキスト ボックス 125">
                <a:extLst>
                  <a:ext uri="{FF2B5EF4-FFF2-40B4-BE49-F238E27FC236}">
                    <a16:creationId xmlns:a16="http://schemas.microsoft.com/office/drawing/2014/main" id="{C62ADCD9-585B-2CB9-26F3-19D1F82055E1}"/>
                  </a:ext>
                </a:extLst>
              </p:cNvPr>
              <p:cNvSpPr txBox="1"/>
              <p:nvPr/>
            </p:nvSpPr>
            <p:spPr>
              <a:xfrm>
                <a:off x="2949152" y="2779486"/>
                <a:ext cx="432048" cy="484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dirty="0">
                    <a:solidFill>
                      <a:schemeClr val="bg1">
                        <a:lumMod val="50000"/>
                      </a:schemeClr>
                    </a:solidFill>
                  </a:rPr>
                  <a:t>z</a:t>
                </a:r>
                <a:endParaRPr kumimoji="1" lang="ja-JP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209" name="直線矢印コネクタ 208">
              <a:extLst>
                <a:ext uri="{FF2B5EF4-FFF2-40B4-BE49-F238E27FC236}">
                  <a16:creationId xmlns:a16="http://schemas.microsoft.com/office/drawing/2014/main" id="{A9A22E82-BC1D-9B1A-79CD-2D78704DF1AD}"/>
                </a:ext>
              </a:extLst>
            </p:cNvPr>
            <p:cNvCxnSpPr/>
            <p:nvPr/>
          </p:nvCxnSpPr>
          <p:spPr>
            <a:xfrm>
              <a:off x="812158" y="6026625"/>
              <a:ext cx="792000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テキスト ボックス 209">
              <a:extLst>
                <a:ext uri="{FF2B5EF4-FFF2-40B4-BE49-F238E27FC236}">
                  <a16:creationId xmlns:a16="http://schemas.microsoft.com/office/drawing/2014/main" id="{618E76C4-B8B4-8AF1-66A4-410951BA1E0D}"/>
                </a:ext>
              </a:extLst>
            </p:cNvPr>
            <p:cNvSpPr txBox="1"/>
            <p:nvPr/>
          </p:nvSpPr>
          <p:spPr>
            <a:xfrm>
              <a:off x="-13493" y="5871972"/>
              <a:ext cx="8803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dirty="0">
                  <a:solidFill>
                    <a:schemeClr val="bg1">
                      <a:lumMod val="50000"/>
                    </a:schemeClr>
                  </a:solidFill>
                </a:rPr>
                <a:t>z = 0 </a:t>
              </a:r>
              <a:r>
                <a:rPr kumimoji="1" lang="el-GR" altLang="ja-JP" sz="1400" dirty="0">
                  <a:solidFill>
                    <a:schemeClr val="bg1">
                      <a:lumMod val="50000"/>
                    </a:schemeClr>
                  </a:solidFill>
                </a:rPr>
                <a:t>μ</a:t>
              </a:r>
              <a:r>
                <a:rPr kumimoji="1" lang="en-US" altLang="ja-JP" sz="1400" dirty="0">
                  <a:solidFill>
                    <a:schemeClr val="bg1">
                      <a:lumMod val="50000"/>
                    </a:schemeClr>
                  </a:solidFill>
                </a:rPr>
                <a:t>m</a:t>
              </a:r>
              <a:endParaRPr kumimoji="1" lang="ja-JP" altLang="en-US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016BD709-D85F-997B-9A10-857BAD84EB84}"/>
                </a:ext>
              </a:extLst>
            </p:cNvPr>
            <p:cNvGrpSpPr/>
            <p:nvPr/>
          </p:nvGrpSpPr>
          <p:grpSpPr>
            <a:xfrm>
              <a:off x="4115402" y="4306901"/>
              <a:ext cx="1681473" cy="1555200"/>
              <a:chOff x="4115402" y="4306901"/>
              <a:chExt cx="1681473" cy="1555200"/>
            </a:xfrm>
          </p:grpSpPr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B08A5F11-00BF-E67C-0DDD-CF5F1C3466DF}"/>
                  </a:ext>
                </a:extLst>
              </p:cNvPr>
              <p:cNvSpPr/>
              <p:nvPr/>
            </p:nvSpPr>
            <p:spPr>
              <a:xfrm>
                <a:off x="4115402" y="4306901"/>
                <a:ext cx="1522799" cy="1555200"/>
              </a:xfrm>
              <a:prstGeom prst="rect">
                <a:avLst/>
              </a:prstGeom>
              <a:solidFill>
                <a:srgbClr val="BEB76B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" name="直線矢印コネクタ 5">
                <a:extLst>
                  <a:ext uri="{FF2B5EF4-FFF2-40B4-BE49-F238E27FC236}">
                    <a16:creationId xmlns:a16="http://schemas.microsoft.com/office/drawing/2014/main" id="{BE425BCB-F6EC-6249-F029-9A227DE991B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5142645" y="4961426"/>
                <a:ext cx="0" cy="252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線矢印コネクタ 6">
                <a:extLst>
                  <a:ext uri="{FF2B5EF4-FFF2-40B4-BE49-F238E27FC236}">
                    <a16:creationId xmlns:a16="http://schemas.microsoft.com/office/drawing/2014/main" id="{893BC991-A26D-8165-A73F-715A9C8B216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696191" y="4890923"/>
                <a:ext cx="3600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テキスト ボックス 34">
                <a:extLst>
                  <a:ext uri="{FF2B5EF4-FFF2-40B4-BE49-F238E27FC236}">
                    <a16:creationId xmlns:a16="http://schemas.microsoft.com/office/drawing/2014/main" id="{4C398E99-E84B-9AA9-EED0-48611A772F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4288" y="4498930"/>
                <a:ext cx="1053098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dirty="0">
                    <a:cs typeface="Times New Roman" panose="02020603050405020304" pitchFamily="18" charset="0"/>
                  </a:rPr>
                  <a:t>0.2 </a:t>
                </a:r>
                <a:r>
                  <a:rPr lang="en-US" altLang="ja-JP" dirty="0" err="1">
                    <a:cs typeface="Times New Roman" panose="02020603050405020304" pitchFamily="18" charset="0"/>
                  </a:rPr>
                  <a:t>μm</a:t>
                </a:r>
                <a:endParaRPr lang="ja-JP" altLang="en-US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テキスト ボックス 34">
                <a:extLst>
                  <a:ext uri="{FF2B5EF4-FFF2-40B4-BE49-F238E27FC236}">
                    <a16:creationId xmlns:a16="http://schemas.microsoft.com/office/drawing/2014/main" id="{5ED35F75-29B6-45C6-E5F7-A46C3FC1C7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3777" y="5207576"/>
                <a:ext cx="1053098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dirty="0">
                    <a:cs typeface="Times New Roman" panose="02020603050405020304" pitchFamily="18" charset="0"/>
                  </a:rPr>
                  <a:t>0.1 </a:t>
                </a:r>
                <a:r>
                  <a:rPr lang="en-US" altLang="ja-JP" dirty="0" err="1">
                    <a:cs typeface="Times New Roman" panose="02020603050405020304" pitchFamily="18" charset="0"/>
                  </a:rPr>
                  <a:t>μm</a:t>
                </a:r>
                <a:endParaRPr lang="ja-JP" altLang="en-US" dirty="0"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0" name="グループ化 9">
                <a:extLst>
                  <a:ext uri="{FF2B5EF4-FFF2-40B4-BE49-F238E27FC236}">
                    <a16:creationId xmlns:a16="http://schemas.microsoft.com/office/drawing/2014/main" id="{EB1C994B-841B-31C6-E9F0-50AA6467BD2B}"/>
                  </a:ext>
                </a:extLst>
              </p:cNvPr>
              <p:cNvGrpSpPr/>
              <p:nvPr/>
            </p:nvGrpSpPr>
            <p:grpSpPr>
              <a:xfrm>
                <a:off x="4696191" y="4958501"/>
                <a:ext cx="361220" cy="252000"/>
                <a:chOff x="4696191" y="4958501"/>
                <a:chExt cx="361220" cy="252000"/>
              </a:xfrm>
            </p:grpSpPr>
            <p:sp>
              <p:nvSpPr>
                <p:cNvPr id="11" name="正方形/長方形 10">
                  <a:extLst>
                    <a:ext uri="{FF2B5EF4-FFF2-40B4-BE49-F238E27FC236}">
                      <a16:creationId xmlns:a16="http://schemas.microsoft.com/office/drawing/2014/main" id="{91586676-1D06-E985-65D2-36121DF37D0A}"/>
                    </a:ext>
                  </a:extLst>
                </p:cNvPr>
                <p:cNvSpPr/>
                <p:nvPr/>
              </p:nvSpPr>
              <p:spPr>
                <a:xfrm>
                  <a:off x="4696191" y="4958501"/>
                  <a:ext cx="361220" cy="252000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127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2" name="直線コネクタ 11">
                  <a:extLst>
                    <a:ext uri="{FF2B5EF4-FFF2-40B4-BE49-F238E27FC236}">
                      <a16:creationId xmlns:a16="http://schemas.microsoft.com/office/drawing/2014/main" id="{F580177F-AD30-CEAB-73F7-A3DE620CCD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6191" y="4958501"/>
                  <a:ext cx="144000" cy="144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線コネクタ 12">
                  <a:extLst>
                    <a:ext uri="{FF2B5EF4-FFF2-40B4-BE49-F238E27FC236}">
                      <a16:creationId xmlns:a16="http://schemas.microsoft.com/office/drawing/2014/main" id="{5DA26726-F6CA-1AB7-64CA-609B3D740B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6191" y="4958501"/>
                  <a:ext cx="252000" cy="252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線コネクタ 13">
                  <a:extLst>
                    <a:ext uri="{FF2B5EF4-FFF2-40B4-BE49-F238E27FC236}">
                      <a16:creationId xmlns:a16="http://schemas.microsoft.com/office/drawing/2014/main" id="{629B0586-0005-1C3E-92E2-277956FBEF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05411" y="4958501"/>
                  <a:ext cx="252000" cy="252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コネクタ 14">
                  <a:extLst>
                    <a:ext uri="{FF2B5EF4-FFF2-40B4-BE49-F238E27FC236}">
                      <a16:creationId xmlns:a16="http://schemas.microsoft.com/office/drawing/2014/main" id="{1D47B15B-7953-2673-E62B-1AABF30631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13411" y="5066501"/>
                  <a:ext cx="144000" cy="144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線コネクタ 15">
                  <a:extLst>
                    <a:ext uri="{FF2B5EF4-FFF2-40B4-BE49-F238E27FC236}">
                      <a16:creationId xmlns:a16="http://schemas.microsoft.com/office/drawing/2014/main" id="{D0D7E39D-9F7E-1705-589F-6988557504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6191" y="4958501"/>
                  <a:ext cx="36000" cy="36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線コネクタ 16">
                  <a:extLst>
                    <a:ext uri="{FF2B5EF4-FFF2-40B4-BE49-F238E27FC236}">
                      <a16:creationId xmlns:a16="http://schemas.microsoft.com/office/drawing/2014/main" id="{58684B36-E1C1-7C2F-13AF-848B738A6A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21411" y="5174501"/>
                  <a:ext cx="36000" cy="36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2E1DB855-FC35-2296-3B48-4170CC547B20}"/>
                </a:ext>
              </a:extLst>
            </p:cNvPr>
            <p:cNvGrpSpPr/>
            <p:nvPr/>
          </p:nvGrpSpPr>
          <p:grpSpPr>
            <a:xfrm>
              <a:off x="6022191" y="6811268"/>
              <a:ext cx="2866149" cy="646331"/>
              <a:chOff x="6022191" y="6811268"/>
              <a:chExt cx="2866149" cy="646331"/>
            </a:xfrm>
          </p:grpSpPr>
          <p:sp>
            <p:nvSpPr>
              <p:cNvPr id="19" name="テキスト ボックス 150">
                <a:extLst>
                  <a:ext uri="{FF2B5EF4-FFF2-40B4-BE49-F238E27FC236}">
                    <a16:creationId xmlns:a16="http://schemas.microsoft.com/office/drawing/2014/main" id="{1E976A10-AB5E-05B5-4CE4-4A064B4619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2526" y="6811268"/>
                <a:ext cx="2505814" cy="6463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ja-JP" b="1" dirty="0">
                    <a:solidFill>
                      <a:srgbClr val="FF0000"/>
                    </a:solidFill>
                    <a:cs typeface="Arial" pitchFamily="34" charset="0"/>
                  </a:rPr>
                  <a:t>Sensitive volume</a:t>
                </a:r>
                <a:r>
                  <a:rPr lang="ja-JP" altLang="en-US" b="1" dirty="0">
                    <a:solidFill>
                      <a:srgbClr val="FF0000"/>
                    </a:solidFill>
                    <a:cs typeface="Arial" pitchFamily="34" charset="0"/>
                  </a:rPr>
                  <a:t> </a:t>
                </a:r>
                <a:r>
                  <a:rPr lang="en-US" altLang="ja-JP" b="1" dirty="0">
                    <a:solidFill>
                      <a:srgbClr val="FF0000"/>
                    </a:solidFill>
                    <a:cs typeface="Arial" pitchFamily="34" charset="0"/>
                  </a:rPr>
                  <a:t>(Si)</a:t>
                </a:r>
              </a:p>
              <a:p>
                <a:r>
                  <a:rPr lang="en-US" altLang="ja-JP" b="1" i="1" dirty="0">
                    <a:solidFill>
                      <a:srgbClr val="FF0000"/>
                    </a:solidFill>
                    <a:cs typeface="Arial" pitchFamily="34" charset="0"/>
                  </a:rPr>
                  <a:t>ρ</a:t>
                </a:r>
                <a:r>
                  <a:rPr lang="en-US" altLang="ja-JP" b="1" dirty="0">
                    <a:solidFill>
                      <a:srgbClr val="FF0000"/>
                    </a:solidFill>
                    <a:cs typeface="Arial" pitchFamily="34" charset="0"/>
                  </a:rPr>
                  <a:t> = 2.329 g/cm</a:t>
                </a:r>
                <a:r>
                  <a:rPr lang="en-US" altLang="ja-JP" b="1" baseline="30000" dirty="0">
                    <a:solidFill>
                      <a:srgbClr val="FF0000"/>
                    </a:solidFill>
                    <a:cs typeface="Arial" pitchFamily="34" charset="0"/>
                  </a:rPr>
                  <a:t>3</a:t>
                </a:r>
                <a:endParaRPr lang="ja-JP" altLang="en-US" b="1" dirty="0">
                  <a:solidFill>
                    <a:srgbClr val="FF0000"/>
                  </a:solidFill>
                  <a:cs typeface="Arial" pitchFamily="34" charset="0"/>
                </a:endParaRPr>
              </a:p>
            </p:txBody>
          </p:sp>
          <p:grpSp>
            <p:nvGrpSpPr>
              <p:cNvPr id="20" name="グループ化 19">
                <a:extLst>
                  <a:ext uri="{FF2B5EF4-FFF2-40B4-BE49-F238E27FC236}">
                    <a16:creationId xmlns:a16="http://schemas.microsoft.com/office/drawing/2014/main" id="{A90828CB-41B2-5194-3735-96A2BCAB2A15}"/>
                  </a:ext>
                </a:extLst>
              </p:cNvPr>
              <p:cNvGrpSpPr/>
              <p:nvPr/>
            </p:nvGrpSpPr>
            <p:grpSpPr>
              <a:xfrm>
                <a:off x="6022191" y="6889021"/>
                <a:ext cx="288000" cy="216000"/>
                <a:chOff x="6022191" y="6889021"/>
                <a:chExt cx="288000" cy="216000"/>
              </a:xfrm>
            </p:grpSpPr>
            <p:sp>
              <p:nvSpPr>
                <p:cNvPr id="21" name="正方形/長方形 20">
                  <a:extLst>
                    <a:ext uri="{FF2B5EF4-FFF2-40B4-BE49-F238E27FC236}">
                      <a16:creationId xmlns:a16="http://schemas.microsoft.com/office/drawing/2014/main" id="{872CD2C0-1C0F-4261-8D64-0C6D786D39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22191" y="6889021"/>
                  <a:ext cx="288000" cy="216000"/>
                </a:xfrm>
                <a:prstGeom prst="rect">
                  <a:avLst/>
                </a:prstGeom>
                <a:noFill/>
                <a:ln w="127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ja-JP" altLang="en-US" sz="1200" dirty="0">
                    <a:cs typeface="Arial" pitchFamily="34" charset="0"/>
                  </a:endParaRPr>
                </a:p>
              </p:txBody>
            </p:sp>
            <p:cxnSp>
              <p:nvCxnSpPr>
                <p:cNvPr id="22" name="直線コネクタ 21">
                  <a:extLst>
                    <a:ext uri="{FF2B5EF4-FFF2-40B4-BE49-F238E27FC236}">
                      <a16:creationId xmlns:a16="http://schemas.microsoft.com/office/drawing/2014/main" id="{5F6C08E4-45D9-50A4-BC91-F3174F0E5C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22191" y="6889021"/>
                  <a:ext cx="86400" cy="864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コネクタ 22">
                  <a:extLst>
                    <a:ext uri="{FF2B5EF4-FFF2-40B4-BE49-F238E27FC236}">
                      <a16:creationId xmlns:a16="http://schemas.microsoft.com/office/drawing/2014/main" id="{E7D15172-6A78-AAA1-976B-D4841A325A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22191" y="6889021"/>
                  <a:ext cx="194400" cy="1944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コネクタ 23">
                  <a:extLst>
                    <a:ext uri="{FF2B5EF4-FFF2-40B4-BE49-F238E27FC236}">
                      <a16:creationId xmlns:a16="http://schemas.microsoft.com/office/drawing/2014/main" id="{7E19AD02-84B8-458C-8C64-5E95FF3682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15791" y="6910621"/>
                  <a:ext cx="194400" cy="1944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線コネクタ 24">
                  <a:extLst>
                    <a:ext uri="{FF2B5EF4-FFF2-40B4-BE49-F238E27FC236}">
                      <a16:creationId xmlns:a16="http://schemas.microsoft.com/office/drawing/2014/main" id="{DD8B6E71-68D3-A315-D286-3AD2F5F43C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223791" y="7018621"/>
                  <a:ext cx="86400" cy="864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CC0F685B-E7FD-930F-B8FC-54B0094C60D1}"/>
                </a:ext>
              </a:extLst>
            </p:cNvPr>
            <p:cNvGrpSpPr/>
            <p:nvPr/>
          </p:nvGrpSpPr>
          <p:grpSpPr>
            <a:xfrm>
              <a:off x="4115401" y="6024927"/>
              <a:ext cx="1627018" cy="1212778"/>
              <a:chOff x="4115401" y="6024927"/>
              <a:chExt cx="1627018" cy="1212778"/>
            </a:xfrm>
          </p:grpSpPr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14906CAB-732C-A01E-84B5-B5F414E9F2C1}"/>
                  </a:ext>
                </a:extLst>
              </p:cNvPr>
              <p:cNvSpPr/>
              <p:nvPr/>
            </p:nvSpPr>
            <p:spPr>
              <a:xfrm>
                <a:off x="4115401" y="6222605"/>
                <a:ext cx="1522800" cy="10151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 dirty="0"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F4B97478-6DBE-BA3C-CFE0-C606CB94F7BE}"/>
                  </a:ext>
                </a:extLst>
              </p:cNvPr>
              <p:cNvSpPr/>
              <p:nvPr/>
            </p:nvSpPr>
            <p:spPr>
              <a:xfrm>
                <a:off x="4115402" y="6024927"/>
                <a:ext cx="1522799" cy="241205"/>
              </a:xfrm>
              <a:prstGeom prst="rect">
                <a:avLst/>
              </a:prstGeom>
              <a:solidFill>
                <a:srgbClr val="BEB76B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200"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3" name="直線矢印コネクタ 62">
                <a:extLst>
                  <a:ext uri="{FF2B5EF4-FFF2-40B4-BE49-F238E27FC236}">
                    <a16:creationId xmlns:a16="http://schemas.microsoft.com/office/drawing/2014/main" id="{FA322700-39EE-7C41-3E8F-061B3DEC23E0}"/>
                  </a:ext>
                </a:extLst>
              </p:cNvPr>
              <p:cNvCxnSpPr/>
              <p:nvPr/>
            </p:nvCxnSpPr>
            <p:spPr bwMode="auto">
              <a:xfrm flipV="1">
                <a:off x="5218845" y="6038117"/>
                <a:ext cx="0" cy="54000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グループ化 63">
                <a:extLst>
                  <a:ext uri="{FF2B5EF4-FFF2-40B4-BE49-F238E27FC236}">
                    <a16:creationId xmlns:a16="http://schemas.microsoft.com/office/drawing/2014/main" id="{35569F76-5282-3DC9-FD67-C2AFD4866AF6}"/>
                  </a:ext>
                </a:extLst>
              </p:cNvPr>
              <p:cNvGrpSpPr/>
              <p:nvPr/>
            </p:nvGrpSpPr>
            <p:grpSpPr>
              <a:xfrm>
                <a:off x="4692880" y="6024927"/>
                <a:ext cx="364531" cy="582479"/>
                <a:chOff x="4692880" y="6024927"/>
                <a:chExt cx="364531" cy="582479"/>
              </a:xfrm>
            </p:grpSpPr>
            <p:sp>
              <p:nvSpPr>
                <p:cNvPr id="66" name="正方形/長方形 65">
                  <a:extLst>
                    <a:ext uri="{FF2B5EF4-FFF2-40B4-BE49-F238E27FC236}">
                      <a16:creationId xmlns:a16="http://schemas.microsoft.com/office/drawing/2014/main" id="{B5D3B995-303D-7D94-26F6-DFCFEB24FFFF}"/>
                    </a:ext>
                  </a:extLst>
                </p:cNvPr>
                <p:cNvSpPr/>
                <p:nvPr/>
              </p:nvSpPr>
              <p:spPr>
                <a:xfrm>
                  <a:off x="4696191" y="6024927"/>
                  <a:ext cx="361220" cy="579317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127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200"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7" name="直線コネクタ 66">
                  <a:extLst>
                    <a:ext uri="{FF2B5EF4-FFF2-40B4-BE49-F238E27FC236}">
                      <a16:creationId xmlns:a16="http://schemas.microsoft.com/office/drawing/2014/main" id="{293FEA15-BB84-9D45-DBFB-A60D9376B5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7411" y="6024927"/>
                  <a:ext cx="360000" cy="360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線コネクタ 67">
                  <a:extLst>
                    <a:ext uri="{FF2B5EF4-FFF2-40B4-BE49-F238E27FC236}">
                      <a16:creationId xmlns:a16="http://schemas.microsoft.com/office/drawing/2014/main" id="{52ABFEF6-6BBA-FC1B-BDAA-ADD87AB455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7011" y="6134585"/>
                  <a:ext cx="360000" cy="360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線コネクタ 68">
                  <a:extLst>
                    <a:ext uri="{FF2B5EF4-FFF2-40B4-BE49-F238E27FC236}">
                      <a16:creationId xmlns:a16="http://schemas.microsoft.com/office/drawing/2014/main" id="{6C40D28E-1FAC-F33A-89E8-F573704027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2880" y="6247406"/>
                  <a:ext cx="360000" cy="360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線コネクタ 69">
                  <a:extLst>
                    <a:ext uri="{FF2B5EF4-FFF2-40B4-BE49-F238E27FC236}">
                      <a16:creationId xmlns:a16="http://schemas.microsoft.com/office/drawing/2014/main" id="{85965753-D375-9B72-5E50-ACAD6C195E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05411" y="6352244"/>
                  <a:ext cx="252000" cy="252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線コネクタ 70">
                  <a:extLst>
                    <a:ext uri="{FF2B5EF4-FFF2-40B4-BE49-F238E27FC236}">
                      <a16:creationId xmlns:a16="http://schemas.microsoft.com/office/drawing/2014/main" id="{CAE5CC12-37A2-C091-8ED0-05E47965EC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13411" y="6460244"/>
                  <a:ext cx="144000" cy="144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線コネクタ 71">
                  <a:extLst>
                    <a:ext uri="{FF2B5EF4-FFF2-40B4-BE49-F238E27FC236}">
                      <a16:creationId xmlns:a16="http://schemas.microsoft.com/office/drawing/2014/main" id="{1BE7C705-3EA2-C09D-FC06-D1A23BBA35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21411" y="6568244"/>
                  <a:ext cx="36000" cy="36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線コネクタ 72">
                  <a:extLst>
                    <a:ext uri="{FF2B5EF4-FFF2-40B4-BE49-F238E27FC236}">
                      <a16:creationId xmlns:a16="http://schemas.microsoft.com/office/drawing/2014/main" id="{68784085-CEE7-A1DB-4FBC-4FBAC6A870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6191" y="6024927"/>
                  <a:ext cx="144000" cy="144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線コネクタ 80">
                  <a:extLst>
                    <a:ext uri="{FF2B5EF4-FFF2-40B4-BE49-F238E27FC236}">
                      <a16:creationId xmlns:a16="http://schemas.microsoft.com/office/drawing/2014/main" id="{278241B4-0BF7-5EB9-968C-4E85408A58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6191" y="6024927"/>
                  <a:ext cx="252000" cy="252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線コネクタ 81">
                  <a:extLst>
                    <a:ext uri="{FF2B5EF4-FFF2-40B4-BE49-F238E27FC236}">
                      <a16:creationId xmlns:a16="http://schemas.microsoft.com/office/drawing/2014/main" id="{00D17110-B0A6-637C-8B0D-07235FCA30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696191" y="6024927"/>
                  <a:ext cx="36000" cy="36000"/>
                </a:xfrm>
                <a:prstGeom prst="line">
                  <a:avLst/>
                </a:prstGeom>
                <a:ln w="127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5" name="テキスト ボックス 34">
                <a:extLst>
                  <a:ext uri="{FF2B5EF4-FFF2-40B4-BE49-F238E27FC236}">
                    <a16:creationId xmlns:a16="http://schemas.microsoft.com/office/drawing/2014/main" id="{9366865F-E7B3-652C-B77C-409C6E6420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9321" y="6612973"/>
                <a:ext cx="1053098" cy="3693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dirty="0">
                    <a:cs typeface="Times New Roman" panose="02020603050405020304" pitchFamily="18" charset="0"/>
                  </a:rPr>
                  <a:t>0.5 </a:t>
                </a:r>
                <a:r>
                  <a:rPr lang="en-US" altLang="ja-JP" dirty="0" err="1">
                    <a:cs typeface="Times New Roman" panose="02020603050405020304" pitchFamily="18" charset="0"/>
                  </a:rPr>
                  <a:t>μm</a:t>
                </a:r>
                <a:endParaRPr lang="ja-JP" altLang="en-US" dirty="0"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390725A9-379F-C0FB-5477-163354F0A7AD}"/>
              </a:ext>
            </a:extLst>
          </p:cNvPr>
          <p:cNvSpPr txBox="1"/>
          <p:nvPr/>
        </p:nvSpPr>
        <p:spPr>
          <a:xfrm>
            <a:off x="7169128" y="866894"/>
            <a:ext cx="207185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[ S u r f a c e ]</a:t>
            </a:r>
          </a:p>
          <a:p>
            <a:r>
              <a:rPr kumimoji="1" lang="en-US" altLang="ja-JP" sz="1600" dirty="0"/>
              <a:t>   21  </a:t>
            </a:r>
            <a:r>
              <a:rPr kumimoji="1" lang="en-US" altLang="ja-JP" sz="1600" dirty="0" err="1"/>
              <a:t>px</a:t>
            </a:r>
            <a:r>
              <a:rPr kumimoji="1" lang="en-US" altLang="ja-JP" sz="1600" dirty="0"/>
              <a:t>    -0.05e-4</a:t>
            </a:r>
          </a:p>
          <a:p>
            <a:r>
              <a:rPr kumimoji="1" lang="en-US" altLang="ja-JP" sz="1600" dirty="0"/>
              <a:t>   22  </a:t>
            </a:r>
            <a:r>
              <a:rPr kumimoji="1" lang="en-US" altLang="ja-JP" sz="1600" dirty="0" err="1"/>
              <a:t>px</a:t>
            </a:r>
            <a:r>
              <a:rPr kumimoji="1" lang="en-US" altLang="ja-JP" sz="1600" dirty="0"/>
              <a:t>     0.05e-4</a:t>
            </a:r>
          </a:p>
          <a:p>
            <a:r>
              <a:rPr kumimoji="1" lang="en-US" altLang="ja-JP" sz="1600" dirty="0"/>
              <a:t>   23  </a:t>
            </a:r>
            <a:r>
              <a:rPr kumimoji="1" lang="en-US" altLang="ja-JP" sz="1600" dirty="0" err="1"/>
              <a:t>py</a:t>
            </a:r>
            <a:r>
              <a:rPr kumimoji="1" lang="en-US" altLang="ja-JP" sz="1600" dirty="0"/>
              <a:t>    -0.10e-4</a:t>
            </a:r>
          </a:p>
          <a:p>
            <a:r>
              <a:rPr kumimoji="1" lang="en-US" altLang="ja-JP" sz="1600" dirty="0"/>
              <a:t>   24  </a:t>
            </a:r>
            <a:r>
              <a:rPr kumimoji="1" lang="en-US" altLang="ja-JP" sz="1600" dirty="0" err="1"/>
              <a:t>py</a:t>
            </a:r>
            <a:r>
              <a:rPr kumimoji="1" lang="en-US" altLang="ja-JP" sz="1600" dirty="0"/>
              <a:t>     0.10e-4</a:t>
            </a:r>
          </a:p>
          <a:p>
            <a:endParaRPr lang="en-US" altLang="ja-JP" sz="1600" dirty="0"/>
          </a:p>
          <a:p>
            <a:r>
              <a:rPr kumimoji="1" lang="en-US" altLang="ja-JP" sz="1600" dirty="0"/>
              <a:t>     4  </a:t>
            </a:r>
            <a:r>
              <a:rPr kumimoji="1" lang="en-US" altLang="ja-JP" sz="1600" dirty="0" err="1"/>
              <a:t>pz</a:t>
            </a:r>
            <a:r>
              <a:rPr kumimoji="1" lang="en-US" altLang="ja-JP" sz="1600" dirty="0"/>
              <a:t>     0.00e-4</a:t>
            </a:r>
          </a:p>
          <a:p>
            <a:r>
              <a:rPr kumimoji="1" lang="en-US" altLang="ja-JP" sz="1600" dirty="0"/>
              <a:t>     6  </a:t>
            </a:r>
            <a:r>
              <a:rPr kumimoji="1" lang="en-US" altLang="ja-JP" sz="1600" dirty="0" err="1"/>
              <a:t>pz</a:t>
            </a:r>
            <a:r>
              <a:rPr kumimoji="1" lang="en-US" altLang="ja-JP" sz="1600" dirty="0"/>
              <a:t>     0.50e-4</a:t>
            </a:r>
            <a:endParaRPr kumimoji="1" lang="ja-JP" altLang="en-US" sz="1600" dirty="0"/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598036C5-57D2-CF4C-0F1E-2D862FE7F4FF}"/>
              </a:ext>
            </a:extLst>
          </p:cNvPr>
          <p:cNvSpPr/>
          <p:nvPr/>
        </p:nvSpPr>
        <p:spPr>
          <a:xfrm>
            <a:off x="7132093" y="841172"/>
            <a:ext cx="2145924" cy="217510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D9A4301A-B129-DB99-ED3B-72A2E88AF659}"/>
              </a:ext>
            </a:extLst>
          </p:cNvPr>
          <p:cNvGrpSpPr/>
          <p:nvPr/>
        </p:nvGrpSpPr>
        <p:grpSpPr>
          <a:xfrm>
            <a:off x="189916" y="170727"/>
            <a:ext cx="5296930" cy="3310704"/>
            <a:chOff x="1927557" y="1602297"/>
            <a:chExt cx="5296930" cy="3310704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36F52EEC-012C-1F5B-5A1A-B5483B3880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7406" t="15776" r="18695" b="31994"/>
            <a:stretch/>
          </p:blipFill>
          <p:spPr>
            <a:xfrm>
              <a:off x="1927557" y="1602297"/>
              <a:ext cx="5296930" cy="3310704"/>
            </a:xfrm>
            <a:prstGeom prst="rect">
              <a:avLst/>
            </a:prstGeom>
          </p:spPr>
        </p:pic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E44BE0DD-A95B-7981-6D9C-3452B86D13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84864" y="2710247"/>
              <a:ext cx="922637" cy="939114"/>
            </a:xfrm>
            <a:prstGeom prst="straightConnector1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8650281A-24F0-5B91-0B84-56BE3C10B661}"/>
                </a:ext>
              </a:extLst>
            </p:cNvPr>
            <p:cNvSpPr txBox="1"/>
            <p:nvPr/>
          </p:nvSpPr>
          <p:spPr>
            <a:xfrm>
              <a:off x="5607282" y="2224213"/>
              <a:ext cx="14221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FF00"/>
                  </a:solidFill>
                </a:rPr>
                <a:t>有感領域</a:t>
              </a:r>
            </a:p>
          </p:txBody>
        </p:sp>
      </p:grpSp>
      <p:pic>
        <p:nvPicPr>
          <p:cNvPr id="3" name="図 2">
            <a:extLst>
              <a:ext uri="{FF2B5EF4-FFF2-40B4-BE49-F238E27FC236}">
                <a16:creationId xmlns:a16="http://schemas.microsoft.com/office/drawing/2014/main" id="{86D2B9EF-A195-4E5A-726F-92129056E0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523" t="24661" r="16238" b="8998"/>
          <a:stretch/>
        </p:blipFill>
        <p:spPr>
          <a:xfrm>
            <a:off x="4333103" y="3656235"/>
            <a:ext cx="5582773" cy="3833420"/>
          </a:xfrm>
          <a:prstGeom prst="rect">
            <a:avLst/>
          </a:prstGeom>
        </p:spPr>
      </p:pic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D5DD9B8A-CDBC-AEDD-E87B-A01C99FE37AA}"/>
              </a:ext>
            </a:extLst>
          </p:cNvPr>
          <p:cNvCxnSpPr>
            <a:cxnSpLocks/>
          </p:cNvCxnSpPr>
          <p:nvPr/>
        </p:nvCxnSpPr>
        <p:spPr>
          <a:xfrm flipH="1">
            <a:off x="6786104" y="4342057"/>
            <a:ext cx="922637" cy="93911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4B114B6-1D9A-2172-8BA3-AC3D13232632}"/>
              </a:ext>
            </a:extLst>
          </p:cNvPr>
          <p:cNvSpPr txBox="1"/>
          <p:nvPr/>
        </p:nvSpPr>
        <p:spPr>
          <a:xfrm>
            <a:off x="6647795" y="3856023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有感領域</a:t>
            </a:r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E757761C-71C4-CF2D-4072-CD6E3CE22A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5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2580C3-BA57-62CF-D833-0F52DCF416F9}"/>
              </a:ext>
            </a:extLst>
          </p:cNvPr>
          <p:cNvSpPr txBox="1"/>
          <p:nvPr/>
        </p:nvSpPr>
        <p:spPr>
          <a:xfrm>
            <a:off x="5672540" y="1000615"/>
            <a:ext cx="410881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it-IT" altLang="ja-JP" dirty="0"/>
              <a:t>[ C e l l ]</a:t>
            </a:r>
          </a:p>
          <a:p>
            <a:r>
              <a:rPr lang="ja-JP" altLang="en-US" dirty="0"/>
              <a:t>   </a:t>
            </a:r>
            <a:r>
              <a:rPr lang="en-US" altLang="ja-JP" dirty="0"/>
              <a:t>…</a:t>
            </a:r>
            <a:endParaRPr kumimoji="1" lang="it-IT" altLang="ja-JP" dirty="0"/>
          </a:p>
          <a:p>
            <a:r>
              <a:rPr kumimoji="1" lang="it-IT" altLang="ja-JP" dirty="0"/>
              <a:t>    5   1  -2.329    11 -12  13 -14   5  -7</a:t>
            </a:r>
          </a:p>
          <a:p>
            <a:r>
              <a:rPr kumimoji="1" lang="it-IT" altLang="ja-JP" dirty="0"/>
              <a:t>                        </a:t>
            </a:r>
            <a:r>
              <a:rPr kumimoji="1" lang="it-IT" altLang="ja-JP" dirty="0">
                <a:solidFill>
                  <a:srgbClr val="FF0000"/>
                </a:solidFill>
              </a:rPr>
              <a:t>#(21 -22  23 -24   5  -6)</a:t>
            </a:r>
            <a:endParaRPr kumimoji="1" lang="it-IT" altLang="ja-JP" dirty="0"/>
          </a:p>
          <a:p>
            <a:r>
              <a:rPr kumimoji="1" lang="it-IT" altLang="ja-JP" dirty="0">
                <a:solidFill>
                  <a:srgbClr val="FF0000"/>
                </a:solidFill>
              </a:rPr>
              <a:t>  10   1  -2.329   (21 -22  23 -24   4  -6)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DCEBA76-8CB0-8621-9E3B-7B38554A3FED}"/>
              </a:ext>
            </a:extLst>
          </p:cNvPr>
          <p:cNvSpPr/>
          <p:nvPr/>
        </p:nvSpPr>
        <p:spPr>
          <a:xfrm>
            <a:off x="5613817" y="922788"/>
            <a:ext cx="4302059" cy="1669409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4006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38A52E-CECB-6111-7F14-10215D843B4C}"/>
              </a:ext>
            </a:extLst>
          </p:cNvPr>
          <p:cNvSpPr txBox="1"/>
          <p:nvPr/>
        </p:nvSpPr>
        <p:spPr>
          <a:xfrm>
            <a:off x="1495127" y="0"/>
            <a:ext cx="70904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 b="1" dirty="0">
                <a:solidFill>
                  <a:schemeClr val="tx2"/>
                </a:solidFill>
              </a:rPr>
              <a:t>ステップ</a:t>
            </a:r>
            <a:r>
              <a:rPr kumimoji="1" lang="en-US" altLang="ja-JP" sz="4400" b="1" dirty="0">
                <a:solidFill>
                  <a:schemeClr val="tx2"/>
                </a:solidFill>
              </a:rPr>
              <a:t>2: </a:t>
            </a:r>
            <a:r>
              <a:rPr lang="ja-JP" altLang="en-US" sz="4400" b="1" dirty="0">
                <a:solidFill>
                  <a:schemeClr val="tx2"/>
                </a:solidFill>
              </a:rPr>
              <a:t>重</a:t>
            </a:r>
            <a:r>
              <a:rPr kumimoji="1" lang="ja-JP" altLang="en-US" sz="4400" b="1" dirty="0">
                <a:solidFill>
                  <a:schemeClr val="tx2"/>
                </a:solidFill>
              </a:rPr>
              <a:t>イオン照射計算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73D714-0A71-A069-1336-73D72865B31B}"/>
              </a:ext>
            </a:extLst>
          </p:cNvPr>
          <p:cNvSpPr txBox="1"/>
          <p:nvPr/>
        </p:nvSpPr>
        <p:spPr>
          <a:xfrm>
            <a:off x="170678" y="962244"/>
            <a:ext cx="94011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10MeV/n</a:t>
            </a:r>
            <a:r>
              <a:rPr lang="ja-JP" altLang="en-US" sz="3200" dirty="0"/>
              <a:t>の</a:t>
            </a:r>
            <a:r>
              <a:rPr lang="en-US" altLang="ja-JP" sz="3200" baseline="30000" dirty="0"/>
              <a:t>4</a:t>
            </a:r>
            <a:r>
              <a:rPr lang="en-US" altLang="ja-JP" sz="3200" dirty="0"/>
              <a:t>He</a:t>
            </a:r>
            <a:r>
              <a:rPr lang="ja-JP" altLang="en-US" sz="3200" dirty="0"/>
              <a:t>イオンを、標的のパッケージ側から全面・均一に垂直照射するように、線源を設定する。</a:t>
            </a:r>
            <a:endParaRPr kumimoji="1" lang="ja-JP" altLang="en-US" sz="32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C9573FD-11DC-1532-B52D-AECDC50A829C}"/>
              </a:ext>
            </a:extLst>
          </p:cNvPr>
          <p:cNvSpPr txBox="1"/>
          <p:nvPr/>
        </p:nvSpPr>
        <p:spPr>
          <a:xfrm>
            <a:off x="170677" y="2190210"/>
            <a:ext cx="94011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3200" dirty="0"/>
              <a:t>有感領域（セル番号</a:t>
            </a:r>
            <a:r>
              <a:rPr lang="en-US" altLang="ja-JP" sz="3200" dirty="0"/>
              <a:t>10</a:t>
            </a:r>
            <a:r>
              <a:rPr lang="ja-JP" altLang="en-US" sz="3200" dirty="0"/>
              <a:t>）へのエネルギー付与分布を出力するように</a:t>
            </a:r>
            <a:r>
              <a:rPr lang="en-US" altLang="ja-JP" sz="3200" dirty="0"/>
              <a:t>[T-Deposit]</a:t>
            </a:r>
            <a:r>
              <a:rPr lang="ja-JP" altLang="en-US" sz="3200" dirty="0"/>
              <a:t>セクションのパラメータを設定する。</a:t>
            </a:r>
            <a:endParaRPr kumimoji="1" lang="ja-JP" altLang="en-US" sz="3200" dirty="0"/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16808E3F-B0F0-F4D5-A6AF-7AA15D980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6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8461081-6FAD-A1F6-AB9B-2BB0BE657E70}"/>
              </a:ext>
            </a:extLst>
          </p:cNvPr>
          <p:cNvSpPr txBox="1"/>
          <p:nvPr/>
        </p:nvSpPr>
        <p:spPr>
          <a:xfrm>
            <a:off x="158646" y="3910618"/>
            <a:ext cx="9401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 err="1"/>
              <a:t>icntl</a:t>
            </a:r>
            <a:r>
              <a:rPr lang="en-US" altLang="ja-JP" sz="3200" dirty="0"/>
              <a:t>=0</a:t>
            </a:r>
            <a:r>
              <a:rPr lang="ja-JP" altLang="en-US" sz="3200" dirty="0"/>
              <a:t>と変更して</a:t>
            </a:r>
            <a:r>
              <a:rPr lang="en-US" altLang="ja-JP" sz="3200" dirty="0"/>
              <a:t>PHITS</a:t>
            </a:r>
            <a:r>
              <a:rPr lang="ja-JP" altLang="en-US" sz="3200" dirty="0"/>
              <a:t>を実行する。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166314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89CE8545-1486-8D36-6C64-3253B6B11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7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319CC19-9B03-F2FB-D77C-67E495699267}"/>
              </a:ext>
            </a:extLst>
          </p:cNvPr>
          <p:cNvSpPr txBox="1"/>
          <p:nvPr/>
        </p:nvSpPr>
        <p:spPr>
          <a:xfrm>
            <a:off x="940324" y="508066"/>
            <a:ext cx="193514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it-IT" altLang="ja-JP" dirty="0"/>
              <a:t>[ S o u r c e ]</a:t>
            </a:r>
          </a:p>
          <a:p>
            <a:r>
              <a:rPr lang="en-US" altLang="ja-JP" dirty="0"/>
              <a:t> s-type =   2</a:t>
            </a:r>
          </a:p>
          <a:p>
            <a:r>
              <a:rPr lang="en-US" altLang="ja-JP" dirty="0"/>
              <a:t>     </a:t>
            </a:r>
            <a:r>
              <a:rPr lang="en-US" altLang="ja-JP" dirty="0" err="1"/>
              <a:t>proj</a:t>
            </a:r>
            <a:r>
              <a:rPr lang="en-US" altLang="ja-JP" dirty="0"/>
              <a:t> =   </a:t>
            </a:r>
            <a:r>
              <a:rPr lang="en-US" altLang="ja-JP" dirty="0">
                <a:solidFill>
                  <a:srgbClr val="FF0000"/>
                </a:solidFill>
              </a:rPr>
              <a:t>4He</a:t>
            </a:r>
          </a:p>
          <a:p>
            <a:r>
              <a:rPr lang="en-US" altLang="ja-JP" dirty="0"/>
              <a:t>       e0 =  </a:t>
            </a:r>
            <a:r>
              <a:rPr lang="en-US" altLang="ja-JP" dirty="0">
                <a:solidFill>
                  <a:srgbClr val="FF0000"/>
                </a:solidFill>
              </a:rPr>
              <a:t>10.0</a:t>
            </a:r>
          </a:p>
          <a:p>
            <a:r>
              <a:rPr lang="en-US" altLang="ja-JP" dirty="0"/>
              <a:t>       x0 =  </a:t>
            </a:r>
            <a:r>
              <a:rPr lang="en-US" altLang="ja-JP" dirty="0">
                <a:solidFill>
                  <a:srgbClr val="FF0000"/>
                </a:solidFill>
              </a:rPr>
              <a:t>-1.0e-4</a:t>
            </a:r>
          </a:p>
          <a:p>
            <a:r>
              <a:rPr lang="en-US" altLang="ja-JP" dirty="0"/>
              <a:t>       x1 =   </a:t>
            </a:r>
            <a:r>
              <a:rPr lang="en-US" altLang="ja-JP" dirty="0">
                <a:solidFill>
                  <a:srgbClr val="FF0000"/>
                </a:solidFill>
              </a:rPr>
              <a:t>1.0e-4</a:t>
            </a:r>
          </a:p>
          <a:p>
            <a:r>
              <a:rPr lang="en-US" altLang="ja-JP" dirty="0"/>
              <a:t>       y0 =  </a:t>
            </a:r>
            <a:r>
              <a:rPr lang="en-US" altLang="ja-JP" dirty="0">
                <a:solidFill>
                  <a:srgbClr val="FF0000"/>
                </a:solidFill>
              </a:rPr>
              <a:t>-1.0e-4</a:t>
            </a:r>
          </a:p>
          <a:p>
            <a:r>
              <a:rPr lang="en-US" altLang="ja-JP" dirty="0"/>
              <a:t>       y1 =   </a:t>
            </a:r>
            <a:r>
              <a:rPr lang="en-US" altLang="ja-JP" dirty="0">
                <a:solidFill>
                  <a:srgbClr val="FF0000"/>
                </a:solidFill>
              </a:rPr>
              <a:t>1.0e-4</a:t>
            </a:r>
          </a:p>
          <a:p>
            <a:r>
              <a:rPr lang="en-US" altLang="ja-JP" dirty="0"/>
              <a:t>       z0 =  </a:t>
            </a:r>
            <a:r>
              <a:rPr lang="en-US" altLang="ja-JP" dirty="0">
                <a:solidFill>
                  <a:srgbClr val="FF0000"/>
                </a:solidFill>
              </a:rPr>
              <a:t>-1.0</a:t>
            </a:r>
          </a:p>
          <a:p>
            <a:r>
              <a:rPr lang="en-US" altLang="ja-JP" dirty="0"/>
              <a:t>       z1 =  </a:t>
            </a:r>
            <a:r>
              <a:rPr lang="en-US" altLang="ja-JP" dirty="0">
                <a:solidFill>
                  <a:srgbClr val="FF0000"/>
                </a:solidFill>
              </a:rPr>
              <a:t>-1.0</a:t>
            </a:r>
          </a:p>
          <a:p>
            <a:r>
              <a:rPr lang="en-US" altLang="ja-JP" dirty="0"/>
              <a:t>      </a:t>
            </a:r>
            <a:r>
              <a:rPr lang="en-US" altLang="ja-JP" dirty="0" err="1"/>
              <a:t>dir</a:t>
            </a:r>
            <a:r>
              <a:rPr lang="en-US" altLang="ja-JP" dirty="0"/>
              <a:t> =   1.0</a:t>
            </a:r>
            <a:endParaRPr kumimoji="1" lang="it-IT" altLang="ja-JP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225DCCD-1C48-72EA-3527-4ADB6D46A88B}"/>
              </a:ext>
            </a:extLst>
          </p:cNvPr>
          <p:cNvSpPr/>
          <p:nvPr/>
        </p:nvSpPr>
        <p:spPr>
          <a:xfrm>
            <a:off x="898379" y="455406"/>
            <a:ext cx="2116531" cy="321714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9CA1A91-65F1-7738-2F04-CBD44E3A353A}"/>
              </a:ext>
            </a:extLst>
          </p:cNvPr>
          <p:cNvSpPr txBox="1"/>
          <p:nvPr/>
        </p:nvSpPr>
        <p:spPr>
          <a:xfrm>
            <a:off x="940324" y="4383961"/>
            <a:ext cx="199734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it-IT" altLang="ja-JP" dirty="0"/>
              <a:t>[ </a:t>
            </a:r>
            <a:r>
              <a:rPr lang="it-IT" altLang="ja-JP" dirty="0"/>
              <a:t>T –</a:t>
            </a:r>
            <a:r>
              <a:rPr kumimoji="1" lang="it-IT" altLang="ja-JP" dirty="0"/>
              <a:t> D e p o s i t ]</a:t>
            </a:r>
          </a:p>
          <a:p>
            <a:r>
              <a:rPr lang="ja-JP" altLang="en-US" dirty="0"/>
              <a:t>   </a:t>
            </a:r>
            <a:r>
              <a:rPr lang="nn-NO" altLang="ja-JP" dirty="0"/>
              <a:t> mesh = reg</a:t>
            </a:r>
          </a:p>
          <a:p>
            <a:r>
              <a:rPr lang="nn-NO" altLang="ja-JP" dirty="0"/>
              <a:t>        reg =  </a:t>
            </a:r>
            <a:r>
              <a:rPr lang="nn-NO" altLang="ja-JP" dirty="0">
                <a:solidFill>
                  <a:srgbClr val="FF0000"/>
                </a:solidFill>
              </a:rPr>
              <a:t>10</a:t>
            </a:r>
          </a:p>
          <a:p>
            <a:r>
              <a:rPr lang="nn-NO" altLang="ja-JP" dirty="0"/>
              <a:t>   e-type =    1</a:t>
            </a:r>
          </a:p>
          <a:p>
            <a:r>
              <a:rPr kumimoji="1" lang="it-IT" altLang="ja-JP" dirty="0"/>
              <a:t>          ...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CB46D4A-8086-E7FE-06CE-1F456CF40CA0}"/>
              </a:ext>
            </a:extLst>
          </p:cNvPr>
          <p:cNvSpPr/>
          <p:nvPr/>
        </p:nvSpPr>
        <p:spPr>
          <a:xfrm>
            <a:off x="898379" y="4306134"/>
            <a:ext cx="2116531" cy="161435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2B426C5B-852A-C8CD-62F9-8341BA5386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84" t="25745" r="12499" b="10780"/>
          <a:stretch/>
        </p:blipFill>
        <p:spPr>
          <a:xfrm>
            <a:off x="4116490" y="90688"/>
            <a:ext cx="5379411" cy="3582099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C82C4C14-31AD-2328-87DE-8D33BDB9B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702" y="3596871"/>
            <a:ext cx="4018705" cy="389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034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408F02BD-9C74-E0E8-F4FD-49D24C6F3A0F}"/>
              </a:ext>
            </a:extLst>
          </p:cNvPr>
          <p:cNvSpPr/>
          <p:nvPr/>
        </p:nvSpPr>
        <p:spPr>
          <a:xfrm>
            <a:off x="209446" y="2808803"/>
            <a:ext cx="9661733" cy="4430197"/>
          </a:xfrm>
          <a:prstGeom prst="roundRect">
            <a:avLst>
              <a:gd name="adj" fmla="val 10221"/>
            </a:avLst>
          </a:prstGeom>
          <a:solidFill>
            <a:srgbClr val="F6F9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D9D79B-2B8C-164F-A8A8-076289C9792F}"/>
              </a:ext>
            </a:extLst>
          </p:cNvPr>
          <p:cNvSpPr txBox="1"/>
          <p:nvPr/>
        </p:nvSpPr>
        <p:spPr>
          <a:xfrm>
            <a:off x="158646" y="769441"/>
            <a:ext cx="9401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SEU</a:t>
            </a:r>
            <a:r>
              <a:rPr lang="ja-JP" altLang="en-US" sz="3200" dirty="0"/>
              <a:t>断面積を計算する。</a:t>
            </a:r>
            <a:endParaRPr lang="en-US" altLang="ja-JP" sz="32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B1DFA8C-D25A-B8D0-6EFE-A15CF77DB6D3}"/>
              </a:ext>
            </a:extLst>
          </p:cNvPr>
          <p:cNvSpPr txBox="1"/>
          <p:nvPr/>
        </p:nvSpPr>
        <p:spPr>
          <a:xfrm>
            <a:off x="1374896" y="0"/>
            <a:ext cx="73308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 b="1" dirty="0">
                <a:solidFill>
                  <a:schemeClr val="tx2"/>
                </a:solidFill>
              </a:rPr>
              <a:t>ステップ</a:t>
            </a:r>
            <a:r>
              <a:rPr kumimoji="1" lang="en-US" altLang="ja-JP" sz="4400" b="1" dirty="0">
                <a:solidFill>
                  <a:schemeClr val="tx2"/>
                </a:solidFill>
              </a:rPr>
              <a:t>3: SEU</a:t>
            </a:r>
            <a:r>
              <a:rPr kumimoji="1" lang="ja-JP" altLang="en-US" sz="4400" b="1" dirty="0">
                <a:solidFill>
                  <a:schemeClr val="tx2"/>
                </a:solidFill>
              </a:rPr>
              <a:t>断面積の算出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7AE4E67-3CA3-C688-825B-5FCB13876B06}"/>
              </a:ext>
            </a:extLst>
          </p:cNvPr>
          <p:cNvSpPr txBox="1"/>
          <p:nvPr/>
        </p:nvSpPr>
        <p:spPr>
          <a:xfrm>
            <a:off x="469119" y="1271408"/>
            <a:ext cx="91558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̶"/>
            </a:pPr>
            <a:r>
              <a:rPr kumimoji="1" lang="en-US" altLang="ja-JP" sz="2800" dirty="0"/>
              <a:t>tdeposit_to_SEUCS_4He.xlsx </a:t>
            </a:r>
            <a:r>
              <a:rPr kumimoji="1" lang="ja-JP" altLang="en-US" sz="2800" dirty="0"/>
              <a:t>の</a:t>
            </a:r>
            <a:r>
              <a:rPr kumimoji="1" lang="en-US" altLang="ja-JP" sz="2800" dirty="0"/>
              <a:t>“10MeV”</a:t>
            </a:r>
            <a:r>
              <a:rPr kumimoji="1" lang="ja-JP" altLang="en-US" sz="2800" dirty="0"/>
              <a:t>の</a:t>
            </a:r>
            <a:r>
              <a:rPr kumimoji="1" lang="en-US" altLang="ja-JP" sz="2800" dirty="0"/>
              <a:t>sheet</a:t>
            </a:r>
            <a:r>
              <a:rPr kumimoji="1" lang="ja-JP" altLang="en-US" sz="2800" dirty="0"/>
              <a:t>の</a:t>
            </a:r>
            <a:endParaRPr lang="en-US" altLang="ja-JP" sz="2800" dirty="0"/>
          </a:p>
          <a:p>
            <a:r>
              <a:rPr lang="en-US" altLang="ja-JP" sz="2800" dirty="0"/>
              <a:t>    </a:t>
            </a:r>
            <a:r>
              <a:rPr kumimoji="1" lang="en-US" altLang="ja-JP" sz="2800" dirty="0"/>
              <a:t>D</a:t>
            </a:r>
            <a:r>
              <a:rPr kumimoji="1" lang="ja-JP" altLang="en-US" sz="2800" dirty="0"/>
              <a:t>～</a:t>
            </a:r>
            <a:r>
              <a:rPr kumimoji="1" lang="en-US" altLang="ja-JP" sz="2800" dirty="0"/>
              <a:t>G</a:t>
            </a:r>
            <a:r>
              <a:rPr kumimoji="1" lang="ja-JP" altLang="en-US" sz="2800" dirty="0"/>
              <a:t>列に</a:t>
            </a:r>
            <a:r>
              <a:rPr kumimoji="1" lang="en-US" altLang="ja-JP" sz="2800" dirty="0"/>
              <a:t>[T-Deposit]</a:t>
            </a:r>
            <a:r>
              <a:rPr kumimoji="1" lang="ja-JP" altLang="en-US" sz="2800" dirty="0"/>
              <a:t>の結果を張り付けると</a:t>
            </a:r>
            <a:r>
              <a:rPr lang="ja-JP" altLang="en-US" sz="2800" dirty="0"/>
              <a:t>、</a:t>
            </a:r>
            <a:r>
              <a:rPr lang="en-US" altLang="ja-JP" sz="2800" dirty="0"/>
              <a:t>K</a:t>
            </a:r>
            <a:r>
              <a:rPr lang="ja-JP" altLang="en-US" sz="2800" dirty="0"/>
              <a:t>～</a:t>
            </a:r>
            <a:r>
              <a:rPr lang="en-US" altLang="ja-JP" sz="2800" dirty="0"/>
              <a:t>M</a:t>
            </a:r>
            <a:r>
              <a:rPr lang="ja-JP" altLang="en-US" sz="2800" dirty="0"/>
              <a:t>列に</a:t>
            </a:r>
            <a:endParaRPr lang="en-US" altLang="ja-JP" sz="2800" dirty="0"/>
          </a:p>
          <a:p>
            <a:r>
              <a:rPr lang="en-US" altLang="ja-JP" sz="2800" dirty="0"/>
              <a:t>    </a:t>
            </a:r>
            <a:r>
              <a:rPr lang="ja-JP" altLang="en-US" sz="2800" dirty="0"/>
              <a:t>しきい電荷量に対する</a:t>
            </a:r>
            <a:r>
              <a:rPr lang="en-US" altLang="ja-JP" sz="2800" dirty="0"/>
              <a:t>SEU</a:t>
            </a:r>
            <a:r>
              <a:rPr lang="ja-JP" altLang="en-US" sz="2800" dirty="0"/>
              <a:t>断面積と誤差が出力される</a:t>
            </a:r>
            <a:r>
              <a:rPr kumimoji="1" lang="ja-JP" altLang="en-US" sz="2800" dirty="0"/>
              <a:t>。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E6A6862-42EE-DAAB-7A63-0C83BDFA798F}"/>
              </a:ext>
            </a:extLst>
          </p:cNvPr>
          <p:cNvSpPr txBox="1"/>
          <p:nvPr/>
        </p:nvSpPr>
        <p:spPr>
          <a:xfrm>
            <a:off x="438046" y="2865437"/>
            <a:ext cx="1143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Note: </a:t>
            </a:r>
            <a:endParaRPr kumimoji="1" lang="ja-JP" altLang="en-US" sz="28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18DA8D8B-5C72-224C-B02A-A6DB1B3515F9}"/>
              </a:ext>
            </a:extLst>
          </p:cNvPr>
          <p:cNvSpPr txBox="1"/>
          <p:nvPr/>
        </p:nvSpPr>
        <p:spPr>
          <a:xfrm>
            <a:off x="496057" y="3398837"/>
            <a:ext cx="80329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kumimoji="1" lang="ja-JP" altLang="en-US" sz="2400" dirty="0"/>
              <a:t>有感部</a:t>
            </a:r>
            <a:r>
              <a:rPr lang="ja-JP" altLang="en-US" sz="2400" dirty="0"/>
              <a:t>への</a:t>
            </a:r>
            <a:r>
              <a:rPr kumimoji="1" lang="ja-JP" altLang="en-US" sz="2400" dirty="0"/>
              <a:t>収集電荷量がしきい値を超えると</a:t>
            </a:r>
            <a:r>
              <a:rPr kumimoji="1" lang="en-US" altLang="ja-JP" sz="2400" dirty="0"/>
              <a:t>SEU</a:t>
            </a:r>
            <a:r>
              <a:rPr lang="ja-JP" altLang="en-US" sz="2400" dirty="0"/>
              <a:t>が発生</a:t>
            </a:r>
            <a:endParaRPr kumimoji="1" lang="en-US" altLang="ja-JP" sz="2400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4CE55B2-6D15-A09A-07D0-73BADA1FCE62}"/>
              </a:ext>
            </a:extLst>
          </p:cNvPr>
          <p:cNvSpPr txBox="1"/>
          <p:nvPr/>
        </p:nvSpPr>
        <p:spPr>
          <a:xfrm>
            <a:off x="496057" y="3939928"/>
            <a:ext cx="85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kumimoji="1" lang="en-US" altLang="ja-JP" sz="2400" dirty="0"/>
              <a:t>[T-Deposit]</a:t>
            </a:r>
            <a:r>
              <a:rPr kumimoji="1" lang="ja-JP" altLang="en-US" sz="2400" dirty="0"/>
              <a:t>はエネルギー付与量毎のイベント発生確率を出力</a:t>
            </a:r>
            <a:endParaRPr kumimoji="1" lang="en-US" altLang="ja-JP" sz="24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1C498E2A-75B8-61F2-D7C0-566EB69FABFC}"/>
              </a:ext>
            </a:extLst>
          </p:cNvPr>
          <p:cNvSpPr txBox="1"/>
          <p:nvPr/>
        </p:nvSpPr>
        <p:spPr>
          <a:xfrm>
            <a:off x="496058" y="5022110"/>
            <a:ext cx="8997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ja-JP" altLang="en-US" sz="2400" dirty="0"/>
              <a:t>しきい値は半導体デバイスの動作電圧等によって変化するため、</a:t>
            </a:r>
            <a:r>
              <a:rPr kumimoji="1" lang="ja-JP" altLang="en-US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各しきい値に対するイベント発生率の累積値</a:t>
            </a:r>
            <a:r>
              <a:rPr kumimoji="1" lang="ja-JP" altLang="en-US" sz="2400" dirty="0"/>
              <a:t>（</a:t>
            </a:r>
            <a:r>
              <a:rPr kumimoji="1" lang="en-US" altLang="ja-JP" sz="2400" dirty="0"/>
              <a:t>SEU</a:t>
            </a:r>
            <a:r>
              <a:rPr kumimoji="1" lang="ja-JP" altLang="en-US" sz="2400" dirty="0"/>
              <a:t>断面積）を算出すると便利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6AC45BB-457D-FBEE-A1E4-433D6710A99A}"/>
              </a:ext>
            </a:extLst>
          </p:cNvPr>
          <p:cNvSpPr txBox="1"/>
          <p:nvPr/>
        </p:nvSpPr>
        <p:spPr>
          <a:xfrm>
            <a:off x="496057" y="4481019"/>
            <a:ext cx="8997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ja-JP" altLang="en-US" sz="2400" dirty="0"/>
              <a:t>しきい値以上の</a:t>
            </a:r>
            <a:r>
              <a:rPr lang="ja-JP" altLang="en-US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イベント発生確率の累積値</a:t>
            </a:r>
            <a:r>
              <a:rPr lang="ja-JP" altLang="en-US" sz="2400" dirty="0"/>
              <a:t>が</a:t>
            </a:r>
            <a:r>
              <a:rPr lang="en-US" altLang="ja-JP" sz="2400" dirty="0"/>
              <a:t>SEU</a:t>
            </a:r>
            <a:r>
              <a:rPr lang="ja-JP" altLang="en-US" sz="2400" dirty="0"/>
              <a:t>断面積に相当</a:t>
            </a:r>
            <a:endParaRPr kumimoji="1" lang="en-US" altLang="ja-JP" sz="2400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2ACD8D5B-0C25-9101-49DB-05B83033A11D}"/>
              </a:ext>
            </a:extLst>
          </p:cNvPr>
          <p:cNvSpPr txBox="1"/>
          <p:nvPr/>
        </p:nvSpPr>
        <p:spPr>
          <a:xfrm>
            <a:off x="496057" y="6301865"/>
            <a:ext cx="9250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kumimoji="1" lang="en-US" altLang="ja-JP" sz="2400" dirty="0"/>
              <a:t>PHITS</a:t>
            </a:r>
            <a:r>
              <a:rPr kumimoji="1" lang="ja-JP" altLang="en-US" sz="2400" dirty="0"/>
              <a:t>には</a:t>
            </a:r>
            <a:r>
              <a:rPr kumimoji="1" lang="ja-JP" altLang="en-US" sz="2400" u="sng" dirty="0">
                <a:uFill>
                  <a:solidFill>
                    <a:srgbClr val="FF0000"/>
                  </a:solidFill>
                </a:uFill>
              </a:rPr>
              <a:t>このような値</a:t>
            </a:r>
            <a:r>
              <a:rPr kumimoji="1" lang="ja-JP" altLang="en-US" sz="2400" dirty="0"/>
              <a:t>を出力する機能は無いため、</a:t>
            </a:r>
            <a:r>
              <a:rPr lang="en-US" altLang="ja-JP" sz="2400" dirty="0"/>
              <a:t>Excel</a:t>
            </a:r>
            <a:r>
              <a:rPr lang="ja-JP" altLang="en-US" sz="2400" dirty="0"/>
              <a:t>などでの外部処理が必要となる。</a:t>
            </a:r>
            <a:endParaRPr kumimoji="1" lang="en-US" altLang="ja-JP" sz="2400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72DD587D-1A28-8431-E330-5C2A25CD70A8}"/>
              </a:ext>
            </a:extLst>
          </p:cNvPr>
          <p:cNvCxnSpPr/>
          <p:nvPr/>
        </p:nvCxnSpPr>
        <p:spPr>
          <a:xfrm flipV="1">
            <a:off x="3403600" y="5866014"/>
            <a:ext cx="432000" cy="432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930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9149CC2-FF08-D308-0425-ADF139EB4679}"/>
              </a:ext>
            </a:extLst>
          </p:cNvPr>
          <p:cNvSpPr txBox="1"/>
          <p:nvPr/>
        </p:nvSpPr>
        <p:spPr>
          <a:xfrm>
            <a:off x="951153" y="-4076"/>
            <a:ext cx="81783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tx2"/>
                </a:solidFill>
              </a:rPr>
              <a:t>[T-Deposit]</a:t>
            </a:r>
            <a:r>
              <a:rPr kumimoji="1" lang="ja-JP" altLang="en-US" sz="4000" dirty="0">
                <a:solidFill>
                  <a:schemeClr val="tx2"/>
                </a:solidFill>
              </a:rPr>
              <a:t>の各列の結果を</a:t>
            </a:r>
            <a:endParaRPr kumimoji="1" lang="en-US" altLang="ja-JP" sz="4000" dirty="0">
              <a:solidFill>
                <a:schemeClr val="tx2"/>
              </a:solidFill>
            </a:endParaRPr>
          </a:p>
          <a:p>
            <a:pPr algn="ctr"/>
            <a:r>
              <a:rPr kumimoji="1" lang="en-US" altLang="ja-JP" sz="4000" dirty="0">
                <a:solidFill>
                  <a:schemeClr val="tx2"/>
                </a:solidFill>
              </a:rPr>
              <a:t>Excel</a:t>
            </a:r>
            <a:r>
              <a:rPr kumimoji="1" lang="ja-JP" altLang="en-US" sz="4000" dirty="0">
                <a:solidFill>
                  <a:schemeClr val="tx2"/>
                </a:solidFill>
              </a:rPr>
              <a:t>の</a:t>
            </a:r>
            <a:r>
              <a:rPr kumimoji="1" lang="en-US" altLang="ja-JP" sz="4000" dirty="0">
                <a:solidFill>
                  <a:schemeClr val="tx2"/>
                </a:solidFill>
              </a:rPr>
              <a:t>D~G</a:t>
            </a:r>
            <a:r>
              <a:rPr kumimoji="1" lang="ja-JP" altLang="en-US" sz="4000" dirty="0">
                <a:solidFill>
                  <a:schemeClr val="tx2"/>
                </a:solidFill>
              </a:rPr>
              <a:t>列に張り付ける方法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0A991DF-A02F-AB3E-F614-286E223EAD2D}"/>
              </a:ext>
            </a:extLst>
          </p:cNvPr>
          <p:cNvSpPr txBox="1"/>
          <p:nvPr/>
        </p:nvSpPr>
        <p:spPr>
          <a:xfrm>
            <a:off x="424542" y="2452119"/>
            <a:ext cx="9383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Notepad++:  Alt</a:t>
            </a:r>
            <a:r>
              <a:rPr lang="ja-JP" altLang="en-US" sz="2800" dirty="0"/>
              <a:t>キーを押しながらマウスでドラッグ選択</a:t>
            </a:r>
            <a:endParaRPr kumimoji="1" lang="ja-JP" altLang="en-US" sz="28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F623F96-1202-9661-CF4F-4FD6C73F67C1}"/>
              </a:ext>
            </a:extLst>
          </p:cNvPr>
          <p:cNvSpPr txBox="1"/>
          <p:nvPr/>
        </p:nvSpPr>
        <p:spPr>
          <a:xfrm>
            <a:off x="47176" y="1429609"/>
            <a:ext cx="97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solidFill>
                  <a:schemeClr val="accent2"/>
                </a:solidFill>
              </a:rPr>
              <a:t>(a) </a:t>
            </a:r>
            <a:endParaRPr kumimoji="1" lang="ja-JP" altLang="en-US" sz="2800" b="1" dirty="0">
              <a:solidFill>
                <a:schemeClr val="accent2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CD37E58-AF28-2392-3C3E-7B4CA308F43E}"/>
              </a:ext>
            </a:extLst>
          </p:cNvPr>
          <p:cNvSpPr txBox="1"/>
          <p:nvPr/>
        </p:nvSpPr>
        <p:spPr>
          <a:xfrm>
            <a:off x="653146" y="1429609"/>
            <a:ext cx="93839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2"/>
                </a:solidFill>
              </a:rPr>
              <a:t>テキストエディタの矩形選択機能を用いて、</a:t>
            </a:r>
            <a:r>
              <a:rPr lang="en-US" altLang="ja-JP" sz="2800" b="1" dirty="0">
                <a:solidFill>
                  <a:schemeClr val="accent2"/>
                </a:solidFill>
              </a:rPr>
              <a:t>[T-Deposit]</a:t>
            </a:r>
            <a:r>
              <a:rPr lang="ja-JP" altLang="en-US" sz="2800" b="1" dirty="0">
                <a:solidFill>
                  <a:schemeClr val="accent2"/>
                </a:solidFill>
              </a:rPr>
              <a:t>の</a:t>
            </a:r>
            <a:r>
              <a:rPr kumimoji="1" lang="ja-JP" altLang="en-US" sz="2800" b="1" dirty="0">
                <a:solidFill>
                  <a:schemeClr val="accent2"/>
                </a:solidFill>
              </a:rPr>
              <a:t>各列の数値データを</a:t>
            </a:r>
            <a:r>
              <a:rPr kumimoji="1" lang="en-US" altLang="ja-JP" sz="2800" b="1" dirty="0">
                <a:solidFill>
                  <a:schemeClr val="accent2"/>
                </a:solidFill>
              </a:rPr>
              <a:t>Excel</a:t>
            </a:r>
            <a:r>
              <a:rPr kumimoji="1" lang="ja-JP" altLang="en-US" sz="2800" b="1" dirty="0">
                <a:solidFill>
                  <a:schemeClr val="accent2"/>
                </a:solidFill>
              </a:rPr>
              <a:t>の</a:t>
            </a:r>
            <a:r>
              <a:rPr kumimoji="1" lang="en-US" altLang="ja-JP" sz="2800" b="1" dirty="0">
                <a:solidFill>
                  <a:schemeClr val="accent2"/>
                </a:solidFill>
              </a:rPr>
              <a:t>D</a:t>
            </a:r>
            <a:r>
              <a:rPr kumimoji="1" lang="ja-JP" altLang="en-US" sz="2800" b="1" dirty="0">
                <a:solidFill>
                  <a:schemeClr val="accent2"/>
                </a:solidFill>
              </a:rPr>
              <a:t>～</a:t>
            </a:r>
            <a:r>
              <a:rPr kumimoji="1" lang="en-US" altLang="ja-JP" sz="2800" b="1" dirty="0">
                <a:solidFill>
                  <a:schemeClr val="accent2"/>
                </a:solidFill>
              </a:rPr>
              <a:t>G</a:t>
            </a:r>
            <a:r>
              <a:rPr kumimoji="1" lang="ja-JP" altLang="en-US" sz="2800" b="1" dirty="0">
                <a:solidFill>
                  <a:schemeClr val="accent2"/>
                </a:solidFill>
              </a:rPr>
              <a:t>列にコピー＆ペーストする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EF0D3B6-91EF-EB96-6A8E-8F41F62FF884}"/>
              </a:ext>
            </a:extLst>
          </p:cNvPr>
          <p:cNvSpPr txBox="1"/>
          <p:nvPr/>
        </p:nvSpPr>
        <p:spPr>
          <a:xfrm>
            <a:off x="424542" y="2983971"/>
            <a:ext cx="9473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/>
              <a:t>CotEditor</a:t>
            </a:r>
            <a:r>
              <a:rPr lang="en-US" altLang="ja-JP" sz="2800" dirty="0"/>
              <a:t>:  Option(Alt)</a:t>
            </a:r>
            <a:r>
              <a:rPr lang="ja-JP" altLang="en-US" sz="2800" dirty="0"/>
              <a:t>キーを押しながらマウスでドラッグ選択</a:t>
            </a:r>
            <a:endParaRPr kumimoji="1" lang="ja-JP" altLang="en-US" sz="28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80EAA9B-6943-907C-78AE-EAC3C59190B7}"/>
              </a:ext>
            </a:extLst>
          </p:cNvPr>
          <p:cNvSpPr txBox="1"/>
          <p:nvPr/>
        </p:nvSpPr>
        <p:spPr>
          <a:xfrm>
            <a:off x="47176" y="3700260"/>
            <a:ext cx="97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solidFill>
                  <a:schemeClr val="accent3">
                    <a:lumMod val="75000"/>
                  </a:schemeClr>
                </a:solidFill>
              </a:rPr>
              <a:t>(b) </a:t>
            </a:r>
            <a:endParaRPr kumimoji="1" lang="ja-JP" altLang="en-US" sz="28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2E78351-8040-62A3-CFEA-981775317DCD}"/>
              </a:ext>
            </a:extLst>
          </p:cNvPr>
          <p:cNvSpPr txBox="1"/>
          <p:nvPr/>
        </p:nvSpPr>
        <p:spPr>
          <a:xfrm>
            <a:off x="653146" y="3700260"/>
            <a:ext cx="93839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solidFill>
                  <a:schemeClr val="accent3">
                    <a:lumMod val="75000"/>
                  </a:schemeClr>
                </a:solidFill>
              </a:rPr>
              <a:t>Microsoft Excel</a:t>
            </a:r>
            <a:r>
              <a:rPr kumimoji="1" lang="ja-JP" altLang="en-US" sz="2800" b="1" dirty="0">
                <a:solidFill>
                  <a:schemeClr val="accent3">
                    <a:lumMod val="75000"/>
                  </a:schemeClr>
                </a:solidFill>
              </a:rPr>
              <a:t>の区切り位置指定ウィザードを利用してデータを各列に分割する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2DAEB10-B68A-093A-0836-CB67CA0F14BF}"/>
              </a:ext>
            </a:extLst>
          </p:cNvPr>
          <p:cNvSpPr txBox="1"/>
          <p:nvPr/>
        </p:nvSpPr>
        <p:spPr>
          <a:xfrm>
            <a:off x="1006932" y="5245467"/>
            <a:ext cx="5061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リボン中のデータタブを選択する</a:t>
            </a:r>
            <a:endParaRPr kumimoji="1" lang="en-US" altLang="ja-JP" sz="28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5CB0CEF-5BB0-78CB-B392-0041D6306FBA}"/>
              </a:ext>
            </a:extLst>
          </p:cNvPr>
          <p:cNvSpPr txBox="1"/>
          <p:nvPr/>
        </p:nvSpPr>
        <p:spPr>
          <a:xfrm>
            <a:off x="177802" y="5265566"/>
            <a:ext cx="97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b-2. </a:t>
            </a:r>
            <a:endParaRPr kumimoji="1" lang="ja-JP" altLang="en-US" sz="28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3125A1E-68BC-D19C-55D3-7E847B28B0FE}"/>
              </a:ext>
            </a:extLst>
          </p:cNvPr>
          <p:cNvSpPr txBox="1"/>
          <p:nvPr/>
        </p:nvSpPr>
        <p:spPr>
          <a:xfrm>
            <a:off x="1006932" y="5851808"/>
            <a:ext cx="8855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データツールのグループにある</a:t>
            </a:r>
            <a:r>
              <a:rPr kumimoji="1" lang="en-US" altLang="ja-JP" sz="2800" dirty="0"/>
              <a:t>”</a:t>
            </a:r>
            <a:r>
              <a:rPr kumimoji="1" lang="ja-JP" altLang="en-US" sz="2800" dirty="0"/>
              <a:t>区切り位置</a:t>
            </a:r>
            <a:r>
              <a:rPr kumimoji="1" lang="en-US" altLang="ja-JP" sz="2800" dirty="0"/>
              <a:t>”</a:t>
            </a:r>
            <a:r>
              <a:rPr kumimoji="1" lang="ja-JP" altLang="en-US" sz="2800" dirty="0"/>
              <a:t>を選択する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FAEE199-D6BD-2A71-6A3C-6274506C16FF}"/>
              </a:ext>
            </a:extLst>
          </p:cNvPr>
          <p:cNvSpPr txBox="1"/>
          <p:nvPr/>
        </p:nvSpPr>
        <p:spPr>
          <a:xfrm>
            <a:off x="177802" y="5861858"/>
            <a:ext cx="97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b-3. </a:t>
            </a:r>
            <a:endParaRPr kumimoji="1" lang="ja-JP" altLang="en-US" sz="28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BA89974-FEF0-B11A-26A2-B0E994717B5A}"/>
              </a:ext>
            </a:extLst>
          </p:cNvPr>
          <p:cNvSpPr txBox="1"/>
          <p:nvPr/>
        </p:nvSpPr>
        <p:spPr>
          <a:xfrm>
            <a:off x="1006932" y="6458149"/>
            <a:ext cx="8620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区切り位置指定ウィザードが立ち上がるので指示に従う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12F9477-BEF5-3A65-7576-5BDD480803E0}"/>
              </a:ext>
            </a:extLst>
          </p:cNvPr>
          <p:cNvSpPr txBox="1"/>
          <p:nvPr/>
        </p:nvSpPr>
        <p:spPr>
          <a:xfrm>
            <a:off x="177802" y="6458149"/>
            <a:ext cx="97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b-4. </a:t>
            </a:r>
            <a:endParaRPr kumimoji="1" lang="ja-JP" altLang="en-US" sz="28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F1203F1-5778-9090-220C-A2BA8ACE7DC9}"/>
              </a:ext>
            </a:extLst>
          </p:cNvPr>
          <p:cNvSpPr txBox="1"/>
          <p:nvPr/>
        </p:nvSpPr>
        <p:spPr>
          <a:xfrm>
            <a:off x="1006932" y="465818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en-US" altLang="ja-JP" sz="28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CE2BC6D-3383-712A-305F-96E674413394}"/>
              </a:ext>
            </a:extLst>
          </p:cNvPr>
          <p:cNvSpPr txBox="1"/>
          <p:nvPr/>
        </p:nvSpPr>
        <p:spPr>
          <a:xfrm>
            <a:off x="177802" y="4669274"/>
            <a:ext cx="977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b-1. </a:t>
            </a:r>
            <a:endParaRPr kumimoji="1" lang="ja-JP" altLang="en-US" sz="28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01BDD3F-1534-DC70-3024-6AEF24EA48B4}"/>
              </a:ext>
            </a:extLst>
          </p:cNvPr>
          <p:cNvSpPr txBox="1"/>
          <p:nvPr/>
        </p:nvSpPr>
        <p:spPr>
          <a:xfrm>
            <a:off x="47176" y="6975860"/>
            <a:ext cx="8941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/>
              <a:t>(Ref.) https://support.microsoft.com/en-us/office/split-text-into-different-columns-with-the-convert-text-to-columns-wizard-30b14928-5550-41f5-97ca-7a3e9c363ed7</a:t>
            </a:r>
            <a:endParaRPr kumimoji="1" lang="ja-JP" altLang="en-US" sz="1600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6551FAF-33D4-2899-C13E-AF721CE91E26}"/>
              </a:ext>
            </a:extLst>
          </p:cNvPr>
          <p:cNvSpPr txBox="1"/>
          <p:nvPr/>
        </p:nvSpPr>
        <p:spPr>
          <a:xfrm>
            <a:off x="1006932" y="4639126"/>
            <a:ext cx="8946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[T-Deposit]</a:t>
            </a:r>
            <a:r>
              <a:rPr lang="ja-JP" altLang="en-US" sz="2800" dirty="0"/>
              <a:t>の結果を</a:t>
            </a:r>
            <a:r>
              <a:rPr lang="en-US" altLang="ja-JP" sz="2800" dirty="0"/>
              <a:t>D</a:t>
            </a:r>
            <a:r>
              <a:rPr lang="ja-JP" altLang="en-US" sz="2800" dirty="0"/>
              <a:t>列に張り付け、選択状態を維持する</a:t>
            </a:r>
            <a:endParaRPr kumimoji="1" lang="ja-JP" altLang="en-US" sz="2800" dirty="0"/>
          </a:p>
        </p:txBody>
      </p:sp>
      <p:sp>
        <p:nvSpPr>
          <p:cNvPr id="34" name="Text Box 8">
            <a:extLst>
              <a:ext uri="{FF2B5EF4-FFF2-40B4-BE49-F238E27FC236}">
                <a16:creationId xmlns:a16="http://schemas.microsoft.com/office/drawing/2014/main" id="{FF0AA764-D179-74AE-A49A-3733E4DB2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9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312C2BC-B0FC-B1C6-33CB-B7765BAFC4A8}"/>
              </a:ext>
            </a:extLst>
          </p:cNvPr>
          <p:cNvSpPr txBox="1"/>
          <p:nvPr/>
        </p:nvSpPr>
        <p:spPr>
          <a:xfrm>
            <a:off x="102301" y="76688"/>
            <a:ext cx="1210588" cy="70788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4000" dirty="0">
                <a:solidFill>
                  <a:schemeClr val="bg1"/>
                </a:solidFill>
              </a:rPr>
              <a:t>参考</a:t>
            </a:r>
          </a:p>
        </p:txBody>
      </p:sp>
    </p:spTree>
    <p:extLst>
      <p:ext uri="{BB962C8B-B14F-4D97-AF65-F5344CB8AC3E}">
        <p14:creationId xmlns:p14="http://schemas.microsoft.com/office/powerpoint/2010/main" val="779882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5EC34F0D-821A-6BBF-D3F4-4067A20B5B1D}"/>
              </a:ext>
            </a:extLst>
          </p:cNvPr>
          <p:cNvGrpSpPr/>
          <p:nvPr/>
        </p:nvGrpSpPr>
        <p:grpSpPr>
          <a:xfrm>
            <a:off x="5622700" y="787855"/>
            <a:ext cx="4070355" cy="1312408"/>
            <a:chOff x="5804202" y="2349557"/>
            <a:chExt cx="4070355" cy="1312408"/>
          </a:xfrm>
        </p:grpSpPr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236A4A15-908C-1BD4-4F15-78CE39C992D8}"/>
                </a:ext>
              </a:extLst>
            </p:cNvPr>
            <p:cNvGrpSpPr/>
            <p:nvPr/>
          </p:nvGrpSpPr>
          <p:grpSpPr>
            <a:xfrm>
              <a:off x="5804202" y="2349557"/>
              <a:ext cx="4070355" cy="1312408"/>
              <a:chOff x="1100281" y="4316625"/>
              <a:chExt cx="4070355" cy="1312408"/>
            </a:xfrm>
          </p:grpSpPr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6A06A7D4-3C58-730F-7776-CD4B55C15AE7}"/>
                  </a:ext>
                </a:extLst>
              </p:cNvPr>
              <p:cNvSpPr txBox="1"/>
              <p:nvPr/>
            </p:nvSpPr>
            <p:spPr>
              <a:xfrm>
                <a:off x="1169096" y="4969520"/>
                <a:ext cx="156966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i="1" dirty="0" err="1">
                    <a:latin typeface="Times New Roman" pitchFamily="18" charset="0"/>
                    <a:cs typeface="Times New Roman" pitchFamily="18" charset="0"/>
                  </a:rPr>
                  <a:t>Q</a:t>
                </a:r>
                <a:r>
                  <a:rPr lang="en-US" altLang="ja-JP" sz="1400" baseline="-25000" dirty="0" err="1">
                    <a:latin typeface="Times New Roman" pitchFamily="18" charset="0"/>
                    <a:cs typeface="Times New Roman" pitchFamily="18" charset="0"/>
                  </a:rPr>
                  <a:t>fit</a:t>
                </a:r>
                <a:r>
                  <a:rPr lang="en-US" altLang="ja-JP" sz="1400" dirty="0"/>
                  <a:t> : </a:t>
                </a:r>
                <a:r>
                  <a:rPr lang="ja-JP" altLang="en-US" sz="1400" dirty="0"/>
                  <a:t>しきい電荷量</a:t>
                </a:r>
              </a:p>
            </p:txBody>
          </p:sp>
          <p:sp>
            <p:nvSpPr>
              <p:cNvPr id="15" name="大かっこ 14">
                <a:extLst>
                  <a:ext uri="{FF2B5EF4-FFF2-40B4-BE49-F238E27FC236}">
                    <a16:creationId xmlns:a16="http://schemas.microsoft.com/office/drawing/2014/main" id="{B0D22B5F-8C6F-01E3-9504-E4F7C28CC86B}"/>
                  </a:ext>
                </a:extLst>
              </p:cNvPr>
              <p:cNvSpPr/>
              <p:nvPr/>
            </p:nvSpPr>
            <p:spPr>
              <a:xfrm>
                <a:off x="1100281" y="4316625"/>
                <a:ext cx="4070355" cy="1312408"/>
              </a:xfrm>
              <a:prstGeom prst="bracketPair">
                <a:avLst>
                  <a:gd name="adj" fmla="val 11840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E087C4FD-28A9-08E7-E6B6-DC6BA2DB7DEE}"/>
                  </a:ext>
                </a:extLst>
              </p:cNvPr>
              <p:cNvSpPr txBox="1"/>
              <p:nvPr/>
            </p:nvSpPr>
            <p:spPr>
              <a:xfrm>
                <a:off x="1169096" y="4656888"/>
                <a:ext cx="23326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i="1" dirty="0">
                    <a:latin typeface="Times New Roman" pitchFamily="18" charset="0"/>
                    <a:cs typeface="Times New Roman" pitchFamily="18" charset="0"/>
                  </a:rPr>
                  <a:t>E</a:t>
                </a:r>
                <a:r>
                  <a:rPr lang="en-US" altLang="ja-JP" sz="1400" baseline="-25000" dirty="0">
                    <a:latin typeface="Times New Roman" pitchFamily="18" charset="0"/>
                    <a:cs typeface="Times New Roman" pitchFamily="18" charset="0"/>
                  </a:rPr>
                  <a:t>in</a:t>
                </a:r>
                <a:r>
                  <a:rPr lang="en-US" altLang="ja-JP" sz="1400" dirty="0"/>
                  <a:t> : </a:t>
                </a:r>
                <a:r>
                  <a:rPr lang="ja-JP" altLang="en-US" sz="1400" dirty="0"/>
                  <a:t>放射線入射エネルギー</a:t>
                </a:r>
              </a:p>
            </p:txBody>
          </p:sp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3218952D-852D-E65C-6E95-63BED719311F}"/>
                  </a:ext>
                </a:extLst>
              </p:cNvPr>
              <p:cNvSpPr txBox="1"/>
              <p:nvPr/>
            </p:nvSpPr>
            <p:spPr>
              <a:xfrm>
                <a:off x="1169096" y="4344256"/>
                <a:ext cx="2198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1400" i="1" dirty="0" err="1">
                    <a:latin typeface="Symbol" panose="05050102010706020507" pitchFamily="18" charset="2"/>
                    <a:cs typeface="Times New Roman" pitchFamily="18" charset="0"/>
                  </a:rPr>
                  <a:t>s</a:t>
                </a:r>
                <a:r>
                  <a:rPr lang="en-US" altLang="ja-JP" sz="1400" baseline="-25000" dirty="0" err="1">
                    <a:latin typeface="Times New Roman" pitchFamily="18" charset="0"/>
                    <a:cs typeface="Times New Roman" pitchFamily="18" charset="0"/>
                  </a:rPr>
                  <a:t>SEU</a:t>
                </a:r>
                <a:r>
                  <a:rPr lang="en-US" altLang="ja-JP" sz="1400" i="1" dirty="0">
                    <a:latin typeface="Times New Roman" pitchFamily="18" charset="0"/>
                    <a:cs typeface="Times New Roman" pitchFamily="18" charset="0"/>
                  </a:rPr>
                  <a:t>(E</a:t>
                </a:r>
                <a:r>
                  <a:rPr lang="en-US" altLang="ja-JP" sz="1400" baseline="-25000" dirty="0">
                    <a:latin typeface="Times New Roman" pitchFamily="18" charset="0"/>
                    <a:cs typeface="Times New Roman" pitchFamily="18" charset="0"/>
                  </a:rPr>
                  <a:t>in, </a:t>
                </a:r>
                <a:r>
                  <a:rPr lang="en-US" altLang="ja-JP" sz="1400" i="1" dirty="0" err="1">
                    <a:latin typeface="Times New Roman" pitchFamily="18" charset="0"/>
                    <a:cs typeface="Times New Roman" pitchFamily="18" charset="0"/>
                  </a:rPr>
                  <a:t>Q</a:t>
                </a:r>
                <a:r>
                  <a:rPr lang="en-US" altLang="ja-JP" sz="1400" baseline="-25000" dirty="0" err="1">
                    <a:latin typeface="Times New Roman" pitchFamily="18" charset="0"/>
                    <a:cs typeface="Times New Roman" pitchFamily="18" charset="0"/>
                  </a:rPr>
                  <a:t>fit</a:t>
                </a:r>
                <a:r>
                  <a:rPr lang="en-US" altLang="ja-JP" sz="14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  <a:r>
                  <a:rPr lang="en-US" altLang="ja-JP" sz="1400" dirty="0"/>
                  <a:t> : SEU</a:t>
                </a:r>
                <a:r>
                  <a:rPr lang="ja-JP" altLang="en-US" sz="1400" dirty="0"/>
                  <a:t>断面積</a:t>
                </a:r>
              </a:p>
            </p:txBody>
          </p:sp>
        </p:grp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3EE87919-C559-5186-10FF-83629544F607}"/>
                </a:ext>
              </a:extLst>
            </p:cNvPr>
            <p:cNvSpPr txBox="1"/>
            <p:nvPr/>
          </p:nvSpPr>
          <p:spPr>
            <a:xfrm>
              <a:off x="8150305" y="2383457"/>
              <a:ext cx="16995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i="1" dirty="0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altLang="ja-JP" sz="1400" dirty="0"/>
                <a:t> : </a:t>
              </a:r>
              <a:r>
                <a:rPr lang="ja-JP" altLang="en-US" sz="1400" dirty="0"/>
                <a:t>放射線照射面積</a:t>
              </a: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4BAD979F-BFD8-9A28-7DFA-52A6243D8E02}"/>
                </a:ext>
              </a:extLst>
            </p:cNvPr>
            <p:cNvSpPr txBox="1"/>
            <p:nvPr/>
          </p:nvSpPr>
          <p:spPr>
            <a:xfrm>
              <a:off x="8150305" y="2696089"/>
              <a:ext cx="16241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altLang="ja-JP" sz="1400" baseline="-25000" dirty="0">
                  <a:latin typeface="Times New Roman" pitchFamily="18" charset="0"/>
                  <a:cs typeface="Times New Roman" pitchFamily="18" charset="0"/>
                </a:rPr>
                <a:t>in</a:t>
              </a:r>
              <a:r>
                <a:rPr lang="en-US" altLang="ja-JP" sz="1400" dirty="0"/>
                <a:t> : </a:t>
              </a:r>
              <a:r>
                <a:rPr lang="ja-JP" altLang="en-US" sz="1400" dirty="0"/>
                <a:t>放射線入射数</a:t>
              </a: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F2453BAF-FADC-8059-0478-7D8AE5948F03}"/>
                </a:ext>
              </a:extLst>
            </p:cNvPr>
            <p:cNvSpPr txBox="1"/>
            <p:nvPr/>
          </p:nvSpPr>
          <p:spPr>
            <a:xfrm>
              <a:off x="8150305" y="3008720"/>
              <a:ext cx="15408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400" i="1" dirty="0" err="1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altLang="ja-JP" sz="1400" baseline="-25000" dirty="0" err="1">
                  <a:latin typeface="Times New Roman" pitchFamily="18" charset="0"/>
                  <a:cs typeface="Times New Roman" pitchFamily="18" charset="0"/>
                </a:rPr>
                <a:t>bit</a:t>
              </a:r>
              <a:r>
                <a:rPr lang="en-US" altLang="ja-JP" sz="1400" dirty="0"/>
                <a:t> :</a:t>
              </a:r>
              <a:r>
                <a:rPr lang="ja-JP" altLang="en-US" sz="1400" dirty="0"/>
                <a:t>メモリビット数</a:t>
              </a:r>
            </a:p>
          </p:txBody>
        </p:sp>
      </p:grpSp>
      <p:sp>
        <p:nvSpPr>
          <p:cNvPr id="27" name="矢印: 右 26">
            <a:extLst>
              <a:ext uri="{FF2B5EF4-FFF2-40B4-BE49-F238E27FC236}">
                <a16:creationId xmlns:a16="http://schemas.microsoft.com/office/drawing/2014/main" id="{0BBD3D30-8CF4-D845-48A7-FB8FF0FA4D85}"/>
              </a:ext>
            </a:extLst>
          </p:cNvPr>
          <p:cNvSpPr/>
          <p:nvPr/>
        </p:nvSpPr>
        <p:spPr>
          <a:xfrm>
            <a:off x="4652655" y="4624806"/>
            <a:ext cx="504000" cy="360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2" name="オブジェクト 1">
            <a:extLst>
              <a:ext uri="{FF2B5EF4-FFF2-40B4-BE49-F238E27FC236}">
                <a16:creationId xmlns:a16="http://schemas.microsoft.com/office/drawing/2014/main" id="{08FCF5C9-E301-3C01-EB61-245A1CD54C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676441"/>
              </p:ext>
            </p:extLst>
          </p:nvPr>
        </p:nvGraphicFramePr>
        <p:xfrm>
          <a:off x="528464" y="849313"/>
          <a:ext cx="4884737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720" imgH="431640" progId="Equation.DSMT4">
                  <p:embed/>
                </p:oleObj>
              </mc:Choice>
              <mc:Fallback>
                <p:oleObj name="Equation" r:id="rId2" imgW="2412720" imgH="431640" progId="Equation.DSMT4">
                  <p:embed/>
                  <p:pic>
                    <p:nvPicPr>
                      <p:cNvPr id="7" name="オブジェクト 6">
                        <a:extLst>
                          <a:ext uri="{FF2B5EF4-FFF2-40B4-BE49-F238E27FC236}">
                            <a16:creationId xmlns:a16="http://schemas.microsoft.com/office/drawing/2014/main" id="{D33B0716-7C8D-A356-B378-B378E3BD13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464" y="849313"/>
                        <a:ext cx="4884737" cy="871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オブジェクト 2">
            <a:extLst>
              <a:ext uri="{FF2B5EF4-FFF2-40B4-BE49-F238E27FC236}">
                <a16:creationId xmlns:a16="http://schemas.microsoft.com/office/drawing/2014/main" id="{5EB84E10-CD36-2CEE-53BC-2D71469D26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362870"/>
              </p:ext>
            </p:extLst>
          </p:nvPr>
        </p:nvGraphicFramePr>
        <p:xfrm>
          <a:off x="1408631" y="1908968"/>
          <a:ext cx="3367087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241200" progId="Equation.DSMT4">
                  <p:embed/>
                </p:oleObj>
              </mc:Choice>
              <mc:Fallback>
                <p:oleObj name="Equation" r:id="rId4" imgW="1663560" imgH="241200" progId="Equation.DSMT4">
                  <p:embed/>
                  <p:pic>
                    <p:nvPicPr>
                      <p:cNvPr id="18" name="オブジェクト 17">
                        <a:extLst>
                          <a:ext uri="{FF2B5EF4-FFF2-40B4-BE49-F238E27FC236}">
                            <a16:creationId xmlns:a16="http://schemas.microsoft.com/office/drawing/2014/main" id="{C3E5BE4C-DC93-6B94-4EB3-7948653F2B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8631" y="1908968"/>
                        <a:ext cx="3367087" cy="4873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8">
            <a:extLst>
              <a:ext uri="{FF2B5EF4-FFF2-40B4-BE49-F238E27FC236}">
                <a16:creationId xmlns:a16="http://schemas.microsoft.com/office/drawing/2014/main" id="{8C500729-8F55-C235-7C6D-82D870D58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10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DFD4226-7290-0C01-59ED-1757C07F25DE}"/>
              </a:ext>
            </a:extLst>
          </p:cNvPr>
          <p:cNvSpPr txBox="1"/>
          <p:nvPr/>
        </p:nvSpPr>
        <p:spPr>
          <a:xfrm>
            <a:off x="5692390" y="1751742"/>
            <a:ext cx="385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ja-JP" sz="1400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ja-JP" sz="1400" baseline="-25000" dirty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ja-JP" sz="1400" i="1" dirty="0"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en-US" altLang="ja-JP" sz="14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ja-JP" sz="1400" dirty="0"/>
              <a:t> :  </a:t>
            </a:r>
            <a:r>
              <a:rPr lang="ja-JP" altLang="en-US" sz="1400" dirty="0"/>
              <a:t>収集電荷量が</a:t>
            </a:r>
            <a:r>
              <a:rPr lang="en-US" altLang="ja-JP" sz="1400" i="1" dirty="0"/>
              <a:t>q</a:t>
            </a:r>
            <a:r>
              <a:rPr lang="ja-JP" altLang="en-US" sz="1400" dirty="0"/>
              <a:t>から</a:t>
            </a:r>
            <a:r>
              <a:rPr lang="en-US" altLang="ja-JP" sz="1400" i="1" dirty="0" err="1"/>
              <a:t>q</a:t>
            </a:r>
            <a:r>
              <a:rPr lang="en-US" altLang="ja-JP" sz="1400" dirty="0" err="1"/>
              <a:t>+</a:t>
            </a:r>
            <a:r>
              <a:rPr lang="en-US" altLang="ja-JP" sz="1400" i="1" dirty="0" err="1"/>
              <a:t>dq</a:t>
            </a:r>
            <a:r>
              <a:rPr lang="ja-JP" altLang="en-US" sz="1400" dirty="0"/>
              <a:t>のイベント数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7BF40B-102A-2E6A-E788-A3042A6AE62A}"/>
              </a:ext>
            </a:extLst>
          </p:cNvPr>
          <p:cNvSpPr txBox="1"/>
          <p:nvPr/>
        </p:nvSpPr>
        <p:spPr>
          <a:xfrm>
            <a:off x="6399918" y="2029805"/>
            <a:ext cx="17681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</a:rPr>
              <a:t>[T-Deposit]</a:t>
            </a:r>
            <a:r>
              <a:rPr lang="ja-JP" altLang="en-US" sz="1400" dirty="0">
                <a:solidFill>
                  <a:srgbClr val="FF0000"/>
                </a:solidFill>
              </a:rPr>
              <a:t>の出力値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FC35B22-02B8-D9B3-2A72-62446A6C1BD9}"/>
              </a:ext>
            </a:extLst>
          </p:cNvPr>
          <p:cNvCxnSpPr/>
          <p:nvPr/>
        </p:nvCxnSpPr>
        <p:spPr>
          <a:xfrm>
            <a:off x="5783580" y="2037425"/>
            <a:ext cx="6239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2EE26D2A-9BBF-50ED-B803-AFB4DD03379D}"/>
              </a:ext>
            </a:extLst>
          </p:cNvPr>
          <p:cNvCxnSpPr>
            <a:stCxn id="6" idx="1"/>
          </p:cNvCxnSpPr>
          <p:nvPr/>
        </p:nvCxnSpPr>
        <p:spPr>
          <a:xfrm rot="10800000">
            <a:off x="6095560" y="2037426"/>
            <a:ext cx="304359" cy="146269"/>
          </a:xfrm>
          <a:prstGeom prst="bentConnector3">
            <a:avLst>
              <a:gd name="adj1" fmla="val 10007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図 40">
            <a:extLst>
              <a:ext uri="{FF2B5EF4-FFF2-40B4-BE49-F238E27FC236}">
                <a16:creationId xmlns:a16="http://schemas.microsoft.com/office/drawing/2014/main" id="{C687EB94-2C92-1155-4741-A459409EC1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446" y="2884842"/>
            <a:ext cx="4444599" cy="4303748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7AECA730-8476-0692-0EB2-D8F86818FF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613" y="2791598"/>
            <a:ext cx="4403966" cy="438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115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38A52E-CECB-6111-7F14-10215D843B4C}"/>
              </a:ext>
            </a:extLst>
          </p:cNvPr>
          <p:cNvSpPr txBox="1"/>
          <p:nvPr/>
        </p:nvSpPr>
        <p:spPr>
          <a:xfrm>
            <a:off x="33990" y="280084"/>
            <a:ext cx="10012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 b="1" dirty="0">
                <a:solidFill>
                  <a:schemeClr val="tx2"/>
                </a:solidFill>
              </a:rPr>
              <a:t>ステップ</a:t>
            </a:r>
            <a:r>
              <a:rPr kumimoji="1" lang="en-US" altLang="ja-JP" sz="4400" b="1" dirty="0">
                <a:solidFill>
                  <a:schemeClr val="tx2"/>
                </a:solidFill>
              </a:rPr>
              <a:t>4: </a:t>
            </a:r>
            <a:r>
              <a:rPr kumimoji="1" lang="ja-JP" altLang="en-US" sz="4400" b="1" dirty="0">
                <a:solidFill>
                  <a:schemeClr val="tx2"/>
                </a:solidFill>
              </a:rPr>
              <a:t>入射エネルギ</a:t>
            </a:r>
            <a:r>
              <a:rPr kumimoji="1" lang="en-US" altLang="ja-JP" sz="4400" b="1" dirty="0">
                <a:solidFill>
                  <a:schemeClr val="tx2"/>
                </a:solidFill>
              </a:rPr>
              <a:t>―</a:t>
            </a:r>
            <a:r>
              <a:rPr kumimoji="1" lang="ja-JP" altLang="en-US" sz="4400" b="1" dirty="0">
                <a:solidFill>
                  <a:schemeClr val="tx2"/>
                </a:solidFill>
              </a:rPr>
              <a:t>依存性の算出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73D714-0A71-A069-1336-73D72865B31B}"/>
              </a:ext>
            </a:extLst>
          </p:cNvPr>
          <p:cNvSpPr txBox="1"/>
          <p:nvPr/>
        </p:nvSpPr>
        <p:spPr>
          <a:xfrm>
            <a:off x="170677" y="1444940"/>
            <a:ext cx="95156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3200" dirty="0"/>
              <a:t>入射エネルギー </a:t>
            </a:r>
            <a:r>
              <a:rPr lang="en-US" altLang="ja-JP" sz="3200" dirty="0"/>
              <a:t>8, 25, 200, 2000 MeV/n</a:t>
            </a:r>
            <a:r>
              <a:rPr lang="ja-JP" altLang="en-US" sz="3200" dirty="0"/>
              <a:t>に関しても</a:t>
            </a:r>
            <a:r>
              <a:rPr lang="en-US" altLang="ja-JP" sz="3200" dirty="0"/>
              <a:t>SEU</a:t>
            </a:r>
            <a:r>
              <a:rPr lang="ja-JP" altLang="en-US" sz="3200" dirty="0"/>
              <a:t>断面積を算出する。</a:t>
            </a:r>
            <a:endParaRPr lang="en-US" altLang="ja-JP" sz="32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1934C6-25DF-B7AC-684F-67A05A631D6C}"/>
              </a:ext>
            </a:extLst>
          </p:cNvPr>
          <p:cNvSpPr txBox="1"/>
          <p:nvPr/>
        </p:nvSpPr>
        <p:spPr>
          <a:xfrm>
            <a:off x="637564" y="2553454"/>
            <a:ext cx="90097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̶"/>
            </a:pPr>
            <a:r>
              <a:rPr kumimoji="1" lang="en-US" altLang="ja-JP" sz="2800" dirty="0"/>
              <a:t>tdeposit_to_SEUCS_4He.xlsx </a:t>
            </a:r>
            <a:r>
              <a:rPr lang="ja-JP" altLang="en-US" sz="2800" dirty="0"/>
              <a:t>に各入射エネルギーに対応する</a:t>
            </a:r>
            <a:r>
              <a:rPr kumimoji="1" lang="en-US" altLang="ja-JP" sz="2800" dirty="0"/>
              <a:t>sheet</a:t>
            </a:r>
            <a:r>
              <a:rPr kumimoji="1" lang="ja-JP" altLang="en-US" sz="2800" dirty="0"/>
              <a:t>があるので、各</a:t>
            </a:r>
            <a:r>
              <a:rPr kumimoji="1" lang="en-US" altLang="ja-JP" sz="2800" dirty="0"/>
              <a:t>sheet</a:t>
            </a:r>
            <a:r>
              <a:rPr kumimoji="1" lang="ja-JP" altLang="en-US" sz="2800" dirty="0"/>
              <a:t>にて</a:t>
            </a:r>
            <a:r>
              <a:rPr kumimoji="1" lang="en-US" altLang="ja-JP" sz="2800" dirty="0"/>
              <a:t>10 MeV/n</a:t>
            </a:r>
            <a:r>
              <a:rPr kumimoji="1" lang="ja-JP" altLang="en-US" sz="2800" dirty="0"/>
              <a:t>のときと同様の処理を行う。</a:t>
            </a:r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9F1D5460-A482-F631-EC2C-664141B9C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11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1928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77F6D2DB-0EA1-F48C-D5AF-F61171B88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12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5A9B40D0-CB03-3A27-0B10-47094CF68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63" y="869531"/>
            <a:ext cx="5967412" cy="58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285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38A52E-CECB-6111-7F14-10215D843B4C}"/>
              </a:ext>
            </a:extLst>
          </p:cNvPr>
          <p:cNvSpPr txBox="1"/>
          <p:nvPr/>
        </p:nvSpPr>
        <p:spPr>
          <a:xfrm>
            <a:off x="1885455" y="4782"/>
            <a:ext cx="630974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4400" b="1" dirty="0">
                <a:solidFill>
                  <a:schemeClr val="accent2"/>
                </a:solidFill>
              </a:rPr>
              <a:t>small-</a:t>
            </a:r>
            <a:r>
              <a:rPr lang="en-US" altLang="ja-JP" sz="4400" b="1" dirty="0" err="1">
                <a:solidFill>
                  <a:schemeClr val="accent2"/>
                </a:solidFill>
              </a:rPr>
              <a:t>satellite.inp</a:t>
            </a:r>
            <a:r>
              <a:rPr lang="ja-JP" altLang="en-US" sz="4400" b="1" dirty="0">
                <a:solidFill>
                  <a:schemeClr val="accent2"/>
                </a:solidFill>
              </a:rPr>
              <a:t>を開く</a:t>
            </a:r>
            <a:endParaRPr kumimoji="1" lang="ja-JP" altLang="en-US" sz="4400" b="1" dirty="0">
              <a:solidFill>
                <a:schemeClr val="accent2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FDF900-8658-E635-412D-0D3F16685975}"/>
              </a:ext>
            </a:extLst>
          </p:cNvPr>
          <p:cNvSpPr txBox="1"/>
          <p:nvPr/>
        </p:nvSpPr>
        <p:spPr>
          <a:xfrm>
            <a:off x="198249" y="791445"/>
            <a:ext cx="9777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PHIG-3D</a:t>
            </a:r>
            <a:r>
              <a:rPr lang="ja-JP" altLang="en-US" sz="3200" dirty="0"/>
              <a:t>や</a:t>
            </a:r>
            <a:r>
              <a:rPr lang="en-US" altLang="ja-JP" sz="3200" dirty="0"/>
              <a:t>[T-Track]</a:t>
            </a:r>
            <a:r>
              <a:rPr lang="ja-JP" altLang="en-US" sz="3200" dirty="0"/>
              <a:t>を用いて計算体系を確認する。</a:t>
            </a: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C5466573-74E7-F871-6908-141CF105F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13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grpSp>
        <p:nvGrpSpPr>
          <p:cNvPr id="7" name="グループ化 6"/>
          <p:cNvGrpSpPr/>
          <p:nvPr/>
        </p:nvGrpSpPr>
        <p:grpSpPr>
          <a:xfrm>
            <a:off x="1866557" y="1541129"/>
            <a:ext cx="6266200" cy="5840456"/>
            <a:chOff x="1469212" y="451383"/>
            <a:chExt cx="6266200" cy="5840456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6E8F24F9-7785-73FC-11A1-AA74BC00C8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073" t="8772" r="14603" b="11388"/>
            <a:stretch/>
          </p:blipFill>
          <p:spPr>
            <a:xfrm>
              <a:off x="1469212" y="451383"/>
              <a:ext cx="6266200" cy="5840456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8F5BD2F9-11D8-DC2A-819B-763F53321C35}"/>
                </a:ext>
              </a:extLst>
            </p:cNvPr>
            <p:cNvSpPr txBox="1"/>
            <p:nvPr/>
          </p:nvSpPr>
          <p:spPr>
            <a:xfrm>
              <a:off x="5352335" y="4240013"/>
              <a:ext cx="10134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 dirty="0">
                  <a:solidFill>
                    <a:schemeClr val="bg1"/>
                  </a:solidFill>
                </a:rPr>
                <a:t>レンズ</a:t>
              </a: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0005D926-492C-CA90-B4E9-051570EB9C72}"/>
                </a:ext>
              </a:extLst>
            </p:cNvPr>
            <p:cNvSpPr txBox="1"/>
            <p:nvPr/>
          </p:nvSpPr>
          <p:spPr>
            <a:xfrm>
              <a:off x="4693201" y="1905367"/>
              <a:ext cx="23920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 dirty="0">
                  <a:solidFill>
                    <a:schemeClr val="bg1"/>
                  </a:solidFill>
                </a:rPr>
                <a:t>イメージセンサー</a:t>
              </a: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70D72D2-ED1A-C5D2-BBC1-9E0D810880D3}"/>
                </a:ext>
              </a:extLst>
            </p:cNvPr>
            <p:cNvSpPr txBox="1"/>
            <p:nvPr/>
          </p:nvSpPr>
          <p:spPr>
            <a:xfrm>
              <a:off x="2693922" y="1552128"/>
              <a:ext cx="11128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 dirty="0">
                  <a:solidFill>
                    <a:schemeClr val="bg1"/>
                  </a:solidFill>
                </a:rPr>
                <a:t>変圧器</a:t>
              </a: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139B5915-B0D4-5FD6-DAAC-AFB8BB364A36}"/>
                </a:ext>
              </a:extLst>
            </p:cNvPr>
            <p:cNvSpPr txBox="1"/>
            <p:nvPr/>
          </p:nvSpPr>
          <p:spPr>
            <a:xfrm>
              <a:off x="2406858" y="2650574"/>
              <a:ext cx="152317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400" b="1" dirty="0">
                  <a:solidFill>
                    <a:schemeClr val="bg1"/>
                  </a:solidFill>
                </a:rPr>
                <a:t>Li</a:t>
              </a:r>
              <a:r>
                <a:rPr lang="ja-JP" altLang="en-US" sz="2400" b="1" dirty="0">
                  <a:solidFill>
                    <a:schemeClr val="bg1"/>
                  </a:solidFill>
                </a:rPr>
                <a:t>イオン</a:t>
              </a:r>
              <a:endParaRPr lang="en-US" altLang="ja-JP" sz="2400" b="1" dirty="0">
                <a:solidFill>
                  <a:schemeClr val="bg1"/>
                </a:solidFill>
              </a:endParaRPr>
            </a:p>
            <a:p>
              <a:pPr algn="ctr"/>
              <a:r>
                <a:rPr lang="ja-JP" altLang="en-US" sz="2400" b="1" dirty="0">
                  <a:solidFill>
                    <a:schemeClr val="bg1"/>
                  </a:solidFill>
                </a:rPr>
                <a:t>バッテリー</a:t>
              </a:r>
              <a:endParaRPr kumimoji="1" lang="en-US" altLang="ja-JP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4EB7FFD3-23AD-EAB9-5F80-CF22EAFECE0F}"/>
                </a:ext>
              </a:extLst>
            </p:cNvPr>
            <p:cNvSpPr txBox="1"/>
            <p:nvPr/>
          </p:nvSpPr>
          <p:spPr>
            <a:xfrm>
              <a:off x="2005912" y="4377587"/>
              <a:ext cx="142218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 dirty="0">
                  <a:solidFill>
                    <a:schemeClr val="bg1"/>
                  </a:solidFill>
                </a:rPr>
                <a:t>姿勢制御</a:t>
              </a:r>
              <a:endParaRPr kumimoji="1" lang="en-US" altLang="ja-JP" sz="2400" b="1" dirty="0">
                <a:solidFill>
                  <a:schemeClr val="bg1"/>
                </a:solidFill>
              </a:endParaRPr>
            </a:p>
            <a:p>
              <a:pPr algn="ctr"/>
              <a:r>
                <a:rPr kumimoji="1" lang="ja-JP" altLang="en-US" sz="2400" b="1" dirty="0">
                  <a:solidFill>
                    <a:schemeClr val="bg1"/>
                  </a:solidFill>
                </a:rPr>
                <a:t>ユニット</a:t>
              </a: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60403042-C2F7-F668-1B70-5D7EE9DE2F36}"/>
                </a:ext>
              </a:extLst>
            </p:cNvPr>
            <p:cNvSpPr txBox="1"/>
            <p:nvPr/>
          </p:nvSpPr>
          <p:spPr>
            <a:xfrm>
              <a:off x="3373297" y="5157468"/>
              <a:ext cx="14221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 dirty="0">
                  <a:solidFill>
                    <a:schemeClr val="bg1"/>
                  </a:solidFill>
                </a:rPr>
                <a:t>制御基板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1436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38A52E-CECB-6111-7F14-10215D843B4C}"/>
              </a:ext>
            </a:extLst>
          </p:cNvPr>
          <p:cNvSpPr txBox="1"/>
          <p:nvPr/>
        </p:nvSpPr>
        <p:spPr>
          <a:xfrm>
            <a:off x="1362070" y="280084"/>
            <a:ext cx="73565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 b="1" dirty="0">
                <a:solidFill>
                  <a:schemeClr val="accent2"/>
                </a:solidFill>
              </a:rPr>
              <a:t>ステップ</a:t>
            </a:r>
            <a:r>
              <a:rPr kumimoji="1" lang="en-US" altLang="ja-JP" sz="4400" b="1" dirty="0">
                <a:solidFill>
                  <a:schemeClr val="accent2"/>
                </a:solidFill>
              </a:rPr>
              <a:t>5</a:t>
            </a:r>
            <a:r>
              <a:rPr lang="en-US" altLang="ja-JP" sz="4400" b="1" dirty="0">
                <a:solidFill>
                  <a:schemeClr val="accent2"/>
                </a:solidFill>
              </a:rPr>
              <a:t>: [Multiplier]</a:t>
            </a:r>
            <a:r>
              <a:rPr lang="ja-JP" altLang="en-US" sz="4400" b="1" dirty="0">
                <a:solidFill>
                  <a:schemeClr val="accent2"/>
                </a:solidFill>
              </a:rPr>
              <a:t>の設定</a:t>
            </a:r>
            <a:endParaRPr kumimoji="1" lang="ja-JP" altLang="en-US" sz="4400" b="1" dirty="0">
              <a:solidFill>
                <a:schemeClr val="accent2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C9573FD-11DC-1532-B52D-AECDC50A829C}"/>
              </a:ext>
            </a:extLst>
          </p:cNvPr>
          <p:cNvSpPr txBox="1"/>
          <p:nvPr/>
        </p:nvSpPr>
        <p:spPr>
          <a:xfrm>
            <a:off x="201157" y="1082613"/>
            <a:ext cx="97476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3200" dirty="0"/>
              <a:t>しきい電荷量が</a:t>
            </a:r>
            <a:r>
              <a:rPr lang="en-US" altLang="ja-JP" sz="3200" dirty="0"/>
              <a:t>1.0 </a:t>
            </a:r>
            <a:r>
              <a:rPr lang="en-US" altLang="ja-JP" sz="3200" dirty="0" err="1"/>
              <a:t>fC</a:t>
            </a:r>
            <a:r>
              <a:rPr lang="ja-JP" altLang="en-US" sz="3200" dirty="0"/>
              <a:t>での</a:t>
            </a:r>
            <a:r>
              <a:rPr lang="en-US" altLang="ja-JP" sz="3200" dirty="0"/>
              <a:t>SEU</a:t>
            </a:r>
            <a:r>
              <a:rPr kumimoji="1" lang="ja-JP" altLang="en-US" sz="3200" dirty="0"/>
              <a:t>断面積のエネルギー依存性を</a:t>
            </a:r>
            <a:r>
              <a:rPr lang="en-US" altLang="ja-JP" sz="3200" dirty="0"/>
              <a:t>[Multiplier]</a:t>
            </a:r>
            <a:r>
              <a:rPr lang="ja-JP" altLang="en-US" sz="3200" dirty="0"/>
              <a:t>として設定</a:t>
            </a:r>
            <a:r>
              <a:rPr kumimoji="1" lang="ja-JP" altLang="en-US" sz="3200" dirty="0"/>
              <a:t>する。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AF049EF-C1E4-F8FC-2898-E0351E3C1BBC}"/>
              </a:ext>
            </a:extLst>
          </p:cNvPr>
          <p:cNvSpPr txBox="1"/>
          <p:nvPr/>
        </p:nvSpPr>
        <p:spPr>
          <a:xfrm>
            <a:off x="668044" y="2557557"/>
            <a:ext cx="91407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̶"/>
            </a:pPr>
            <a:r>
              <a:rPr kumimoji="1" lang="en-US" altLang="ja-JP" sz="2800" dirty="0"/>
              <a:t>tdeposit_to_SEUCS_4He.xlsx </a:t>
            </a:r>
            <a:r>
              <a:rPr kumimoji="1" lang="ja-JP" altLang="en-US" sz="2800" dirty="0"/>
              <a:t>の</a:t>
            </a:r>
            <a:r>
              <a:rPr kumimoji="1" lang="en-US" altLang="ja-JP" sz="2800" dirty="0"/>
              <a:t>“SEU_CS”</a:t>
            </a:r>
            <a:r>
              <a:rPr kumimoji="1" lang="ja-JP" altLang="en-US" sz="2800" dirty="0"/>
              <a:t>の</a:t>
            </a:r>
            <a:r>
              <a:rPr kumimoji="1" lang="en-US" altLang="ja-JP" sz="2800" dirty="0"/>
              <a:t>sheet</a:t>
            </a:r>
            <a:r>
              <a:rPr kumimoji="1" lang="ja-JP" altLang="en-US" sz="2800" dirty="0"/>
              <a:t>でセル</a:t>
            </a:r>
            <a:r>
              <a:rPr kumimoji="1" lang="en-US" altLang="ja-JP" sz="2800" dirty="0"/>
              <a:t>B8</a:t>
            </a:r>
            <a:r>
              <a:rPr kumimoji="1" lang="ja-JP" altLang="en-US" sz="2800" dirty="0"/>
              <a:t>にしきい電荷量の値を与えると、</a:t>
            </a:r>
            <a:r>
              <a:rPr kumimoji="1" lang="en-US" altLang="ja-JP" sz="2800" dirty="0"/>
              <a:t>D</a:t>
            </a:r>
            <a:r>
              <a:rPr kumimoji="1" lang="ja-JP" altLang="en-US" sz="2800" dirty="0"/>
              <a:t>～</a:t>
            </a:r>
            <a:r>
              <a:rPr kumimoji="1" lang="en-US" altLang="ja-JP" sz="2800" dirty="0"/>
              <a:t>F</a:t>
            </a:r>
            <a:r>
              <a:rPr kumimoji="1" lang="ja-JP" altLang="en-US" sz="2800" dirty="0"/>
              <a:t>列に入射エネルギーに対する</a:t>
            </a:r>
            <a:r>
              <a:rPr lang="en-US" altLang="ja-JP" sz="2800" dirty="0"/>
              <a:t>SEU</a:t>
            </a:r>
            <a:r>
              <a:rPr lang="ja-JP" altLang="en-US" sz="2800" dirty="0"/>
              <a:t>断面積と誤差が出力される</a:t>
            </a:r>
            <a:r>
              <a:rPr kumimoji="1" lang="ja-JP" altLang="en-US" sz="2800" dirty="0"/>
              <a:t>。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D3C8E17-DC2F-F1CC-B8A7-FAAB664EBF33}"/>
              </a:ext>
            </a:extLst>
          </p:cNvPr>
          <p:cNvSpPr txBox="1"/>
          <p:nvPr/>
        </p:nvSpPr>
        <p:spPr>
          <a:xfrm>
            <a:off x="594436" y="2110922"/>
            <a:ext cx="8410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ja-JP" altLang="en-US" sz="2000" dirty="0">
                <a:solidFill>
                  <a:schemeClr val="bg1">
                    <a:lumMod val="50000"/>
                  </a:schemeClr>
                </a:solidFill>
              </a:rPr>
              <a:t>参考</a:t>
            </a:r>
            <a:r>
              <a:rPr lang="en-US" altLang="ja-JP" sz="2000" dirty="0">
                <a:solidFill>
                  <a:schemeClr val="bg1">
                    <a:lumMod val="50000"/>
                  </a:schemeClr>
                </a:solidFill>
              </a:rPr>
              <a:t>) Multiplier</a:t>
            </a:r>
            <a:r>
              <a:rPr lang="ja-JP" altLang="en-US" sz="2000" dirty="0">
                <a:solidFill>
                  <a:schemeClr val="bg1">
                    <a:lumMod val="50000"/>
                  </a:schemeClr>
                </a:solidFill>
              </a:rPr>
              <a:t>の設定・使用</a:t>
            </a:r>
            <a:r>
              <a:rPr kumimoji="1" lang="ja-JP" altLang="en-US" sz="2000" dirty="0">
                <a:solidFill>
                  <a:schemeClr val="bg1">
                    <a:lumMod val="50000"/>
                  </a:schemeClr>
                </a:solidFill>
              </a:rPr>
              <a:t>方法</a:t>
            </a:r>
            <a:r>
              <a:rPr kumimoji="1" lang="en-US" altLang="ja-JP" sz="20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kumimoji="1" lang="ja-JP" alt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kumimoji="1" lang="en-US" altLang="ja-JP" sz="2000" dirty="0" err="1">
                <a:solidFill>
                  <a:schemeClr val="bg1">
                    <a:lumMod val="50000"/>
                  </a:schemeClr>
                </a:solidFill>
              </a:rPr>
              <a:t>phits</a:t>
            </a:r>
            <a:r>
              <a:rPr kumimoji="1" lang="en-US" altLang="ja-JP" sz="2000" dirty="0">
                <a:solidFill>
                  <a:schemeClr val="bg1">
                    <a:lumMod val="50000"/>
                  </a:schemeClr>
                </a:solidFill>
              </a:rPr>
              <a:t>\lecture\advanced\options</a:t>
            </a:r>
            <a:endParaRPr kumimoji="1" lang="ja-JP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98AD0F76-4CDB-E704-120B-D9BA92C2B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14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3016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37727F3-6E60-5273-B21D-5DD59F924A2B}"/>
              </a:ext>
            </a:extLst>
          </p:cNvPr>
          <p:cNvSpPr txBox="1"/>
          <p:nvPr/>
        </p:nvSpPr>
        <p:spPr>
          <a:xfrm>
            <a:off x="5980674" y="1919417"/>
            <a:ext cx="368722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it-IT" altLang="ja-JP" dirty="0"/>
              <a:t>[ Multiplier ]</a:t>
            </a:r>
          </a:p>
          <a:p>
            <a:r>
              <a:rPr kumimoji="1" lang="it-IT" altLang="ja-JP" dirty="0"/>
              <a:t>  number = -200</a:t>
            </a:r>
          </a:p>
          <a:p>
            <a:r>
              <a:rPr kumimoji="1" lang="it-IT" altLang="ja-JP" dirty="0"/>
              <a:t>  interpolation = log</a:t>
            </a:r>
          </a:p>
          <a:p>
            <a:r>
              <a:rPr kumimoji="1" lang="it-IT" altLang="ja-JP" dirty="0"/>
              <a:t>  part = 4He</a:t>
            </a:r>
          </a:p>
          <a:p>
            <a:r>
              <a:rPr kumimoji="1" lang="it-IT" altLang="ja-JP" dirty="0"/>
              <a:t>  ne = 5</a:t>
            </a:r>
          </a:p>
          <a:p>
            <a:r>
              <a:rPr kumimoji="1" lang="it-IT" altLang="ja-JP" dirty="0"/>
              <a:t>$  E_in (MeV/u),  </a:t>
            </a:r>
            <a:r>
              <a:rPr kumimoji="1" lang="en-US" altLang="ja-JP" dirty="0"/>
              <a:t>σ</a:t>
            </a:r>
            <a:r>
              <a:rPr kumimoji="1" lang="it-IT" altLang="ja-JP" dirty="0"/>
              <a:t>_SEU (cm2/bit)</a:t>
            </a:r>
          </a:p>
          <a:p>
            <a:r>
              <a:rPr kumimoji="1" lang="it-IT" altLang="ja-JP" dirty="0"/>
              <a:t>       8.0e+0            0.00e-0</a:t>
            </a:r>
          </a:p>
          <a:p>
            <a:r>
              <a:rPr kumimoji="1" lang="it-IT" altLang="ja-JP" dirty="0"/>
              <a:t>       1.0e+1            1.64e-</a:t>
            </a:r>
            <a:r>
              <a:rPr kumimoji="1" lang="en-US" altLang="ja-JP" dirty="0"/>
              <a:t>12</a:t>
            </a:r>
            <a:endParaRPr kumimoji="1" lang="it-IT" altLang="ja-JP" dirty="0"/>
          </a:p>
          <a:p>
            <a:r>
              <a:rPr kumimoji="1" lang="it-IT" altLang="ja-JP" dirty="0"/>
              <a:t>       2.5e+1            2.00e-13</a:t>
            </a:r>
          </a:p>
          <a:p>
            <a:r>
              <a:rPr kumimoji="1" lang="it-IT" altLang="ja-JP" dirty="0"/>
              <a:t>       2.0e+2            8.00e-13</a:t>
            </a:r>
          </a:p>
          <a:p>
            <a:r>
              <a:rPr kumimoji="1" lang="it-IT" altLang="ja-JP" dirty="0"/>
              <a:t>       2.0e+3            2.80e-13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C5BF378F-53C1-D14E-2A62-5BD9BE41F922}"/>
              </a:ext>
            </a:extLst>
          </p:cNvPr>
          <p:cNvCxnSpPr/>
          <p:nvPr/>
        </p:nvCxnSpPr>
        <p:spPr>
          <a:xfrm flipH="1">
            <a:off x="8073082" y="2158313"/>
            <a:ext cx="360000" cy="36000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0DE6268-1548-E3D3-8F3F-E272B5B8D977}"/>
              </a:ext>
            </a:extLst>
          </p:cNvPr>
          <p:cNvSpPr txBox="1"/>
          <p:nvPr/>
        </p:nvSpPr>
        <p:spPr>
          <a:xfrm>
            <a:off x="7941275" y="1482811"/>
            <a:ext cx="1795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00B050"/>
                </a:solidFill>
              </a:rPr>
              <a:t>両対数グラフで直線内挿</a:t>
            </a:r>
            <a:endParaRPr kumimoji="1" lang="ja-JP" altLang="en-US" dirty="0">
              <a:solidFill>
                <a:srgbClr val="00B050"/>
              </a:solidFill>
            </a:endParaRPr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77F6D2DB-0EA1-F48C-D5AF-F61171B88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15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E3909D3-08B4-2B52-8DCA-2CF7CCC11D1B}"/>
              </a:ext>
            </a:extLst>
          </p:cNvPr>
          <p:cNvSpPr/>
          <p:nvPr/>
        </p:nvSpPr>
        <p:spPr>
          <a:xfrm>
            <a:off x="5938729" y="1453640"/>
            <a:ext cx="3800683" cy="360509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3CA03FA4-50F4-5EB4-5E91-75B3D5580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2" y="511266"/>
            <a:ext cx="5967412" cy="5810669"/>
          </a:xfrm>
          <a:prstGeom prst="rect">
            <a:avLst/>
          </a:prstGeom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C7D02A0-F63F-6ECC-6B56-ADC0CEC60C91}"/>
              </a:ext>
            </a:extLst>
          </p:cNvPr>
          <p:cNvCxnSpPr/>
          <p:nvPr/>
        </p:nvCxnSpPr>
        <p:spPr>
          <a:xfrm>
            <a:off x="5071485" y="3221182"/>
            <a:ext cx="653906" cy="0"/>
          </a:xfrm>
          <a:prstGeom prst="line">
            <a:avLst/>
          </a:prstGeom>
          <a:ln w="19050">
            <a:solidFill>
              <a:schemeClr val="accent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E443164-9469-DFBB-546D-F0B06D4D0FF9}"/>
              </a:ext>
            </a:extLst>
          </p:cNvPr>
          <p:cNvSpPr txBox="1"/>
          <p:nvPr/>
        </p:nvSpPr>
        <p:spPr>
          <a:xfrm>
            <a:off x="5492838" y="6001112"/>
            <a:ext cx="4288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olidFill>
                  <a:schemeClr val="accent6"/>
                </a:solidFill>
              </a:rPr>
              <a:t>Multiplier</a:t>
            </a:r>
            <a:r>
              <a:rPr lang="ja-JP" altLang="en-US" sz="2400" dirty="0">
                <a:solidFill>
                  <a:schemeClr val="accent6"/>
                </a:solidFill>
              </a:rPr>
              <a:t>が定義されていない領域は、最後の値が適用される。</a:t>
            </a:r>
            <a:endParaRPr kumimoji="1" lang="ja-JP" altLang="en-US" sz="2400" dirty="0">
              <a:solidFill>
                <a:schemeClr val="accent6"/>
              </a:solidFill>
            </a:endParaRPr>
          </a:p>
        </p:txBody>
      </p: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AE30405D-BBB6-4DFF-F371-2D9993CF3864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>
            <a:off x="5398438" y="3407061"/>
            <a:ext cx="94400" cy="3009551"/>
          </a:xfrm>
          <a:prstGeom prst="bentConnector2">
            <a:avLst/>
          </a:prstGeom>
          <a:ln w="3810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98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38A52E-CECB-6111-7F14-10215D843B4C}"/>
              </a:ext>
            </a:extLst>
          </p:cNvPr>
          <p:cNvSpPr txBox="1"/>
          <p:nvPr/>
        </p:nvSpPr>
        <p:spPr>
          <a:xfrm>
            <a:off x="1374901" y="280084"/>
            <a:ext cx="73308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 b="1" dirty="0">
                <a:solidFill>
                  <a:schemeClr val="accent2"/>
                </a:solidFill>
              </a:rPr>
              <a:t>ステップ</a:t>
            </a:r>
            <a:r>
              <a:rPr kumimoji="1" lang="en-US" altLang="ja-JP" sz="4400" b="1" dirty="0">
                <a:solidFill>
                  <a:schemeClr val="accent2"/>
                </a:solidFill>
              </a:rPr>
              <a:t>6</a:t>
            </a:r>
            <a:r>
              <a:rPr lang="en-US" altLang="ja-JP" sz="4400" b="1" dirty="0">
                <a:solidFill>
                  <a:schemeClr val="accent2"/>
                </a:solidFill>
              </a:rPr>
              <a:t>: SEU</a:t>
            </a:r>
            <a:r>
              <a:rPr lang="ja-JP" altLang="en-US" sz="4400" b="1" dirty="0">
                <a:solidFill>
                  <a:schemeClr val="accent2"/>
                </a:solidFill>
              </a:rPr>
              <a:t>発生率の計算</a:t>
            </a:r>
            <a:endParaRPr kumimoji="1" lang="ja-JP" altLang="en-US" sz="4400" b="1" dirty="0">
              <a:solidFill>
                <a:schemeClr val="accent2"/>
              </a:solidFill>
            </a:endParaRPr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328134D7-FDB6-28B3-BCDF-3A5C693EA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16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01AC8F4-FD80-CC19-F4DF-E23F5963E8B5}"/>
              </a:ext>
            </a:extLst>
          </p:cNvPr>
          <p:cNvSpPr txBox="1"/>
          <p:nvPr/>
        </p:nvSpPr>
        <p:spPr>
          <a:xfrm>
            <a:off x="197330" y="3531031"/>
            <a:ext cx="92514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 err="1"/>
              <a:t>icntl</a:t>
            </a:r>
            <a:r>
              <a:rPr lang="en-US" altLang="ja-JP" sz="3200" dirty="0"/>
              <a:t>=0</a:t>
            </a:r>
            <a:r>
              <a:rPr lang="ja-JP" altLang="en-US" sz="3200" dirty="0"/>
              <a:t>と変更して、小型人工衛星への銀河宇宙線照射計算を実行し、</a:t>
            </a:r>
            <a:r>
              <a:rPr lang="en-US" altLang="ja-JP" sz="3200" dirty="0"/>
              <a:t>[T-Track]</a:t>
            </a:r>
            <a:r>
              <a:rPr lang="ja-JP" altLang="en-US" sz="3200" dirty="0"/>
              <a:t>の出力ファイルを確認する。</a:t>
            </a:r>
            <a:endParaRPr lang="en-US" altLang="ja-JP" sz="32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FA4FF0C-2EDA-70E3-9A8D-A9EB24987C11}"/>
              </a:ext>
            </a:extLst>
          </p:cNvPr>
          <p:cNvSpPr txBox="1"/>
          <p:nvPr/>
        </p:nvSpPr>
        <p:spPr>
          <a:xfrm>
            <a:off x="493385" y="5078018"/>
            <a:ext cx="7767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>
                <a:solidFill>
                  <a:schemeClr val="bg1">
                    <a:lumMod val="50000"/>
                  </a:schemeClr>
                </a:solidFill>
              </a:rPr>
              <a:t>※ </a:t>
            </a:r>
            <a:r>
              <a:rPr lang="ja-JP" altLang="en-US" sz="2000" dirty="0">
                <a:solidFill>
                  <a:schemeClr val="bg1">
                    <a:lumMod val="50000"/>
                  </a:schemeClr>
                </a:solidFill>
              </a:rPr>
              <a:t>計算時間が長い場合は、</a:t>
            </a:r>
            <a:r>
              <a:rPr lang="en-US" altLang="ja-JP" sz="2000" dirty="0" err="1">
                <a:solidFill>
                  <a:schemeClr val="bg1">
                    <a:lumMod val="50000"/>
                  </a:schemeClr>
                </a:solidFill>
              </a:rPr>
              <a:t>maxcas</a:t>
            </a:r>
            <a:r>
              <a:rPr lang="en-US" altLang="ja-JP" sz="2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altLang="ja-JP" sz="2000" dirty="0" err="1">
                <a:solidFill>
                  <a:schemeClr val="bg1">
                    <a:lumMod val="50000"/>
                  </a:schemeClr>
                </a:solidFill>
              </a:rPr>
              <a:t>maxbch</a:t>
            </a:r>
            <a:r>
              <a:rPr lang="ja-JP" altLang="en-US" sz="2000" dirty="0">
                <a:solidFill>
                  <a:schemeClr val="bg1">
                    <a:lumMod val="50000"/>
                  </a:schemeClr>
                </a:solidFill>
              </a:rPr>
              <a:t>の値を適宜小さくする。</a:t>
            </a:r>
            <a:endParaRPr lang="en-US" altLang="ja-JP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C9573FD-11DC-1532-B52D-AECDC50A829C}"/>
              </a:ext>
            </a:extLst>
          </p:cNvPr>
          <p:cNvSpPr txBox="1"/>
          <p:nvPr/>
        </p:nvSpPr>
        <p:spPr>
          <a:xfrm>
            <a:off x="207604" y="1088278"/>
            <a:ext cx="952943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2</a:t>
            </a:r>
            <a:r>
              <a:rPr lang="ja-JP" altLang="en-US" sz="3200" dirty="0"/>
              <a:t>つ目の</a:t>
            </a:r>
            <a:r>
              <a:rPr lang="en-US" altLang="ja-JP" sz="3200" dirty="0"/>
              <a:t>[T-Track]</a:t>
            </a:r>
            <a:r>
              <a:rPr lang="ja-JP" altLang="en-US" sz="3200" dirty="0"/>
              <a:t>セクションについて、</a:t>
            </a:r>
            <a:endParaRPr lang="en-US" altLang="ja-JP" sz="3200" dirty="0"/>
          </a:p>
          <a:p>
            <a:r>
              <a:rPr lang="en-US" altLang="ja-JP" sz="3200" dirty="0"/>
              <a:t>  </a:t>
            </a:r>
            <a:r>
              <a:rPr lang="ja-JP" altLang="en-US" sz="3200" dirty="0"/>
              <a:t>イメージセンサー（セル番号</a:t>
            </a:r>
            <a:r>
              <a:rPr lang="en-US" altLang="ja-JP" sz="3200" dirty="0"/>
              <a:t>151</a:t>
            </a:r>
            <a:r>
              <a:rPr lang="ja-JP" altLang="en-US" sz="3200" dirty="0"/>
              <a:t>）および</a:t>
            </a:r>
            <a:endParaRPr lang="en-US" altLang="ja-JP" sz="3200" dirty="0"/>
          </a:p>
          <a:p>
            <a:r>
              <a:rPr lang="en-US" altLang="ja-JP" sz="3200" dirty="0"/>
              <a:t>  </a:t>
            </a:r>
            <a:r>
              <a:rPr lang="ja-JP" altLang="en-US" sz="3200" dirty="0"/>
              <a:t>制御基板（セル番号</a:t>
            </a:r>
            <a:r>
              <a:rPr lang="en-US" altLang="ja-JP" sz="3200" dirty="0"/>
              <a:t>152,153,154</a:t>
            </a:r>
            <a:r>
              <a:rPr lang="ja-JP" altLang="en-US" sz="3200" dirty="0"/>
              <a:t>）での</a:t>
            </a:r>
            <a:r>
              <a:rPr lang="en-US" altLang="ja-JP" sz="3200" dirty="0"/>
              <a:t>SEU</a:t>
            </a:r>
            <a:r>
              <a:rPr lang="ja-JP" altLang="en-US" sz="3200" dirty="0"/>
              <a:t>発生率を</a:t>
            </a:r>
            <a:endParaRPr lang="en-US" altLang="ja-JP" sz="3200" dirty="0"/>
          </a:p>
          <a:p>
            <a:r>
              <a:rPr lang="en-US" altLang="ja-JP" sz="3200" dirty="0"/>
              <a:t>  </a:t>
            </a:r>
            <a:r>
              <a:rPr lang="ja-JP" altLang="en-US" sz="3200" dirty="0"/>
              <a:t>出力するように、パラメータを適切に編集する。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657336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67FF1563-6396-8134-9B1B-333BAEDAB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592197"/>
              </p:ext>
            </p:extLst>
          </p:nvPr>
        </p:nvGraphicFramePr>
        <p:xfrm>
          <a:off x="3873296" y="527567"/>
          <a:ext cx="4212590" cy="212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8330">
                  <a:extLst>
                    <a:ext uri="{9D8B030D-6E8A-4147-A177-3AD203B41FA5}">
                      <a16:colId xmlns:a16="http://schemas.microsoft.com/office/drawing/2014/main" val="3045167336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3897522665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580603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部品名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Cell ID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SEU</a:t>
                      </a:r>
                      <a:r>
                        <a:rPr kumimoji="1" lang="ja-JP" altLang="en-US" dirty="0"/>
                        <a:t>発生率</a:t>
                      </a:r>
                      <a:endParaRPr kumimoji="1" lang="en-US" altLang="ja-JP" dirty="0"/>
                    </a:p>
                    <a:p>
                      <a:pPr algn="ctr"/>
                      <a:r>
                        <a:rPr kumimoji="1" lang="en-US" altLang="ja-JP" dirty="0"/>
                        <a:t>(error/s/bit)</a:t>
                      </a:r>
                      <a:endParaRPr kumimoji="1" lang="ja-JP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8969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イメージセンサー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151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1.778e-13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991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制御基板</a:t>
                      </a:r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152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1.818e-13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624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制御基板</a:t>
                      </a:r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153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2.056e-13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08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制御基板</a:t>
                      </a:r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154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1.805e-13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256627"/>
                  </a:ext>
                </a:extLst>
              </a:tr>
            </a:tbl>
          </a:graphicData>
        </a:graphic>
      </p:graphicFrame>
      <p:sp>
        <p:nvSpPr>
          <p:cNvPr id="2" name="Text Box 8">
            <a:extLst>
              <a:ext uri="{FF2B5EF4-FFF2-40B4-BE49-F238E27FC236}">
                <a16:creationId xmlns:a16="http://schemas.microsoft.com/office/drawing/2014/main" id="{6EEFCFBF-A572-9250-5BE8-A68D36776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17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AE004405-9338-E800-467D-9D5C2C3C244C}"/>
              </a:ext>
            </a:extLst>
          </p:cNvPr>
          <p:cNvGrpSpPr/>
          <p:nvPr/>
        </p:nvGrpSpPr>
        <p:grpSpPr>
          <a:xfrm>
            <a:off x="265409" y="527567"/>
            <a:ext cx="3078964" cy="5302791"/>
            <a:chOff x="265409" y="527567"/>
            <a:chExt cx="3078964" cy="5302791"/>
          </a:xfrm>
        </p:grpSpPr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CDDB5B66-B595-BFFD-7936-A82245070784}"/>
                </a:ext>
              </a:extLst>
            </p:cNvPr>
            <p:cNvSpPr txBox="1"/>
            <p:nvPr/>
          </p:nvSpPr>
          <p:spPr>
            <a:xfrm>
              <a:off x="328203" y="567379"/>
              <a:ext cx="3016170" cy="52629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/>
                <a:t>[ T - T r a c k ]</a:t>
              </a:r>
            </a:p>
            <a:p>
              <a:r>
                <a:rPr kumimoji="1" lang="en-US" altLang="ja-JP" sz="1600" dirty="0"/>
                <a:t>     mesh =  reg</a:t>
              </a:r>
            </a:p>
            <a:p>
              <a:r>
                <a:rPr kumimoji="1" lang="en-US" altLang="ja-JP" sz="1600" dirty="0"/>
                <a:t>      reg =  </a:t>
              </a:r>
              <a:r>
                <a:rPr kumimoji="1" lang="en-US" altLang="ja-JP" sz="1600" dirty="0">
                  <a:solidFill>
                    <a:srgbClr val="FF0000"/>
                  </a:solidFill>
                </a:rPr>
                <a:t>151</a:t>
              </a:r>
              <a:r>
                <a:rPr kumimoji="1" lang="en-US" altLang="ja-JP" sz="1600" dirty="0"/>
                <a:t>  152  </a:t>
              </a:r>
              <a:r>
                <a:rPr kumimoji="1" lang="en-US" altLang="ja-JP" sz="1600" dirty="0">
                  <a:solidFill>
                    <a:srgbClr val="FF0000"/>
                  </a:solidFill>
                </a:rPr>
                <a:t>153  154</a:t>
              </a:r>
            </a:p>
            <a:p>
              <a:r>
                <a:rPr kumimoji="1" lang="en-US" altLang="ja-JP" sz="1600" dirty="0"/>
                <a:t>   volume</a:t>
              </a:r>
            </a:p>
            <a:p>
              <a:r>
                <a:rPr kumimoji="1" lang="en-US" altLang="ja-JP" sz="1600" dirty="0"/>
                <a:t>   reg   vol</a:t>
              </a:r>
            </a:p>
            <a:p>
              <a:r>
                <a:rPr kumimoji="1" lang="en-US" altLang="ja-JP" sz="1600" dirty="0">
                  <a:solidFill>
                    <a:srgbClr val="FF0000"/>
                  </a:solidFill>
                </a:rPr>
                <a:t>   151   4.0*4.0*0.1</a:t>
              </a:r>
            </a:p>
            <a:p>
              <a:r>
                <a:rPr kumimoji="1" lang="en-US" altLang="ja-JP" sz="1600" dirty="0"/>
                <a:t>   152   4.0*4.0*0.1</a:t>
              </a:r>
            </a:p>
            <a:p>
              <a:r>
                <a:rPr kumimoji="1" lang="en-US" altLang="ja-JP" sz="1600" dirty="0">
                  <a:solidFill>
                    <a:srgbClr val="FF0000"/>
                  </a:solidFill>
                </a:rPr>
                <a:t>   153   4.0*4.0*0.1</a:t>
              </a:r>
            </a:p>
            <a:p>
              <a:r>
                <a:rPr kumimoji="1" lang="en-US" altLang="ja-JP" sz="1600" dirty="0">
                  <a:solidFill>
                    <a:srgbClr val="FF0000"/>
                  </a:solidFill>
                </a:rPr>
                <a:t>   154   4.0*4.0*0.1</a:t>
              </a:r>
            </a:p>
            <a:p>
              <a:r>
                <a:rPr kumimoji="1" lang="en-US" altLang="ja-JP" sz="1600" dirty="0"/>
                <a:t>   e-type =    1</a:t>
              </a:r>
            </a:p>
            <a:p>
              <a:r>
                <a:rPr kumimoji="1" lang="en-US" altLang="ja-JP" sz="1600" dirty="0"/>
                <a:t>       ne =    1</a:t>
              </a:r>
            </a:p>
            <a:p>
              <a:r>
                <a:rPr kumimoji="1" lang="en-US" altLang="ja-JP" sz="1600" dirty="0"/>
                <a:t>             0.0  1.0e+6</a:t>
              </a:r>
            </a:p>
            <a:p>
              <a:r>
                <a:rPr kumimoji="1" lang="en-US" altLang="ja-JP" sz="1600" dirty="0"/>
                <a:t>     unit =    1</a:t>
              </a:r>
            </a:p>
            <a:p>
              <a:r>
                <a:rPr kumimoji="1" lang="en-US" altLang="ja-JP" sz="1600" dirty="0"/>
                <a:t>     axis =   reg</a:t>
              </a:r>
            </a:p>
            <a:p>
              <a:r>
                <a:rPr kumimoji="1" lang="en-US" altLang="ja-JP" sz="1600" dirty="0"/>
                <a:t>     file = </a:t>
              </a:r>
              <a:r>
                <a:rPr kumimoji="1" lang="en-US" altLang="ja-JP" sz="1600" dirty="0" err="1"/>
                <a:t>ttrack-reg.out</a:t>
              </a:r>
              <a:endParaRPr kumimoji="1" lang="en-US" altLang="ja-JP" sz="1600" dirty="0"/>
            </a:p>
            <a:p>
              <a:r>
                <a:rPr kumimoji="1" lang="en-US" altLang="ja-JP" sz="1600" dirty="0"/>
                <a:t>     part = 4He</a:t>
              </a:r>
            </a:p>
            <a:p>
              <a:r>
                <a:rPr kumimoji="1" lang="en-US" altLang="ja-JP" sz="1600" dirty="0"/>
                <a:t>    </a:t>
              </a:r>
              <a:r>
                <a:rPr kumimoji="1" lang="en-US" altLang="ja-JP" sz="1600" dirty="0" err="1"/>
                <a:t>gshow</a:t>
              </a:r>
              <a:r>
                <a:rPr kumimoji="1" lang="en-US" altLang="ja-JP" sz="1600" dirty="0"/>
                <a:t> =    1</a:t>
              </a:r>
            </a:p>
            <a:p>
              <a:r>
                <a:rPr kumimoji="1" lang="en-US" altLang="ja-JP" sz="1600" dirty="0"/>
                <a:t>   </a:t>
              </a:r>
              <a:r>
                <a:rPr kumimoji="1" lang="en-US" altLang="ja-JP" sz="1600" dirty="0" err="1"/>
                <a:t>epsout</a:t>
              </a:r>
              <a:r>
                <a:rPr kumimoji="1" lang="en-US" altLang="ja-JP" sz="1600" dirty="0"/>
                <a:t> =    1</a:t>
              </a:r>
            </a:p>
            <a:p>
              <a:r>
                <a:rPr kumimoji="1" lang="en-US" altLang="ja-JP" sz="1600" dirty="0"/>
                <a:t>  multiplier = all</a:t>
              </a:r>
            </a:p>
            <a:p>
              <a:r>
                <a:rPr kumimoji="1" lang="en-US" altLang="ja-JP" sz="1600" dirty="0"/>
                <a:t>   mat  mset1</a:t>
              </a:r>
            </a:p>
            <a:p>
              <a:r>
                <a:rPr kumimoji="1" lang="en-US" altLang="ja-JP" sz="1600" dirty="0"/>
                <a:t>   all  (1  -200)</a:t>
              </a: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8DECD7A8-4E0F-E70F-EC67-9416ABA1EAB0}"/>
                </a:ext>
              </a:extLst>
            </p:cNvPr>
            <p:cNvSpPr/>
            <p:nvPr/>
          </p:nvSpPr>
          <p:spPr>
            <a:xfrm>
              <a:off x="265409" y="527567"/>
              <a:ext cx="2928433" cy="5302791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647B8E2C-F1B4-296F-8638-EA57879BC9DD}"/>
              </a:ext>
            </a:extLst>
          </p:cNvPr>
          <p:cNvGrpSpPr/>
          <p:nvPr/>
        </p:nvGrpSpPr>
        <p:grpSpPr>
          <a:xfrm>
            <a:off x="3407366" y="3140036"/>
            <a:ext cx="6568421" cy="4150800"/>
            <a:chOff x="3407366" y="3140036"/>
            <a:chExt cx="6568421" cy="4150800"/>
          </a:xfrm>
        </p:grpSpPr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A0D868E7-CA97-B422-D514-A4E9FE5C7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4385" t="25870" r="8523" b="10963"/>
            <a:stretch/>
          </p:blipFill>
          <p:spPr>
            <a:xfrm>
              <a:off x="3407366" y="3140036"/>
              <a:ext cx="6568421" cy="4150800"/>
            </a:xfrm>
            <a:prstGeom prst="rect">
              <a:avLst/>
            </a:prstGeom>
          </p:spPr>
        </p:pic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DAFD2B6F-B601-5CFC-E640-3DAB99B2DE54}"/>
                </a:ext>
              </a:extLst>
            </p:cNvPr>
            <p:cNvGrpSpPr/>
            <p:nvPr/>
          </p:nvGrpSpPr>
          <p:grpSpPr>
            <a:xfrm>
              <a:off x="8112687" y="4088338"/>
              <a:ext cx="371218" cy="1705916"/>
              <a:chOff x="7911801" y="4369785"/>
              <a:chExt cx="371218" cy="1705916"/>
            </a:xfrm>
          </p:grpSpPr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BB8932C1-C8F8-2960-21E2-A7ED526895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11801" y="4701987"/>
                <a:ext cx="0" cy="118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コネクタ 28">
                <a:extLst>
                  <a:ext uri="{FF2B5EF4-FFF2-40B4-BE49-F238E27FC236}">
                    <a16:creationId xmlns:a16="http://schemas.microsoft.com/office/drawing/2014/main" id="{75088A4B-752D-FABB-F624-4AF533C15D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0631" y="4701987"/>
                <a:ext cx="0" cy="118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832ECEAD-78EE-A528-F060-F47F37A8514C}"/>
                  </a:ext>
                </a:extLst>
              </p:cNvPr>
              <p:cNvSpPr txBox="1"/>
              <p:nvPr/>
            </p:nvSpPr>
            <p:spPr>
              <a:xfrm rot="16200000">
                <a:off x="7291562" y="5084243"/>
                <a:ext cx="17059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200" dirty="0"/>
                  <a:t>SEU</a:t>
                </a:r>
                <a:r>
                  <a:rPr kumimoji="1" lang="ja-JP" altLang="en-US" sz="1200" dirty="0"/>
                  <a:t>発生率</a:t>
                </a:r>
                <a:r>
                  <a:rPr kumimoji="1" lang="en-US" altLang="ja-JP" sz="1200" dirty="0"/>
                  <a:t> (err/s/bit)</a:t>
                </a:r>
                <a:endParaRPr kumimoji="1" lang="ja-JP" altLang="en-US" sz="1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63551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8F11CFE-2A82-8DDD-7909-12AEF461AD34}"/>
              </a:ext>
            </a:extLst>
          </p:cNvPr>
          <p:cNvSpPr txBox="1"/>
          <p:nvPr/>
        </p:nvSpPr>
        <p:spPr>
          <a:xfrm>
            <a:off x="251922" y="1826044"/>
            <a:ext cx="95156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3200" dirty="0"/>
              <a:t>人工衛星の壁をより厚くして、</a:t>
            </a:r>
            <a:r>
              <a:rPr lang="en-US" altLang="ja-JP" sz="3200" dirty="0"/>
              <a:t>SEU</a:t>
            </a:r>
            <a:r>
              <a:rPr lang="ja-JP" altLang="en-US" sz="3200" dirty="0"/>
              <a:t>発生率の変化を確認する。</a:t>
            </a:r>
            <a:endParaRPr lang="en-US" altLang="ja-JP" sz="3200" dirty="0"/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35A15772-93B9-12DD-7925-C9C591367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18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8FA0ED1-4EE5-932D-B888-56D4056F4295}"/>
              </a:ext>
            </a:extLst>
          </p:cNvPr>
          <p:cNvSpPr txBox="1"/>
          <p:nvPr/>
        </p:nvSpPr>
        <p:spPr>
          <a:xfrm>
            <a:off x="448040" y="280084"/>
            <a:ext cx="91845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b="1" dirty="0">
                <a:solidFill>
                  <a:schemeClr val="accent2"/>
                </a:solidFill>
              </a:rPr>
              <a:t>ステップ</a:t>
            </a:r>
            <a:r>
              <a:rPr kumimoji="1" lang="en-US" altLang="ja-JP" sz="4400" b="1" dirty="0">
                <a:solidFill>
                  <a:schemeClr val="accent2"/>
                </a:solidFill>
              </a:rPr>
              <a:t>7</a:t>
            </a:r>
            <a:r>
              <a:rPr lang="en-US" altLang="ja-JP" sz="4400" b="1" dirty="0">
                <a:solidFill>
                  <a:schemeClr val="accent2"/>
                </a:solidFill>
              </a:rPr>
              <a:t>:</a:t>
            </a:r>
            <a:r>
              <a:rPr kumimoji="1" lang="ja-JP" altLang="en-US" sz="4400" b="1" dirty="0">
                <a:solidFill>
                  <a:schemeClr val="accent2"/>
                </a:solidFill>
              </a:rPr>
              <a:t>外壁を厚くした際の</a:t>
            </a:r>
            <a:endParaRPr kumimoji="1" lang="en-US" altLang="ja-JP" sz="4400" b="1" dirty="0">
              <a:solidFill>
                <a:schemeClr val="accent2"/>
              </a:solidFill>
            </a:endParaRPr>
          </a:p>
          <a:p>
            <a:r>
              <a:rPr lang="en-US" altLang="ja-JP" sz="4400" b="1" dirty="0">
                <a:solidFill>
                  <a:schemeClr val="accent2"/>
                </a:solidFill>
              </a:rPr>
              <a:t>                SEU</a:t>
            </a:r>
            <a:r>
              <a:rPr lang="ja-JP" altLang="en-US" sz="4400" b="1" dirty="0">
                <a:solidFill>
                  <a:schemeClr val="accent2"/>
                </a:solidFill>
              </a:rPr>
              <a:t>発生率の変化の調査</a:t>
            </a:r>
            <a:endParaRPr kumimoji="1" lang="ja-JP" altLang="en-US" sz="4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848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E8075BF1-4B8A-FACE-D10D-D408DFA26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077987"/>
              </p:ext>
            </p:extLst>
          </p:nvPr>
        </p:nvGraphicFramePr>
        <p:xfrm>
          <a:off x="1715452" y="1696218"/>
          <a:ext cx="664972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8330">
                  <a:extLst>
                    <a:ext uri="{9D8B030D-6E8A-4147-A177-3AD203B41FA5}">
                      <a16:colId xmlns:a16="http://schemas.microsoft.com/office/drawing/2014/main" val="3636470226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3897522665"/>
                    </a:ext>
                  </a:extLst>
                </a:gridCol>
                <a:gridCol w="1919605">
                  <a:extLst>
                    <a:ext uri="{9D8B030D-6E8A-4147-A177-3AD203B41FA5}">
                      <a16:colId xmlns:a16="http://schemas.microsoft.com/office/drawing/2014/main" val="2580603896"/>
                    </a:ext>
                  </a:extLst>
                </a:gridCol>
                <a:gridCol w="1919605">
                  <a:extLst>
                    <a:ext uri="{9D8B030D-6E8A-4147-A177-3AD203B41FA5}">
                      <a16:colId xmlns:a16="http://schemas.microsoft.com/office/drawing/2014/main" val="3319639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SEU</a:t>
                      </a:r>
                      <a:r>
                        <a:rPr kumimoji="1" lang="ja-JP" altLang="en-US" dirty="0"/>
                        <a:t>発生率 </a:t>
                      </a:r>
                      <a:r>
                        <a:rPr kumimoji="1" lang="en-US" altLang="ja-JP" dirty="0"/>
                        <a:t>(error/s/bit)</a:t>
                      </a:r>
                      <a:endParaRPr kumimoji="1" lang="ja-JP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883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部品名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Cell ID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壁の厚さ</a:t>
                      </a:r>
                      <a:r>
                        <a:rPr kumimoji="1" lang="en-US" altLang="ja-JP" dirty="0"/>
                        <a:t>: 0.2 cm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壁の厚さ</a:t>
                      </a:r>
                      <a:r>
                        <a:rPr kumimoji="1" lang="en-US" altLang="ja-JP" dirty="0"/>
                        <a:t>: 1.2 cm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969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イメージセンサー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151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1.780e-13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1.642e-13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991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制御基板</a:t>
                      </a:r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152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1.818e-13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1.656e-13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624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制御基板</a:t>
                      </a:r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153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2.056e-13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1.904e-13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08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制御基板</a:t>
                      </a:r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154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1.805e-13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1.669e-13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256627"/>
                  </a:ext>
                </a:extLst>
              </a:tr>
            </a:tbl>
          </a:graphicData>
        </a:graphic>
      </p:graphicFrame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36CE9F80-B5BA-71FD-6F84-DEE7BB851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422239"/>
              </p:ext>
            </p:extLst>
          </p:nvPr>
        </p:nvGraphicFramePr>
        <p:xfrm>
          <a:off x="1715452" y="4071233"/>
          <a:ext cx="66492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1600">
                  <a:extLst>
                    <a:ext uri="{9D8B030D-6E8A-4147-A177-3AD203B41FA5}">
                      <a16:colId xmlns:a16="http://schemas.microsoft.com/office/drawing/2014/main" val="3897522665"/>
                    </a:ext>
                  </a:extLst>
                </a:gridCol>
                <a:gridCol w="1918800">
                  <a:extLst>
                    <a:ext uri="{9D8B030D-6E8A-4147-A177-3AD203B41FA5}">
                      <a16:colId xmlns:a16="http://schemas.microsoft.com/office/drawing/2014/main" val="2580603896"/>
                    </a:ext>
                  </a:extLst>
                </a:gridCol>
                <a:gridCol w="1918800">
                  <a:extLst>
                    <a:ext uri="{9D8B030D-6E8A-4147-A177-3AD203B41FA5}">
                      <a16:colId xmlns:a16="http://schemas.microsoft.com/office/drawing/2014/main" val="3319639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壁の体積 </a:t>
                      </a:r>
                      <a:r>
                        <a:rPr kumimoji="1" lang="en-US" altLang="ja-JP" dirty="0"/>
                        <a:t>(cm</a:t>
                      </a:r>
                      <a:r>
                        <a:rPr kumimoji="1" lang="en-US" altLang="ja-JP" baseline="30000" dirty="0"/>
                        <a:t>3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76.1</a:t>
                      </a:r>
                      <a:endParaRPr kumimoji="1" lang="ja-JP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584.1</a:t>
                      </a:r>
                      <a:endParaRPr kumimoji="1" lang="ja-JP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8969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壁の重さ </a:t>
                      </a:r>
                      <a:r>
                        <a:rPr kumimoji="1" lang="en-US" altLang="ja-JP" dirty="0"/>
                        <a:t>(kg)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0.21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/>
                        <a:t>1.58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991979"/>
                  </a:ext>
                </a:extLst>
              </a:tr>
            </a:tbl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D68A8A2-07DA-D71E-757D-414475AB0E4D}"/>
              </a:ext>
            </a:extLst>
          </p:cNvPr>
          <p:cNvSpPr txBox="1"/>
          <p:nvPr/>
        </p:nvSpPr>
        <p:spPr>
          <a:xfrm>
            <a:off x="61642" y="5420497"/>
            <a:ext cx="6838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1</a:t>
            </a:r>
            <a:r>
              <a:rPr kumimoji="1" lang="ja-JP" altLang="en-US" sz="2400" dirty="0"/>
              <a:t>辺</a:t>
            </a:r>
            <a:r>
              <a:rPr kumimoji="1" lang="en-US" altLang="ja-JP" sz="2400" dirty="0"/>
              <a:t>10cm</a:t>
            </a:r>
            <a:r>
              <a:rPr kumimoji="1" lang="ja-JP" altLang="en-US" sz="2400" dirty="0"/>
              <a:t>程度の超小型人工衛星の重量は</a:t>
            </a:r>
            <a:r>
              <a:rPr kumimoji="1" lang="en-US" altLang="ja-JP" sz="2400" dirty="0"/>
              <a:t>1kg</a:t>
            </a:r>
            <a:r>
              <a:rPr kumimoji="1" lang="ja-JP" altLang="en-US" sz="2400" dirty="0"/>
              <a:t>程度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9F8A098-4BB0-B42F-1CDE-D9F134CF7ECB}"/>
              </a:ext>
            </a:extLst>
          </p:cNvPr>
          <p:cNvSpPr txBox="1"/>
          <p:nvPr/>
        </p:nvSpPr>
        <p:spPr>
          <a:xfrm>
            <a:off x="547674" y="5863457"/>
            <a:ext cx="9491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全重量が</a:t>
            </a:r>
            <a:r>
              <a:rPr lang="en-US" altLang="ja-JP" sz="2400" dirty="0"/>
              <a:t>2</a:t>
            </a:r>
            <a:r>
              <a:rPr lang="ja-JP" altLang="en-US" sz="2400" dirty="0"/>
              <a:t>倍以上に増えて</a:t>
            </a:r>
            <a:r>
              <a:rPr kumimoji="1" lang="ja-JP" altLang="en-US" sz="2400" dirty="0"/>
              <a:t>も、</a:t>
            </a:r>
            <a:r>
              <a:rPr kumimoji="1" lang="en-US" altLang="ja-JP" sz="2400" dirty="0"/>
              <a:t>SEU</a:t>
            </a:r>
            <a:r>
              <a:rPr kumimoji="1" lang="ja-JP" altLang="en-US" sz="2400" dirty="0"/>
              <a:t>発生率は</a:t>
            </a:r>
            <a:r>
              <a:rPr kumimoji="1" lang="en-US" altLang="ja-JP" sz="2400" dirty="0"/>
              <a:t>10</a:t>
            </a:r>
            <a:r>
              <a:rPr kumimoji="1" lang="ja-JP" altLang="en-US" sz="2400" dirty="0"/>
              <a:t>％</a:t>
            </a:r>
            <a:r>
              <a:rPr lang="ja-JP" altLang="en-US" sz="2400" dirty="0"/>
              <a:t>程度</a:t>
            </a:r>
            <a:r>
              <a:rPr kumimoji="1" lang="ja-JP" altLang="en-US" sz="2400" dirty="0"/>
              <a:t>しか低減されない。</a:t>
            </a: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30C98C44-F50D-44A8-EBAB-2289F8004203}"/>
              </a:ext>
            </a:extLst>
          </p:cNvPr>
          <p:cNvSpPr/>
          <p:nvPr/>
        </p:nvSpPr>
        <p:spPr>
          <a:xfrm>
            <a:off x="162960" y="5959642"/>
            <a:ext cx="360000" cy="288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04F5920A-EE47-E66E-EE3C-82E86E987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19</a:t>
            </a:fld>
            <a:endParaRPr lang="en-US" altLang="ja-JP" sz="26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558077-14DA-F48E-CDD4-BCF553246CE5}"/>
              </a:ext>
            </a:extLst>
          </p:cNvPr>
          <p:cNvSpPr txBox="1"/>
          <p:nvPr/>
        </p:nvSpPr>
        <p:spPr>
          <a:xfrm>
            <a:off x="7528007" y="4883250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+ 1.37 kg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493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38A52E-CECB-6111-7F14-10215D843B4C}"/>
              </a:ext>
            </a:extLst>
          </p:cNvPr>
          <p:cNvSpPr txBox="1"/>
          <p:nvPr/>
        </p:nvSpPr>
        <p:spPr>
          <a:xfrm>
            <a:off x="2628437" y="280084"/>
            <a:ext cx="48237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 dirty="0"/>
              <a:t>追加の実習</a:t>
            </a:r>
            <a:r>
              <a:rPr lang="ja-JP" altLang="en-US" sz="4400" dirty="0"/>
              <a:t>項目</a:t>
            </a:r>
            <a:r>
              <a:rPr lang="en-US" altLang="ja-JP" sz="4400" dirty="0"/>
              <a:t>(1)</a:t>
            </a:r>
            <a:endParaRPr kumimoji="1" lang="ja-JP" altLang="en-US" sz="4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73D714-0A71-A069-1336-73D72865B31B}"/>
              </a:ext>
            </a:extLst>
          </p:cNvPr>
          <p:cNvSpPr txBox="1"/>
          <p:nvPr/>
        </p:nvSpPr>
        <p:spPr>
          <a:xfrm>
            <a:off x="282480" y="1444940"/>
            <a:ext cx="9256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SEU</a:t>
            </a:r>
            <a:r>
              <a:rPr lang="ja-JP" altLang="en-US" sz="3200" dirty="0"/>
              <a:t>断面積の導出にて、</a:t>
            </a:r>
            <a:r>
              <a:rPr lang="en-US" altLang="ja-JP" sz="3200" dirty="0" err="1"/>
              <a:t>nspred</a:t>
            </a:r>
            <a:r>
              <a:rPr lang="ja-JP" altLang="en-US" sz="3200" dirty="0"/>
              <a:t>と</a:t>
            </a:r>
            <a:r>
              <a:rPr lang="en-US" altLang="ja-JP" sz="3200" dirty="0" err="1"/>
              <a:t>nedisp</a:t>
            </a:r>
            <a:r>
              <a:rPr lang="ja-JP" altLang="en-US" sz="3200" dirty="0"/>
              <a:t>をオフにして計算を行い、結果がどう変わるか確認する。</a:t>
            </a:r>
            <a:endParaRPr lang="en-US" altLang="ja-JP" sz="32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6CE5E8-79D0-22C7-5014-15C3EAEC0855}"/>
              </a:ext>
            </a:extLst>
          </p:cNvPr>
          <p:cNvSpPr txBox="1"/>
          <p:nvPr/>
        </p:nvSpPr>
        <p:spPr>
          <a:xfrm>
            <a:off x="541971" y="2618832"/>
            <a:ext cx="83219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/>
              <a:t>(Excel</a:t>
            </a:r>
            <a:r>
              <a:rPr lang="ja-JP" altLang="en-US" sz="3200" dirty="0"/>
              <a:t>ファイルは複製し、元の</a:t>
            </a:r>
            <a:r>
              <a:rPr lang="en-US" altLang="ja-JP" sz="3200" dirty="0"/>
              <a:t>Excel</a:t>
            </a:r>
            <a:r>
              <a:rPr lang="ja-JP" altLang="en-US" sz="3200" dirty="0"/>
              <a:t>ファイルは比較のために残す。）</a:t>
            </a:r>
            <a:endParaRPr lang="en-US" altLang="ja-JP" sz="3200" dirty="0"/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8599DDA1-CBDB-C813-AF50-CA48DF7E0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20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5502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38A52E-CECB-6111-7F14-10215D843B4C}"/>
              </a:ext>
            </a:extLst>
          </p:cNvPr>
          <p:cNvSpPr txBox="1"/>
          <p:nvPr/>
        </p:nvSpPr>
        <p:spPr>
          <a:xfrm>
            <a:off x="2628437" y="280084"/>
            <a:ext cx="48237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 dirty="0"/>
              <a:t>追加の実習</a:t>
            </a:r>
            <a:r>
              <a:rPr lang="ja-JP" altLang="en-US" sz="4400" dirty="0"/>
              <a:t>項目</a:t>
            </a:r>
            <a:r>
              <a:rPr lang="en-US" altLang="ja-JP" sz="4400" dirty="0"/>
              <a:t>(2)</a:t>
            </a:r>
            <a:endParaRPr kumimoji="1" lang="ja-JP" altLang="en-US" sz="4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73D714-0A71-A069-1336-73D72865B31B}"/>
              </a:ext>
            </a:extLst>
          </p:cNvPr>
          <p:cNvSpPr txBox="1"/>
          <p:nvPr/>
        </p:nvSpPr>
        <p:spPr>
          <a:xfrm>
            <a:off x="282480" y="1444940"/>
            <a:ext cx="92569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SEU</a:t>
            </a:r>
            <a:r>
              <a:rPr lang="ja-JP" altLang="en-US" sz="3200" dirty="0"/>
              <a:t>断面積の導出にて、</a:t>
            </a:r>
            <a:r>
              <a:rPr lang="en-US" altLang="ja-JP" sz="3200" dirty="0" err="1"/>
              <a:t>nspred</a:t>
            </a:r>
            <a:r>
              <a:rPr lang="ja-JP" altLang="en-US" sz="3200" dirty="0"/>
              <a:t>と</a:t>
            </a:r>
            <a:r>
              <a:rPr lang="en-US" altLang="ja-JP" sz="3200" dirty="0" err="1"/>
              <a:t>nedisp</a:t>
            </a:r>
            <a:r>
              <a:rPr lang="ja-JP" altLang="en-US" sz="3200" dirty="0"/>
              <a:t>をオンに戻した上で、半導体デバイスを模した体系の面積を拡大・縮小して、計算結果がどう変わるか確認する。</a:t>
            </a:r>
            <a:endParaRPr lang="en-US" altLang="ja-JP" sz="3200" dirty="0"/>
          </a:p>
        </p:txBody>
      </p:sp>
      <p:sp>
        <p:nvSpPr>
          <p:cNvPr id="2" name="Text Box 8">
            <a:extLst>
              <a:ext uri="{FF2B5EF4-FFF2-40B4-BE49-F238E27FC236}">
                <a16:creationId xmlns:a16="http://schemas.microsoft.com/office/drawing/2014/main" id="{D9DC70DD-FE70-4A20-D99A-E276B5238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21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9150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38A52E-CECB-6111-7F14-10215D843B4C}"/>
              </a:ext>
            </a:extLst>
          </p:cNvPr>
          <p:cNvSpPr txBox="1"/>
          <p:nvPr/>
        </p:nvSpPr>
        <p:spPr>
          <a:xfrm>
            <a:off x="2628437" y="280084"/>
            <a:ext cx="48237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400" dirty="0"/>
              <a:t>追加の実習</a:t>
            </a:r>
            <a:r>
              <a:rPr lang="ja-JP" altLang="en-US" sz="4400" dirty="0"/>
              <a:t>項目</a:t>
            </a:r>
            <a:r>
              <a:rPr lang="en-US" altLang="ja-JP" sz="4400" dirty="0"/>
              <a:t>(3)</a:t>
            </a:r>
            <a:endParaRPr kumimoji="1" lang="ja-JP" altLang="en-US" sz="4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E73D714-0A71-A069-1336-73D72865B31B}"/>
              </a:ext>
            </a:extLst>
          </p:cNvPr>
          <p:cNvSpPr txBox="1"/>
          <p:nvPr/>
        </p:nvSpPr>
        <p:spPr>
          <a:xfrm>
            <a:off x="282480" y="1444940"/>
            <a:ext cx="9256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3200" dirty="0"/>
              <a:t>SEU</a:t>
            </a:r>
            <a:r>
              <a:rPr lang="ja-JP" altLang="en-US" sz="3200" dirty="0"/>
              <a:t>断面積の導出にて、エネルギー点を増やして滑らかな曲線を得る。</a:t>
            </a:r>
            <a:endParaRPr lang="en-US" altLang="ja-JP" sz="32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65DAA44-86E6-560E-6EC5-0321F54A5F81}"/>
              </a:ext>
            </a:extLst>
          </p:cNvPr>
          <p:cNvSpPr txBox="1"/>
          <p:nvPr/>
        </p:nvSpPr>
        <p:spPr>
          <a:xfrm>
            <a:off x="282480" y="3038961"/>
            <a:ext cx="94875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3200" dirty="0"/>
              <a:t>イオン種を変えてステップ</a:t>
            </a:r>
            <a:r>
              <a:rPr lang="en-US" altLang="ja-JP" sz="3200" dirty="0"/>
              <a:t>1</a:t>
            </a:r>
            <a:r>
              <a:rPr lang="ja-JP" altLang="en-US" sz="3200" dirty="0"/>
              <a:t>～</a:t>
            </a:r>
            <a:r>
              <a:rPr lang="en-US" altLang="ja-JP" sz="3200" dirty="0"/>
              <a:t>6</a:t>
            </a:r>
            <a:r>
              <a:rPr lang="ja-JP" altLang="en-US" sz="3200" dirty="0"/>
              <a:t>を行い、宇宙空間での</a:t>
            </a:r>
            <a:r>
              <a:rPr lang="en-US" altLang="ja-JP" sz="3200" dirty="0"/>
              <a:t>SEU</a:t>
            </a:r>
            <a:r>
              <a:rPr lang="ja-JP" altLang="en-US" sz="3200" dirty="0"/>
              <a:t>発生の主因となるイオン種を調査する。</a:t>
            </a:r>
            <a:endParaRPr lang="en-US" altLang="ja-JP" sz="3200" dirty="0"/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DEBD1C22-5CA7-50B0-3EC6-F26C85756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+mn-lt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22</a:t>
            </a:fld>
            <a:endParaRPr lang="en-US" altLang="ja-JP" sz="260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23258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標準デザイン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69258</TotalTime>
  <Words>1787</Words>
  <Application>Microsoft Office PowerPoint</Application>
  <PresentationFormat>ユーザー設定</PresentationFormat>
  <Paragraphs>284</Paragraphs>
  <Slides>22</Slides>
  <Notes>10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32" baseType="lpstr">
      <vt:lpstr>ＭＳ Ｐゴシック</vt:lpstr>
      <vt:lpstr>StarSymbol</vt:lpstr>
      <vt:lpstr>Arial</vt:lpstr>
      <vt:lpstr>Calibri</vt:lpstr>
      <vt:lpstr>Symbol</vt:lpstr>
      <vt:lpstr>Times New Roman</vt:lpstr>
      <vt:lpstr>Wingdings</vt:lpstr>
      <vt:lpstr>Default</vt:lpstr>
      <vt:lpstr>標準デザイン</vt:lpstr>
      <vt:lpstr>Equation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</dc:title>
  <dc:creator>T_Ogawa</dc:creator>
  <cp:lastModifiedBy>安部 晋一郎</cp:lastModifiedBy>
  <cp:revision>138</cp:revision>
  <dcterms:created xsi:type="dcterms:W3CDTF">2009-04-16T11:32:32Z</dcterms:created>
  <dcterms:modified xsi:type="dcterms:W3CDTF">2025-02-03T07:39:19Z</dcterms:modified>
</cp:coreProperties>
</file>