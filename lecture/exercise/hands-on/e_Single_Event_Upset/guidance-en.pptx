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handoutMasterIdLst>
    <p:handoutMasterId r:id="rId26"/>
  </p:handoutMasterIdLst>
  <p:sldIdLst>
    <p:sldId id="272" r:id="rId3"/>
    <p:sldId id="284" r:id="rId4"/>
    <p:sldId id="302" r:id="rId5"/>
    <p:sldId id="256" r:id="rId6"/>
    <p:sldId id="296" r:id="rId7"/>
    <p:sldId id="285" r:id="rId8"/>
    <p:sldId id="304" r:id="rId9"/>
    <p:sldId id="303" r:id="rId10"/>
    <p:sldId id="299" r:id="rId11"/>
    <p:sldId id="286" r:id="rId12"/>
    <p:sldId id="288" r:id="rId13"/>
    <p:sldId id="279" r:id="rId14"/>
    <p:sldId id="274" r:id="rId15"/>
    <p:sldId id="289" r:id="rId16"/>
    <p:sldId id="300" r:id="rId17"/>
    <p:sldId id="290" r:id="rId18"/>
    <p:sldId id="301" r:id="rId19"/>
    <p:sldId id="297" r:id="rId20"/>
    <p:sldId id="298" r:id="rId21"/>
    <p:sldId id="293" r:id="rId22"/>
    <p:sldId id="291" r:id="rId23"/>
    <p:sldId id="292" r:id="rId24"/>
  </p:sldIdLst>
  <p:sldSz cx="10080625" cy="7559675"/>
  <p:notesSz cx="7559675" cy="10691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B76B"/>
    <a:srgbClr val="558ED5"/>
    <a:srgbClr val="4472AB"/>
    <a:srgbClr val="999356"/>
    <a:srgbClr val="B2AE9D"/>
    <a:srgbClr val="DDD9C3"/>
    <a:srgbClr val="AC7F64"/>
    <a:srgbClr val="D69E7C"/>
    <a:srgbClr val="666666"/>
    <a:srgbClr val="9898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15" autoAdjust="0"/>
    <p:restoredTop sz="94745" autoAdjust="0"/>
  </p:normalViewPr>
  <p:slideViewPr>
    <p:cSldViewPr snapToGrid="0" showGuides="1">
      <p:cViewPr varScale="1">
        <p:scale>
          <a:sx n="92" d="100"/>
          <a:sy n="92" d="100"/>
        </p:scale>
        <p:origin x="264" y="66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2"/>
          </p:nvPr>
        </p:nvSpPr>
        <p:spPr>
          <a:xfrm>
            <a:off x="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99ED169D-BEF8-4CE6-A6B6-5A034628F716}" type="slidenum">
              <a:t>‹#›</a:t>
            </a:fld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309611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 idx="2"/>
          </p:nvPr>
        </p:nvSpPr>
        <p:spPr>
          <a:xfrm>
            <a:off x="1106999" y="812520"/>
            <a:ext cx="5345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19"/>
            <a:ext cx="6047639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x-none" altLang="ja-JP"/>
          </a:p>
        </p:txBody>
      </p:sp>
      <p:sp>
        <p:nvSpPr>
          <p:cNvPr id="4" name="ヘッダー プレースホルダー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4"/>
          </p:nvPr>
        </p:nvSpPr>
        <p:spPr>
          <a:xfrm>
            <a:off x="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F2A25022-72BD-4303-9A8F-B3671FF1EC71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9879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x-none" altLang="ja-JP" sz="2000" b="0" i="0" u="none" strike="noStrike" kern="1200">
        <a:ln>
          <a:noFill/>
        </a:ln>
        <a:latin typeface="Arial" pitchFamily="18"/>
        <a:cs typeface="Tahoma" pitchFamily="2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ln/>
        </p:spPr>
      </p:sp>
      <p:sp>
        <p:nvSpPr>
          <p:cNvPr id="10342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88324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  <p:extLst>
      <p:ext uri="{BB962C8B-B14F-4D97-AF65-F5344CB8AC3E}">
        <p14:creationId xmlns:p14="http://schemas.microsoft.com/office/powerpoint/2010/main" val="1549010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  <p:extLst>
      <p:ext uri="{BB962C8B-B14F-4D97-AF65-F5344CB8AC3E}">
        <p14:creationId xmlns:p14="http://schemas.microsoft.com/office/powerpoint/2010/main" val="1757201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  <p:extLst>
      <p:ext uri="{BB962C8B-B14F-4D97-AF65-F5344CB8AC3E}">
        <p14:creationId xmlns:p14="http://schemas.microsoft.com/office/powerpoint/2010/main" val="1591841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  <p:extLst>
      <p:ext uri="{BB962C8B-B14F-4D97-AF65-F5344CB8AC3E}">
        <p14:creationId xmlns:p14="http://schemas.microsoft.com/office/powerpoint/2010/main" val="3651713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  <p:extLst>
      <p:ext uri="{BB962C8B-B14F-4D97-AF65-F5344CB8AC3E}">
        <p14:creationId xmlns:p14="http://schemas.microsoft.com/office/powerpoint/2010/main" val="3265324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  <p:extLst>
      <p:ext uri="{BB962C8B-B14F-4D97-AF65-F5344CB8AC3E}">
        <p14:creationId xmlns:p14="http://schemas.microsoft.com/office/powerpoint/2010/main" val="746252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  <p:extLst>
      <p:ext uri="{BB962C8B-B14F-4D97-AF65-F5344CB8AC3E}">
        <p14:creationId xmlns:p14="http://schemas.microsoft.com/office/powerpoint/2010/main" val="2617635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6AFC7ED-7E7C-429E-B9C4-124F0F19B136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57640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3C4E5F8-C071-47EF-9E82-30CFB70686BA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15136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33C3C14-3FAD-4999-85A4-6F50794623B7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52302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9BB4C7C-F144-42EB-AD3E-3BDD81A0ECBD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83423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ADCB55-799D-40F1-9E32-89C6B30AF3FE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29622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1E559C7-313D-48F5-9F41-7F44A06A77AD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331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A0DA1BA-15AD-4563-8F38-52F7A5590E4E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938594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4B06F0F-6DEC-4142-9188-45561CAF5EA7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0817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0C4141E-0982-44BF-83DA-C5B0BC1F1685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44728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79F0EFD-70DB-4209-A47A-D6920A92B502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3336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6456363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6456363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8605D0F-192B-424E-87D9-5C84E6092407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14818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56047" y="2348400"/>
            <a:ext cx="8568531" cy="162043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12094" y="4283816"/>
            <a:ext cx="7056438" cy="1931917"/>
          </a:xfrm>
        </p:spPr>
        <p:txBody>
          <a:bodyPr/>
          <a:lstStyle>
            <a:lvl1pPr marL="0" indent="0" algn="ctr">
              <a:buNone/>
              <a:defRPr/>
            </a:lvl1pPr>
            <a:lvl2pPr marL="503972" indent="0" algn="ctr">
              <a:buNone/>
              <a:defRPr/>
            </a:lvl2pPr>
            <a:lvl3pPr marL="1007943" indent="0" algn="ctr">
              <a:buNone/>
              <a:defRPr/>
            </a:lvl3pPr>
            <a:lvl4pPr marL="1511915" indent="0" algn="ctr">
              <a:buNone/>
              <a:defRPr/>
            </a:lvl4pPr>
            <a:lvl5pPr marL="2015886" indent="0" algn="ctr">
              <a:buNone/>
              <a:defRPr/>
            </a:lvl5pPr>
            <a:lvl6pPr marL="2519858" indent="0" algn="ctr">
              <a:buNone/>
              <a:defRPr/>
            </a:lvl6pPr>
            <a:lvl7pPr marL="3023829" indent="0" algn="ctr">
              <a:buNone/>
              <a:defRPr/>
            </a:lvl7pPr>
            <a:lvl8pPr marL="3527801" indent="0" algn="ctr">
              <a:buNone/>
              <a:defRPr/>
            </a:lvl8pPr>
            <a:lvl9pPr marL="4031772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D60D0B-D6AA-47A9-84DE-9BF82EA5B0A6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711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91B703-D8A0-41AA-A21C-FDF9BA75AF98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19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96300" y="4857792"/>
            <a:ext cx="8568531" cy="1501435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96300" y="3204114"/>
            <a:ext cx="8568531" cy="1653678"/>
          </a:xfrm>
        </p:spPr>
        <p:txBody>
          <a:bodyPr anchor="b"/>
          <a:lstStyle>
            <a:lvl1pPr marL="0" indent="0">
              <a:buNone/>
              <a:defRPr sz="2200"/>
            </a:lvl1pPr>
            <a:lvl2pPr marL="503972" indent="0">
              <a:buNone/>
              <a:defRPr sz="2000"/>
            </a:lvl2pPr>
            <a:lvl3pPr marL="1007943" indent="0">
              <a:buNone/>
              <a:defRPr sz="1800"/>
            </a:lvl3pPr>
            <a:lvl4pPr marL="1511915" indent="0">
              <a:buNone/>
              <a:defRPr sz="1500"/>
            </a:lvl4pPr>
            <a:lvl5pPr marL="2015886" indent="0">
              <a:buNone/>
              <a:defRPr sz="1500"/>
            </a:lvl5pPr>
            <a:lvl6pPr marL="2519858" indent="0">
              <a:buNone/>
              <a:defRPr sz="1500"/>
            </a:lvl6pPr>
            <a:lvl7pPr marL="3023829" indent="0">
              <a:buNone/>
              <a:defRPr sz="1500"/>
            </a:lvl7pPr>
            <a:lvl8pPr marL="3527801" indent="0">
              <a:buNone/>
              <a:defRPr sz="1500"/>
            </a:lvl8pPr>
            <a:lvl9pPr marL="4031772" indent="0">
              <a:buNone/>
              <a:defRPr sz="15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77FAB5-4D49-4B70-9831-30C70C8D3515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760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56047" y="2183906"/>
            <a:ext cx="4200260" cy="4535805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124318" y="2183906"/>
            <a:ext cx="4200260" cy="4535805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FAC204-713D-4BE2-A142-8E48B9DF7548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0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504031" y="1692178"/>
            <a:ext cx="4454027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04031" y="2397397"/>
            <a:ext cx="4454027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120818" y="1692178"/>
            <a:ext cx="4455776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120818" y="2397397"/>
            <a:ext cx="4455776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F47656-3058-400E-88E1-8A3DA0D9A2B9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064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343011-A72D-4E6C-8051-63D4D32BBFC7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694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DE8EA6-BD83-4B80-9348-645B3ECCE3F1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8728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032" y="300987"/>
            <a:ext cx="3316456" cy="128094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941245" y="300988"/>
            <a:ext cx="5635349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504032" y="1581933"/>
            <a:ext cx="3316456" cy="5171028"/>
          </a:xfrm>
        </p:spPr>
        <p:txBody>
          <a:bodyPr/>
          <a:lstStyle>
            <a:lvl1pPr marL="0" indent="0">
              <a:buNone/>
              <a:defRPr sz="15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29CA4D-AC21-4E32-9D49-16B91744F2D6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8714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75873" y="5291772"/>
            <a:ext cx="6048375" cy="62472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75873" y="675471"/>
            <a:ext cx="6048375" cy="4535805"/>
          </a:xfrm>
        </p:spPr>
        <p:txBody>
          <a:bodyPr/>
          <a:lstStyle>
            <a:lvl1pPr marL="0" indent="0">
              <a:buNone/>
              <a:defRPr sz="3500"/>
            </a:lvl1pPr>
            <a:lvl2pPr marL="503972" indent="0">
              <a:buNone/>
              <a:defRPr sz="3100"/>
            </a:lvl2pPr>
            <a:lvl3pPr marL="1007943" indent="0">
              <a:buNone/>
              <a:defRPr sz="2600"/>
            </a:lvl3pPr>
            <a:lvl4pPr marL="1511915" indent="0">
              <a:buNone/>
              <a:defRPr sz="2200"/>
            </a:lvl4pPr>
            <a:lvl5pPr marL="2015886" indent="0">
              <a:buNone/>
              <a:defRPr sz="2200"/>
            </a:lvl5pPr>
            <a:lvl6pPr marL="2519858" indent="0">
              <a:buNone/>
              <a:defRPr sz="2200"/>
            </a:lvl6pPr>
            <a:lvl7pPr marL="3023829" indent="0">
              <a:buNone/>
              <a:defRPr sz="2200"/>
            </a:lvl7pPr>
            <a:lvl8pPr marL="3527801" indent="0">
              <a:buNone/>
              <a:defRPr sz="2200"/>
            </a:lvl8pPr>
            <a:lvl9pPr marL="4031772" indent="0">
              <a:buNone/>
              <a:defRPr sz="22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75873" y="5916496"/>
            <a:ext cx="6048375" cy="887211"/>
          </a:xfrm>
        </p:spPr>
        <p:txBody>
          <a:bodyPr/>
          <a:lstStyle>
            <a:lvl1pPr marL="0" indent="0">
              <a:buNone/>
              <a:defRPr sz="15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07C05D-716E-430B-8F1B-696FE9865A7B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1254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656C1D-A0E4-4894-B766-752C565B9C64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6838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182445" y="671971"/>
            <a:ext cx="2142133" cy="604774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756047" y="671971"/>
            <a:ext cx="6258388" cy="604774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13D808-7D6D-40D6-BC10-FDB01196358E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15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x-none" altLang="ja-JP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503999" y="1769039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x-none" altLang="ja-JP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79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ct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79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0DC9A31C-2487-4200-99F4-7475058B3987}" type="slidenum"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x-none" altLang="ja-JP" sz="4400" b="0" i="0" u="none" strike="noStrike" kern="1200">
          <a:ln>
            <a:noFill/>
          </a:ln>
          <a:latin typeface="Arial" pitchFamily="18"/>
          <a:cs typeface="Tahoma" pitchFamily="2"/>
        </a:defRPr>
      </a:lvl1pPr>
    </p:titleStyle>
    <p:bodyStyle>
      <a:lvl1pPr rtl="0" hangingPunct="0">
        <a:spcBef>
          <a:spcPts val="0"/>
        </a:spcBef>
        <a:spcAft>
          <a:spcPts val="1417"/>
        </a:spcAft>
        <a:tabLst/>
        <a:defRPr lang="x-none" altLang="ja-JP" sz="3200" b="0" i="0" u="none" strike="noStrike" kern="1200">
          <a:ln>
            <a:noFill/>
          </a:ln>
          <a:latin typeface="Arial" pitchFamily="18"/>
          <a:cs typeface="Tahoma" pitchFamily="2"/>
        </a:defRPr>
      </a:lvl1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6047" y="671971"/>
            <a:ext cx="8568531" cy="125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6047" y="2183906"/>
            <a:ext cx="8568531" cy="4535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6047" y="6887704"/>
            <a:ext cx="2100130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500">
                <a:latin typeface="Times New Roman" charset="0"/>
                <a:ea typeface="ＭＳ Ｐゴシック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44214" y="6887704"/>
            <a:ext cx="3192198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500">
                <a:latin typeface="Times New Roman" charset="0"/>
                <a:ea typeface="ＭＳ Ｐゴシック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24448" y="6887704"/>
            <a:ext cx="2100130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5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A9DE9F4-1B0D-41D4-BB45-F82231040046}" type="slidenum">
              <a:rPr lang="en-US" altLang="ja-JP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19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5pPr>
      <a:lvl6pPr marL="503972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6pPr>
      <a:lvl7pPr marL="1007943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7pPr>
      <a:lvl8pPr marL="1511915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8pPr>
      <a:lvl9pPr marL="2015886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9pPr>
    </p:titleStyle>
    <p:bodyStyle>
      <a:lvl1pPr marL="377979" indent="-377979" algn="l" rtl="0" eaLnBrk="0" fontAlgn="base" hangingPunct="0">
        <a:spcBef>
          <a:spcPct val="20000"/>
        </a:spcBef>
        <a:spcAft>
          <a:spcPct val="0"/>
        </a:spcAft>
        <a:buChar char="•"/>
        <a:defRPr kumimoji="1" sz="3500">
          <a:solidFill>
            <a:schemeClr val="tx1"/>
          </a:solidFill>
          <a:latin typeface="+mn-lt"/>
          <a:ea typeface="+mn-ea"/>
          <a:cs typeface="+mn-cs"/>
        </a:defRPr>
      </a:lvl1pPr>
      <a:lvl2pPr marL="818954" indent="-314982" algn="l" rtl="0" eaLnBrk="0" fontAlgn="base" hangingPunct="0">
        <a:spcBef>
          <a:spcPct val="20000"/>
        </a:spcBef>
        <a:spcAft>
          <a:spcPct val="0"/>
        </a:spcAft>
        <a:buChar char="–"/>
        <a:defRPr kumimoji="1" sz="3100">
          <a:solidFill>
            <a:schemeClr val="tx1"/>
          </a:solidFill>
          <a:latin typeface="+mn-lt"/>
          <a:ea typeface="+mn-ea"/>
        </a:defRPr>
      </a:lvl2pPr>
      <a:lvl3pPr marL="1259929" indent="-251986" algn="l" rtl="0" eaLnBrk="0" fontAlgn="base" hangingPunct="0">
        <a:spcBef>
          <a:spcPct val="20000"/>
        </a:spcBef>
        <a:spcAft>
          <a:spcPct val="0"/>
        </a:spcAft>
        <a:buChar char="•"/>
        <a:defRPr kumimoji="1" sz="2600">
          <a:solidFill>
            <a:schemeClr val="tx1"/>
          </a:solidFill>
          <a:latin typeface="+mn-lt"/>
          <a:ea typeface="+mn-ea"/>
        </a:defRPr>
      </a:lvl3pPr>
      <a:lvl4pPr marL="1763900" indent="-251986" algn="l" rtl="0" eaLnBrk="0" fontAlgn="base" hangingPunct="0">
        <a:spcBef>
          <a:spcPct val="20000"/>
        </a:spcBef>
        <a:spcAft>
          <a:spcPct val="0"/>
        </a:spcAft>
        <a:buChar char="–"/>
        <a:defRPr kumimoji="1" sz="2200">
          <a:solidFill>
            <a:schemeClr val="tx1"/>
          </a:solidFill>
          <a:latin typeface="+mn-lt"/>
          <a:ea typeface="+mn-ea"/>
        </a:defRPr>
      </a:lvl4pPr>
      <a:lvl5pPr marL="2267872" indent="-251986" algn="l" rtl="0" eaLnBrk="0" fontAlgn="base" hangingPunct="0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5pPr>
      <a:lvl6pPr marL="2771844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6pPr>
      <a:lvl7pPr marL="3275815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7pPr>
      <a:lvl8pPr marL="3779787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8pPr>
      <a:lvl9pPr marL="4283758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7" y="7108196"/>
            <a:ext cx="2054627" cy="395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6976951"/>
            <a:ext cx="10038622" cy="78746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83" tIns="50392" rIns="100783" bIns="50392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ja-JP" altLang="en-US" sz="2600">
              <a:solidFill>
                <a:srgbClr val="000000"/>
              </a:solidFill>
            </a:endParaRP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A148F4B-369D-1979-534A-65909A5EE163}"/>
              </a:ext>
            </a:extLst>
          </p:cNvPr>
          <p:cNvSpPr txBox="1"/>
          <p:nvPr/>
        </p:nvSpPr>
        <p:spPr>
          <a:xfrm>
            <a:off x="1677857" y="3611563"/>
            <a:ext cx="67249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 eaLnBrk="1" hangingPunct="1">
              <a:buNone/>
              <a:defRPr/>
            </a:pPr>
            <a:r>
              <a:rPr lang="en-US" altLang="ja-JP" sz="3600" dirty="0">
                <a:solidFill>
                  <a:srgbClr val="010000"/>
                </a:solidFill>
              </a:rPr>
              <a:t>Guidance for hands-on exercise</a:t>
            </a:r>
          </a:p>
          <a:p>
            <a:pPr marL="0" indent="0" algn="ctr" eaLnBrk="1" hangingPunct="1">
              <a:buNone/>
              <a:defRPr/>
            </a:pPr>
            <a:r>
              <a:rPr lang="en-US" altLang="ja-JP" sz="3600" dirty="0">
                <a:solidFill>
                  <a:srgbClr val="010000"/>
                </a:solidFill>
                <a:ea typeface="ＭＳ Ｐゴシック" panose="020B0600070205080204" pitchFamily="50" charset="-128"/>
              </a:rPr>
              <a:t>Single Event Upset (SEU)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CFF2F8A-B31D-631A-466B-69BEF6221CE7}"/>
              </a:ext>
            </a:extLst>
          </p:cNvPr>
          <p:cNvSpPr txBox="1"/>
          <p:nvPr/>
        </p:nvSpPr>
        <p:spPr>
          <a:xfrm>
            <a:off x="2990713" y="1041232"/>
            <a:ext cx="4099199" cy="1954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1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ja-JP" sz="96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</a:t>
            </a:r>
            <a:r>
              <a:rPr lang="en-US" altLang="ja-JP" sz="108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sz="96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BF383C7-C000-10BE-C773-7D3DDEC18202}"/>
              </a:ext>
            </a:extLst>
          </p:cNvPr>
          <p:cNvSpPr txBox="1"/>
          <p:nvPr/>
        </p:nvSpPr>
        <p:spPr>
          <a:xfrm>
            <a:off x="1035946" y="2699717"/>
            <a:ext cx="8008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Multi-Purpose </a:t>
            </a:r>
            <a:r>
              <a:rPr lang="en-US" altLang="ja-JP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ja-JP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 and </a:t>
            </a:r>
            <a:r>
              <a:rPr lang="en-US" altLang="ja-JP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ja-JP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eavy </a:t>
            </a:r>
            <a:r>
              <a:rPr lang="en-US" altLang="ja-JP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altLang="ja-JP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ransport code </a:t>
            </a:r>
            <a:r>
              <a:rPr lang="en-US" altLang="ja-JP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ja-JP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ystem</a:t>
            </a:r>
          </a:p>
        </p:txBody>
      </p:sp>
      <p:sp>
        <p:nvSpPr>
          <p:cNvPr id="2" name="Text Box 15"/>
          <p:cNvSpPr txBox="1">
            <a:spLocks noChangeArrowheads="1"/>
          </p:cNvSpPr>
          <p:nvPr/>
        </p:nvSpPr>
        <p:spPr bwMode="auto">
          <a:xfrm>
            <a:off x="3248089" y="5725756"/>
            <a:ext cx="3584447" cy="578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0783" tIns="50392" rIns="100783" bIns="50392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ja-JP" sz="3100" dirty="0">
                <a:solidFill>
                  <a:srgbClr val="FF0000"/>
                </a:solidFill>
                <a:latin typeface="+mn-lt"/>
                <a:ea typeface="ＭＳ Ｐゴシック"/>
              </a:rPr>
              <a:t>Feb. 2025 revised</a:t>
            </a:r>
          </a:p>
        </p:txBody>
      </p:sp>
    </p:spTree>
    <p:extLst>
      <p:ext uri="{BB962C8B-B14F-4D97-AF65-F5344CB8AC3E}">
        <p14:creationId xmlns:p14="http://schemas.microsoft.com/office/powerpoint/2010/main" val="367021071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D224FEF-91D2-20C9-D290-F2A0190F62EB}"/>
              </a:ext>
            </a:extLst>
          </p:cNvPr>
          <p:cNvSpPr txBox="1"/>
          <p:nvPr/>
        </p:nvSpPr>
        <p:spPr>
          <a:xfrm>
            <a:off x="1841365" y="3247"/>
            <a:ext cx="63979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4400" b="1" dirty="0"/>
              <a:t>Outline of this exercise</a:t>
            </a:r>
            <a:endParaRPr kumimoji="1" lang="ja-JP" altLang="en-US" sz="4400" b="1" dirty="0"/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779E35E6-5861-2E83-5DFD-AB44B2304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259588C-81DD-BECA-9A25-C7BF00D1B5DF}"/>
              </a:ext>
            </a:extLst>
          </p:cNvPr>
          <p:cNvSpPr txBox="1"/>
          <p:nvPr/>
        </p:nvSpPr>
        <p:spPr>
          <a:xfrm>
            <a:off x="81684" y="978299"/>
            <a:ext cx="7029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n"/>
            </a:pPr>
            <a:r>
              <a:rPr kumimoji="1" lang="en-US" altLang="ja-JP" sz="2800" b="1" dirty="0">
                <a:solidFill>
                  <a:schemeClr val="tx2"/>
                </a:solidFill>
              </a:rPr>
              <a:t>Tasks</a:t>
            </a:r>
            <a:r>
              <a:rPr kumimoji="1" lang="ja-JP" altLang="en-US" sz="2800" b="1" dirty="0">
                <a:solidFill>
                  <a:schemeClr val="tx2"/>
                </a:solidFill>
              </a:rPr>
              <a:t> </a:t>
            </a:r>
            <a:r>
              <a:rPr kumimoji="1" lang="en-US" altLang="ja-JP" sz="2800" b="1" dirty="0">
                <a:solidFill>
                  <a:schemeClr val="tx2"/>
                </a:solidFill>
              </a:rPr>
              <a:t>using </a:t>
            </a:r>
            <a:r>
              <a:rPr kumimoji="1" lang="en-US" altLang="ja-JP" sz="2800" b="1" dirty="0" err="1">
                <a:solidFill>
                  <a:schemeClr val="tx2"/>
                </a:solidFill>
              </a:rPr>
              <a:t>semiconductor.inp</a:t>
            </a:r>
            <a:endParaRPr kumimoji="1" lang="ja-JP" altLang="en-US" sz="28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7EE3BAD-6BC6-DEA8-2C10-B744D9458CDC}"/>
              </a:ext>
            </a:extLst>
          </p:cNvPr>
          <p:cNvSpPr txBox="1"/>
          <p:nvPr/>
        </p:nvSpPr>
        <p:spPr>
          <a:xfrm>
            <a:off x="446881" y="2158328"/>
            <a:ext cx="9632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chemeClr val="tx2"/>
                </a:solidFill>
              </a:rPr>
              <a:t>Step 2:  Calculate ion-irradiation on semiconductor device</a:t>
            </a:r>
            <a:endParaRPr kumimoji="1" lang="ja-JP" altLang="en-US" sz="28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45F1E54-0EB3-C934-CFA0-F21EDF849D0F}"/>
              </a:ext>
            </a:extLst>
          </p:cNvPr>
          <p:cNvSpPr txBox="1"/>
          <p:nvPr/>
        </p:nvSpPr>
        <p:spPr>
          <a:xfrm>
            <a:off x="446881" y="3270182"/>
            <a:ext cx="9222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chemeClr val="tx2"/>
                </a:solidFill>
              </a:rPr>
              <a:t>Step 4:  Calculate </a:t>
            </a:r>
            <a:r>
              <a:rPr lang="en-US" altLang="ja-JP" sz="2800" dirty="0">
                <a:solidFill>
                  <a:schemeClr val="tx2"/>
                </a:solidFill>
              </a:rPr>
              <a:t>dependence of SEU cross section</a:t>
            </a:r>
          </a:p>
          <a:p>
            <a:r>
              <a:rPr lang="en-US" altLang="ja-JP" sz="2800" dirty="0">
                <a:solidFill>
                  <a:schemeClr val="tx2"/>
                </a:solidFill>
              </a:rPr>
              <a:t>              on the energy of incident radiation</a:t>
            </a:r>
            <a:endParaRPr kumimoji="1" lang="ja-JP" altLang="en-US" sz="28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57A6FAD-9770-5A0C-C32E-34FFAA0D756E}"/>
              </a:ext>
            </a:extLst>
          </p:cNvPr>
          <p:cNvSpPr txBox="1"/>
          <p:nvPr/>
        </p:nvSpPr>
        <p:spPr>
          <a:xfrm>
            <a:off x="446881" y="1602401"/>
            <a:ext cx="9504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chemeClr val="tx2"/>
                </a:solidFill>
              </a:rPr>
              <a:t>Step 1:</a:t>
            </a:r>
            <a:r>
              <a:rPr kumimoji="1" lang="ja-JP" altLang="en-US" sz="2800" dirty="0">
                <a:solidFill>
                  <a:schemeClr val="tx2"/>
                </a:solidFill>
              </a:rPr>
              <a:t>　</a:t>
            </a:r>
            <a:r>
              <a:rPr kumimoji="1" lang="en-US" altLang="ja-JP" sz="2800" dirty="0">
                <a:solidFill>
                  <a:schemeClr val="tx2"/>
                </a:solidFill>
              </a:rPr>
              <a:t>Edit the geometry of semiconductor device</a:t>
            </a:r>
            <a:endParaRPr kumimoji="1" lang="ja-JP" altLang="en-US" sz="28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FCF4441-5107-B518-1E7A-DA4F8329BA01}"/>
              </a:ext>
            </a:extLst>
          </p:cNvPr>
          <p:cNvSpPr txBox="1"/>
          <p:nvPr/>
        </p:nvSpPr>
        <p:spPr>
          <a:xfrm>
            <a:off x="81684" y="4451992"/>
            <a:ext cx="7029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n"/>
            </a:pPr>
            <a:r>
              <a:rPr kumimoji="1" lang="en-US" altLang="ja-JP" sz="2800" b="1" dirty="0">
                <a:solidFill>
                  <a:schemeClr val="accent2"/>
                </a:solidFill>
              </a:rPr>
              <a:t>Tasks using small-</a:t>
            </a:r>
            <a:r>
              <a:rPr kumimoji="1" lang="en-US" altLang="ja-JP" sz="2800" b="1" dirty="0" err="1">
                <a:solidFill>
                  <a:schemeClr val="accent2"/>
                </a:solidFill>
              </a:rPr>
              <a:t>satellite.inp</a:t>
            </a:r>
            <a:endParaRPr kumimoji="1" lang="ja-JP" altLang="en-US" sz="2800" dirty="0">
              <a:solidFill>
                <a:schemeClr val="accent2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01528D8-16BD-05F9-1676-F76C8217B9D2}"/>
              </a:ext>
            </a:extLst>
          </p:cNvPr>
          <p:cNvSpPr txBox="1"/>
          <p:nvPr/>
        </p:nvSpPr>
        <p:spPr>
          <a:xfrm>
            <a:off x="446881" y="5071280"/>
            <a:ext cx="9332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chemeClr val="accent2"/>
                </a:solidFill>
              </a:rPr>
              <a:t>Step </a:t>
            </a:r>
            <a:r>
              <a:rPr lang="en-US" altLang="ja-JP" sz="2800" dirty="0">
                <a:solidFill>
                  <a:schemeClr val="accent2"/>
                </a:solidFill>
              </a:rPr>
              <a:t>5</a:t>
            </a:r>
            <a:r>
              <a:rPr kumimoji="1" lang="en-US" altLang="ja-JP" sz="2800" dirty="0">
                <a:solidFill>
                  <a:schemeClr val="accent2"/>
                </a:solidFill>
              </a:rPr>
              <a:t>:  Set SEU cross section in [Multiplier] section</a:t>
            </a:r>
            <a:endParaRPr kumimoji="1" lang="ja-JP" altLang="en-US" sz="2800" dirty="0">
              <a:solidFill>
                <a:schemeClr val="accent2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A54A1E9-1EBE-D85E-F99D-AE84285425C9}"/>
              </a:ext>
            </a:extLst>
          </p:cNvPr>
          <p:cNvSpPr txBox="1"/>
          <p:nvPr/>
        </p:nvSpPr>
        <p:spPr>
          <a:xfrm>
            <a:off x="446881" y="5619567"/>
            <a:ext cx="9334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chemeClr val="accent2"/>
                </a:solidFill>
              </a:rPr>
              <a:t>Step </a:t>
            </a:r>
            <a:r>
              <a:rPr lang="en-US" altLang="ja-JP" sz="2800" dirty="0">
                <a:solidFill>
                  <a:schemeClr val="accent2"/>
                </a:solidFill>
              </a:rPr>
              <a:t>6</a:t>
            </a:r>
            <a:r>
              <a:rPr kumimoji="1" lang="en-US" altLang="ja-JP" sz="2800" dirty="0">
                <a:solidFill>
                  <a:schemeClr val="accent2"/>
                </a:solidFill>
              </a:rPr>
              <a:t>:  Calculate SEU rate in small satellite</a:t>
            </a:r>
            <a:endParaRPr kumimoji="1" lang="ja-JP" altLang="en-US" sz="2800" dirty="0">
              <a:solidFill>
                <a:schemeClr val="accent2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3F9BEAA-9E03-F87E-F3D2-938E3E0F5AA6}"/>
              </a:ext>
            </a:extLst>
          </p:cNvPr>
          <p:cNvSpPr txBox="1"/>
          <p:nvPr/>
        </p:nvSpPr>
        <p:spPr>
          <a:xfrm>
            <a:off x="446881" y="6167854"/>
            <a:ext cx="93327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chemeClr val="accent2"/>
                </a:solidFill>
              </a:rPr>
              <a:t>Step </a:t>
            </a:r>
            <a:r>
              <a:rPr lang="en-US" altLang="ja-JP" sz="2800" dirty="0">
                <a:solidFill>
                  <a:schemeClr val="accent2"/>
                </a:solidFill>
              </a:rPr>
              <a:t>7</a:t>
            </a:r>
            <a:r>
              <a:rPr kumimoji="1" lang="en-US" altLang="ja-JP" sz="2800" dirty="0">
                <a:solidFill>
                  <a:schemeClr val="accent2"/>
                </a:solidFill>
              </a:rPr>
              <a:t>:  Investigate the effect of thickening </a:t>
            </a:r>
          </a:p>
          <a:p>
            <a:r>
              <a:rPr lang="en-US" altLang="ja-JP" sz="2800" dirty="0">
                <a:solidFill>
                  <a:schemeClr val="accent2"/>
                </a:solidFill>
              </a:rPr>
              <a:t>              </a:t>
            </a:r>
            <a:r>
              <a:rPr kumimoji="1" lang="en-US" altLang="ja-JP" sz="2800" dirty="0">
                <a:solidFill>
                  <a:schemeClr val="accent2"/>
                </a:solidFill>
              </a:rPr>
              <a:t>small satellite wall on SEU </a:t>
            </a:r>
            <a:r>
              <a:rPr lang="en-US" altLang="ja-JP" sz="2800" dirty="0">
                <a:solidFill>
                  <a:schemeClr val="accent2"/>
                </a:solidFill>
              </a:rPr>
              <a:t>rate</a:t>
            </a:r>
            <a:endParaRPr kumimoji="1" lang="ja-JP" altLang="en-US" sz="2800" dirty="0">
              <a:solidFill>
                <a:schemeClr val="accent2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111640B-C366-BE89-F406-265574A1D297}"/>
              </a:ext>
            </a:extLst>
          </p:cNvPr>
          <p:cNvSpPr txBox="1"/>
          <p:nvPr/>
        </p:nvSpPr>
        <p:spPr>
          <a:xfrm>
            <a:off x="446881" y="2714255"/>
            <a:ext cx="9632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chemeClr val="tx2"/>
                </a:solidFill>
              </a:rPr>
              <a:t>Step 3:  Calculate SEU cross section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87560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95301291-25E7-74A7-97C9-2E51829D9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3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89A6B4-ED94-E32E-DA19-54C5B63D5C30}"/>
              </a:ext>
            </a:extLst>
          </p:cNvPr>
          <p:cNvSpPr txBox="1"/>
          <p:nvPr/>
        </p:nvSpPr>
        <p:spPr>
          <a:xfrm>
            <a:off x="1638947" y="4782"/>
            <a:ext cx="68027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4400" b="1" dirty="0">
                <a:solidFill>
                  <a:schemeClr val="tx2"/>
                </a:solidFill>
              </a:rPr>
              <a:t>Open </a:t>
            </a:r>
            <a:r>
              <a:rPr lang="en-US" altLang="ja-JP" sz="4400" b="1" dirty="0" err="1">
                <a:solidFill>
                  <a:schemeClr val="tx2"/>
                </a:solidFill>
              </a:rPr>
              <a:t>semiconductor.inp</a:t>
            </a:r>
            <a:endParaRPr kumimoji="1" lang="ja-JP" altLang="en-US" sz="4400" b="1" dirty="0">
              <a:solidFill>
                <a:schemeClr val="tx2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04B5E25-4528-B91D-D637-AD0109B4E4AF}"/>
              </a:ext>
            </a:extLst>
          </p:cNvPr>
          <p:cNvSpPr txBox="1"/>
          <p:nvPr/>
        </p:nvSpPr>
        <p:spPr>
          <a:xfrm>
            <a:off x="546198" y="763360"/>
            <a:ext cx="96161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100" dirty="0"/>
              <a:t>Check the geometry by PHIG-3D and/or [T-Track] with </a:t>
            </a:r>
            <a:r>
              <a:rPr lang="en-US" altLang="ja-JP" sz="3100" dirty="0" err="1"/>
              <a:t>icntl</a:t>
            </a:r>
            <a:r>
              <a:rPr lang="en-US" altLang="ja-JP" sz="3100" dirty="0"/>
              <a:t> = 8</a:t>
            </a:r>
            <a:endParaRPr kumimoji="1" lang="ja-JP" altLang="en-US" sz="3100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8627B296-EDE9-C4A2-A68A-8F0BFE8BF662}"/>
              </a:ext>
            </a:extLst>
          </p:cNvPr>
          <p:cNvGrpSpPr/>
          <p:nvPr/>
        </p:nvGrpSpPr>
        <p:grpSpPr>
          <a:xfrm>
            <a:off x="-13493" y="1804785"/>
            <a:ext cx="9943480" cy="4332435"/>
            <a:chOff x="-13493" y="3008572"/>
            <a:chExt cx="9943480" cy="4332435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54A338CE-B1C1-BB42-D09C-6134989BFABE}"/>
                </a:ext>
              </a:extLst>
            </p:cNvPr>
            <p:cNvGrpSpPr/>
            <p:nvPr/>
          </p:nvGrpSpPr>
          <p:grpSpPr>
            <a:xfrm>
              <a:off x="333258" y="3392507"/>
              <a:ext cx="3989170" cy="3948500"/>
              <a:chOff x="268616" y="3075921"/>
              <a:chExt cx="3989170" cy="3948500"/>
            </a:xfrm>
          </p:grpSpPr>
          <p:sp>
            <p:nvSpPr>
              <p:cNvPr id="48" name="テキスト ボックス 34">
                <a:extLst>
                  <a:ext uri="{FF2B5EF4-FFF2-40B4-BE49-F238E27FC236}">
                    <a16:creationId xmlns:a16="http://schemas.microsoft.com/office/drawing/2014/main" id="{58810056-32F0-6034-B9F9-AB05F89E25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349" y="4566454"/>
                <a:ext cx="1145992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500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49" name="テキスト ボックス 34">
                <a:extLst>
                  <a:ext uri="{FF2B5EF4-FFF2-40B4-BE49-F238E27FC236}">
                    <a16:creationId xmlns:a16="http://schemas.microsoft.com/office/drawing/2014/main" id="{A5C849ED-A060-EC2C-EACB-02CF5D02D1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796" y="6420533"/>
                <a:ext cx="1176545" cy="36933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500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50" name="テキスト ボックス 34">
                <a:extLst>
                  <a:ext uri="{FF2B5EF4-FFF2-40B4-BE49-F238E27FC236}">
                    <a16:creationId xmlns:a16="http://schemas.microsoft.com/office/drawing/2014/main" id="{F24704D5-D949-BE89-2633-717C8C8041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461" y="5127548"/>
                <a:ext cx="1064880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3.0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51" name="テキスト ボックス 34">
                <a:extLst>
                  <a:ext uri="{FF2B5EF4-FFF2-40B4-BE49-F238E27FC236}">
                    <a16:creationId xmlns:a16="http://schemas.microsoft.com/office/drawing/2014/main" id="{79325E04-E3E3-E5F4-C081-A60A9D31CD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616" y="5416977"/>
                <a:ext cx="1197725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0.35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cxnSp>
            <p:nvCxnSpPr>
              <p:cNvPr id="52" name="直線矢印コネクタ 51">
                <a:extLst>
                  <a:ext uri="{FF2B5EF4-FFF2-40B4-BE49-F238E27FC236}">
                    <a16:creationId xmlns:a16="http://schemas.microsoft.com/office/drawing/2014/main" id="{EC33DB6F-D63C-84DB-EAFF-7792159EAA0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4259962"/>
                <a:ext cx="0" cy="900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矢印コネクタ 52">
                <a:extLst>
                  <a:ext uri="{FF2B5EF4-FFF2-40B4-BE49-F238E27FC236}">
                    <a16:creationId xmlns:a16="http://schemas.microsoft.com/office/drawing/2014/main" id="{1EAF59EE-0745-1F89-0818-495B305A46B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6124421"/>
                <a:ext cx="0" cy="900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4" name="グループ化 53">
                <a:extLst>
                  <a:ext uri="{FF2B5EF4-FFF2-40B4-BE49-F238E27FC236}">
                    <a16:creationId xmlns:a16="http://schemas.microsoft.com/office/drawing/2014/main" id="{1BF70175-C0A2-B739-8366-3755082A87FC}"/>
                  </a:ext>
                </a:extLst>
              </p:cNvPr>
              <p:cNvGrpSpPr/>
              <p:nvPr/>
            </p:nvGrpSpPr>
            <p:grpSpPr>
              <a:xfrm>
                <a:off x="1553072" y="3522332"/>
                <a:ext cx="2239685" cy="3482678"/>
                <a:chOff x="3328100" y="515605"/>
                <a:chExt cx="2239685" cy="3482678"/>
              </a:xfrm>
            </p:grpSpPr>
            <p:sp>
              <p:nvSpPr>
                <p:cNvPr id="63" name="平行四辺形 62">
                  <a:extLst>
                    <a:ext uri="{FF2B5EF4-FFF2-40B4-BE49-F238E27FC236}">
                      <a16:creationId xmlns:a16="http://schemas.microsoft.com/office/drawing/2014/main" id="{7DF552F8-4134-08E0-52B3-130B40D9F8FE}"/>
                    </a:ext>
                  </a:extLst>
                </p:cNvPr>
                <p:cNvSpPr/>
                <p:nvPr/>
              </p:nvSpPr>
              <p:spPr>
                <a:xfrm rot="16200000" flipH="1">
                  <a:off x="4360510" y="2791008"/>
                  <a:ext cx="169455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4472AB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64" name="平行四辺形 63">
                  <a:extLst>
                    <a:ext uri="{FF2B5EF4-FFF2-40B4-BE49-F238E27FC236}">
                      <a16:creationId xmlns:a16="http://schemas.microsoft.com/office/drawing/2014/main" id="{86B27884-916F-589E-8948-D0EF12E53FA9}"/>
                    </a:ext>
                  </a:extLst>
                </p:cNvPr>
                <p:cNvSpPr/>
                <p:nvPr/>
              </p:nvSpPr>
              <p:spPr>
                <a:xfrm rot="16200000" flipH="1">
                  <a:off x="4721785" y="2182244"/>
                  <a:ext cx="97200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999356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65" name="平行四辺形 64">
                  <a:extLst>
                    <a:ext uri="{FF2B5EF4-FFF2-40B4-BE49-F238E27FC236}">
                      <a16:creationId xmlns:a16="http://schemas.microsoft.com/office/drawing/2014/main" id="{AC62B616-C11F-0C0E-82A0-171AE4295D7B}"/>
                    </a:ext>
                  </a:extLst>
                </p:cNvPr>
                <p:cNvSpPr/>
                <p:nvPr/>
              </p:nvSpPr>
              <p:spPr>
                <a:xfrm rot="16200000" flipH="1">
                  <a:off x="4721785" y="1939504"/>
                  <a:ext cx="97200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B2AE9D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66" name="平行四辺形 65">
                  <a:extLst>
                    <a:ext uri="{FF2B5EF4-FFF2-40B4-BE49-F238E27FC236}">
                      <a16:creationId xmlns:a16="http://schemas.microsoft.com/office/drawing/2014/main" id="{9C20C099-CE5A-DE29-AD3F-0DE36E283043}"/>
                    </a:ext>
                  </a:extLst>
                </p:cNvPr>
                <p:cNvSpPr/>
                <p:nvPr/>
              </p:nvSpPr>
              <p:spPr>
                <a:xfrm rot="16200000" flipH="1">
                  <a:off x="4667785" y="1636896"/>
                  <a:ext cx="108000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AC7F64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67" name="平行四辺形 66">
                  <a:extLst>
                    <a:ext uri="{FF2B5EF4-FFF2-40B4-BE49-F238E27FC236}">
                      <a16:creationId xmlns:a16="http://schemas.microsoft.com/office/drawing/2014/main" id="{454B38AB-E024-E099-DA57-52D61C3A0D75}"/>
                    </a:ext>
                  </a:extLst>
                </p:cNvPr>
                <p:cNvSpPr/>
                <p:nvPr/>
              </p:nvSpPr>
              <p:spPr>
                <a:xfrm rot="16200000" flipH="1">
                  <a:off x="4374571" y="989002"/>
                  <a:ext cx="1666428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666666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68" name="正方形/長方形 67">
                  <a:extLst>
                    <a:ext uri="{FF2B5EF4-FFF2-40B4-BE49-F238E27FC236}">
                      <a16:creationId xmlns:a16="http://schemas.microsoft.com/office/drawing/2014/main" id="{05BC29B5-62F7-B913-2F27-E444189AF0B4}"/>
                    </a:ext>
                  </a:extLst>
                </p:cNvPr>
                <p:cNvSpPr/>
                <p:nvPr/>
              </p:nvSpPr>
              <p:spPr>
                <a:xfrm>
                  <a:off x="3328100" y="2982273"/>
                  <a:ext cx="1522800" cy="1016009"/>
                </a:xfrm>
                <a:prstGeom prst="rect">
                  <a:avLst/>
                </a:prstGeom>
                <a:solidFill>
                  <a:srgbClr val="558ED5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" name="正方形/長方形 68">
                  <a:extLst>
                    <a:ext uri="{FF2B5EF4-FFF2-40B4-BE49-F238E27FC236}">
                      <a16:creationId xmlns:a16="http://schemas.microsoft.com/office/drawing/2014/main" id="{1892F3AF-4398-485C-81CB-5D1279B8E77E}"/>
                    </a:ext>
                  </a:extLst>
                </p:cNvPr>
                <p:cNvSpPr/>
                <p:nvPr/>
              </p:nvSpPr>
              <p:spPr>
                <a:xfrm>
                  <a:off x="3328100" y="2673263"/>
                  <a:ext cx="1522800" cy="356782"/>
                </a:xfrm>
                <a:prstGeom prst="rect">
                  <a:avLst/>
                </a:prstGeom>
                <a:solidFill>
                  <a:srgbClr val="BEB76B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" name="正方形/長方形 69">
                  <a:extLst>
                    <a:ext uri="{FF2B5EF4-FFF2-40B4-BE49-F238E27FC236}">
                      <a16:creationId xmlns:a16="http://schemas.microsoft.com/office/drawing/2014/main" id="{9693C15D-BED4-6D63-7225-5E725FAF8C58}"/>
                    </a:ext>
                  </a:extLst>
                </p:cNvPr>
                <p:cNvSpPr/>
                <p:nvPr/>
              </p:nvSpPr>
              <p:spPr>
                <a:xfrm>
                  <a:off x="3328100" y="2395100"/>
                  <a:ext cx="1522800" cy="394432"/>
                </a:xfrm>
                <a:prstGeom prst="rect">
                  <a:avLst/>
                </a:prstGeom>
                <a:solidFill>
                  <a:srgbClr val="DDD9C3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" name="正方形/長方形 70">
                  <a:extLst>
                    <a:ext uri="{FF2B5EF4-FFF2-40B4-BE49-F238E27FC236}">
                      <a16:creationId xmlns:a16="http://schemas.microsoft.com/office/drawing/2014/main" id="{D03224C0-CD46-C3D2-4BB5-4B6419516C54}"/>
                    </a:ext>
                  </a:extLst>
                </p:cNvPr>
                <p:cNvSpPr/>
                <p:nvPr/>
              </p:nvSpPr>
              <p:spPr>
                <a:xfrm>
                  <a:off x="3328100" y="2167026"/>
                  <a:ext cx="1522800" cy="369460"/>
                </a:xfrm>
                <a:prstGeom prst="rect">
                  <a:avLst/>
                </a:prstGeom>
                <a:solidFill>
                  <a:srgbClr val="D69E7C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" name="正方形/長方形 71">
                  <a:extLst>
                    <a:ext uri="{FF2B5EF4-FFF2-40B4-BE49-F238E27FC236}">
                      <a16:creationId xmlns:a16="http://schemas.microsoft.com/office/drawing/2014/main" id="{0F0A9E3C-992D-1F09-9307-24B304A58314}"/>
                    </a:ext>
                  </a:extLst>
                </p:cNvPr>
                <p:cNvSpPr/>
                <p:nvPr/>
              </p:nvSpPr>
              <p:spPr>
                <a:xfrm>
                  <a:off x="3328100" y="1235606"/>
                  <a:ext cx="1522800" cy="943308"/>
                </a:xfrm>
                <a:prstGeom prst="rect">
                  <a:avLst/>
                </a:prstGeom>
                <a:solidFill>
                  <a:srgbClr val="7F7F7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" name="平行四辺形 72">
                  <a:extLst>
                    <a:ext uri="{FF2B5EF4-FFF2-40B4-BE49-F238E27FC236}">
                      <a16:creationId xmlns:a16="http://schemas.microsoft.com/office/drawing/2014/main" id="{2F6B317D-AD1A-BF36-950B-4F9F576DD246}"/>
                    </a:ext>
                  </a:extLst>
                </p:cNvPr>
                <p:cNvSpPr/>
                <p:nvPr/>
              </p:nvSpPr>
              <p:spPr>
                <a:xfrm>
                  <a:off x="3334432" y="515605"/>
                  <a:ext cx="2233353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989898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55" name="テキスト ボックス 34">
                <a:extLst>
                  <a:ext uri="{FF2B5EF4-FFF2-40B4-BE49-F238E27FC236}">
                    <a16:creationId xmlns:a16="http://schemas.microsoft.com/office/drawing/2014/main" id="{7233C7F6-EC0A-C7DB-C226-EC7744C020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4631" y="3527616"/>
                <a:ext cx="964359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2.0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cxnSp>
            <p:nvCxnSpPr>
              <p:cNvPr id="56" name="直線矢印コネクタ 55">
                <a:extLst>
                  <a:ext uri="{FF2B5EF4-FFF2-40B4-BE49-F238E27FC236}">
                    <a16:creationId xmlns:a16="http://schemas.microsoft.com/office/drawing/2014/main" id="{64FE47AB-3B23-15D1-C75A-A2238F4464D9}"/>
                  </a:ext>
                </a:extLst>
              </p:cNvPr>
              <p:cNvCxnSpPr/>
              <p:nvPr/>
            </p:nvCxnSpPr>
            <p:spPr bwMode="auto">
              <a:xfrm rot="5400000">
                <a:off x="1507908" y="3493428"/>
                <a:ext cx="684000" cy="684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線矢印コネクタ 56">
                <a:extLst>
                  <a:ext uri="{FF2B5EF4-FFF2-40B4-BE49-F238E27FC236}">
                    <a16:creationId xmlns:a16="http://schemas.microsoft.com/office/drawing/2014/main" id="{51AFDCB6-4A53-8ABA-05D1-E2AA5404A5CC}"/>
                  </a:ext>
                </a:extLst>
              </p:cNvPr>
              <p:cNvCxnSpPr/>
              <p:nvPr/>
            </p:nvCxnSpPr>
            <p:spPr bwMode="auto">
              <a:xfrm rot="10800000">
                <a:off x="2320398" y="3441328"/>
                <a:ext cx="1440000" cy="104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テキスト ボックス 34">
                <a:extLst>
                  <a:ext uri="{FF2B5EF4-FFF2-40B4-BE49-F238E27FC236}">
                    <a16:creationId xmlns:a16="http://schemas.microsoft.com/office/drawing/2014/main" id="{CA1CEC83-9E73-9E9C-93B8-206CAE1251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279" y="3075921"/>
                <a:ext cx="969507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dirty="0">
                    <a:cs typeface="Arial" pitchFamily="34" charset="0"/>
                  </a:rPr>
                  <a:t>2.0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59" name="テキスト ボックス 34">
                <a:extLst>
                  <a:ext uri="{FF2B5EF4-FFF2-40B4-BE49-F238E27FC236}">
                    <a16:creationId xmlns:a16="http://schemas.microsoft.com/office/drawing/2014/main" id="{45B5E7B4-616B-D5C1-A91B-C07D105BAF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616" y="5800286"/>
                <a:ext cx="1197725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0.25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cxnSp>
            <p:nvCxnSpPr>
              <p:cNvPr id="60" name="直線矢印コネクタ 59">
                <a:extLst>
                  <a:ext uri="{FF2B5EF4-FFF2-40B4-BE49-F238E27FC236}">
                    <a16:creationId xmlns:a16="http://schemas.microsoft.com/office/drawing/2014/main" id="{50D2BCC1-56FA-7AFB-7418-57F7E9B36E4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5218496"/>
                <a:ext cx="0" cy="324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矢印コネクタ 60">
                <a:extLst>
                  <a:ext uri="{FF2B5EF4-FFF2-40B4-BE49-F238E27FC236}">
                    <a16:creationId xmlns:a16="http://schemas.microsoft.com/office/drawing/2014/main" id="{AC74A013-981A-63DE-4057-091742A9DCC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5554305"/>
                <a:ext cx="0" cy="216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線矢印コネクタ 61">
                <a:extLst>
                  <a:ext uri="{FF2B5EF4-FFF2-40B4-BE49-F238E27FC236}">
                    <a16:creationId xmlns:a16="http://schemas.microsoft.com/office/drawing/2014/main" id="{1CA2DDA9-1747-F8AC-879C-CF5967E2194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5808074"/>
                <a:ext cx="0" cy="216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644E48FB-263A-D6E8-FD38-E23EF066A7E7}"/>
                </a:ext>
              </a:extLst>
            </p:cNvPr>
            <p:cNvGrpSpPr/>
            <p:nvPr/>
          </p:nvGrpSpPr>
          <p:grpSpPr>
            <a:xfrm>
              <a:off x="6013916" y="4772239"/>
              <a:ext cx="2785442" cy="646331"/>
              <a:chOff x="6076960" y="4603014"/>
              <a:chExt cx="2785442" cy="646331"/>
            </a:xfrm>
          </p:grpSpPr>
          <p:sp>
            <p:nvSpPr>
              <p:cNvPr id="46" name="テキスト ボックス 155">
                <a:extLst>
                  <a:ext uri="{FF2B5EF4-FFF2-40B4-BE49-F238E27FC236}">
                    <a16:creationId xmlns:a16="http://schemas.microsoft.com/office/drawing/2014/main" id="{9E4D6C62-FCBF-DE17-7F55-79474F0A92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8340" y="4603014"/>
                <a:ext cx="2424062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Insulation layer</a:t>
                </a:r>
                <a:r>
                  <a:rPr lang="ja-JP" altLang="en-US" dirty="0">
                    <a:cs typeface="Arial" pitchFamily="34" charset="0"/>
                  </a:rPr>
                  <a:t> </a:t>
                </a:r>
                <a:r>
                  <a:rPr lang="en-US" altLang="ja-JP" dirty="0">
                    <a:cs typeface="Arial" pitchFamily="34" charset="0"/>
                  </a:rPr>
                  <a:t>(SiO</a:t>
                </a:r>
                <a:r>
                  <a:rPr lang="en-US" altLang="ja-JP" baseline="-25000" dirty="0">
                    <a:cs typeface="Arial" pitchFamily="34" charset="0"/>
                  </a:rPr>
                  <a:t>2</a:t>
                </a:r>
                <a:r>
                  <a:rPr lang="en-US" altLang="ja-JP" dirty="0">
                    <a:cs typeface="Arial" pitchFamily="34" charset="0"/>
                  </a:rPr>
                  <a:t>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2.65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C5D23171-9AA8-8418-4B96-1E1F57632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0" y="4680767"/>
                <a:ext cx="288000" cy="216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B63BEC02-CBF7-1999-79ED-1FBABF0A244A}"/>
                </a:ext>
              </a:extLst>
            </p:cNvPr>
            <p:cNvGrpSpPr/>
            <p:nvPr/>
          </p:nvGrpSpPr>
          <p:grpSpPr>
            <a:xfrm>
              <a:off x="6013917" y="3356959"/>
              <a:ext cx="3916070" cy="646331"/>
              <a:chOff x="6076961" y="3719175"/>
              <a:chExt cx="3916070" cy="646331"/>
            </a:xfrm>
          </p:grpSpPr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79BF9710-AE92-D8C2-CDEF-A5646E4FA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1" y="3796928"/>
                <a:ext cx="288000" cy="216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  <p:sp>
            <p:nvSpPr>
              <p:cNvPr id="45" name="テキスト ボックス 159">
                <a:extLst>
                  <a:ext uri="{FF2B5EF4-FFF2-40B4-BE49-F238E27FC236}">
                    <a16:creationId xmlns:a16="http://schemas.microsoft.com/office/drawing/2014/main" id="{81F14AA0-ADDF-8A3C-2E41-6DEA8DE599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8340" y="3719175"/>
                <a:ext cx="3554691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Package layer</a:t>
                </a:r>
                <a:r>
                  <a:rPr lang="ja-JP" altLang="en-US" dirty="0">
                    <a:cs typeface="Arial" pitchFamily="34" charset="0"/>
                  </a:rPr>
                  <a:t> </a:t>
                </a:r>
                <a:r>
                  <a:rPr lang="en-US" altLang="ja-JP" dirty="0">
                    <a:cs typeface="Arial" pitchFamily="34" charset="0"/>
                  </a:rPr>
                  <a:t>(Epoxy, C</a:t>
                </a:r>
                <a:r>
                  <a:rPr lang="en-US" altLang="ja-JP" baseline="-25000" dirty="0">
                    <a:cs typeface="Arial" pitchFamily="34" charset="0"/>
                  </a:rPr>
                  <a:t>18</a:t>
                </a:r>
                <a:r>
                  <a:rPr lang="en-US" altLang="ja-JP" dirty="0">
                    <a:cs typeface="Arial" pitchFamily="34" charset="0"/>
                  </a:rPr>
                  <a:t>H</a:t>
                </a:r>
                <a:r>
                  <a:rPr lang="en-US" altLang="ja-JP" baseline="-25000" dirty="0">
                    <a:cs typeface="Arial" pitchFamily="34" charset="0"/>
                  </a:rPr>
                  <a:t>19</a:t>
                </a:r>
                <a:r>
                  <a:rPr lang="en-US" altLang="ja-JP" dirty="0">
                    <a:cs typeface="Arial" pitchFamily="34" charset="0"/>
                  </a:rPr>
                  <a:t>O</a:t>
                </a:r>
                <a:r>
                  <a:rPr lang="en-US" altLang="ja-JP" baseline="-25000" dirty="0">
                    <a:cs typeface="Arial" pitchFamily="34" charset="0"/>
                  </a:rPr>
                  <a:t>5</a:t>
                </a:r>
                <a:r>
                  <a:rPr lang="en-US" altLang="ja-JP" dirty="0">
                    <a:cs typeface="Arial" pitchFamily="34" charset="0"/>
                  </a:rPr>
                  <a:t>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1.85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FD192593-EA75-5E65-C193-19B39E058708}"/>
                </a:ext>
              </a:extLst>
            </p:cNvPr>
            <p:cNvGrpSpPr/>
            <p:nvPr/>
          </p:nvGrpSpPr>
          <p:grpSpPr>
            <a:xfrm>
              <a:off x="6013917" y="6187519"/>
              <a:ext cx="2660966" cy="646331"/>
              <a:chOff x="6076961" y="5205289"/>
              <a:chExt cx="2660966" cy="646331"/>
            </a:xfrm>
          </p:grpSpPr>
          <p:sp>
            <p:nvSpPr>
              <p:cNvPr id="42" name="テキスト ボックス 150">
                <a:extLst>
                  <a:ext uri="{FF2B5EF4-FFF2-40B4-BE49-F238E27FC236}">
                    <a16:creationId xmlns:a16="http://schemas.microsoft.com/office/drawing/2014/main" id="{0541611C-29A5-83EB-8D5C-F626857FF7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7297" y="5205289"/>
                <a:ext cx="2300630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Silicon substrate</a:t>
                </a:r>
                <a:r>
                  <a:rPr lang="ja-JP" altLang="en-US" dirty="0">
                    <a:cs typeface="Arial" pitchFamily="34" charset="0"/>
                  </a:rPr>
                  <a:t> </a:t>
                </a:r>
                <a:r>
                  <a:rPr lang="en-US" altLang="ja-JP" dirty="0">
                    <a:cs typeface="Arial" pitchFamily="34" charset="0"/>
                  </a:rPr>
                  <a:t>(Si)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2.329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62A069E9-5E64-438B-BAD3-367E7D9EA3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1" y="5283042"/>
                <a:ext cx="288000" cy="21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AFF6B483-0350-A0E5-72C4-CBAB164D5188}"/>
                </a:ext>
              </a:extLst>
            </p:cNvPr>
            <p:cNvGrpSpPr/>
            <p:nvPr/>
          </p:nvGrpSpPr>
          <p:grpSpPr>
            <a:xfrm>
              <a:off x="6013918" y="5479879"/>
              <a:ext cx="2037398" cy="646331"/>
              <a:chOff x="6076962" y="4908070"/>
              <a:chExt cx="2037398" cy="646331"/>
            </a:xfrm>
          </p:grpSpPr>
          <p:sp>
            <p:nvSpPr>
              <p:cNvPr id="40" name="テキスト ボックス 150">
                <a:extLst>
                  <a:ext uri="{FF2B5EF4-FFF2-40B4-BE49-F238E27FC236}">
                    <a16:creationId xmlns:a16="http://schemas.microsoft.com/office/drawing/2014/main" id="{434E2D07-A348-701F-14E4-53FEAEECB4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7298" y="4908070"/>
                <a:ext cx="1677062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STI (SiO</a:t>
                </a:r>
                <a:r>
                  <a:rPr lang="en-US" altLang="ja-JP" baseline="-25000" dirty="0">
                    <a:cs typeface="Arial" pitchFamily="34" charset="0"/>
                  </a:rPr>
                  <a:t>2</a:t>
                </a:r>
                <a:r>
                  <a:rPr lang="en-US" altLang="ja-JP" dirty="0">
                    <a:cs typeface="Arial" pitchFamily="34" charset="0"/>
                  </a:rPr>
                  <a:t>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2.65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6568B51D-E5C5-EFBC-BA2A-FE2E7B27C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2" y="4985823"/>
                <a:ext cx="288000" cy="216000"/>
              </a:xfrm>
              <a:prstGeom prst="rect">
                <a:avLst/>
              </a:prstGeom>
              <a:solidFill>
                <a:srgbClr val="BEB76B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8EEDB004-9A68-B8DD-6724-663E492DABBE}"/>
                </a:ext>
              </a:extLst>
            </p:cNvPr>
            <p:cNvGrpSpPr/>
            <p:nvPr/>
          </p:nvGrpSpPr>
          <p:grpSpPr>
            <a:xfrm>
              <a:off x="6013918" y="4064599"/>
              <a:ext cx="3692294" cy="646331"/>
              <a:chOff x="5926620" y="3643269"/>
              <a:chExt cx="3692294" cy="646331"/>
            </a:xfrm>
          </p:grpSpPr>
          <p:grpSp>
            <p:nvGrpSpPr>
              <p:cNvPr id="36" name="グループ化 35">
                <a:extLst>
                  <a:ext uri="{FF2B5EF4-FFF2-40B4-BE49-F238E27FC236}">
                    <a16:creationId xmlns:a16="http://schemas.microsoft.com/office/drawing/2014/main" id="{FAECEC30-E932-E9AD-A3BF-BE49C7C56F1F}"/>
                  </a:ext>
                </a:extLst>
              </p:cNvPr>
              <p:cNvGrpSpPr/>
              <p:nvPr/>
            </p:nvGrpSpPr>
            <p:grpSpPr>
              <a:xfrm>
                <a:off x="5926620" y="3643269"/>
                <a:ext cx="3561294" cy="646331"/>
                <a:chOff x="6076962" y="4008822"/>
                <a:chExt cx="3561294" cy="646331"/>
              </a:xfrm>
            </p:grpSpPr>
            <p:sp>
              <p:nvSpPr>
                <p:cNvPr id="38" name="テキスト ボックス 157">
                  <a:extLst>
                    <a:ext uri="{FF2B5EF4-FFF2-40B4-BE49-F238E27FC236}">
                      <a16:creationId xmlns:a16="http://schemas.microsoft.com/office/drawing/2014/main" id="{3864F00D-FC13-1DA3-30DF-6935C30534F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38341" y="4008822"/>
                  <a:ext cx="3199915" cy="646331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ja-JP" dirty="0">
                      <a:cs typeface="Arial" pitchFamily="34" charset="0"/>
                    </a:rPr>
                    <a:t>Metal layer</a:t>
                  </a:r>
                  <a:r>
                    <a:rPr lang="ja-JP" altLang="en-US" dirty="0">
                      <a:cs typeface="Arial" pitchFamily="34" charset="0"/>
                    </a:rPr>
                    <a:t> </a:t>
                  </a:r>
                  <a:r>
                    <a:rPr lang="en-US" altLang="ja-JP" dirty="0">
                      <a:cs typeface="Arial" pitchFamily="34" charset="0"/>
                    </a:rPr>
                    <a:t>(Cu : SiO</a:t>
                  </a:r>
                  <a:r>
                    <a:rPr lang="en-US" altLang="ja-JP" baseline="-25000" dirty="0">
                      <a:cs typeface="Arial" pitchFamily="34" charset="0"/>
                    </a:rPr>
                    <a:t>2</a:t>
                  </a:r>
                  <a:r>
                    <a:rPr lang="en-US" altLang="ja-JP" dirty="0">
                      <a:cs typeface="Arial" pitchFamily="34" charset="0"/>
                    </a:rPr>
                    <a:t> = 3 : 1)</a:t>
                  </a:r>
                </a:p>
                <a:p>
                  <a:r>
                    <a:rPr lang="en-US" altLang="ja-JP" i="1" dirty="0">
                      <a:cs typeface="Arial" pitchFamily="34" charset="0"/>
                    </a:rPr>
                    <a:t>ρ</a:t>
                  </a:r>
                  <a:r>
                    <a:rPr lang="en-US" altLang="ja-JP" dirty="0">
                      <a:cs typeface="Arial" pitchFamily="34" charset="0"/>
                    </a:rPr>
                    <a:t> = 5.69 g/cm</a:t>
                  </a:r>
                  <a:r>
                    <a:rPr lang="en-US" altLang="ja-JP" baseline="30000" dirty="0">
                      <a:cs typeface="Arial" pitchFamily="34" charset="0"/>
                    </a:rPr>
                    <a:t>3</a:t>
                  </a:r>
                  <a:endParaRPr lang="ja-JP" altLang="en-US" dirty="0">
                    <a:cs typeface="Arial" pitchFamily="34" charset="0"/>
                  </a:endParaRPr>
                </a:p>
              </p:txBody>
            </p:sp>
            <p:sp>
              <p:nvSpPr>
                <p:cNvPr id="39" name="正方形/長方形 38">
                  <a:extLst>
                    <a:ext uri="{FF2B5EF4-FFF2-40B4-BE49-F238E27FC236}">
                      <a16:creationId xmlns:a16="http://schemas.microsoft.com/office/drawing/2014/main" id="{9F2EADA3-85F0-AB65-3B96-74DD014E98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76962" y="4086575"/>
                  <a:ext cx="288000" cy="216000"/>
                </a:xfrm>
                <a:prstGeom prst="rect">
                  <a:avLst/>
                </a:prstGeom>
                <a:solidFill>
                  <a:srgbClr val="D69E7C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ja-JP" altLang="en-US" sz="1200" dirty="0">
                    <a:cs typeface="Arial" pitchFamily="34" charset="0"/>
                  </a:endParaRPr>
                </a:p>
              </p:txBody>
            </p:sp>
          </p:grpSp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B6728038-2270-1C52-1F5F-10CD4D495DCE}"/>
                  </a:ext>
                </a:extLst>
              </p:cNvPr>
              <p:cNvSpPr txBox="1"/>
              <p:nvPr/>
            </p:nvSpPr>
            <p:spPr>
              <a:xfrm>
                <a:off x="8509315" y="3930790"/>
                <a:ext cx="11095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600" dirty="0">
                    <a:cs typeface="Arial" pitchFamily="34" charset="0"/>
                  </a:rPr>
                  <a:t>* mol ratio</a:t>
                </a:r>
                <a:endParaRPr kumimoji="1" lang="ja-JP" altLang="en-US" sz="1600" dirty="0"/>
              </a:p>
            </p:txBody>
          </p: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F7031CDE-E8AD-9BF8-6064-1135E8C7B196}"/>
                </a:ext>
              </a:extLst>
            </p:cNvPr>
            <p:cNvGrpSpPr/>
            <p:nvPr/>
          </p:nvGrpSpPr>
          <p:grpSpPr>
            <a:xfrm>
              <a:off x="468490" y="3008572"/>
              <a:ext cx="4612161" cy="1177920"/>
              <a:chOff x="468490" y="2924682"/>
              <a:chExt cx="4612161" cy="1177920"/>
            </a:xfrm>
          </p:grpSpPr>
          <p:cxnSp>
            <p:nvCxnSpPr>
              <p:cNvPr id="34" name="直線矢印コネクタ 33">
                <a:extLst>
                  <a:ext uri="{FF2B5EF4-FFF2-40B4-BE49-F238E27FC236}">
                    <a16:creationId xmlns:a16="http://schemas.microsoft.com/office/drawing/2014/main" id="{B923152E-E68A-C1E8-1E91-10269D5C71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2963" y="3382602"/>
                <a:ext cx="0" cy="720000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prstDash val="sysDot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121A89A0-90E3-090C-DEB6-A6531C770A6E}"/>
                  </a:ext>
                </a:extLst>
              </p:cNvPr>
              <p:cNvSpPr txBox="1"/>
              <p:nvPr/>
            </p:nvSpPr>
            <p:spPr>
              <a:xfrm>
                <a:off x="468490" y="2924682"/>
                <a:ext cx="46121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sz="2400" b="1" dirty="0">
                    <a:solidFill>
                      <a:srgbClr val="FFC000"/>
                    </a:solidFill>
                  </a:rPr>
                  <a:t>Direction of source projectiles</a:t>
                </a:r>
                <a:endParaRPr kumimoji="1" lang="ja-JP" altLang="en-US" sz="2400" b="1" dirty="0">
                  <a:solidFill>
                    <a:srgbClr val="FFC000"/>
                  </a:solidFill>
                </a:endParaRPr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869A3D6-4637-2708-3056-CC4BB2B5EAC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7525" y="3461068"/>
              <a:ext cx="837540" cy="826448"/>
              <a:chOff x="2349451" y="1962929"/>
              <a:chExt cx="1318560" cy="1301098"/>
            </a:xfrm>
          </p:grpSpPr>
          <p:grpSp>
            <p:nvGrpSpPr>
              <p:cNvPr id="27" name="グループ化 26">
                <a:extLst>
                  <a:ext uri="{FF2B5EF4-FFF2-40B4-BE49-F238E27FC236}">
                    <a16:creationId xmlns:a16="http://schemas.microsoft.com/office/drawing/2014/main" id="{59E86A98-DB2D-6794-E4A0-7D8A9F73B57B}"/>
                  </a:ext>
                </a:extLst>
              </p:cNvPr>
              <p:cNvGrpSpPr/>
              <p:nvPr/>
            </p:nvGrpSpPr>
            <p:grpSpPr>
              <a:xfrm>
                <a:off x="2444011" y="2396359"/>
                <a:ext cx="1224000" cy="720000"/>
                <a:chOff x="6455838" y="295710"/>
                <a:chExt cx="1224000" cy="720000"/>
              </a:xfrm>
            </p:grpSpPr>
            <p:cxnSp>
              <p:nvCxnSpPr>
                <p:cNvPr id="31" name="直線矢印コネクタ 30">
                  <a:extLst>
                    <a:ext uri="{FF2B5EF4-FFF2-40B4-BE49-F238E27FC236}">
                      <a16:creationId xmlns:a16="http://schemas.microsoft.com/office/drawing/2014/main" id="{95FA2FAE-E405-3EAE-2BDF-97685F51A7D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6959838" y="295710"/>
                  <a:ext cx="0" cy="72000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headEnd type="none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線矢印コネクタ 31">
                  <a:extLst>
                    <a:ext uri="{FF2B5EF4-FFF2-40B4-BE49-F238E27FC236}">
                      <a16:creationId xmlns:a16="http://schemas.microsoft.com/office/drawing/2014/main" id="{3A20EB80-17E1-D937-361F-E5D47DC6F33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5400000">
                  <a:off x="6455838" y="295710"/>
                  <a:ext cx="504000" cy="50400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headEnd type="none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矢印コネクタ 32">
                  <a:extLst>
                    <a:ext uri="{FF2B5EF4-FFF2-40B4-BE49-F238E27FC236}">
                      <a16:creationId xmlns:a16="http://schemas.microsoft.com/office/drawing/2014/main" id="{351A9A6F-F0D1-EF30-AFC6-5D7D3034A6EB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10800000">
                  <a:off x="6959838" y="295711"/>
                  <a:ext cx="720000" cy="1043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headEnd type="stealt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6538644E-4457-2FDE-B63D-7A8F97675ED3}"/>
                  </a:ext>
                </a:extLst>
              </p:cNvPr>
              <p:cNvSpPr txBox="1"/>
              <p:nvPr/>
            </p:nvSpPr>
            <p:spPr>
              <a:xfrm>
                <a:off x="3207485" y="1962929"/>
                <a:ext cx="432048" cy="484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400" dirty="0">
                    <a:solidFill>
                      <a:schemeClr val="bg1">
                        <a:lumMod val="50000"/>
                      </a:schemeClr>
                    </a:solidFill>
                  </a:rPr>
                  <a:t>x</a:t>
                </a:r>
                <a:endParaRPr kumimoji="1" lang="ja-JP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CFB88404-E666-7196-2956-08317BD71C40}"/>
                  </a:ext>
                </a:extLst>
              </p:cNvPr>
              <p:cNvSpPr txBox="1"/>
              <p:nvPr/>
            </p:nvSpPr>
            <p:spPr>
              <a:xfrm>
                <a:off x="2349451" y="2265676"/>
                <a:ext cx="432048" cy="4845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400" dirty="0">
                    <a:solidFill>
                      <a:schemeClr val="bg1">
                        <a:lumMod val="50000"/>
                      </a:schemeClr>
                    </a:solidFill>
                  </a:rPr>
                  <a:t>y</a:t>
                </a:r>
                <a:endParaRPr kumimoji="1" lang="ja-JP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BDA40F9E-31C2-1E12-2200-3AF94EE1942C}"/>
                  </a:ext>
                </a:extLst>
              </p:cNvPr>
              <p:cNvSpPr txBox="1"/>
              <p:nvPr/>
            </p:nvSpPr>
            <p:spPr>
              <a:xfrm>
                <a:off x="2949152" y="2779486"/>
                <a:ext cx="432048" cy="484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chemeClr val="bg1">
                        <a:lumMod val="50000"/>
                      </a:schemeClr>
                    </a:solidFill>
                  </a:rPr>
                  <a:t>z</a:t>
                </a:r>
                <a:endParaRPr kumimoji="1" lang="ja-JP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E5A97E82-CD7E-2A76-753A-9E6886971410}"/>
                </a:ext>
              </a:extLst>
            </p:cNvPr>
            <p:cNvCxnSpPr/>
            <p:nvPr/>
          </p:nvCxnSpPr>
          <p:spPr>
            <a:xfrm>
              <a:off x="812158" y="6110515"/>
              <a:ext cx="792000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E6774E2C-2CE3-1AFA-6B01-C6A743596866}"/>
                </a:ext>
              </a:extLst>
            </p:cNvPr>
            <p:cNvSpPr txBox="1"/>
            <p:nvPr/>
          </p:nvSpPr>
          <p:spPr>
            <a:xfrm>
              <a:off x="-13493" y="5955862"/>
              <a:ext cx="8803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solidFill>
                    <a:schemeClr val="bg1">
                      <a:lumMod val="50000"/>
                    </a:schemeClr>
                  </a:solidFill>
                </a:rPr>
                <a:t>z = 0 </a:t>
              </a:r>
              <a:r>
                <a:rPr kumimoji="1" lang="el-GR" altLang="ja-JP" sz="1400" dirty="0">
                  <a:solidFill>
                    <a:schemeClr val="bg1">
                      <a:lumMod val="50000"/>
                    </a:schemeClr>
                  </a:solidFill>
                </a:rPr>
                <a:t>μ</a:t>
              </a:r>
              <a:r>
                <a:rPr kumimoji="1" lang="en-US" altLang="ja-JP" sz="1400" dirty="0">
                  <a:solidFill>
                    <a:schemeClr val="bg1">
                      <a:lumMod val="50000"/>
                    </a:schemeClr>
                  </a:solidFill>
                </a:rPr>
                <a:t>m</a:t>
              </a:r>
              <a:endParaRPr kumimoji="1" lang="ja-JP" altLang="en-US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00C22E24-FD70-C8DB-D0EA-124DA08A57B5}"/>
                </a:ext>
              </a:extLst>
            </p:cNvPr>
            <p:cNvGrpSpPr/>
            <p:nvPr/>
          </p:nvGrpSpPr>
          <p:grpSpPr>
            <a:xfrm>
              <a:off x="4115402" y="4390791"/>
              <a:ext cx="1681473" cy="1555200"/>
              <a:chOff x="4115402" y="4390791"/>
              <a:chExt cx="1681473" cy="1555200"/>
            </a:xfrm>
          </p:grpSpPr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7996625A-D81E-DC7E-D2B2-0E4BAC9B8445}"/>
                  </a:ext>
                </a:extLst>
              </p:cNvPr>
              <p:cNvSpPr/>
              <p:nvPr/>
            </p:nvSpPr>
            <p:spPr>
              <a:xfrm>
                <a:off x="4115402" y="4390791"/>
                <a:ext cx="1522799" cy="1555200"/>
              </a:xfrm>
              <a:prstGeom prst="rect">
                <a:avLst/>
              </a:prstGeom>
              <a:solidFill>
                <a:srgbClr val="BEB76B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2" name="直線矢印コネクタ 21">
                <a:extLst>
                  <a:ext uri="{FF2B5EF4-FFF2-40B4-BE49-F238E27FC236}">
                    <a16:creationId xmlns:a16="http://schemas.microsoft.com/office/drawing/2014/main" id="{59F5FA4F-4144-AC71-F3AA-59ED5EC233A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5142645" y="5045316"/>
                <a:ext cx="0" cy="252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矢印コネクタ 22">
                <a:extLst>
                  <a:ext uri="{FF2B5EF4-FFF2-40B4-BE49-F238E27FC236}">
                    <a16:creationId xmlns:a16="http://schemas.microsoft.com/office/drawing/2014/main" id="{F0CCFB5F-1FA6-957C-60B0-9A02ED709F7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696191" y="4974813"/>
                <a:ext cx="36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テキスト ボックス 34">
                <a:extLst>
                  <a:ext uri="{FF2B5EF4-FFF2-40B4-BE49-F238E27FC236}">
                    <a16:creationId xmlns:a16="http://schemas.microsoft.com/office/drawing/2014/main" id="{35779491-8204-A16C-FF3A-B0A8AC9D88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4288" y="4582820"/>
                <a:ext cx="1053098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dirty="0">
                    <a:cs typeface="Times New Roman" panose="02020603050405020304" pitchFamily="18" charset="0"/>
                  </a:rPr>
                  <a:t>0.2 </a:t>
                </a:r>
                <a:r>
                  <a:rPr lang="en-US" altLang="ja-JP" dirty="0" err="1">
                    <a:cs typeface="Times New Roman" panose="02020603050405020304" pitchFamily="18" charset="0"/>
                  </a:rPr>
                  <a:t>μm</a:t>
                </a:r>
                <a:endParaRPr lang="ja-JP" altLang="en-US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テキスト ボックス 34">
                <a:extLst>
                  <a:ext uri="{FF2B5EF4-FFF2-40B4-BE49-F238E27FC236}">
                    <a16:creationId xmlns:a16="http://schemas.microsoft.com/office/drawing/2014/main" id="{ED884010-5E7F-A9C8-D8AF-88CFB39C72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3777" y="5291466"/>
                <a:ext cx="1053098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dirty="0">
                    <a:cs typeface="Times New Roman" panose="02020603050405020304" pitchFamily="18" charset="0"/>
                  </a:rPr>
                  <a:t>0.1 </a:t>
                </a:r>
                <a:r>
                  <a:rPr lang="en-US" altLang="ja-JP" dirty="0" err="1">
                    <a:cs typeface="Times New Roman" panose="02020603050405020304" pitchFamily="18" charset="0"/>
                  </a:rPr>
                  <a:t>μm</a:t>
                </a:r>
                <a:endParaRPr lang="ja-JP" altLang="en-US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5D974A90-7D22-E29D-1BB3-75C238E992FF}"/>
                  </a:ext>
                </a:extLst>
              </p:cNvPr>
              <p:cNvSpPr/>
              <p:nvPr/>
            </p:nvSpPr>
            <p:spPr>
              <a:xfrm>
                <a:off x="4696191" y="5042391"/>
                <a:ext cx="361220" cy="25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ADF7FC5D-A938-FCB6-F754-E14CD7922DE1}"/>
                </a:ext>
              </a:extLst>
            </p:cNvPr>
            <p:cNvGrpSpPr/>
            <p:nvPr/>
          </p:nvGrpSpPr>
          <p:grpSpPr>
            <a:xfrm>
              <a:off x="4115401" y="6108817"/>
              <a:ext cx="1522800" cy="1212777"/>
              <a:chOff x="4115401" y="6108817"/>
              <a:chExt cx="1522800" cy="1212777"/>
            </a:xfrm>
          </p:grpSpPr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18EE530D-043D-8357-103B-79F2636AE484}"/>
                  </a:ext>
                </a:extLst>
              </p:cNvPr>
              <p:cNvSpPr/>
              <p:nvPr/>
            </p:nvSpPr>
            <p:spPr>
              <a:xfrm>
                <a:off x="4115402" y="6108817"/>
                <a:ext cx="1522799" cy="241205"/>
              </a:xfrm>
              <a:prstGeom prst="rect">
                <a:avLst/>
              </a:prstGeom>
              <a:solidFill>
                <a:srgbClr val="BEB76B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フリーフォーム: 図形 19">
                <a:extLst>
                  <a:ext uri="{FF2B5EF4-FFF2-40B4-BE49-F238E27FC236}">
                    <a16:creationId xmlns:a16="http://schemas.microsoft.com/office/drawing/2014/main" id="{BC04CF32-6B42-49B5-ADA0-F7CAA4E236A5}"/>
                  </a:ext>
                </a:extLst>
              </p:cNvPr>
              <p:cNvSpPr/>
              <p:nvPr/>
            </p:nvSpPr>
            <p:spPr>
              <a:xfrm>
                <a:off x="4115401" y="6108817"/>
                <a:ext cx="1522800" cy="1212777"/>
              </a:xfrm>
              <a:custGeom>
                <a:avLst/>
                <a:gdLst>
                  <a:gd name="connsiteX0" fmla="*/ 580790 w 1522800"/>
                  <a:gd name="connsiteY0" fmla="*/ 0 h 1212777"/>
                  <a:gd name="connsiteX1" fmla="*/ 942010 w 1522800"/>
                  <a:gd name="connsiteY1" fmla="*/ 0 h 1212777"/>
                  <a:gd name="connsiteX2" fmla="*/ 942010 w 1522800"/>
                  <a:gd name="connsiteY2" fmla="*/ 241204 h 1212777"/>
                  <a:gd name="connsiteX3" fmla="*/ 1522800 w 1522800"/>
                  <a:gd name="connsiteY3" fmla="*/ 241204 h 1212777"/>
                  <a:gd name="connsiteX4" fmla="*/ 1522800 w 1522800"/>
                  <a:gd name="connsiteY4" fmla="*/ 1212777 h 1212777"/>
                  <a:gd name="connsiteX5" fmla="*/ 0 w 1522800"/>
                  <a:gd name="connsiteY5" fmla="*/ 1212777 h 1212777"/>
                  <a:gd name="connsiteX6" fmla="*/ 0 w 1522800"/>
                  <a:gd name="connsiteY6" fmla="*/ 241204 h 1212777"/>
                  <a:gd name="connsiteX7" fmla="*/ 580790 w 1522800"/>
                  <a:gd name="connsiteY7" fmla="*/ 241204 h 1212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2800" h="1212777">
                    <a:moveTo>
                      <a:pt x="580790" y="0"/>
                    </a:moveTo>
                    <a:lnTo>
                      <a:pt x="942010" y="0"/>
                    </a:lnTo>
                    <a:lnTo>
                      <a:pt x="942010" y="241204"/>
                    </a:lnTo>
                    <a:lnTo>
                      <a:pt x="1522800" y="241204"/>
                    </a:lnTo>
                    <a:lnTo>
                      <a:pt x="1522800" y="1212777"/>
                    </a:lnTo>
                    <a:lnTo>
                      <a:pt x="0" y="1212777"/>
                    </a:lnTo>
                    <a:lnTo>
                      <a:pt x="0" y="241204"/>
                    </a:lnTo>
                    <a:lnTo>
                      <a:pt x="580790" y="241204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 sz="1200" dirty="0"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700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8A52E-CECB-6111-7F14-10215D843B4C}"/>
              </a:ext>
            </a:extLst>
          </p:cNvPr>
          <p:cNvSpPr txBox="1"/>
          <p:nvPr/>
        </p:nvSpPr>
        <p:spPr>
          <a:xfrm>
            <a:off x="1682672" y="0"/>
            <a:ext cx="67153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dirty="0">
                <a:solidFill>
                  <a:schemeClr val="tx2"/>
                </a:solidFill>
              </a:rPr>
              <a:t>Step 1: Edit the geometry</a:t>
            </a:r>
            <a:endParaRPr kumimoji="1" lang="ja-JP" altLang="en-US" sz="4400" dirty="0">
              <a:solidFill>
                <a:schemeClr val="tx2"/>
              </a:solidFill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B70542EA-F5AE-7BE0-EC6D-B663D94DB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4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844F3AD9-E1AA-D199-984B-3643CE1A375D}"/>
              </a:ext>
            </a:extLst>
          </p:cNvPr>
          <p:cNvGrpSpPr/>
          <p:nvPr/>
        </p:nvGrpSpPr>
        <p:grpSpPr>
          <a:xfrm>
            <a:off x="-13493" y="3008572"/>
            <a:ext cx="9943480" cy="4532917"/>
            <a:chOff x="-13493" y="2924682"/>
            <a:chExt cx="9943480" cy="4532917"/>
          </a:xfrm>
        </p:grpSpPr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D8A5218F-9C6E-D034-1893-4CE0F1FE78CD}"/>
                </a:ext>
              </a:extLst>
            </p:cNvPr>
            <p:cNvGrpSpPr/>
            <p:nvPr/>
          </p:nvGrpSpPr>
          <p:grpSpPr>
            <a:xfrm>
              <a:off x="333258" y="3308617"/>
              <a:ext cx="3989170" cy="3948500"/>
              <a:chOff x="268616" y="3075921"/>
              <a:chExt cx="3989170" cy="3948500"/>
            </a:xfrm>
          </p:grpSpPr>
          <p:sp>
            <p:nvSpPr>
              <p:cNvPr id="232" name="テキスト ボックス 34">
                <a:extLst>
                  <a:ext uri="{FF2B5EF4-FFF2-40B4-BE49-F238E27FC236}">
                    <a16:creationId xmlns:a16="http://schemas.microsoft.com/office/drawing/2014/main" id="{D367724A-EB9C-1E63-2200-C3541C4659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349" y="4566454"/>
                <a:ext cx="1145992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500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233" name="テキスト ボックス 34">
                <a:extLst>
                  <a:ext uri="{FF2B5EF4-FFF2-40B4-BE49-F238E27FC236}">
                    <a16:creationId xmlns:a16="http://schemas.microsoft.com/office/drawing/2014/main" id="{73E09231-4BFD-416A-B0ED-3338EE5345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796" y="6420533"/>
                <a:ext cx="1176545" cy="36933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500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234" name="テキスト ボックス 34">
                <a:extLst>
                  <a:ext uri="{FF2B5EF4-FFF2-40B4-BE49-F238E27FC236}">
                    <a16:creationId xmlns:a16="http://schemas.microsoft.com/office/drawing/2014/main" id="{801440EB-9262-EF9D-3CCD-DC2B20C87F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461" y="5127548"/>
                <a:ext cx="1064880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3.0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235" name="テキスト ボックス 34">
                <a:extLst>
                  <a:ext uri="{FF2B5EF4-FFF2-40B4-BE49-F238E27FC236}">
                    <a16:creationId xmlns:a16="http://schemas.microsoft.com/office/drawing/2014/main" id="{18E147D6-FD9A-12B8-AFA6-97D637C371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616" y="5416977"/>
                <a:ext cx="1197725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0.35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cxnSp>
            <p:nvCxnSpPr>
              <p:cNvPr id="236" name="直線矢印コネクタ 235">
                <a:extLst>
                  <a:ext uri="{FF2B5EF4-FFF2-40B4-BE49-F238E27FC236}">
                    <a16:creationId xmlns:a16="http://schemas.microsoft.com/office/drawing/2014/main" id="{DE25D318-F112-A9AC-5F4F-7B41FBC33E4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4259962"/>
                <a:ext cx="0" cy="900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直線矢印コネクタ 236">
                <a:extLst>
                  <a:ext uri="{FF2B5EF4-FFF2-40B4-BE49-F238E27FC236}">
                    <a16:creationId xmlns:a16="http://schemas.microsoft.com/office/drawing/2014/main" id="{65E1E1C8-C284-77AA-3FE5-B04D37DF9CE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6124421"/>
                <a:ext cx="0" cy="900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8" name="グループ化 237">
                <a:extLst>
                  <a:ext uri="{FF2B5EF4-FFF2-40B4-BE49-F238E27FC236}">
                    <a16:creationId xmlns:a16="http://schemas.microsoft.com/office/drawing/2014/main" id="{25CDF363-7381-60CA-8A8C-6DD3D693484A}"/>
                  </a:ext>
                </a:extLst>
              </p:cNvPr>
              <p:cNvGrpSpPr/>
              <p:nvPr/>
            </p:nvGrpSpPr>
            <p:grpSpPr>
              <a:xfrm>
                <a:off x="1553072" y="3522332"/>
                <a:ext cx="2239685" cy="3482678"/>
                <a:chOff x="3328100" y="515605"/>
                <a:chExt cx="2239685" cy="3482678"/>
              </a:xfrm>
            </p:grpSpPr>
            <p:sp>
              <p:nvSpPr>
                <p:cNvPr id="247" name="平行四辺形 246">
                  <a:extLst>
                    <a:ext uri="{FF2B5EF4-FFF2-40B4-BE49-F238E27FC236}">
                      <a16:creationId xmlns:a16="http://schemas.microsoft.com/office/drawing/2014/main" id="{37634FC0-A44D-E159-E3D6-807BC0C2F016}"/>
                    </a:ext>
                  </a:extLst>
                </p:cNvPr>
                <p:cNvSpPr/>
                <p:nvPr/>
              </p:nvSpPr>
              <p:spPr>
                <a:xfrm rot="16200000" flipH="1">
                  <a:off x="4360510" y="2791008"/>
                  <a:ext cx="169455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4472AB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48" name="平行四辺形 247">
                  <a:extLst>
                    <a:ext uri="{FF2B5EF4-FFF2-40B4-BE49-F238E27FC236}">
                      <a16:creationId xmlns:a16="http://schemas.microsoft.com/office/drawing/2014/main" id="{592E43DE-ADA6-5EDF-4036-56C0C402D66F}"/>
                    </a:ext>
                  </a:extLst>
                </p:cNvPr>
                <p:cNvSpPr/>
                <p:nvPr/>
              </p:nvSpPr>
              <p:spPr>
                <a:xfrm rot="16200000" flipH="1">
                  <a:off x="4721785" y="2182244"/>
                  <a:ext cx="97200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999356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49" name="平行四辺形 248">
                  <a:extLst>
                    <a:ext uri="{FF2B5EF4-FFF2-40B4-BE49-F238E27FC236}">
                      <a16:creationId xmlns:a16="http://schemas.microsoft.com/office/drawing/2014/main" id="{7D9DCC57-3158-4DA2-B0A4-73F5AD0C7D09}"/>
                    </a:ext>
                  </a:extLst>
                </p:cNvPr>
                <p:cNvSpPr/>
                <p:nvPr/>
              </p:nvSpPr>
              <p:spPr>
                <a:xfrm rot="16200000" flipH="1">
                  <a:off x="4721785" y="1939504"/>
                  <a:ext cx="97200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B2AE9D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50" name="平行四辺形 249">
                  <a:extLst>
                    <a:ext uri="{FF2B5EF4-FFF2-40B4-BE49-F238E27FC236}">
                      <a16:creationId xmlns:a16="http://schemas.microsoft.com/office/drawing/2014/main" id="{2AA26A83-D9DF-3ED8-8391-0A5242059EC5}"/>
                    </a:ext>
                  </a:extLst>
                </p:cNvPr>
                <p:cNvSpPr/>
                <p:nvPr/>
              </p:nvSpPr>
              <p:spPr>
                <a:xfrm rot="16200000" flipH="1">
                  <a:off x="4667785" y="1636896"/>
                  <a:ext cx="108000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AC7F64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51" name="平行四辺形 250">
                  <a:extLst>
                    <a:ext uri="{FF2B5EF4-FFF2-40B4-BE49-F238E27FC236}">
                      <a16:creationId xmlns:a16="http://schemas.microsoft.com/office/drawing/2014/main" id="{22D8CE79-981E-BF94-315F-182F60165E61}"/>
                    </a:ext>
                  </a:extLst>
                </p:cNvPr>
                <p:cNvSpPr/>
                <p:nvPr/>
              </p:nvSpPr>
              <p:spPr>
                <a:xfrm rot="16200000" flipH="1">
                  <a:off x="4374571" y="989002"/>
                  <a:ext cx="1666428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666666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52" name="正方形/長方形 251">
                  <a:extLst>
                    <a:ext uri="{FF2B5EF4-FFF2-40B4-BE49-F238E27FC236}">
                      <a16:creationId xmlns:a16="http://schemas.microsoft.com/office/drawing/2014/main" id="{D23951AD-421A-E3CF-92EF-82E7E0453A25}"/>
                    </a:ext>
                  </a:extLst>
                </p:cNvPr>
                <p:cNvSpPr/>
                <p:nvPr/>
              </p:nvSpPr>
              <p:spPr>
                <a:xfrm>
                  <a:off x="3328100" y="2982273"/>
                  <a:ext cx="1522800" cy="1016009"/>
                </a:xfrm>
                <a:prstGeom prst="rect">
                  <a:avLst/>
                </a:prstGeom>
                <a:solidFill>
                  <a:srgbClr val="558ED5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3" name="正方形/長方形 252">
                  <a:extLst>
                    <a:ext uri="{FF2B5EF4-FFF2-40B4-BE49-F238E27FC236}">
                      <a16:creationId xmlns:a16="http://schemas.microsoft.com/office/drawing/2014/main" id="{A82C5867-9108-0704-73C4-6D8E4D88BC9A}"/>
                    </a:ext>
                  </a:extLst>
                </p:cNvPr>
                <p:cNvSpPr/>
                <p:nvPr/>
              </p:nvSpPr>
              <p:spPr>
                <a:xfrm>
                  <a:off x="3328100" y="2673263"/>
                  <a:ext cx="1522800" cy="356782"/>
                </a:xfrm>
                <a:prstGeom prst="rect">
                  <a:avLst/>
                </a:prstGeom>
                <a:solidFill>
                  <a:srgbClr val="BEB76B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4" name="正方形/長方形 253">
                  <a:extLst>
                    <a:ext uri="{FF2B5EF4-FFF2-40B4-BE49-F238E27FC236}">
                      <a16:creationId xmlns:a16="http://schemas.microsoft.com/office/drawing/2014/main" id="{D0255F24-50C6-1466-A31B-FA314D4A2A38}"/>
                    </a:ext>
                  </a:extLst>
                </p:cNvPr>
                <p:cNvSpPr/>
                <p:nvPr/>
              </p:nvSpPr>
              <p:spPr>
                <a:xfrm>
                  <a:off x="3328100" y="2395100"/>
                  <a:ext cx="1522800" cy="394432"/>
                </a:xfrm>
                <a:prstGeom prst="rect">
                  <a:avLst/>
                </a:prstGeom>
                <a:solidFill>
                  <a:srgbClr val="DDD9C3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5" name="正方形/長方形 254">
                  <a:extLst>
                    <a:ext uri="{FF2B5EF4-FFF2-40B4-BE49-F238E27FC236}">
                      <a16:creationId xmlns:a16="http://schemas.microsoft.com/office/drawing/2014/main" id="{D8A6298E-DDFB-CD55-14F4-08B1568656B5}"/>
                    </a:ext>
                  </a:extLst>
                </p:cNvPr>
                <p:cNvSpPr/>
                <p:nvPr/>
              </p:nvSpPr>
              <p:spPr>
                <a:xfrm>
                  <a:off x="3328100" y="2167026"/>
                  <a:ext cx="1522800" cy="369460"/>
                </a:xfrm>
                <a:prstGeom prst="rect">
                  <a:avLst/>
                </a:prstGeom>
                <a:solidFill>
                  <a:srgbClr val="D69E7C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6" name="正方形/長方形 255">
                  <a:extLst>
                    <a:ext uri="{FF2B5EF4-FFF2-40B4-BE49-F238E27FC236}">
                      <a16:creationId xmlns:a16="http://schemas.microsoft.com/office/drawing/2014/main" id="{01DC2C17-EC68-A0BA-D6E9-9BCD0E630B9A}"/>
                    </a:ext>
                  </a:extLst>
                </p:cNvPr>
                <p:cNvSpPr/>
                <p:nvPr/>
              </p:nvSpPr>
              <p:spPr>
                <a:xfrm>
                  <a:off x="3328100" y="1235606"/>
                  <a:ext cx="1522800" cy="943308"/>
                </a:xfrm>
                <a:prstGeom prst="rect">
                  <a:avLst/>
                </a:prstGeom>
                <a:solidFill>
                  <a:srgbClr val="7F7F7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7" name="平行四辺形 256">
                  <a:extLst>
                    <a:ext uri="{FF2B5EF4-FFF2-40B4-BE49-F238E27FC236}">
                      <a16:creationId xmlns:a16="http://schemas.microsoft.com/office/drawing/2014/main" id="{32F43962-11C2-F688-AE9F-6B80A0E76858}"/>
                    </a:ext>
                  </a:extLst>
                </p:cNvPr>
                <p:cNvSpPr/>
                <p:nvPr/>
              </p:nvSpPr>
              <p:spPr>
                <a:xfrm>
                  <a:off x="3334432" y="515605"/>
                  <a:ext cx="2233353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989898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239" name="テキスト ボックス 34">
                <a:extLst>
                  <a:ext uri="{FF2B5EF4-FFF2-40B4-BE49-F238E27FC236}">
                    <a16:creationId xmlns:a16="http://schemas.microsoft.com/office/drawing/2014/main" id="{10AA93BF-AF26-A315-09AA-CE0B692E2B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4631" y="3527616"/>
                <a:ext cx="964359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2.0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cxnSp>
            <p:nvCxnSpPr>
              <p:cNvPr id="240" name="直線矢印コネクタ 239">
                <a:extLst>
                  <a:ext uri="{FF2B5EF4-FFF2-40B4-BE49-F238E27FC236}">
                    <a16:creationId xmlns:a16="http://schemas.microsoft.com/office/drawing/2014/main" id="{5C5CF048-39BE-1A02-A3D3-F6E09320AB15}"/>
                  </a:ext>
                </a:extLst>
              </p:cNvPr>
              <p:cNvCxnSpPr/>
              <p:nvPr/>
            </p:nvCxnSpPr>
            <p:spPr bwMode="auto">
              <a:xfrm rot="5400000">
                <a:off x="1507908" y="3493428"/>
                <a:ext cx="684000" cy="684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線矢印コネクタ 240">
                <a:extLst>
                  <a:ext uri="{FF2B5EF4-FFF2-40B4-BE49-F238E27FC236}">
                    <a16:creationId xmlns:a16="http://schemas.microsoft.com/office/drawing/2014/main" id="{5D129F5E-1259-20B5-52A7-678541EA44A5}"/>
                  </a:ext>
                </a:extLst>
              </p:cNvPr>
              <p:cNvCxnSpPr/>
              <p:nvPr/>
            </p:nvCxnSpPr>
            <p:spPr bwMode="auto">
              <a:xfrm rot="10800000">
                <a:off x="2320398" y="3441328"/>
                <a:ext cx="1440000" cy="104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2" name="テキスト ボックス 34">
                <a:extLst>
                  <a:ext uri="{FF2B5EF4-FFF2-40B4-BE49-F238E27FC236}">
                    <a16:creationId xmlns:a16="http://schemas.microsoft.com/office/drawing/2014/main" id="{DF657997-125D-383C-31D7-C1B4583F41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279" y="3075921"/>
                <a:ext cx="969507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dirty="0">
                    <a:cs typeface="Arial" pitchFamily="34" charset="0"/>
                  </a:rPr>
                  <a:t>2.0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243" name="テキスト ボックス 34">
                <a:extLst>
                  <a:ext uri="{FF2B5EF4-FFF2-40B4-BE49-F238E27FC236}">
                    <a16:creationId xmlns:a16="http://schemas.microsoft.com/office/drawing/2014/main" id="{8D692B31-E81E-7FF2-AB20-45470622C6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616" y="5800286"/>
                <a:ext cx="1197725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0.25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cxnSp>
            <p:nvCxnSpPr>
              <p:cNvPr id="244" name="直線矢印コネクタ 243">
                <a:extLst>
                  <a:ext uri="{FF2B5EF4-FFF2-40B4-BE49-F238E27FC236}">
                    <a16:creationId xmlns:a16="http://schemas.microsoft.com/office/drawing/2014/main" id="{8D06369A-4AD9-21DA-A318-7E51CED4018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5218496"/>
                <a:ext cx="0" cy="324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線矢印コネクタ 244">
                <a:extLst>
                  <a:ext uri="{FF2B5EF4-FFF2-40B4-BE49-F238E27FC236}">
                    <a16:creationId xmlns:a16="http://schemas.microsoft.com/office/drawing/2014/main" id="{3DA9AEB2-F3FB-17A1-C82C-376972D87E4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5554305"/>
                <a:ext cx="0" cy="216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直線矢印コネクタ 245">
                <a:extLst>
                  <a:ext uri="{FF2B5EF4-FFF2-40B4-BE49-F238E27FC236}">
                    <a16:creationId xmlns:a16="http://schemas.microsoft.com/office/drawing/2014/main" id="{6DF88D28-42FB-CA90-3FF6-58211E54B53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5808074"/>
                <a:ext cx="0" cy="216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グループ化 86">
              <a:extLst>
                <a:ext uri="{FF2B5EF4-FFF2-40B4-BE49-F238E27FC236}">
                  <a16:creationId xmlns:a16="http://schemas.microsoft.com/office/drawing/2014/main" id="{FAC7A6F1-793F-3634-BF97-5B3075A8418D}"/>
                </a:ext>
              </a:extLst>
            </p:cNvPr>
            <p:cNvGrpSpPr/>
            <p:nvPr/>
          </p:nvGrpSpPr>
          <p:grpSpPr>
            <a:xfrm>
              <a:off x="6013916" y="4688349"/>
              <a:ext cx="2785442" cy="646331"/>
              <a:chOff x="6076960" y="4603014"/>
              <a:chExt cx="2785442" cy="646331"/>
            </a:xfrm>
          </p:grpSpPr>
          <p:sp>
            <p:nvSpPr>
              <p:cNvPr id="230" name="テキスト ボックス 155">
                <a:extLst>
                  <a:ext uri="{FF2B5EF4-FFF2-40B4-BE49-F238E27FC236}">
                    <a16:creationId xmlns:a16="http://schemas.microsoft.com/office/drawing/2014/main" id="{7CCD79C7-7F34-1F56-D56B-6DDFCE10FC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8340" y="4603014"/>
                <a:ext cx="2424062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Insulation layer</a:t>
                </a:r>
                <a:r>
                  <a:rPr lang="ja-JP" altLang="en-US" dirty="0">
                    <a:cs typeface="Arial" pitchFamily="34" charset="0"/>
                  </a:rPr>
                  <a:t> </a:t>
                </a:r>
                <a:r>
                  <a:rPr lang="en-US" altLang="ja-JP" dirty="0">
                    <a:cs typeface="Arial" pitchFamily="34" charset="0"/>
                  </a:rPr>
                  <a:t>(SiO</a:t>
                </a:r>
                <a:r>
                  <a:rPr lang="en-US" altLang="ja-JP" baseline="-25000" dirty="0">
                    <a:cs typeface="Arial" pitchFamily="34" charset="0"/>
                  </a:rPr>
                  <a:t>2</a:t>
                </a:r>
                <a:r>
                  <a:rPr lang="en-US" altLang="ja-JP" dirty="0">
                    <a:cs typeface="Arial" pitchFamily="34" charset="0"/>
                  </a:rPr>
                  <a:t>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2.65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231" name="正方形/長方形 230">
                <a:extLst>
                  <a:ext uri="{FF2B5EF4-FFF2-40B4-BE49-F238E27FC236}">
                    <a16:creationId xmlns:a16="http://schemas.microsoft.com/office/drawing/2014/main" id="{12200AB1-30DA-540A-6903-4B265C9D7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0" y="4680767"/>
                <a:ext cx="288000" cy="216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</p:grpSp>
        <p:grpSp>
          <p:nvGrpSpPr>
            <p:cNvPr id="88" name="グループ化 87">
              <a:extLst>
                <a:ext uri="{FF2B5EF4-FFF2-40B4-BE49-F238E27FC236}">
                  <a16:creationId xmlns:a16="http://schemas.microsoft.com/office/drawing/2014/main" id="{8B061E20-4C93-D84C-09FD-812E026E45CB}"/>
                </a:ext>
              </a:extLst>
            </p:cNvPr>
            <p:cNvGrpSpPr/>
            <p:nvPr/>
          </p:nvGrpSpPr>
          <p:grpSpPr>
            <a:xfrm>
              <a:off x="6013917" y="3273069"/>
              <a:ext cx="3916070" cy="646331"/>
              <a:chOff x="6076961" y="3719175"/>
              <a:chExt cx="3916070" cy="646331"/>
            </a:xfrm>
          </p:grpSpPr>
          <p:sp>
            <p:nvSpPr>
              <p:cNvPr id="228" name="正方形/長方形 227">
                <a:extLst>
                  <a:ext uri="{FF2B5EF4-FFF2-40B4-BE49-F238E27FC236}">
                    <a16:creationId xmlns:a16="http://schemas.microsoft.com/office/drawing/2014/main" id="{4BA8135E-8263-D902-02AC-B065B39AD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1" y="3796928"/>
                <a:ext cx="288000" cy="216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  <p:sp>
            <p:nvSpPr>
              <p:cNvPr id="229" name="テキスト ボックス 159">
                <a:extLst>
                  <a:ext uri="{FF2B5EF4-FFF2-40B4-BE49-F238E27FC236}">
                    <a16:creationId xmlns:a16="http://schemas.microsoft.com/office/drawing/2014/main" id="{FF368E66-0315-04A1-3942-43E943EE85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8340" y="3719175"/>
                <a:ext cx="3554691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Package layer</a:t>
                </a:r>
                <a:r>
                  <a:rPr lang="ja-JP" altLang="en-US" dirty="0">
                    <a:cs typeface="Arial" pitchFamily="34" charset="0"/>
                  </a:rPr>
                  <a:t> </a:t>
                </a:r>
                <a:r>
                  <a:rPr lang="en-US" altLang="ja-JP" dirty="0">
                    <a:cs typeface="Arial" pitchFamily="34" charset="0"/>
                  </a:rPr>
                  <a:t>(Epoxy, C</a:t>
                </a:r>
                <a:r>
                  <a:rPr lang="en-US" altLang="ja-JP" baseline="-25000" dirty="0">
                    <a:cs typeface="Arial" pitchFamily="34" charset="0"/>
                  </a:rPr>
                  <a:t>18</a:t>
                </a:r>
                <a:r>
                  <a:rPr lang="en-US" altLang="ja-JP" dirty="0">
                    <a:cs typeface="Arial" pitchFamily="34" charset="0"/>
                  </a:rPr>
                  <a:t>H</a:t>
                </a:r>
                <a:r>
                  <a:rPr lang="en-US" altLang="ja-JP" baseline="-25000" dirty="0">
                    <a:cs typeface="Arial" pitchFamily="34" charset="0"/>
                  </a:rPr>
                  <a:t>19</a:t>
                </a:r>
                <a:r>
                  <a:rPr lang="en-US" altLang="ja-JP" dirty="0">
                    <a:cs typeface="Arial" pitchFamily="34" charset="0"/>
                  </a:rPr>
                  <a:t>O</a:t>
                </a:r>
                <a:r>
                  <a:rPr lang="en-US" altLang="ja-JP" baseline="-25000" dirty="0">
                    <a:cs typeface="Arial" pitchFamily="34" charset="0"/>
                  </a:rPr>
                  <a:t>5</a:t>
                </a:r>
                <a:r>
                  <a:rPr lang="en-US" altLang="ja-JP" dirty="0">
                    <a:cs typeface="Arial" pitchFamily="34" charset="0"/>
                  </a:rPr>
                  <a:t>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1.85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</p:grpSp>
        <p:grpSp>
          <p:nvGrpSpPr>
            <p:cNvPr id="89" name="グループ化 88">
              <a:extLst>
                <a:ext uri="{FF2B5EF4-FFF2-40B4-BE49-F238E27FC236}">
                  <a16:creationId xmlns:a16="http://schemas.microsoft.com/office/drawing/2014/main" id="{F740765D-2C2B-2F7C-B3CD-61BECA20D2BE}"/>
                </a:ext>
              </a:extLst>
            </p:cNvPr>
            <p:cNvGrpSpPr/>
            <p:nvPr/>
          </p:nvGrpSpPr>
          <p:grpSpPr>
            <a:xfrm>
              <a:off x="6013917" y="6103629"/>
              <a:ext cx="2660966" cy="646331"/>
              <a:chOff x="6076961" y="5205289"/>
              <a:chExt cx="2660966" cy="646331"/>
            </a:xfrm>
          </p:grpSpPr>
          <p:sp>
            <p:nvSpPr>
              <p:cNvPr id="226" name="テキスト ボックス 150">
                <a:extLst>
                  <a:ext uri="{FF2B5EF4-FFF2-40B4-BE49-F238E27FC236}">
                    <a16:creationId xmlns:a16="http://schemas.microsoft.com/office/drawing/2014/main" id="{A6E03A10-723E-6690-A047-AAEE52FF7B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7297" y="5205289"/>
                <a:ext cx="2300630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Silicon substrate</a:t>
                </a:r>
                <a:r>
                  <a:rPr lang="ja-JP" altLang="en-US" dirty="0">
                    <a:cs typeface="Arial" pitchFamily="34" charset="0"/>
                  </a:rPr>
                  <a:t> </a:t>
                </a:r>
                <a:r>
                  <a:rPr lang="en-US" altLang="ja-JP" dirty="0">
                    <a:cs typeface="Arial" pitchFamily="34" charset="0"/>
                  </a:rPr>
                  <a:t>(Si)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2.329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227" name="正方形/長方形 226">
                <a:extLst>
                  <a:ext uri="{FF2B5EF4-FFF2-40B4-BE49-F238E27FC236}">
                    <a16:creationId xmlns:a16="http://schemas.microsoft.com/office/drawing/2014/main" id="{356F7C6B-2141-557D-B5C9-523D15DB6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1" y="5283042"/>
                <a:ext cx="288000" cy="21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</p:grpSp>
        <p:grpSp>
          <p:nvGrpSpPr>
            <p:cNvPr id="90" name="グループ化 89">
              <a:extLst>
                <a:ext uri="{FF2B5EF4-FFF2-40B4-BE49-F238E27FC236}">
                  <a16:creationId xmlns:a16="http://schemas.microsoft.com/office/drawing/2014/main" id="{14CA5898-5A31-26CB-C29A-29A7FAE93C7C}"/>
                </a:ext>
              </a:extLst>
            </p:cNvPr>
            <p:cNvGrpSpPr/>
            <p:nvPr/>
          </p:nvGrpSpPr>
          <p:grpSpPr>
            <a:xfrm>
              <a:off x="6013918" y="5395989"/>
              <a:ext cx="2037398" cy="646331"/>
              <a:chOff x="6076962" y="4908070"/>
              <a:chExt cx="2037398" cy="646331"/>
            </a:xfrm>
          </p:grpSpPr>
          <p:sp>
            <p:nvSpPr>
              <p:cNvPr id="224" name="テキスト ボックス 150">
                <a:extLst>
                  <a:ext uri="{FF2B5EF4-FFF2-40B4-BE49-F238E27FC236}">
                    <a16:creationId xmlns:a16="http://schemas.microsoft.com/office/drawing/2014/main" id="{F238BACD-57A1-2E11-348B-8DBF3D94CC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7298" y="4908070"/>
                <a:ext cx="1677062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STI (SiO</a:t>
                </a:r>
                <a:r>
                  <a:rPr lang="en-US" altLang="ja-JP" baseline="-25000" dirty="0">
                    <a:cs typeface="Arial" pitchFamily="34" charset="0"/>
                  </a:rPr>
                  <a:t>2</a:t>
                </a:r>
                <a:r>
                  <a:rPr lang="en-US" altLang="ja-JP" dirty="0">
                    <a:cs typeface="Arial" pitchFamily="34" charset="0"/>
                  </a:rPr>
                  <a:t>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2.65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225" name="正方形/長方形 224">
                <a:extLst>
                  <a:ext uri="{FF2B5EF4-FFF2-40B4-BE49-F238E27FC236}">
                    <a16:creationId xmlns:a16="http://schemas.microsoft.com/office/drawing/2014/main" id="{49E8E08F-3325-E0DE-CEB0-17D01CD3E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2" y="4985823"/>
                <a:ext cx="288000" cy="216000"/>
              </a:xfrm>
              <a:prstGeom prst="rect">
                <a:avLst/>
              </a:prstGeom>
              <a:solidFill>
                <a:srgbClr val="BEB76B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</p:grpSp>
        <p:grpSp>
          <p:nvGrpSpPr>
            <p:cNvPr id="91" name="グループ化 90">
              <a:extLst>
                <a:ext uri="{FF2B5EF4-FFF2-40B4-BE49-F238E27FC236}">
                  <a16:creationId xmlns:a16="http://schemas.microsoft.com/office/drawing/2014/main" id="{147A1240-7663-CB04-B242-2B4255ECC8F6}"/>
                </a:ext>
              </a:extLst>
            </p:cNvPr>
            <p:cNvGrpSpPr/>
            <p:nvPr/>
          </p:nvGrpSpPr>
          <p:grpSpPr>
            <a:xfrm>
              <a:off x="6013918" y="3980709"/>
              <a:ext cx="3692294" cy="646331"/>
              <a:chOff x="5926620" y="3643269"/>
              <a:chExt cx="3692294" cy="646331"/>
            </a:xfrm>
          </p:grpSpPr>
          <p:grpSp>
            <p:nvGrpSpPr>
              <p:cNvPr id="220" name="グループ化 219">
                <a:extLst>
                  <a:ext uri="{FF2B5EF4-FFF2-40B4-BE49-F238E27FC236}">
                    <a16:creationId xmlns:a16="http://schemas.microsoft.com/office/drawing/2014/main" id="{39B20562-F9E1-1B5C-7038-7790D0601B5E}"/>
                  </a:ext>
                </a:extLst>
              </p:cNvPr>
              <p:cNvGrpSpPr/>
              <p:nvPr/>
            </p:nvGrpSpPr>
            <p:grpSpPr>
              <a:xfrm>
                <a:off x="5926620" y="3643269"/>
                <a:ext cx="3561294" cy="646331"/>
                <a:chOff x="6076962" y="4008822"/>
                <a:chExt cx="3561294" cy="646331"/>
              </a:xfrm>
            </p:grpSpPr>
            <p:sp>
              <p:nvSpPr>
                <p:cNvPr id="222" name="テキスト ボックス 157">
                  <a:extLst>
                    <a:ext uri="{FF2B5EF4-FFF2-40B4-BE49-F238E27FC236}">
                      <a16:creationId xmlns:a16="http://schemas.microsoft.com/office/drawing/2014/main" id="{DAC179AF-5E2B-FCD3-C50A-16A0670B8C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38341" y="4008822"/>
                  <a:ext cx="3199915" cy="646331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ja-JP" dirty="0">
                      <a:cs typeface="Arial" pitchFamily="34" charset="0"/>
                    </a:rPr>
                    <a:t>Metal layer</a:t>
                  </a:r>
                  <a:r>
                    <a:rPr lang="ja-JP" altLang="en-US" dirty="0">
                      <a:cs typeface="Arial" pitchFamily="34" charset="0"/>
                    </a:rPr>
                    <a:t> </a:t>
                  </a:r>
                  <a:r>
                    <a:rPr lang="en-US" altLang="ja-JP" dirty="0">
                      <a:cs typeface="Arial" pitchFamily="34" charset="0"/>
                    </a:rPr>
                    <a:t>(Cu : SiO</a:t>
                  </a:r>
                  <a:r>
                    <a:rPr lang="en-US" altLang="ja-JP" baseline="-25000" dirty="0">
                      <a:cs typeface="Arial" pitchFamily="34" charset="0"/>
                    </a:rPr>
                    <a:t>2</a:t>
                  </a:r>
                  <a:r>
                    <a:rPr lang="en-US" altLang="ja-JP" dirty="0">
                      <a:cs typeface="Arial" pitchFamily="34" charset="0"/>
                    </a:rPr>
                    <a:t> = 3 : 1)</a:t>
                  </a:r>
                </a:p>
                <a:p>
                  <a:r>
                    <a:rPr lang="en-US" altLang="ja-JP" i="1" dirty="0">
                      <a:cs typeface="Arial" pitchFamily="34" charset="0"/>
                    </a:rPr>
                    <a:t>ρ</a:t>
                  </a:r>
                  <a:r>
                    <a:rPr lang="en-US" altLang="ja-JP" dirty="0">
                      <a:cs typeface="Arial" pitchFamily="34" charset="0"/>
                    </a:rPr>
                    <a:t> = 5.69 g/cm</a:t>
                  </a:r>
                  <a:r>
                    <a:rPr lang="en-US" altLang="ja-JP" baseline="30000" dirty="0">
                      <a:cs typeface="Arial" pitchFamily="34" charset="0"/>
                    </a:rPr>
                    <a:t>3</a:t>
                  </a:r>
                  <a:endParaRPr lang="ja-JP" altLang="en-US" dirty="0">
                    <a:cs typeface="Arial" pitchFamily="34" charset="0"/>
                  </a:endParaRPr>
                </a:p>
              </p:txBody>
            </p:sp>
            <p:sp>
              <p:nvSpPr>
                <p:cNvPr id="223" name="正方形/長方形 222">
                  <a:extLst>
                    <a:ext uri="{FF2B5EF4-FFF2-40B4-BE49-F238E27FC236}">
                      <a16:creationId xmlns:a16="http://schemas.microsoft.com/office/drawing/2014/main" id="{459C58FF-3C16-9CE2-6FE4-556D1A487B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76962" y="4086575"/>
                  <a:ext cx="288000" cy="216000"/>
                </a:xfrm>
                <a:prstGeom prst="rect">
                  <a:avLst/>
                </a:prstGeom>
                <a:solidFill>
                  <a:srgbClr val="D69E7C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ja-JP" altLang="en-US" sz="1200" dirty="0">
                    <a:cs typeface="Arial" pitchFamily="34" charset="0"/>
                  </a:endParaRPr>
                </a:p>
              </p:txBody>
            </p:sp>
          </p:grpSp>
          <p:sp>
            <p:nvSpPr>
              <p:cNvPr id="221" name="テキスト ボックス 220">
                <a:extLst>
                  <a:ext uri="{FF2B5EF4-FFF2-40B4-BE49-F238E27FC236}">
                    <a16:creationId xmlns:a16="http://schemas.microsoft.com/office/drawing/2014/main" id="{119DEC69-DC7A-F781-1454-61A137967524}"/>
                  </a:ext>
                </a:extLst>
              </p:cNvPr>
              <p:cNvSpPr txBox="1"/>
              <p:nvPr/>
            </p:nvSpPr>
            <p:spPr>
              <a:xfrm>
                <a:off x="8509315" y="3930790"/>
                <a:ext cx="11095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600" dirty="0">
                    <a:cs typeface="Arial" pitchFamily="34" charset="0"/>
                  </a:rPr>
                  <a:t>* mol ratio</a:t>
                </a:r>
                <a:endParaRPr kumimoji="1" lang="ja-JP" altLang="en-US" sz="1600" dirty="0"/>
              </a:p>
            </p:txBody>
          </p:sp>
        </p:grpSp>
        <p:grpSp>
          <p:nvGrpSpPr>
            <p:cNvPr id="94" name="グループ化 93">
              <a:extLst>
                <a:ext uri="{FF2B5EF4-FFF2-40B4-BE49-F238E27FC236}">
                  <a16:creationId xmlns:a16="http://schemas.microsoft.com/office/drawing/2014/main" id="{2EBB3E83-C291-A61B-5B47-ECD9994BFB44}"/>
                </a:ext>
              </a:extLst>
            </p:cNvPr>
            <p:cNvGrpSpPr/>
            <p:nvPr/>
          </p:nvGrpSpPr>
          <p:grpSpPr>
            <a:xfrm>
              <a:off x="468491" y="2924682"/>
              <a:ext cx="4612160" cy="1177920"/>
              <a:chOff x="468491" y="2924682"/>
              <a:chExt cx="4612160" cy="1177920"/>
            </a:xfrm>
          </p:grpSpPr>
          <p:cxnSp>
            <p:nvCxnSpPr>
              <p:cNvPr id="217" name="直線矢印コネクタ 216">
                <a:extLst>
                  <a:ext uri="{FF2B5EF4-FFF2-40B4-BE49-F238E27FC236}">
                    <a16:creationId xmlns:a16="http://schemas.microsoft.com/office/drawing/2014/main" id="{CEAE739C-AE12-F7DF-4FB1-1CA595DFA8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3093" y="3382602"/>
                <a:ext cx="0" cy="720000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prstDash val="sysDot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テキスト ボックス 218">
                <a:extLst>
                  <a:ext uri="{FF2B5EF4-FFF2-40B4-BE49-F238E27FC236}">
                    <a16:creationId xmlns:a16="http://schemas.microsoft.com/office/drawing/2014/main" id="{34983DBD-DA42-F232-3620-3AC6FDE88A87}"/>
                  </a:ext>
                </a:extLst>
              </p:cNvPr>
              <p:cNvSpPr txBox="1"/>
              <p:nvPr/>
            </p:nvSpPr>
            <p:spPr>
              <a:xfrm>
                <a:off x="468491" y="2924682"/>
                <a:ext cx="4612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sz="2400" b="1" dirty="0">
                    <a:solidFill>
                      <a:srgbClr val="FFC000"/>
                    </a:solidFill>
                  </a:rPr>
                  <a:t>Direction of source projectiles</a:t>
                </a:r>
                <a:endParaRPr kumimoji="1" lang="ja-JP" altLang="en-US" sz="2400" b="1" dirty="0">
                  <a:solidFill>
                    <a:srgbClr val="FFC000"/>
                  </a:solidFill>
                </a:endParaRPr>
              </a:p>
            </p:txBody>
          </p:sp>
        </p:grpSp>
        <p:grpSp>
          <p:nvGrpSpPr>
            <p:cNvPr id="95" name="グループ化 94">
              <a:extLst>
                <a:ext uri="{FF2B5EF4-FFF2-40B4-BE49-F238E27FC236}">
                  <a16:creationId xmlns:a16="http://schemas.microsoft.com/office/drawing/2014/main" id="{0E32699A-E604-75F2-9D90-7C38071D49E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7525" y="3377178"/>
              <a:ext cx="837540" cy="826448"/>
              <a:chOff x="2349451" y="1962929"/>
              <a:chExt cx="1318560" cy="1301098"/>
            </a:xfrm>
          </p:grpSpPr>
          <p:grpSp>
            <p:nvGrpSpPr>
              <p:cNvPr id="200" name="グループ化 199">
                <a:extLst>
                  <a:ext uri="{FF2B5EF4-FFF2-40B4-BE49-F238E27FC236}">
                    <a16:creationId xmlns:a16="http://schemas.microsoft.com/office/drawing/2014/main" id="{743E33F9-6A19-E9A9-790C-B71A4826E54A}"/>
                  </a:ext>
                </a:extLst>
              </p:cNvPr>
              <p:cNvGrpSpPr/>
              <p:nvPr/>
            </p:nvGrpSpPr>
            <p:grpSpPr>
              <a:xfrm>
                <a:off x="2444011" y="2396359"/>
                <a:ext cx="1224000" cy="720000"/>
                <a:chOff x="6455838" y="295710"/>
                <a:chExt cx="1224000" cy="720000"/>
              </a:xfrm>
            </p:grpSpPr>
            <p:cxnSp>
              <p:nvCxnSpPr>
                <p:cNvPr id="212" name="直線矢印コネクタ 211">
                  <a:extLst>
                    <a:ext uri="{FF2B5EF4-FFF2-40B4-BE49-F238E27FC236}">
                      <a16:creationId xmlns:a16="http://schemas.microsoft.com/office/drawing/2014/main" id="{52867F42-955A-05C0-7F62-3284546B6FD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6959838" y="295710"/>
                  <a:ext cx="0" cy="72000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headEnd type="none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直線矢印コネクタ 212">
                  <a:extLst>
                    <a:ext uri="{FF2B5EF4-FFF2-40B4-BE49-F238E27FC236}">
                      <a16:creationId xmlns:a16="http://schemas.microsoft.com/office/drawing/2014/main" id="{811FA070-BE66-F425-74BF-DBC5347ADF2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5400000">
                  <a:off x="6455838" y="295710"/>
                  <a:ext cx="504000" cy="50400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headEnd type="none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直線矢印コネクタ 213">
                  <a:extLst>
                    <a:ext uri="{FF2B5EF4-FFF2-40B4-BE49-F238E27FC236}">
                      <a16:creationId xmlns:a16="http://schemas.microsoft.com/office/drawing/2014/main" id="{67A63F91-C017-6C33-C0E6-13B31F19258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10800000">
                  <a:off x="6959838" y="295711"/>
                  <a:ext cx="720000" cy="1043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headEnd type="stealt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テキスト ボックス 200">
                <a:extLst>
                  <a:ext uri="{FF2B5EF4-FFF2-40B4-BE49-F238E27FC236}">
                    <a16:creationId xmlns:a16="http://schemas.microsoft.com/office/drawing/2014/main" id="{65AFB119-6B9B-6136-D2F3-6C01C39C3136}"/>
                  </a:ext>
                </a:extLst>
              </p:cNvPr>
              <p:cNvSpPr txBox="1"/>
              <p:nvPr/>
            </p:nvSpPr>
            <p:spPr>
              <a:xfrm>
                <a:off x="3207485" y="1962929"/>
                <a:ext cx="432048" cy="484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400" dirty="0">
                    <a:solidFill>
                      <a:schemeClr val="bg1">
                        <a:lumMod val="50000"/>
                      </a:schemeClr>
                    </a:solidFill>
                  </a:rPr>
                  <a:t>x</a:t>
                </a:r>
                <a:endParaRPr kumimoji="1" lang="ja-JP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2" name="テキスト ボックス 201">
                <a:extLst>
                  <a:ext uri="{FF2B5EF4-FFF2-40B4-BE49-F238E27FC236}">
                    <a16:creationId xmlns:a16="http://schemas.microsoft.com/office/drawing/2014/main" id="{EA5E14DC-1576-1A21-9D45-79B524B5D1FA}"/>
                  </a:ext>
                </a:extLst>
              </p:cNvPr>
              <p:cNvSpPr txBox="1"/>
              <p:nvPr/>
            </p:nvSpPr>
            <p:spPr>
              <a:xfrm>
                <a:off x="2349451" y="2265676"/>
                <a:ext cx="432048" cy="4845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400" dirty="0">
                    <a:solidFill>
                      <a:schemeClr val="bg1">
                        <a:lumMod val="50000"/>
                      </a:schemeClr>
                    </a:solidFill>
                  </a:rPr>
                  <a:t>y</a:t>
                </a:r>
                <a:endParaRPr kumimoji="1" lang="ja-JP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3" name="テキスト ボックス 202">
                <a:extLst>
                  <a:ext uri="{FF2B5EF4-FFF2-40B4-BE49-F238E27FC236}">
                    <a16:creationId xmlns:a16="http://schemas.microsoft.com/office/drawing/2014/main" id="{EC3E5884-B508-CEDB-2788-4DBB8ECD7B68}"/>
                  </a:ext>
                </a:extLst>
              </p:cNvPr>
              <p:cNvSpPr txBox="1"/>
              <p:nvPr/>
            </p:nvSpPr>
            <p:spPr>
              <a:xfrm>
                <a:off x="2949152" y="2779486"/>
                <a:ext cx="432048" cy="484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chemeClr val="bg1">
                        <a:lumMod val="50000"/>
                      </a:schemeClr>
                    </a:solidFill>
                  </a:rPr>
                  <a:t>z</a:t>
                </a:r>
                <a:endParaRPr kumimoji="1" lang="ja-JP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109" name="直線矢印コネクタ 108">
              <a:extLst>
                <a:ext uri="{FF2B5EF4-FFF2-40B4-BE49-F238E27FC236}">
                  <a16:creationId xmlns:a16="http://schemas.microsoft.com/office/drawing/2014/main" id="{F479F6E4-6E26-C4FC-4749-6EEFF297C30E}"/>
                </a:ext>
              </a:extLst>
            </p:cNvPr>
            <p:cNvCxnSpPr/>
            <p:nvPr/>
          </p:nvCxnSpPr>
          <p:spPr>
            <a:xfrm>
              <a:off x="812158" y="6026625"/>
              <a:ext cx="792000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テキスト ボックス 111">
              <a:extLst>
                <a:ext uri="{FF2B5EF4-FFF2-40B4-BE49-F238E27FC236}">
                  <a16:creationId xmlns:a16="http://schemas.microsoft.com/office/drawing/2014/main" id="{FF3173A9-EF58-ECDF-E38A-2B2FEE143981}"/>
                </a:ext>
              </a:extLst>
            </p:cNvPr>
            <p:cNvSpPr txBox="1"/>
            <p:nvPr/>
          </p:nvSpPr>
          <p:spPr>
            <a:xfrm>
              <a:off x="-13493" y="5871972"/>
              <a:ext cx="8803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solidFill>
                    <a:schemeClr val="bg1">
                      <a:lumMod val="50000"/>
                    </a:schemeClr>
                  </a:solidFill>
                </a:rPr>
                <a:t>z = 0 </a:t>
              </a:r>
              <a:r>
                <a:rPr kumimoji="1" lang="el-GR" altLang="ja-JP" sz="1400" dirty="0">
                  <a:solidFill>
                    <a:schemeClr val="bg1">
                      <a:lumMod val="50000"/>
                    </a:schemeClr>
                  </a:solidFill>
                </a:rPr>
                <a:t>μ</a:t>
              </a:r>
              <a:r>
                <a:rPr kumimoji="1" lang="en-US" altLang="ja-JP" sz="1400" dirty="0">
                  <a:solidFill>
                    <a:schemeClr val="bg1">
                      <a:lumMod val="50000"/>
                    </a:schemeClr>
                  </a:solidFill>
                </a:rPr>
                <a:t>m</a:t>
              </a:r>
              <a:endParaRPr kumimoji="1" lang="ja-JP" altLang="en-US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31" name="グループ化 130">
              <a:extLst>
                <a:ext uri="{FF2B5EF4-FFF2-40B4-BE49-F238E27FC236}">
                  <a16:creationId xmlns:a16="http://schemas.microsoft.com/office/drawing/2014/main" id="{28DD03D0-3A7A-DD6E-022D-EBEC7025EE8D}"/>
                </a:ext>
              </a:extLst>
            </p:cNvPr>
            <p:cNvGrpSpPr/>
            <p:nvPr/>
          </p:nvGrpSpPr>
          <p:grpSpPr>
            <a:xfrm>
              <a:off x="4115402" y="4306901"/>
              <a:ext cx="1681473" cy="1555200"/>
              <a:chOff x="4115402" y="4306901"/>
              <a:chExt cx="1681473" cy="1555200"/>
            </a:xfrm>
          </p:grpSpPr>
          <p:sp>
            <p:nvSpPr>
              <p:cNvPr id="187" name="正方形/長方形 186">
                <a:extLst>
                  <a:ext uri="{FF2B5EF4-FFF2-40B4-BE49-F238E27FC236}">
                    <a16:creationId xmlns:a16="http://schemas.microsoft.com/office/drawing/2014/main" id="{9F8AE664-E54D-E823-2C8C-FE547A96D783}"/>
                  </a:ext>
                </a:extLst>
              </p:cNvPr>
              <p:cNvSpPr/>
              <p:nvPr/>
            </p:nvSpPr>
            <p:spPr>
              <a:xfrm>
                <a:off x="4115402" y="4306901"/>
                <a:ext cx="1522799" cy="1555200"/>
              </a:xfrm>
              <a:prstGeom prst="rect">
                <a:avLst/>
              </a:prstGeom>
              <a:solidFill>
                <a:srgbClr val="BEB76B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8" name="直線矢印コネクタ 187">
                <a:extLst>
                  <a:ext uri="{FF2B5EF4-FFF2-40B4-BE49-F238E27FC236}">
                    <a16:creationId xmlns:a16="http://schemas.microsoft.com/office/drawing/2014/main" id="{E1700013-80EE-4F6E-7EE9-718F8E948F9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5142645" y="4961426"/>
                <a:ext cx="0" cy="252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線矢印コネクタ 188">
                <a:extLst>
                  <a:ext uri="{FF2B5EF4-FFF2-40B4-BE49-F238E27FC236}">
                    <a16:creationId xmlns:a16="http://schemas.microsoft.com/office/drawing/2014/main" id="{62500DEA-B2BF-E0D9-C478-ECA2C2DDC2E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696191" y="4890923"/>
                <a:ext cx="36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0" name="テキスト ボックス 34">
                <a:extLst>
                  <a:ext uri="{FF2B5EF4-FFF2-40B4-BE49-F238E27FC236}">
                    <a16:creationId xmlns:a16="http://schemas.microsoft.com/office/drawing/2014/main" id="{9CAB2C62-7497-8533-419E-E6A3ACFE8D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4288" y="4498930"/>
                <a:ext cx="1053098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dirty="0">
                    <a:cs typeface="Times New Roman" panose="02020603050405020304" pitchFamily="18" charset="0"/>
                  </a:rPr>
                  <a:t>0.2 </a:t>
                </a:r>
                <a:r>
                  <a:rPr lang="en-US" altLang="ja-JP" dirty="0" err="1">
                    <a:cs typeface="Times New Roman" panose="02020603050405020304" pitchFamily="18" charset="0"/>
                  </a:rPr>
                  <a:t>μm</a:t>
                </a:r>
                <a:endParaRPr lang="ja-JP" altLang="en-US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191" name="テキスト ボックス 34">
                <a:extLst>
                  <a:ext uri="{FF2B5EF4-FFF2-40B4-BE49-F238E27FC236}">
                    <a16:creationId xmlns:a16="http://schemas.microsoft.com/office/drawing/2014/main" id="{AFEEE919-FC12-365D-178B-CCC615F84A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3777" y="5207576"/>
                <a:ext cx="1053098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dirty="0">
                    <a:cs typeface="Times New Roman" panose="02020603050405020304" pitchFamily="18" charset="0"/>
                  </a:rPr>
                  <a:t>0.1 </a:t>
                </a:r>
                <a:r>
                  <a:rPr lang="en-US" altLang="ja-JP" dirty="0" err="1">
                    <a:cs typeface="Times New Roman" panose="02020603050405020304" pitchFamily="18" charset="0"/>
                  </a:rPr>
                  <a:t>μm</a:t>
                </a:r>
                <a:endParaRPr lang="ja-JP" altLang="en-US" dirty="0"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92" name="グループ化 191">
                <a:extLst>
                  <a:ext uri="{FF2B5EF4-FFF2-40B4-BE49-F238E27FC236}">
                    <a16:creationId xmlns:a16="http://schemas.microsoft.com/office/drawing/2014/main" id="{8ABFFC36-BADB-66A3-CCF4-DA3E41DF1BAF}"/>
                  </a:ext>
                </a:extLst>
              </p:cNvPr>
              <p:cNvGrpSpPr/>
              <p:nvPr/>
            </p:nvGrpSpPr>
            <p:grpSpPr>
              <a:xfrm>
                <a:off x="4696191" y="4958501"/>
                <a:ext cx="361220" cy="252000"/>
                <a:chOff x="4696191" y="4958501"/>
                <a:chExt cx="361220" cy="252000"/>
              </a:xfrm>
            </p:grpSpPr>
            <p:sp>
              <p:nvSpPr>
                <p:cNvPr id="193" name="正方形/長方形 192">
                  <a:extLst>
                    <a:ext uri="{FF2B5EF4-FFF2-40B4-BE49-F238E27FC236}">
                      <a16:creationId xmlns:a16="http://schemas.microsoft.com/office/drawing/2014/main" id="{2291F36D-2A39-0ABD-08BA-4937D84E8228}"/>
                    </a:ext>
                  </a:extLst>
                </p:cNvPr>
                <p:cNvSpPr/>
                <p:nvPr/>
              </p:nvSpPr>
              <p:spPr>
                <a:xfrm>
                  <a:off x="4696191" y="4958501"/>
                  <a:ext cx="361220" cy="25200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127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94" name="直線コネクタ 193">
                  <a:extLst>
                    <a:ext uri="{FF2B5EF4-FFF2-40B4-BE49-F238E27FC236}">
                      <a16:creationId xmlns:a16="http://schemas.microsoft.com/office/drawing/2014/main" id="{725D20C6-9DC7-84E2-B64C-7BD77517D8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6191" y="4958501"/>
                  <a:ext cx="144000" cy="144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線コネクタ 194">
                  <a:extLst>
                    <a:ext uri="{FF2B5EF4-FFF2-40B4-BE49-F238E27FC236}">
                      <a16:creationId xmlns:a16="http://schemas.microsoft.com/office/drawing/2014/main" id="{1677D0EF-00E8-52F9-41DA-17243B674B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6191" y="4958501"/>
                  <a:ext cx="252000" cy="252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直線コネクタ 195">
                  <a:extLst>
                    <a:ext uri="{FF2B5EF4-FFF2-40B4-BE49-F238E27FC236}">
                      <a16:creationId xmlns:a16="http://schemas.microsoft.com/office/drawing/2014/main" id="{ECA3F8D3-2A94-CDAC-9A9A-42184C83DD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05411" y="4958501"/>
                  <a:ext cx="252000" cy="252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直線コネクタ 196">
                  <a:extLst>
                    <a:ext uri="{FF2B5EF4-FFF2-40B4-BE49-F238E27FC236}">
                      <a16:creationId xmlns:a16="http://schemas.microsoft.com/office/drawing/2014/main" id="{A85CF79A-98E9-B512-BCBE-7D3B2628FD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13411" y="5066501"/>
                  <a:ext cx="144000" cy="144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直線コネクタ 197">
                  <a:extLst>
                    <a:ext uri="{FF2B5EF4-FFF2-40B4-BE49-F238E27FC236}">
                      <a16:creationId xmlns:a16="http://schemas.microsoft.com/office/drawing/2014/main" id="{784A391A-A68D-3F05-5791-A024F3DBA6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6191" y="4958501"/>
                  <a:ext cx="36000" cy="36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直線コネクタ 198">
                  <a:extLst>
                    <a:ext uri="{FF2B5EF4-FFF2-40B4-BE49-F238E27FC236}">
                      <a16:creationId xmlns:a16="http://schemas.microsoft.com/office/drawing/2014/main" id="{687D6A33-37FF-797F-150A-FBFEF637ED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21411" y="5174501"/>
                  <a:ext cx="36000" cy="36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2" name="グループ化 131">
              <a:extLst>
                <a:ext uri="{FF2B5EF4-FFF2-40B4-BE49-F238E27FC236}">
                  <a16:creationId xmlns:a16="http://schemas.microsoft.com/office/drawing/2014/main" id="{FF662AD4-D6DA-A932-3879-A71A7BC1C0D8}"/>
                </a:ext>
              </a:extLst>
            </p:cNvPr>
            <p:cNvGrpSpPr/>
            <p:nvPr/>
          </p:nvGrpSpPr>
          <p:grpSpPr>
            <a:xfrm>
              <a:off x="6022191" y="6811268"/>
              <a:ext cx="2866149" cy="646331"/>
              <a:chOff x="6022191" y="6811268"/>
              <a:chExt cx="2866149" cy="646331"/>
            </a:xfrm>
          </p:grpSpPr>
          <p:sp>
            <p:nvSpPr>
              <p:cNvPr id="180" name="テキスト ボックス 150">
                <a:extLst>
                  <a:ext uri="{FF2B5EF4-FFF2-40B4-BE49-F238E27FC236}">
                    <a16:creationId xmlns:a16="http://schemas.microsoft.com/office/drawing/2014/main" id="{FA922A1A-4431-4AAD-FC60-FA79944D39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2526" y="6811268"/>
                <a:ext cx="2505814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b="1" dirty="0">
                    <a:solidFill>
                      <a:srgbClr val="FF0000"/>
                    </a:solidFill>
                    <a:cs typeface="Arial" pitchFamily="34" charset="0"/>
                  </a:rPr>
                  <a:t>Sensitive volume</a:t>
                </a:r>
                <a:r>
                  <a:rPr lang="ja-JP" altLang="en-US" b="1" dirty="0">
                    <a:solidFill>
                      <a:srgbClr val="FF0000"/>
                    </a:solidFill>
                    <a:cs typeface="Arial" pitchFamily="34" charset="0"/>
                  </a:rPr>
                  <a:t> </a:t>
                </a:r>
                <a:r>
                  <a:rPr lang="en-US" altLang="ja-JP" b="1" dirty="0">
                    <a:solidFill>
                      <a:srgbClr val="FF0000"/>
                    </a:solidFill>
                    <a:cs typeface="Arial" pitchFamily="34" charset="0"/>
                  </a:rPr>
                  <a:t>(Si)</a:t>
                </a:r>
              </a:p>
              <a:p>
                <a:r>
                  <a:rPr lang="en-US" altLang="ja-JP" b="1" i="1" dirty="0">
                    <a:solidFill>
                      <a:srgbClr val="FF0000"/>
                    </a:solidFill>
                    <a:cs typeface="Arial" pitchFamily="34" charset="0"/>
                  </a:rPr>
                  <a:t>ρ</a:t>
                </a:r>
                <a:r>
                  <a:rPr lang="en-US" altLang="ja-JP" b="1" dirty="0">
                    <a:solidFill>
                      <a:srgbClr val="FF0000"/>
                    </a:solidFill>
                    <a:cs typeface="Arial" pitchFamily="34" charset="0"/>
                  </a:rPr>
                  <a:t> = 2.329 g/cm</a:t>
                </a:r>
                <a:r>
                  <a:rPr lang="en-US" altLang="ja-JP" b="1" baseline="30000" dirty="0">
                    <a:solidFill>
                      <a:srgbClr val="FF0000"/>
                    </a:solidFill>
                    <a:cs typeface="Arial" pitchFamily="34" charset="0"/>
                  </a:rPr>
                  <a:t>3</a:t>
                </a:r>
                <a:endParaRPr lang="ja-JP" altLang="en-US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  <p:grpSp>
            <p:nvGrpSpPr>
              <p:cNvPr id="181" name="グループ化 180">
                <a:extLst>
                  <a:ext uri="{FF2B5EF4-FFF2-40B4-BE49-F238E27FC236}">
                    <a16:creationId xmlns:a16="http://schemas.microsoft.com/office/drawing/2014/main" id="{2D729E04-A3F6-CB8D-A896-97957FF7B7D9}"/>
                  </a:ext>
                </a:extLst>
              </p:cNvPr>
              <p:cNvGrpSpPr/>
              <p:nvPr/>
            </p:nvGrpSpPr>
            <p:grpSpPr>
              <a:xfrm>
                <a:off x="6022191" y="6889021"/>
                <a:ext cx="288000" cy="216000"/>
                <a:chOff x="6022191" y="6889021"/>
                <a:chExt cx="288000" cy="216000"/>
              </a:xfrm>
            </p:grpSpPr>
            <p:sp>
              <p:nvSpPr>
                <p:cNvPr id="182" name="正方形/長方形 181">
                  <a:extLst>
                    <a:ext uri="{FF2B5EF4-FFF2-40B4-BE49-F238E27FC236}">
                      <a16:creationId xmlns:a16="http://schemas.microsoft.com/office/drawing/2014/main" id="{CEC79B87-8775-FA0B-24D4-9BD00A4EEA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22191" y="6889021"/>
                  <a:ext cx="288000" cy="216000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ja-JP" altLang="en-US" sz="1200" dirty="0">
                    <a:cs typeface="Arial" pitchFamily="34" charset="0"/>
                  </a:endParaRPr>
                </a:p>
              </p:txBody>
            </p:sp>
            <p:cxnSp>
              <p:nvCxnSpPr>
                <p:cNvPr id="183" name="直線コネクタ 182">
                  <a:extLst>
                    <a:ext uri="{FF2B5EF4-FFF2-40B4-BE49-F238E27FC236}">
                      <a16:creationId xmlns:a16="http://schemas.microsoft.com/office/drawing/2014/main" id="{F77738ED-2A91-BCA9-EB19-95BF4FD7B4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22191" y="6889021"/>
                  <a:ext cx="86400" cy="864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直線コネクタ 183">
                  <a:extLst>
                    <a:ext uri="{FF2B5EF4-FFF2-40B4-BE49-F238E27FC236}">
                      <a16:creationId xmlns:a16="http://schemas.microsoft.com/office/drawing/2014/main" id="{F2729693-D232-4838-DD1A-6B47229745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22191" y="6889021"/>
                  <a:ext cx="194400" cy="1944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直線コネクタ 184">
                  <a:extLst>
                    <a:ext uri="{FF2B5EF4-FFF2-40B4-BE49-F238E27FC236}">
                      <a16:creationId xmlns:a16="http://schemas.microsoft.com/office/drawing/2014/main" id="{742D3E37-AFEA-3378-1513-8DA3CD14D3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15791" y="6910621"/>
                  <a:ext cx="194400" cy="1944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直線コネクタ 185">
                  <a:extLst>
                    <a:ext uri="{FF2B5EF4-FFF2-40B4-BE49-F238E27FC236}">
                      <a16:creationId xmlns:a16="http://schemas.microsoft.com/office/drawing/2014/main" id="{2D1EB57B-A23C-DE6C-AB18-E7639D2EC7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223791" y="7018621"/>
                  <a:ext cx="86400" cy="864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3" name="グループ化 132">
              <a:extLst>
                <a:ext uri="{FF2B5EF4-FFF2-40B4-BE49-F238E27FC236}">
                  <a16:creationId xmlns:a16="http://schemas.microsoft.com/office/drawing/2014/main" id="{24625FCF-CB2C-6285-7241-6AD58E6AAD63}"/>
                </a:ext>
              </a:extLst>
            </p:cNvPr>
            <p:cNvGrpSpPr/>
            <p:nvPr/>
          </p:nvGrpSpPr>
          <p:grpSpPr>
            <a:xfrm>
              <a:off x="4115401" y="6024927"/>
              <a:ext cx="1627018" cy="1212778"/>
              <a:chOff x="4115401" y="6024927"/>
              <a:chExt cx="1627018" cy="1212778"/>
            </a:xfrm>
          </p:grpSpPr>
          <p:sp>
            <p:nvSpPr>
              <p:cNvPr id="165" name="正方形/長方形 164">
                <a:extLst>
                  <a:ext uri="{FF2B5EF4-FFF2-40B4-BE49-F238E27FC236}">
                    <a16:creationId xmlns:a16="http://schemas.microsoft.com/office/drawing/2014/main" id="{61089861-AFE0-8254-5E38-AFCA13483F82}"/>
                  </a:ext>
                </a:extLst>
              </p:cNvPr>
              <p:cNvSpPr/>
              <p:nvPr/>
            </p:nvSpPr>
            <p:spPr>
              <a:xfrm>
                <a:off x="4115401" y="6222605"/>
                <a:ext cx="1522800" cy="10151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166" name="正方形/長方形 165">
                <a:extLst>
                  <a:ext uri="{FF2B5EF4-FFF2-40B4-BE49-F238E27FC236}">
                    <a16:creationId xmlns:a16="http://schemas.microsoft.com/office/drawing/2014/main" id="{97DEB882-B29D-6844-5219-36F6CAD3F893}"/>
                  </a:ext>
                </a:extLst>
              </p:cNvPr>
              <p:cNvSpPr/>
              <p:nvPr/>
            </p:nvSpPr>
            <p:spPr>
              <a:xfrm>
                <a:off x="4115402" y="6024927"/>
                <a:ext cx="1522799" cy="241205"/>
              </a:xfrm>
              <a:prstGeom prst="rect">
                <a:avLst/>
              </a:prstGeom>
              <a:solidFill>
                <a:srgbClr val="BEB76B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7" name="直線矢印コネクタ 166">
                <a:extLst>
                  <a:ext uri="{FF2B5EF4-FFF2-40B4-BE49-F238E27FC236}">
                    <a16:creationId xmlns:a16="http://schemas.microsoft.com/office/drawing/2014/main" id="{024B450E-FB09-EAD0-0658-61263240FDA8}"/>
                  </a:ext>
                </a:extLst>
              </p:cNvPr>
              <p:cNvCxnSpPr/>
              <p:nvPr/>
            </p:nvCxnSpPr>
            <p:spPr bwMode="auto">
              <a:xfrm flipV="1">
                <a:off x="5218845" y="6038117"/>
                <a:ext cx="0" cy="540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8" name="グループ化 167">
                <a:extLst>
                  <a:ext uri="{FF2B5EF4-FFF2-40B4-BE49-F238E27FC236}">
                    <a16:creationId xmlns:a16="http://schemas.microsoft.com/office/drawing/2014/main" id="{35B0190B-B737-7F31-E3C4-2A8892CAB467}"/>
                  </a:ext>
                </a:extLst>
              </p:cNvPr>
              <p:cNvGrpSpPr/>
              <p:nvPr/>
            </p:nvGrpSpPr>
            <p:grpSpPr>
              <a:xfrm>
                <a:off x="4692880" y="6024927"/>
                <a:ext cx="364531" cy="582479"/>
                <a:chOff x="4692880" y="6024927"/>
                <a:chExt cx="364531" cy="582479"/>
              </a:xfrm>
            </p:grpSpPr>
            <p:sp>
              <p:nvSpPr>
                <p:cNvPr id="170" name="正方形/長方形 169">
                  <a:extLst>
                    <a:ext uri="{FF2B5EF4-FFF2-40B4-BE49-F238E27FC236}">
                      <a16:creationId xmlns:a16="http://schemas.microsoft.com/office/drawing/2014/main" id="{0BCD9656-E15C-1BA0-C84C-42C843669647}"/>
                    </a:ext>
                  </a:extLst>
                </p:cNvPr>
                <p:cNvSpPr/>
                <p:nvPr/>
              </p:nvSpPr>
              <p:spPr>
                <a:xfrm>
                  <a:off x="4696191" y="6024927"/>
                  <a:ext cx="361220" cy="579317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127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71" name="直線コネクタ 170">
                  <a:extLst>
                    <a:ext uri="{FF2B5EF4-FFF2-40B4-BE49-F238E27FC236}">
                      <a16:creationId xmlns:a16="http://schemas.microsoft.com/office/drawing/2014/main" id="{795FF218-DFFD-24B4-93E7-56A8EB72AD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7411" y="6024927"/>
                  <a:ext cx="360000" cy="360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直線コネクタ 171">
                  <a:extLst>
                    <a:ext uri="{FF2B5EF4-FFF2-40B4-BE49-F238E27FC236}">
                      <a16:creationId xmlns:a16="http://schemas.microsoft.com/office/drawing/2014/main" id="{8EE90DE0-E8C6-0E14-B34E-BD83B53EFD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7011" y="6134585"/>
                  <a:ext cx="360000" cy="360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直線コネクタ 172">
                  <a:extLst>
                    <a:ext uri="{FF2B5EF4-FFF2-40B4-BE49-F238E27FC236}">
                      <a16:creationId xmlns:a16="http://schemas.microsoft.com/office/drawing/2014/main" id="{F2ADA861-4C00-19F6-B85A-92EF951924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2880" y="6247406"/>
                  <a:ext cx="360000" cy="360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直線コネクタ 173">
                  <a:extLst>
                    <a:ext uri="{FF2B5EF4-FFF2-40B4-BE49-F238E27FC236}">
                      <a16:creationId xmlns:a16="http://schemas.microsoft.com/office/drawing/2014/main" id="{284EA302-D8BB-61BF-2E66-1B0D6985FE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05411" y="6352244"/>
                  <a:ext cx="252000" cy="252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直線コネクタ 174">
                  <a:extLst>
                    <a:ext uri="{FF2B5EF4-FFF2-40B4-BE49-F238E27FC236}">
                      <a16:creationId xmlns:a16="http://schemas.microsoft.com/office/drawing/2014/main" id="{084212C2-B8A9-1F49-EED2-504ECBD512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13411" y="6460244"/>
                  <a:ext cx="144000" cy="144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線コネクタ 175">
                  <a:extLst>
                    <a:ext uri="{FF2B5EF4-FFF2-40B4-BE49-F238E27FC236}">
                      <a16:creationId xmlns:a16="http://schemas.microsoft.com/office/drawing/2014/main" id="{F7BD011B-D92B-5026-745F-7A2A5A0ED5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21411" y="6568244"/>
                  <a:ext cx="36000" cy="36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直線コネクタ 176">
                  <a:extLst>
                    <a:ext uri="{FF2B5EF4-FFF2-40B4-BE49-F238E27FC236}">
                      <a16:creationId xmlns:a16="http://schemas.microsoft.com/office/drawing/2014/main" id="{8145CB54-60E9-8E78-FC6D-97BF4EA17E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6191" y="6024927"/>
                  <a:ext cx="144000" cy="144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直線コネクタ 177">
                  <a:extLst>
                    <a:ext uri="{FF2B5EF4-FFF2-40B4-BE49-F238E27FC236}">
                      <a16:creationId xmlns:a16="http://schemas.microsoft.com/office/drawing/2014/main" id="{5C3E083D-81D3-28AF-0F76-5B4B720C15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6191" y="6024927"/>
                  <a:ext cx="252000" cy="252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直線コネクタ 178">
                  <a:extLst>
                    <a:ext uri="{FF2B5EF4-FFF2-40B4-BE49-F238E27FC236}">
                      <a16:creationId xmlns:a16="http://schemas.microsoft.com/office/drawing/2014/main" id="{50D3DC47-6A49-DE0E-2196-AD04626BBD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6191" y="6024927"/>
                  <a:ext cx="36000" cy="36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9" name="テキスト ボックス 34">
                <a:extLst>
                  <a:ext uri="{FF2B5EF4-FFF2-40B4-BE49-F238E27FC236}">
                    <a16:creationId xmlns:a16="http://schemas.microsoft.com/office/drawing/2014/main" id="{817A580C-A050-280F-641C-59A09194DB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9321" y="6612973"/>
                <a:ext cx="1053098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dirty="0">
                    <a:cs typeface="Times New Roman" panose="02020603050405020304" pitchFamily="18" charset="0"/>
                  </a:rPr>
                  <a:t>0.5 </a:t>
                </a:r>
                <a:r>
                  <a:rPr lang="en-US" altLang="ja-JP" dirty="0" err="1">
                    <a:cs typeface="Times New Roman" panose="02020603050405020304" pitchFamily="18" charset="0"/>
                  </a:rPr>
                  <a:t>μm</a:t>
                </a:r>
                <a:endParaRPr lang="ja-JP" altLang="en-US" dirty="0"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58" name="テキスト ボックス 257">
            <a:extLst>
              <a:ext uri="{FF2B5EF4-FFF2-40B4-BE49-F238E27FC236}">
                <a16:creationId xmlns:a16="http://schemas.microsoft.com/office/drawing/2014/main" id="{8E73D714-0A71-A069-1336-73D72865B31B}"/>
              </a:ext>
            </a:extLst>
          </p:cNvPr>
          <p:cNvSpPr txBox="1"/>
          <p:nvPr/>
        </p:nvSpPr>
        <p:spPr>
          <a:xfrm>
            <a:off x="170678" y="742358"/>
            <a:ext cx="71699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Define the </a:t>
            </a:r>
            <a:r>
              <a:rPr lang="en-US" altLang="ja-JP" sz="3200" dirty="0">
                <a:solidFill>
                  <a:srgbClr val="FF0000"/>
                </a:solidFill>
              </a:rPr>
              <a:t>sensitive volume (cell 10)</a:t>
            </a:r>
            <a:r>
              <a:rPr lang="en-US" altLang="ja-JP" sz="3200" dirty="0"/>
              <a:t> in the silicon substrate</a:t>
            </a:r>
            <a:endParaRPr kumimoji="1" lang="ja-JP" altLang="en-US" sz="3200" dirty="0"/>
          </a:p>
        </p:txBody>
      </p:sp>
      <p:sp>
        <p:nvSpPr>
          <p:cNvPr id="259" name="テキスト ボックス 258">
            <a:extLst>
              <a:ext uri="{FF2B5EF4-FFF2-40B4-BE49-F238E27FC236}">
                <a16:creationId xmlns:a16="http://schemas.microsoft.com/office/drawing/2014/main" id="{E91394CF-804D-3862-0B89-0A3B140300F1}"/>
              </a:ext>
            </a:extLst>
          </p:cNvPr>
          <p:cNvSpPr txBox="1"/>
          <p:nvPr/>
        </p:nvSpPr>
        <p:spPr>
          <a:xfrm>
            <a:off x="170678" y="1911372"/>
            <a:ext cx="54675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Check the geometry by PHIG-3D and/or [T-Track]</a:t>
            </a:r>
            <a:endParaRPr kumimoji="1" lang="ja-JP" altLang="en-US" sz="3200" dirty="0"/>
          </a:p>
        </p:txBody>
      </p:sp>
      <p:sp>
        <p:nvSpPr>
          <p:cNvPr id="204" name="テキスト ボックス 203">
            <a:extLst>
              <a:ext uri="{FF2B5EF4-FFF2-40B4-BE49-F238E27FC236}">
                <a16:creationId xmlns:a16="http://schemas.microsoft.com/office/drawing/2014/main" id="{3915CF59-7384-F224-582D-C591AA385DD8}"/>
              </a:ext>
            </a:extLst>
          </p:cNvPr>
          <p:cNvSpPr txBox="1"/>
          <p:nvPr/>
        </p:nvSpPr>
        <p:spPr>
          <a:xfrm>
            <a:off x="7613745" y="866894"/>
            <a:ext cx="20718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[ S u r f a c e ]</a:t>
            </a:r>
          </a:p>
          <a:p>
            <a:r>
              <a:rPr kumimoji="1" lang="en-US" altLang="ja-JP" sz="1600" dirty="0"/>
              <a:t>   21  </a:t>
            </a:r>
            <a:r>
              <a:rPr kumimoji="1" lang="en-US" altLang="ja-JP" sz="1600" dirty="0" err="1"/>
              <a:t>px</a:t>
            </a:r>
            <a:r>
              <a:rPr kumimoji="1" lang="en-US" altLang="ja-JP" sz="1600" dirty="0"/>
              <a:t>    -0.05e-4</a:t>
            </a:r>
          </a:p>
          <a:p>
            <a:r>
              <a:rPr kumimoji="1" lang="en-US" altLang="ja-JP" sz="1600" dirty="0"/>
              <a:t>   22  </a:t>
            </a:r>
            <a:r>
              <a:rPr kumimoji="1" lang="en-US" altLang="ja-JP" sz="1600" dirty="0" err="1"/>
              <a:t>px</a:t>
            </a:r>
            <a:r>
              <a:rPr kumimoji="1" lang="en-US" altLang="ja-JP" sz="1600" dirty="0"/>
              <a:t>     0.05e-4</a:t>
            </a:r>
          </a:p>
          <a:p>
            <a:r>
              <a:rPr kumimoji="1" lang="en-US" altLang="ja-JP" sz="1600" dirty="0"/>
              <a:t>   23  </a:t>
            </a:r>
            <a:r>
              <a:rPr kumimoji="1" lang="en-US" altLang="ja-JP" sz="1600" dirty="0" err="1"/>
              <a:t>py</a:t>
            </a:r>
            <a:r>
              <a:rPr kumimoji="1" lang="en-US" altLang="ja-JP" sz="1600" dirty="0"/>
              <a:t>    -0.10e-4</a:t>
            </a:r>
          </a:p>
          <a:p>
            <a:r>
              <a:rPr kumimoji="1" lang="en-US" altLang="ja-JP" sz="1600" dirty="0"/>
              <a:t>   24  </a:t>
            </a:r>
            <a:r>
              <a:rPr kumimoji="1" lang="en-US" altLang="ja-JP" sz="1600" dirty="0" err="1"/>
              <a:t>py</a:t>
            </a:r>
            <a:r>
              <a:rPr kumimoji="1" lang="en-US" altLang="ja-JP" sz="1600" dirty="0"/>
              <a:t>     0.10e-4</a:t>
            </a:r>
          </a:p>
          <a:p>
            <a:endParaRPr lang="en-US" altLang="ja-JP" sz="1600" dirty="0"/>
          </a:p>
          <a:p>
            <a:r>
              <a:rPr kumimoji="1" lang="en-US" altLang="ja-JP" sz="1600" dirty="0"/>
              <a:t>     4  </a:t>
            </a:r>
            <a:r>
              <a:rPr kumimoji="1" lang="en-US" altLang="ja-JP" sz="1600" dirty="0" err="1"/>
              <a:t>pz</a:t>
            </a:r>
            <a:r>
              <a:rPr kumimoji="1" lang="en-US" altLang="ja-JP" sz="1600" dirty="0"/>
              <a:t>     0.00e-4</a:t>
            </a:r>
          </a:p>
          <a:p>
            <a:r>
              <a:rPr kumimoji="1" lang="en-US" altLang="ja-JP" sz="1600" dirty="0"/>
              <a:t>     6  </a:t>
            </a:r>
            <a:r>
              <a:rPr kumimoji="1" lang="en-US" altLang="ja-JP" sz="1600" dirty="0" err="1"/>
              <a:t>pz</a:t>
            </a:r>
            <a:r>
              <a:rPr kumimoji="1" lang="en-US" altLang="ja-JP" sz="1600" dirty="0"/>
              <a:t>     0.50e-4</a:t>
            </a:r>
            <a:endParaRPr kumimoji="1" lang="ja-JP" altLang="en-US" sz="1600" dirty="0"/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BEF6BCC3-312D-3121-89F2-BAA160002AA3}"/>
              </a:ext>
            </a:extLst>
          </p:cNvPr>
          <p:cNvSpPr/>
          <p:nvPr/>
        </p:nvSpPr>
        <p:spPr>
          <a:xfrm>
            <a:off x="7576710" y="841172"/>
            <a:ext cx="2145924" cy="217510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D9A4301A-B129-DB99-ED3B-72A2E88AF659}"/>
              </a:ext>
            </a:extLst>
          </p:cNvPr>
          <p:cNvGrpSpPr/>
          <p:nvPr/>
        </p:nvGrpSpPr>
        <p:grpSpPr>
          <a:xfrm>
            <a:off x="189916" y="170727"/>
            <a:ext cx="5422729" cy="3310704"/>
            <a:chOff x="1927557" y="1602297"/>
            <a:chExt cx="5422729" cy="3310704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36F52EEC-012C-1F5B-5A1A-B5483B3880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7406" t="15776" r="18695" b="31994"/>
            <a:stretch/>
          </p:blipFill>
          <p:spPr>
            <a:xfrm>
              <a:off x="1927557" y="1602297"/>
              <a:ext cx="5296930" cy="3310704"/>
            </a:xfrm>
            <a:prstGeom prst="rect">
              <a:avLst/>
            </a:prstGeom>
          </p:spPr>
        </p:pic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E44BE0DD-A95B-7981-6D9C-3452B86D13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84864" y="2710247"/>
              <a:ext cx="922637" cy="939114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650281A-24F0-5B91-0B84-56BE3C10B661}"/>
                </a:ext>
              </a:extLst>
            </p:cNvPr>
            <p:cNvSpPr txBox="1"/>
            <p:nvPr/>
          </p:nvSpPr>
          <p:spPr>
            <a:xfrm>
              <a:off x="4567152" y="2201353"/>
              <a:ext cx="27831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rgbClr val="FFFF00"/>
                  </a:solidFill>
                </a:rPr>
                <a:t>Sensitive volume</a:t>
              </a:r>
              <a:endParaRPr kumimoji="1" lang="ja-JP" altLang="en-US" sz="2400" b="1" dirty="0">
                <a:solidFill>
                  <a:srgbClr val="FFFF00"/>
                </a:solidFill>
              </a:endParaRPr>
            </a:p>
          </p:txBody>
        </p:sp>
      </p:grpSp>
      <p:pic>
        <p:nvPicPr>
          <p:cNvPr id="3" name="図 2">
            <a:extLst>
              <a:ext uri="{FF2B5EF4-FFF2-40B4-BE49-F238E27FC236}">
                <a16:creationId xmlns:a16="http://schemas.microsoft.com/office/drawing/2014/main" id="{86D2B9EF-A195-4E5A-726F-92129056E0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23" t="24661" r="16238" b="8998"/>
          <a:stretch/>
        </p:blipFill>
        <p:spPr>
          <a:xfrm>
            <a:off x="4333103" y="3656235"/>
            <a:ext cx="5582773" cy="3833420"/>
          </a:xfrm>
          <a:prstGeom prst="rect">
            <a:avLst/>
          </a:prstGeom>
        </p:spPr>
      </p:pic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D5DD9B8A-CDBC-AEDD-E87B-A01C99FE37AA}"/>
              </a:ext>
            </a:extLst>
          </p:cNvPr>
          <p:cNvCxnSpPr>
            <a:cxnSpLocks/>
          </p:cNvCxnSpPr>
          <p:nvPr/>
        </p:nvCxnSpPr>
        <p:spPr>
          <a:xfrm flipH="1">
            <a:off x="6786104" y="4342057"/>
            <a:ext cx="922637" cy="93911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4B114B6-1D9A-2172-8BA3-AC3D13232632}"/>
              </a:ext>
            </a:extLst>
          </p:cNvPr>
          <p:cNvSpPr txBox="1"/>
          <p:nvPr/>
        </p:nvSpPr>
        <p:spPr>
          <a:xfrm>
            <a:off x="5401925" y="3856023"/>
            <a:ext cx="2698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/>
              <a:t>Sensitive volume</a:t>
            </a:r>
            <a:endParaRPr kumimoji="1" lang="ja-JP" altLang="en-US" sz="2400" b="1" dirty="0"/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559793A7-2537-309A-0685-90693DC00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5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C890535-C43D-4D9E-DFA8-5B20C9BE7DDF}"/>
              </a:ext>
            </a:extLst>
          </p:cNvPr>
          <p:cNvSpPr txBox="1"/>
          <p:nvPr/>
        </p:nvSpPr>
        <p:spPr>
          <a:xfrm>
            <a:off x="5672540" y="1000615"/>
            <a:ext cx="410881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it-IT" altLang="ja-JP" dirty="0"/>
              <a:t>[ C e l l ]</a:t>
            </a:r>
          </a:p>
          <a:p>
            <a:r>
              <a:rPr lang="ja-JP" altLang="en-US" dirty="0"/>
              <a:t>   </a:t>
            </a:r>
            <a:r>
              <a:rPr lang="en-US" altLang="ja-JP" dirty="0"/>
              <a:t>…</a:t>
            </a:r>
            <a:endParaRPr kumimoji="1" lang="it-IT" altLang="ja-JP" dirty="0"/>
          </a:p>
          <a:p>
            <a:r>
              <a:rPr kumimoji="1" lang="it-IT" altLang="ja-JP" dirty="0"/>
              <a:t>    5   1  -2.329    11 -12  13 -14   5  -7</a:t>
            </a:r>
          </a:p>
          <a:p>
            <a:r>
              <a:rPr kumimoji="1" lang="it-IT" altLang="ja-JP" dirty="0"/>
              <a:t>                        </a:t>
            </a:r>
            <a:r>
              <a:rPr kumimoji="1" lang="it-IT" altLang="ja-JP" dirty="0">
                <a:solidFill>
                  <a:srgbClr val="FF0000"/>
                </a:solidFill>
              </a:rPr>
              <a:t>#(21 -22  23 -24   5  -6)</a:t>
            </a:r>
            <a:endParaRPr kumimoji="1" lang="it-IT" altLang="ja-JP" dirty="0"/>
          </a:p>
          <a:p>
            <a:r>
              <a:rPr kumimoji="1" lang="it-IT" altLang="ja-JP" dirty="0">
                <a:solidFill>
                  <a:srgbClr val="FF0000"/>
                </a:solidFill>
              </a:rPr>
              <a:t>  10   1  -2.329   (21 -22  23 -24   4  -6)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CDE7BAD-F385-5956-514E-4BA4581F0803}"/>
              </a:ext>
            </a:extLst>
          </p:cNvPr>
          <p:cNvSpPr/>
          <p:nvPr/>
        </p:nvSpPr>
        <p:spPr>
          <a:xfrm>
            <a:off x="5613817" y="922788"/>
            <a:ext cx="4302059" cy="166940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4006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8A52E-CECB-6111-7F14-10215D843B4C}"/>
              </a:ext>
            </a:extLst>
          </p:cNvPr>
          <p:cNvSpPr txBox="1"/>
          <p:nvPr/>
        </p:nvSpPr>
        <p:spPr>
          <a:xfrm>
            <a:off x="475617" y="0"/>
            <a:ext cx="91294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dirty="0">
                <a:solidFill>
                  <a:schemeClr val="tx2"/>
                </a:solidFill>
              </a:rPr>
              <a:t>Step 2: Calculation of ion-irradiation</a:t>
            </a:r>
            <a:endParaRPr kumimoji="1" lang="ja-JP" altLang="en-US" sz="4400" dirty="0">
              <a:solidFill>
                <a:schemeClr val="tx2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73D714-0A71-A069-1336-73D72865B31B}"/>
              </a:ext>
            </a:extLst>
          </p:cNvPr>
          <p:cNvSpPr txBox="1"/>
          <p:nvPr/>
        </p:nvSpPr>
        <p:spPr>
          <a:xfrm>
            <a:off x="88617" y="1195566"/>
            <a:ext cx="96276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dirty="0"/>
              <a:t>Define [Source] section to irradiate </a:t>
            </a:r>
            <a:r>
              <a:rPr lang="en-US" altLang="ja-JP" sz="2800" baseline="30000" dirty="0"/>
              <a:t>4</a:t>
            </a:r>
            <a:r>
              <a:rPr lang="en-US" altLang="ja-JP" sz="2800" dirty="0"/>
              <a:t>He ions with the energy of 10MeV/n on the device from the package side uniformly and </a:t>
            </a:r>
            <a:r>
              <a:rPr kumimoji="1" lang="en-US" altLang="ja-JP" sz="2800" dirty="0"/>
              <a:t>vertically </a:t>
            </a:r>
            <a:endParaRPr kumimoji="1" lang="ja-JP" altLang="en-US" sz="28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C9573FD-11DC-1532-B52D-AECDC50A829C}"/>
              </a:ext>
            </a:extLst>
          </p:cNvPr>
          <p:cNvSpPr txBox="1"/>
          <p:nvPr/>
        </p:nvSpPr>
        <p:spPr>
          <a:xfrm>
            <a:off x="88616" y="2727204"/>
            <a:ext cx="96276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dirty="0"/>
              <a:t>Change the parameter of [T-Deposit] section to score the variance of deposition energies in the sensitive volume (Cell 10) by individual history</a:t>
            </a:r>
            <a:endParaRPr kumimoji="1" lang="ja-JP" altLang="en-US" sz="2800" dirty="0"/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2D4FB93D-FD65-6A2C-405C-303722345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6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EB278A1-691C-FFCC-C2E1-BE1A22810B3F}"/>
              </a:ext>
            </a:extLst>
          </p:cNvPr>
          <p:cNvSpPr txBox="1"/>
          <p:nvPr/>
        </p:nvSpPr>
        <p:spPr>
          <a:xfrm>
            <a:off x="88616" y="4258842"/>
            <a:ext cx="9730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dirty="0"/>
              <a:t>Change “</a:t>
            </a:r>
            <a:r>
              <a:rPr lang="en-US" altLang="ja-JP" sz="2800" dirty="0" err="1"/>
              <a:t>icntl</a:t>
            </a:r>
            <a:r>
              <a:rPr lang="en-US" altLang="ja-JP" sz="2800" dirty="0"/>
              <a:t>=0”, run PHITS and check results</a:t>
            </a:r>
          </a:p>
        </p:txBody>
      </p:sp>
    </p:spTree>
    <p:extLst>
      <p:ext uri="{BB962C8B-B14F-4D97-AF65-F5344CB8AC3E}">
        <p14:creationId xmlns:p14="http://schemas.microsoft.com/office/powerpoint/2010/main" val="3166314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0DEF2583-8CF1-B68E-B5AB-3C07B6B06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7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0E4DEB-C586-C583-1A4D-B75598708A1A}"/>
              </a:ext>
            </a:extLst>
          </p:cNvPr>
          <p:cNvSpPr txBox="1"/>
          <p:nvPr/>
        </p:nvSpPr>
        <p:spPr>
          <a:xfrm>
            <a:off x="940324" y="508066"/>
            <a:ext cx="193514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it-IT" altLang="ja-JP" dirty="0"/>
              <a:t>[ S o u r c e ]</a:t>
            </a:r>
          </a:p>
          <a:p>
            <a:r>
              <a:rPr lang="en-US" altLang="ja-JP" dirty="0"/>
              <a:t> s-type =   2</a:t>
            </a:r>
          </a:p>
          <a:p>
            <a:r>
              <a:rPr lang="en-US" altLang="ja-JP" dirty="0"/>
              <a:t>     </a:t>
            </a:r>
            <a:r>
              <a:rPr lang="en-US" altLang="ja-JP" dirty="0" err="1"/>
              <a:t>proj</a:t>
            </a:r>
            <a:r>
              <a:rPr lang="en-US" altLang="ja-JP" dirty="0"/>
              <a:t> =   </a:t>
            </a:r>
            <a:r>
              <a:rPr lang="en-US" altLang="ja-JP" dirty="0">
                <a:solidFill>
                  <a:srgbClr val="FF0000"/>
                </a:solidFill>
              </a:rPr>
              <a:t>4He</a:t>
            </a:r>
          </a:p>
          <a:p>
            <a:r>
              <a:rPr lang="en-US" altLang="ja-JP" dirty="0"/>
              <a:t>       e0 =  </a:t>
            </a:r>
            <a:r>
              <a:rPr lang="en-US" altLang="ja-JP" dirty="0">
                <a:solidFill>
                  <a:srgbClr val="FF0000"/>
                </a:solidFill>
              </a:rPr>
              <a:t>10.0</a:t>
            </a:r>
          </a:p>
          <a:p>
            <a:r>
              <a:rPr lang="en-US" altLang="ja-JP" dirty="0"/>
              <a:t>       x0 =  </a:t>
            </a:r>
            <a:r>
              <a:rPr lang="en-US" altLang="ja-JP" dirty="0">
                <a:solidFill>
                  <a:srgbClr val="FF0000"/>
                </a:solidFill>
              </a:rPr>
              <a:t>-1.0e-4</a:t>
            </a:r>
          </a:p>
          <a:p>
            <a:r>
              <a:rPr lang="en-US" altLang="ja-JP" dirty="0"/>
              <a:t>       x1 =   </a:t>
            </a:r>
            <a:r>
              <a:rPr lang="en-US" altLang="ja-JP" dirty="0">
                <a:solidFill>
                  <a:srgbClr val="FF0000"/>
                </a:solidFill>
              </a:rPr>
              <a:t>1.0e-4</a:t>
            </a:r>
          </a:p>
          <a:p>
            <a:r>
              <a:rPr lang="en-US" altLang="ja-JP" dirty="0"/>
              <a:t>       y0 =  </a:t>
            </a:r>
            <a:r>
              <a:rPr lang="en-US" altLang="ja-JP" dirty="0">
                <a:solidFill>
                  <a:srgbClr val="FF0000"/>
                </a:solidFill>
              </a:rPr>
              <a:t>-1.0e-4</a:t>
            </a:r>
          </a:p>
          <a:p>
            <a:r>
              <a:rPr lang="en-US" altLang="ja-JP" dirty="0"/>
              <a:t>       y1 =   </a:t>
            </a:r>
            <a:r>
              <a:rPr lang="en-US" altLang="ja-JP" dirty="0">
                <a:solidFill>
                  <a:srgbClr val="FF0000"/>
                </a:solidFill>
              </a:rPr>
              <a:t>1.0e-4</a:t>
            </a:r>
          </a:p>
          <a:p>
            <a:r>
              <a:rPr lang="en-US" altLang="ja-JP" dirty="0"/>
              <a:t>       z0 =  </a:t>
            </a:r>
            <a:r>
              <a:rPr lang="en-US" altLang="ja-JP" dirty="0">
                <a:solidFill>
                  <a:srgbClr val="FF0000"/>
                </a:solidFill>
              </a:rPr>
              <a:t>-1.0</a:t>
            </a:r>
          </a:p>
          <a:p>
            <a:r>
              <a:rPr lang="en-US" altLang="ja-JP" dirty="0"/>
              <a:t>       z1 =  </a:t>
            </a:r>
            <a:r>
              <a:rPr lang="en-US" altLang="ja-JP" dirty="0">
                <a:solidFill>
                  <a:srgbClr val="FF0000"/>
                </a:solidFill>
              </a:rPr>
              <a:t>-1.0</a:t>
            </a:r>
          </a:p>
          <a:p>
            <a:r>
              <a:rPr lang="en-US" altLang="ja-JP" dirty="0"/>
              <a:t>      </a:t>
            </a:r>
            <a:r>
              <a:rPr lang="en-US" altLang="ja-JP" dirty="0" err="1"/>
              <a:t>dir</a:t>
            </a:r>
            <a:r>
              <a:rPr lang="en-US" altLang="ja-JP" dirty="0"/>
              <a:t> =   1.0</a:t>
            </a:r>
            <a:endParaRPr kumimoji="1" lang="it-IT" altLang="ja-JP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06A99AA-02C6-DFB4-9EDC-D69A83CDF362}"/>
              </a:ext>
            </a:extLst>
          </p:cNvPr>
          <p:cNvSpPr/>
          <p:nvPr/>
        </p:nvSpPr>
        <p:spPr>
          <a:xfrm>
            <a:off x="898379" y="455406"/>
            <a:ext cx="2116531" cy="321714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2FF1AD5-2F09-82D7-45DA-E27D977F3187}"/>
              </a:ext>
            </a:extLst>
          </p:cNvPr>
          <p:cNvSpPr txBox="1"/>
          <p:nvPr/>
        </p:nvSpPr>
        <p:spPr>
          <a:xfrm>
            <a:off x="940324" y="4383961"/>
            <a:ext cx="19973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it-IT" altLang="ja-JP" dirty="0"/>
              <a:t>[ </a:t>
            </a:r>
            <a:r>
              <a:rPr lang="it-IT" altLang="ja-JP" dirty="0"/>
              <a:t>T –</a:t>
            </a:r>
            <a:r>
              <a:rPr kumimoji="1" lang="it-IT" altLang="ja-JP" dirty="0"/>
              <a:t> D e p o s i t ]</a:t>
            </a:r>
          </a:p>
          <a:p>
            <a:r>
              <a:rPr lang="ja-JP" altLang="en-US" dirty="0"/>
              <a:t>   </a:t>
            </a:r>
            <a:r>
              <a:rPr lang="nn-NO" altLang="ja-JP" dirty="0"/>
              <a:t> mesh = reg</a:t>
            </a:r>
          </a:p>
          <a:p>
            <a:r>
              <a:rPr lang="nn-NO" altLang="ja-JP" dirty="0"/>
              <a:t>        reg =  </a:t>
            </a:r>
            <a:r>
              <a:rPr lang="nn-NO" altLang="ja-JP" dirty="0">
                <a:solidFill>
                  <a:srgbClr val="FF0000"/>
                </a:solidFill>
              </a:rPr>
              <a:t>10</a:t>
            </a:r>
          </a:p>
          <a:p>
            <a:r>
              <a:rPr lang="nn-NO" altLang="ja-JP" dirty="0"/>
              <a:t>   e-type =    1</a:t>
            </a:r>
          </a:p>
          <a:p>
            <a:r>
              <a:rPr kumimoji="1" lang="it-IT" altLang="ja-JP" dirty="0"/>
              <a:t>          ...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3A3A749-805F-D319-3751-218C71A8C487}"/>
              </a:ext>
            </a:extLst>
          </p:cNvPr>
          <p:cNvSpPr/>
          <p:nvPr/>
        </p:nvSpPr>
        <p:spPr>
          <a:xfrm>
            <a:off x="898379" y="4306134"/>
            <a:ext cx="2116531" cy="161435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0B27790-DBED-99BC-B226-AFFEDFB795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84" t="25745" r="12499" b="10780"/>
          <a:stretch/>
        </p:blipFill>
        <p:spPr>
          <a:xfrm>
            <a:off x="4116490" y="90688"/>
            <a:ext cx="5379411" cy="358209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3BFCE22-DE53-2575-451B-9FC268E02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702" y="3596871"/>
            <a:ext cx="4018705" cy="389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52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8D863BE-05C6-AA85-32D7-2C9CBB2980C6}"/>
              </a:ext>
            </a:extLst>
          </p:cNvPr>
          <p:cNvSpPr txBox="1"/>
          <p:nvPr/>
        </p:nvSpPr>
        <p:spPr>
          <a:xfrm>
            <a:off x="413102" y="0"/>
            <a:ext cx="92544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dirty="0">
                <a:solidFill>
                  <a:schemeClr val="tx2"/>
                </a:solidFill>
              </a:rPr>
              <a:t>Step 3: Calculate SEU cross section</a:t>
            </a:r>
            <a:endParaRPr kumimoji="1" lang="ja-JP" altLang="en-US" sz="4400" dirty="0">
              <a:solidFill>
                <a:schemeClr val="tx2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D9D79B-2B8C-164F-A8A8-076289C9792F}"/>
              </a:ext>
            </a:extLst>
          </p:cNvPr>
          <p:cNvSpPr txBox="1"/>
          <p:nvPr/>
        </p:nvSpPr>
        <p:spPr>
          <a:xfrm>
            <a:off x="88617" y="679776"/>
            <a:ext cx="9401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dirty="0"/>
              <a:t>Calculate SEU cross sections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B1A196E2-DCB1-E2A4-3F7C-AAEF2A415804}"/>
              </a:ext>
            </a:extLst>
          </p:cNvPr>
          <p:cNvGrpSpPr/>
          <p:nvPr/>
        </p:nvGrpSpPr>
        <p:grpSpPr>
          <a:xfrm>
            <a:off x="327353" y="1133512"/>
            <a:ext cx="9116219" cy="1938992"/>
            <a:chOff x="327353" y="1186677"/>
            <a:chExt cx="9116219" cy="1938992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C405E481-6F13-BF6B-3283-73EC65A6A72E}"/>
                </a:ext>
              </a:extLst>
            </p:cNvPr>
            <p:cNvSpPr txBox="1"/>
            <p:nvPr/>
          </p:nvSpPr>
          <p:spPr>
            <a:xfrm>
              <a:off x="327353" y="1186677"/>
              <a:ext cx="889870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kumimoji="1" lang="en-US" altLang="ja-JP" sz="2400" dirty="0"/>
                <a:t>Open tdeposit_to_SEUCS_4He.xlsx and select the sheet of “10MeV”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altLang="ja-JP" sz="2400" dirty="0"/>
                <a:t>Paste the result of [T-Deposit] on D ~ G columns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kumimoji="1" lang="en-US" altLang="ja-JP" sz="2400" dirty="0"/>
                <a:t>SEU cross sections and </a:t>
              </a:r>
              <a:r>
                <a:rPr lang="en-US" altLang="ja-JP" sz="2400" dirty="0"/>
                <a:t>statistical errors for each critical charge are obtained in </a:t>
              </a:r>
              <a:r>
                <a:rPr kumimoji="1" lang="en-US" altLang="ja-JP" sz="2400" dirty="0"/>
                <a:t>K </a:t>
              </a:r>
              <a:r>
                <a:rPr lang="en-US" altLang="ja-JP" sz="2400" dirty="0"/>
                <a:t>~ M columns</a:t>
              </a:r>
              <a:endParaRPr kumimoji="1" lang="ja-JP" altLang="en-US" sz="2400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3861CF26-09AD-2A46-C05B-1721D28DFD71}"/>
                </a:ext>
              </a:extLst>
            </p:cNvPr>
            <p:cNvSpPr txBox="1"/>
            <p:nvPr/>
          </p:nvSpPr>
          <p:spPr>
            <a:xfrm>
              <a:off x="7419045" y="2001768"/>
              <a:ext cx="202452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000" dirty="0"/>
                <a:t>(</a:t>
              </a:r>
              <a:r>
                <a:rPr lang="en-US" altLang="ja-JP" sz="2000" dirty="0">
                  <a:solidFill>
                    <a:srgbClr val="FF0000"/>
                  </a:solidFill>
                </a:rPr>
                <a:t>*see next slide</a:t>
              </a:r>
              <a:r>
                <a:rPr lang="en-US" altLang="ja-JP" sz="2000" dirty="0"/>
                <a:t>)</a:t>
              </a:r>
              <a:endParaRPr lang="ja-JP" altLang="en-US" sz="2000" dirty="0"/>
            </a:p>
          </p:txBody>
        </p:sp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5274A85-5F93-BD8B-5343-F3A2D7AF66CF}"/>
              </a:ext>
            </a:extLst>
          </p:cNvPr>
          <p:cNvSpPr/>
          <p:nvPr/>
        </p:nvSpPr>
        <p:spPr>
          <a:xfrm>
            <a:off x="209446" y="3150497"/>
            <a:ext cx="9661733" cy="4302926"/>
          </a:xfrm>
          <a:prstGeom prst="roundRect">
            <a:avLst>
              <a:gd name="adj" fmla="val 10221"/>
            </a:avLst>
          </a:prstGeom>
          <a:solidFill>
            <a:srgbClr val="F6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ED44272-ACD3-FE72-1C79-9EE4F7AB105D}"/>
              </a:ext>
            </a:extLst>
          </p:cNvPr>
          <p:cNvSpPr txBox="1"/>
          <p:nvPr/>
        </p:nvSpPr>
        <p:spPr>
          <a:xfrm>
            <a:off x="438046" y="3207130"/>
            <a:ext cx="1143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Note: </a:t>
            </a:r>
            <a:endParaRPr kumimoji="1" lang="ja-JP" altLang="en-US" sz="2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FEE0F6F-4413-8B4F-7E1B-63BF2B17B02F}"/>
              </a:ext>
            </a:extLst>
          </p:cNvPr>
          <p:cNvSpPr txBox="1"/>
          <p:nvPr/>
        </p:nvSpPr>
        <p:spPr>
          <a:xfrm>
            <a:off x="269516" y="3740530"/>
            <a:ext cx="9330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kumimoji="1" lang="en-US" altLang="ja-JP" sz="2400" dirty="0"/>
              <a:t>SEU is occurred when charges collected into sensitive node exceed </a:t>
            </a:r>
            <a:r>
              <a:rPr lang="en-US" altLang="ja-JP" sz="2400" dirty="0"/>
              <a:t>threshold</a:t>
            </a:r>
            <a:r>
              <a:rPr kumimoji="1" lang="en-US" altLang="ja-JP" sz="2400" dirty="0"/>
              <a:t> value (so-called critical charge</a:t>
            </a:r>
            <a:r>
              <a:rPr lang="en-US" altLang="ja-JP" sz="2400" dirty="0"/>
              <a:t>,</a:t>
            </a:r>
            <a:r>
              <a:rPr lang="ja-JP" altLang="en-US" sz="2400" dirty="0"/>
              <a:t> </a:t>
            </a:r>
            <a:r>
              <a:rPr lang="en-US" altLang="ja-JP" sz="2400" i="1" dirty="0" err="1"/>
              <a:t>Q</a:t>
            </a:r>
            <a:r>
              <a:rPr lang="en-US" altLang="ja-JP" sz="2400" baseline="-25000" dirty="0" err="1"/>
              <a:t>fit</a:t>
            </a:r>
            <a:r>
              <a:rPr kumimoji="1" lang="en-US" altLang="ja-JP" sz="2400" dirty="0"/>
              <a:t>).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D9AA38E-8801-6546-C65B-AFFEC12D2B21}"/>
              </a:ext>
            </a:extLst>
          </p:cNvPr>
          <p:cNvSpPr txBox="1"/>
          <p:nvPr/>
        </p:nvSpPr>
        <p:spPr>
          <a:xfrm>
            <a:off x="269516" y="4626469"/>
            <a:ext cx="9647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kumimoji="1" lang="en-US" altLang="ja-JP" sz="2400" dirty="0"/>
              <a:t>[T-Deposit] outputs probability of </a:t>
            </a:r>
            <a:r>
              <a:rPr lang="en-US" altLang="ja-JP" sz="2400" dirty="0"/>
              <a:t>events for each deposited energy.</a:t>
            </a:r>
            <a:endParaRPr kumimoji="1" lang="en-US" altLang="ja-JP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413C1CA-D198-2AF7-8885-DE76F1B64D56}"/>
              </a:ext>
            </a:extLst>
          </p:cNvPr>
          <p:cNvSpPr txBox="1"/>
          <p:nvPr/>
        </p:nvSpPr>
        <p:spPr>
          <a:xfrm>
            <a:off x="269516" y="5143075"/>
            <a:ext cx="9330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kumimoji="1" lang="en-US" altLang="ja-JP" sz="2400" dirty="0">
                <a:solidFill>
                  <a:srgbClr val="FF0000"/>
                </a:solidFill>
              </a:rPr>
              <a:t>Integral of probability from </a:t>
            </a:r>
            <a:r>
              <a:rPr lang="en-US" altLang="ja-JP" sz="2400" i="1" dirty="0" err="1">
                <a:solidFill>
                  <a:srgbClr val="FF0000"/>
                </a:solidFill>
              </a:rPr>
              <a:t>Q</a:t>
            </a:r>
            <a:r>
              <a:rPr lang="en-US" altLang="ja-JP" sz="2400" baseline="-25000" dirty="0" err="1">
                <a:solidFill>
                  <a:srgbClr val="FF0000"/>
                </a:solidFill>
              </a:rPr>
              <a:t>fit</a:t>
            </a:r>
            <a:r>
              <a:rPr kumimoji="1" lang="en-US" altLang="ja-JP" sz="2400" dirty="0"/>
              <a:t> corresponds to SEU cross section</a:t>
            </a:r>
            <a:r>
              <a:rPr lang="en-US" altLang="ja-JP" sz="2400" dirty="0"/>
              <a:t>.</a:t>
            </a:r>
            <a:endParaRPr kumimoji="1" lang="en-US" altLang="ja-JP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0C82252-F3AE-81D3-F16B-F142BA7B9FCB}"/>
              </a:ext>
            </a:extLst>
          </p:cNvPr>
          <p:cNvSpPr txBox="1"/>
          <p:nvPr/>
        </p:nvSpPr>
        <p:spPr>
          <a:xfrm>
            <a:off x="269516" y="5659681"/>
            <a:ext cx="9330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ja-JP" sz="2400" i="1" dirty="0" err="1"/>
              <a:t>Q</a:t>
            </a:r>
            <a:r>
              <a:rPr lang="en-US" altLang="ja-JP" sz="2400" baseline="-25000" dirty="0" err="1"/>
              <a:t>fit</a:t>
            </a:r>
            <a:r>
              <a:rPr kumimoji="1" lang="en-US" altLang="ja-JP" sz="2400" dirty="0"/>
              <a:t> depends on the conditio</a:t>
            </a:r>
            <a:r>
              <a:rPr lang="en-US" altLang="ja-JP" sz="2400" dirty="0"/>
              <a:t>n of semiconductor device, so it is useful to calculate </a:t>
            </a:r>
            <a:r>
              <a:rPr kumimoji="1" lang="en-US" altLang="ja-JP" sz="2400" dirty="0">
                <a:solidFill>
                  <a:srgbClr val="FF0000"/>
                </a:solidFill>
              </a:rPr>
              <a:t>Integral of probability from </a:t>
            </a:r>
            <a:r>
              <a:rPr lang="en-US" altLang="ja-JP" sz="2400" i="1" dirty="0" err="1">
                <a:solidFill>
                  <a:srgbClr val="FF0000"/>
                </a:solidFill>
              </a:rPr>
              <a:t>Q</a:t>
            </a:r>
            <a:r>
              <a:rPr lang="en-US" altLang="ja-JP" sz="2400" baseline="-25000" dirty="0" err="1">
                <a:solidFill>
                  <a:srgbClr val="FF0000"/>
                </a:solidFill>
              </a:rPr>
              <a:t>fit</a:t>
            </a:r>
            <a:r>
              <a:rPr lang="en-US" altLang="ja-JP" sz="2400" baseline="-25000" dirty="0">
                <a:solidFill>
                  <a:srgbClr val="FF0000"/>
                </a:solidFill>
              </a:rPr>
              <a:t> </a:t>
            </a:r>
            <a:r>
              <a:rPr lang="en-US" altLang="ja-JP" sz="2400" dirty="0">
                <a:solidFill>
                  <a:srgbClr val="FF0000"/>
                </a:solidFill>
              </a:rPr>
              <a:t>for each</a:t>
            </a:r>
            <a:r>
              <a:rPr lang="en-US" altLang="ja-JP" sz="2400" i="1" dirty="0">
                <a:solidFill>
                  <a:srgbClr val="FF0000"/>
                </a:solidFill>
              </a:rPr>
              <a:t> </a:t>
            </a:r>
            <a:r>
              <a:rPr lang="en-US" altLang="ja-JP" sz="2400" i="1" dirty="0" err="1">
                <a:solidFill>
                  <a:srgbClr val="FF0000"/>
                </a:solidFill>
              </a:rPr>
              <a:t>Q</a:t>
            </a:r>
            <a:r>
              <a:rPr lang="en-US" altLang="ja-JP" sz="2400" baseline="-25000" dirty="0" err="1">
                <a:solidFill>
                  <a:srgbClr val="FF0000"/>
                </a:solidFill>
              </a:rPr>
              <a:t>fit</a:t>
            </a:r>
            <a:r>
              <a:rPr lang="en-US" altLang="ja-JP" sz="2400" dirty="0"/>
              <a:t>. </a:t>
            </a:r>
            <a:endParaRPr kumimoji="1" lang="en-US" altLang="ja-JP" sz="24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6169043-B79A-D5C5-FB81-EBDBA4A76BD3}"/>
              </a:ext>
            </a:extLst>
          </p:cNvPr>
          <p:cNvSpPr txBox="1"/>
          <p:nvPr/>
        </p:nvSpPr>
        <p:spPr>
          <a:xfrm>
            <a:off x="269516" y="6545620"/>
            <a:ext cx="9330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kumimoji="1" lang="en-US" altLang="ja-JP" sz="2400" dirty="0"/>
              <a:t>Since PHITS cannot output </a:t>
            </a:r>
            <a:r>
              <a:rPr kumimoji="1" lang="en-US" altLang="ja-JP" sz="2400" u="sng" dirty="0">
                <a:uFill>
                  <a:solidFill>
                    <a:srgbClr val="FF0000"/>
                  </a:solidFill>
                </a:uFill>
              </a:rPr>
              <a:t>such values</a:t>
            </a:r>
            <a:r>
              <a:rPr kumimoji="1" lang="en-US" altLang="ja-JP" sz="2400" dirty="0"/>
              <a:t>, so external processing </a:t>
            </a:r>
            <a:r>
              <a:rPr lang="en-US" altLang="ja-JP" sz="2400" dirty="0"/>
              <a:t>using such as Excel is necessary.</a:t>
            </a:r>
            <a:endParaRPr kumimoji="1" lang="en-US" altLang="ja-JP" sz="2400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CC56AA70-071E-E48D-AA44-9E4DBCBFA76F}"/>
              </a:ext>
            </a:extLst>
          </p:cNvPr>
          <p:cNvCxnSpPr/>
          <p:nvPr/>
        </p:nvCxnSpPr>
        <p:spPr>
          <a:xfrm flipV="1">
            <a:off x="5264298" y="6447428"/>
            <a:ext cx="216000" cy="216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882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9149CC2-FF08-D308-0425-ADF139EB4679}"/>
              </a:ext>
            </a:extLst>
          </p:cNvPr>
          <p:cNvSpPr txBox="1"/>
          <p:nvPr/>
        </p:nvSpPr>
        <p:spPr>
          <a:xfrm>
            <a:off x="182562" y="4313"/>
            <a:ext cx="97155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tx2"/>
                </a:solidFill>
              </a:rPr>
              <a:t>* How to paste each column data of</a:t>
            </a:r>
          </a:p>
          <a:p>
            <a:pPr algn="ctr"/>
            <a:r>
              <a:rPr kumimoji="1" lang="en-US" altLang="ja-JP" sz="4000" dirty="0">
                <a:solidFill>
                  <a:schemeClr val="tx2"/>
                </a:solidFill>
              </a:rPr>
              <a:t>[T-Deposit] on D ~ G columns of excel file</a:t>
            </a:r>
            <a:endParaRPr kumimoji="1" lang="ja-JP" altLang="en-US" sz="4000" dirty="0">
              <a:solidFill>
                <a:schemeClr val="tx2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A991DF-A02F-AB3E-F614-286E223EAD2D}"/>
              </a:ext>
            </a:extLst>
          </p:cNvPr>
          <p:cNvSpPr txBox="1"/>
          <p:nvPr/>
        </p:nvSpPr>
        <p:spPr>
          <a:xfrm>
            <a:off x="598711" y="2452119"/>
            <a:ext cx="8806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Notepad++:  Hold down the Alt key and mouse drag</a:t>
            </a:r>
            <a:endParaRPr kumimoji="1" lang="ja-JP" altLang="en-US" sz="28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F623F96-1202-9661-CF4F-4FD6C73F67C1}"/>
              </a:ext>
            </a:extLst>
          </p:cNvPr>
          <p:cNvSpPr txBox="1"/>
          <p:nvPr/>
        </p:nvSpPr>
        <p:spPr>
          <a:xfrm>
            <a:off x="47176" y="1429609"/>
            <a:ext cx="97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solidFill>
                  <a:schemeClr val="accent2"/>
                </a:solidFill>
              </a:rPr>
              <a:t>(a) </a:t>
            </a:r>
            <a:endParaRPr kumimoji="1" lang="ja-JP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CD37E58-AF28-2392-3C3E-7B4CA308F43E}"/>
              </a:ext>
            </a:extLst>
          </p:cNvPr>
          <p:cNvSpPr txBox="1"/>
          <p:nvPr/>
        </p:nvSpPr>
        <p:spPr>
          <a:xfrm>
            <a:off x="653146" y="1429609"/>
            <a:ext cx="93839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solidFill>
                  <a:schemeClr val="accent2"/>
                </a:solidFill>
              </a:rPr>
              <a:t>Use “column selection (rectangle selection)” function of text editor, and copy &amp; paste each column data</a:t>
            </a:r>
            <a:endParaRPr kumimoji="1" lang="ja-JP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EF0D3B6-91EF-EB96-6A8E-8F41F62FF884}"/>
              </a:ext>
            </a:extLst>
          </p:cNvPr>
          <p:cNvSpPr txBox="1"/>
          <p:nvPr/>
        </p:nvSpPr>
        <p:spPr>
          <a:xfrm>
            <a:off x="598711" y="2983971"/>
            <a:ext cx="9002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/>
              <a:t>CotEditor</a:t>
            </a:r>
            <a:r>
              <a:rPr lang="en-US" altLang="ja-JP" sz="2800" dirty="0"/>
              <a:t>:  Hold down Option(Alt) key and mouse drag</a:t>
            </a:r>
            <a:endParaRPr kumimoji="1" lang="ja-JP" altLang="en-US" sz="28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80EAA9B-6943-907C-78AE-EAC3C59190B7}"/>
              </a:ext>
            </a:extLst>
          </p:cNvPr>
          <p:cNvSpPr txBox="1"/>
          <p:nvPr/>
        </p:nvSpPr>
        <p:spPr>
          <a:xfrm>
            <a:off x="47176" y="3700260"/>
            <a:ext cx="97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solidFill>
                  <a:schemeClr val="accent3">
                    <a:lumMod val="75000"/>
                  </a:schemeClr>
                </a:solidFill>
              </a:rPr>
              <a:t>(b) </a:t>
            </a:r>
            <a:endParaRPr kumimoji="1" lang="ja-JP" altLang="en-US" sz="28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2E78351-8040-62A3-CFEA-981775317DCD}"/>
              </a:ext>
            </a:extLst>
          </p:cNvPr>
          <p:cNvSpPr txBox="1"/>
          <p:nvPr/>
        </p:nvSpPr>
        <p:spPr>
          <a:xfrm>
            <a:off x="653146" y="3700260"/>
            <a:ext cx="93839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solidFill>
                  <a:schemeClr val="accent3">
                    <a:lumMod val="75000"/>
                  </a:schemeClr>
                </a:solidFill>
              </a:rPr>
              <a:t>Use “Convert Text to Columns Wizard” of Microsoft Excel</a:t>
            </a:r>
            <a:endParaRPr kumimoji="1" lang="ja-JP" altLang="en-US" sz="28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2DAEB10-B68A-093A-0836-CB67CA0F14BF}"/>
              </a:ext>
            </a:extLst>
          </p:cNvPr>
          <p:cNvSpPr txBox="1"/>
          <p:nvPr/>
        </p:nvSpPr>
        <p:spPr>
          <a:xfrm>
            <a:off x="1006932" y="5245467"/>
            <a:ext cx="55627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Select the “Data” tab in the ribbon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5CB0CEF-5BB0-78CB-B392-0041D6306FBA}"/>
              </a:ext>
            </a:extLst>
          </p:cNvPr>
          <p:cNvSpPr txBox="1"/>
          <p:nvPr/>
        </p:nvSpPr>
        <p:spPr>
          <a:xfrm>
            <a:off x="177802" y="5265566"/>
            <a:ext cx="97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b-2. </a:t>
            </a:r>
            <a:endParaRPr kumimoji="1" lang="ja-JP" altLang="en-US" sz="28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3125A1E-68BC-D19C-55D3-7E847B28B0FE}"/>
              </a:ext>
            </a:extLst>
          </p:cNvPr>
          <p:cNvSpPr txBox="1"/>
          <p:nvPr/>
        </p:nvSpPr>
        <p:spPr>
          <a:xfrm>
            <a:off x="1006932" y="5851808"/>
            <a:ext cx="8855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Select the “Text to Columns” in the “Data Tools” group</a:t>
            </a:r>
            <a:endParaRPr kumimoji="1" lang="ja-JP" altLang="en-US" sz="28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FAEE199-D6BD-2A71-6A3C-6274506C16FF}"/>
              </a:ext>
            </a:extLst>
          </p:cNvPr>
          <p:cNvSpPr txBox="1"/>
          <p:nvPr/>
        </p:nvSpPr>
        <p:spPr>
          <a:xfrm>
            <a:off x="177802" y="5861858"/>
            <a:ext cx="97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b-3. </a:t>
            </a:r>
            <a:endParaRPr kumimoji="1" lang="ja-JP" altLang="en-US" sz="28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BA89974-FEF0-B11A-26A2-B0E994717B5A}"/>
              </a:ext>
            </a:extLst>
          </p:cNvPr>
          <p:cNvSpPr txBox="1"/>
          <p:nvPr/>
        </p:nvSpPr>
        <p:spPr>
          <a:xfrm>
            <a:off x="1006932" y="6458149"/>
            <a:ext cx="8620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Follow the </a:t>
            </a:r>
            <a:r>
              <a:rPr lang="en-US" altLang="ja-JP" sz="2800" dirty="0"/>
              <a:t>“Convert Text to Columns Wizard”</a:t>
            </a:r>
            <a:endParaRPr kumimoji="1" lang="ja-JP" altLang="en-US" sz="2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12F9477-BEF5-3A65-7576-5BDD480803E0}"/>
              </a:ext>
            </a:extLst>
          </p:cNvPr>
          <p:cNvSpPr txBox="1"/>
          <p:nvPr/>
        </p:nvSpPr>
        <p:spPr>
          <a:xfrm>
            <a:off x="177802" y="6458149"/>
            <a:ext cx="97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b-4. </a:t>
            </a:r>
            <a:endParaRPr kumimoji="1" lang="ja-JP" altLang="en-US" sz="28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F1203F1-5778-9090-220C-A2BA8ACE7DC9}"/>
              </a:ext>
            </a:extLst>
          </p:cNvPr>
          <p:cNvSpPr txBox="1"/>
          <p:nvPr/>
        </p:nvSpPr>
        <p:spPr>
          <a:xfrm>
            <a:off x="1006932" y="465818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ja-JP" sz="28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CE2BC6D-3383-712A-305F-96E674413394}"/>
              </a:ext>
            </a:extLst>
          </p:cNvPr>
          <p:cNvSpPr txBox="1"/>
          <p:nvPr/>
        </p:nvSpPr>
        <p:spPr>
          <a:xfrm>
            <a:off x="177802" y="4669274"/>
            <a:ext cx="97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b-1. </a:t>
            </a:r>
            <a:endParaRPr kumimoji="1" lang="ja-JP" altLang="en-US" sz="28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01BDD3F-1534-DC70-3024-6AEF24EA48B4}"/>
              </a:ext>
            </a:extLst>
          </p:cNvPr>
          <p:cNvSpPr txBox="1"/>
          <p:nvPr/>
        </p:nvSpPr>
        <p:spPr>
          <a:xfrm>
            <a:off x="47176" y="6975860"/>
            <a:ext cx="8941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(Ref.) https://support.microsoft.com/en-us/office/split-text-into-different-columns-with-the-convert-text-to-columns-wizard-30b14928-5550-41f5-97ca-7a3e9c363ed7</a:t>
            </a:r>
            <a:endParaRPr kumimoji="1" lang="ja-JP" altLang="en-US" sz="160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6551FAF-33D4-2899-C13E-AF721CE91E26}"/>
              </a:ext>
            </a:extLst>
          </p:cNvPr>
          <p:cNvSpPr txBox="1"/>
          <p:nvPr/>
        </p:nvSpPr>
        <p:spPr>
          <a:xfrm>
            <a:off x="1006932" y="4639126"/>
            <a:ext cx="91438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Paste </a:t>
            </a:r>
            <a:r>
              <a:rPr lang="en-US" altLang="ja-JP" sz="2800" dirty="0"/>
              <a:t>data on D column and keep highlighting D column</a:t>
            </a:r>
            <a:endParaRPr kumimoji="1" lang="ja-JP" altLang="en-US" sz="2800" dirty="0"/>
          </a:p>
        </p:txBody>
      </p:sp>
      <p:sp>
        <p:nvSpPr>
          <p:cNvPr id="34" name="Text Box 8">
            <a:extLst>
              <a:ext uri="{FF2B5EF4-FFF2-40B4-BE49-F238E27FC236}">
                <a16:creationId xmlns:a16="http://schemas.microsoft.com/office/drawing/2014/main" id="{FF0AA764-D179-74AE-A49A-3733E4DB2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9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9882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>
            <a:extLst>
              <a:ext uri="{FF2B5EF4-FFF2-40B4-BE49-F238E27FC236}">
                <a16:creationId xmlns:a16="http://schemas.microsoft.com/office/drawing/2014/main" id="{D33B0716-7C8D-A356-B378-B378E3BD13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191548"/>
              </p:ext>
            </p:extLst>
          </p:nvPr>
        </p:nvGraphicFramePr>
        <p:xfrm>
          <a:off x="528464" y="811213"/>
          <a:ext cx="4884737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720" imgH="431640" progId="Equation.DSMT4">
                  <p:embed/>
                </p:oleObj>
              </mc:Choice>
              <mc:Fallback>
                <p:oleObj name="Equation" r:id="rId2" imgW="2412720" imgH="431640" progId="Equation.DSMT4">
                  <p:embed/>
                  <p:pic>
                    <p:nvPicPr>
                      <p:cNvPr id="55" name="オブジェクト 54">
                        <a:extLst>
                          <a:ext uri="{FF2B5EF4-FFF2-40B4-BE49-F238E27FC236}">
                            <a16:creationId xmlns:a16="http://schemas.microsoft.com/office/drawing/2014/main" id="{51A2B7D1-B73E-3677-284A-2DA10BBCF8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464" y="811213"/>
                        <a:ext cx="4884737" cy="871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オブジェクト 17">
            <a:extLst>
              <a:ext uri="{FF2B5EF4-FFF2-40B4-BE49-F238E27FC236}">
                <a16:creationId xmlns:a16="http://schemas.microsoft.com/office/drawing/2014/main" id="{C3E5BE4C-DC93-6B94-4EB3-7948653F2B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276177"/>
              </p:ext>
            </p:extLst>
          </p:nvPr>
        </p:nvGraphicFramePr>
        <p:xfrm>
          <a:off x="1408631" y="1872933"/>
          <a:ext cx="3367087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241200" progId="Equation.DSMT4">
                  <p:embed/>
                </p:oleObj>
              </mc:Choice>
              <mc:Fallback>
                <p:oleObj name="Equation" r:id="rId4" imgW="1663560" imgH="241200" progId="Equation.DSMT4">
                  <p:embed/>
                  <p:pic>
                    <p:nvPicPr>
                      <p:cNvPr id="7" name="オブジェクト 6">
                        <a:extLst>
                          <a:ext uri="{FF2B5EF4-FFF2-40B4-BE49-F238E27FC236}">
                            <a16:creationId xmlns:a16="http://schemas.microsoft.com/office/drawing/2014/main" id="{D33B0716-7C8D-A356-B378-B378E3BD13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631" y="1872933"/>
                        <a:ext cx="3367087" cy="4873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8">
            <a:extLst>
              <a:ext uri="{FF2B5EF4-FFF2-40B4-BE49-F238E27FC236}">
                <a16:creationId xmlns:a16="http://schemas.microsoft.com/office/drawing/2014/main" id="{9FCA0825-9D03-DF00-EB9F-E02A43D75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10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F2330E25-3954-8D9B-1C82-291D92CB0F57}"/>
              </a:ext>
            </a:extLst>
          </p:cNvPr>
          <p:cNvGrpSpPr/>
          <p:nvPr/>
        </p:nvGrpSpPr>
        <p:grpSpPr>
          <a:xfrm>
            <a:off x="5854699" y="216830"/>
            <a:ext cx="3829052" cy="2660502"/>
            <a:chOff x="5753099" y="216830"/>
            <a:chExt cx="3829052" cy="2660502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D142F889-4F05-3631-CD94-9E57491C0CD0}"/>
                </a:ext>
              </a:extLst>
            </p:cNvPr>
            <p:cNvGrpSpPr/>
            <p:nvPr/>
          </p:nvGrpSpPr>
          <p:grpSpPr>
            <a:xfrm>
              <a:off x="5753099" y="216830"/>
              <a:ext cx="3829052" cy="2594054"/>
              <a:chOff x="5714999" y="296205"/>
              <a:chExt cx="3829052" cy="2594054"/>
            </a:xfrm>
          </p:grpSpPr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6A06A7D4-3C58-730F-7776-CD4B55C15AE7}"/>
                  </a:ext>
                </a:extLst>
              </p:cNvPr>
              <p:cNvSpPr txBox="1"/>
              <p:nvPr/>
            </p:nvSpPr>
            <p:spPr>
              <a:xfrm>
                <a:off x="5865683" y="915200"/>
                <a:ext cx="17155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i="1" dirty="0" err="1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altLang="ja-JP" sz="1400" baseline="-25000" dirty="0" err="1">
                    <a:latin typeface="Times New Roman" pitchFamily="18" charset="0"/>
                    <a:cs typeface="Times New Roman" pitchFamily="18" charset="0"/>
                  </a:rPr>
                  <a:t>fit</a:t>
                </a:r>
                <a:r>
                  <a:rPr lang="en-US" altLang="ja-JP" sz="1400" dirty="0"/>
                  <a:t> : Critical charge</a:t>
                </a:r>
                <a:endParaRPr lang="ja-JP" altLang="en-US" sz="1400" dirty="0"/>
              </a:p>
            </p:txBody>
          </p:sp>
          <p:sp>
            <p:nvSpPr>
              <p:cNvPr id="15" name="大かっこ 14">
                <a:extLst>
                  <a:ext uri="{FF2B5EF4-FFF2-40B4-BE49-F238E27FC236}">
                    <a16:creationId xmlns:a16="http://schemas.microsoft.com/office/drawing/2014/main" id="{B0D22B5F-8C6F-01E3-9504-E4F7C28CC86B}"/>
                  </a:ext>
                </a:extLst>
              </p:cNvPr>
              <p:cNvSpPr/>
              <p:nvPr/>
            </p:nvSpPr>
            <p:spPr>
              <a:xfrm>
                <a:off x="5714999" y="296205"/>
                <a:ext cx="3829052" cy="2594054"/>
              </a:xfrm>
              <a:prstGeom prst="bracketPair">
                <a:avLst>
                  <a:gd name="adj" fmla="val 8782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E087C4FD-28A9-08E7-E6B6-DC6BA2DB7DEE}"/>
                  </a:ext>
                </a:extLst>
              </p:cNvPr>
              <p:cNvSpPr txBox="1"/>
              <p:nvPr/>
            </p:nvSpPr>
            <p:spPr>
              <a:xfrm>
                <a:off x="5865683" y="602568"/>
                <a:ext cx="17588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i="1" dirty="0">
                    <a:latin typeface="Times New Roman" pitchFamily="18" charset="0"/>
                    <a:cs typeface="Times New Roman" pitchFamily="18" charset="0"/>
                  </a:rPr>
                  <a:t>E</a:t>
                </a:r>
                <a:r>
                  <a:rPr lang="en-US" altLang="ja-JP" sz="1400" baseline="-25000" dirty="0">
                    <a:latin typeface="Times New Roman" pitchFamily="18" charset="0"/>
                    <a:cs typeface="Times New Roman" pitchFamily="18" charset="0"/>
                  </a:rPr>
                  <a:t>in</a:t>
                </a:r>
                <a:r>
                  <a:rPr lang="en-US" altLang="ja-JP" sz="1400" dirty="0"/>
                  <a:t> : Incident energy</a:t>
                </a:r>
                <a:endParaRPr lang="ja-JP" altLang="en-US" sz="1400" dirty="0"/>
              </a:p>
            </p:txBody>
          </p:sp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3218952D-852D-E65C-6E95-63BED719311F}"/>
                  </a:ext>
                </a:extLst>
              </p:cNvPr>
              <p:cNvSpPr txBox="1"/>
              <p:nvPr/>
            </p:nvSpPr>
            <p:spPr>
              <a:xfrm>
                <a:off x="5865683" y="296205"/>
                <a:ext cx="27542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i="1" dirty="0" err="1">
                    <a:latin typeface="Symbol" panose="05050102010706020507" pitchFamily="18" charset="2"/>
                    <a:cs typeface="Times New Roman" pitchFamily="18" charset="0"/>
                  </a:rPr>
                  <a:t>s</a:t>
                </a:r>
                <a:r>
                  <a:rPr lang="en-US" altLang="ja-JP" sz="1400" baseline="-25000" dirty="0" err="1">
                    <a:latin typeface="Times New Roman" pitchFamily="18" charset="0"/>
                    <a:cs typeface="Times New Roman" pitchFamily="18" charset="0"/>
                  </a:rPr>
                  <a:t>SEU</a:t>
                </a:r>
                <a:r>
                  <a:rPr lang="en-US" altLang="ja-JP" sz="1400" i="1" dirty="0">
                    <a:latin typeface="Times New Roman" pitchFamily="18" charset="0"/>
                    <a:cs typeface="Times New Roman" pitchFamily="18" charset="0"/>
                  </a:rPr>
                  <a:t>(E</a:t>
                </a:r>
                <a:r>
                  <a:rPr lang="en-US" altLang="ja-JP" sz="1400" baseline="-25000" dirty="0">
                    <a:latin typeface="Times New Roman" pitchFamily="18" charset="0"/>
                    <a:cs typeface="Times New Roman" pitchFamily="18" charset="0"/>
                  </a:rPr>
                  <a:t>in, </a:t>
                </a:r>
                <a:r>
                  <a:rPr lang="en-US" altLang="ja-JP" sz="1400" i="1" dirty="0" err="1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altLang="ja-JP" sz="1400" baseline="-25000" dirty="0" err="1">
                    <a:latin typeface="Times New Roman" pitchFamily="18" charset="0"/>
                    <a:cs typeface="Times New Roman" pitchFamily="18" charset="0"/>
                  </a:rPr>
                  <a:t>fit</a:t>
                </a:r>
                <a:r>
                  <a:rPr lang="en-US" altLang="ja-JP" sz="14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  <a:r>
                  <a:rPr lang="en-US" altLang="ja-JP" sz="1400" dirty="0"/>
                  <a:t> : SEU cross section</a:t>
                </a:r>
                <a:endParaRPr lang="ja-JP" altLang="en-US" sz="1400" dirty="0"/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3EE87919-C559-5186-10FF-83629544F607}"/>
                  </a:ext>
                </a:extLst>
              </p:cNvPr>
              <p:cNvSpPr txBox="1"/>
              <p:nvPr/>
            </p:nvSpPr>
            <p:spPr>
              <a:xfrm>
                <a:off x="5865683" y="1222035"/>
                <a:ext cx="16450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i="1" dirty="0"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altLang="ja-JP" sz="1400" dirty="0"/>
                  <a:t> : Irradiation</a:t>
                </a:r>
                <a:r>
                  <a:rPr lang="ja-JP" altLang="en-US" sz="1400" dirty="0"/>
                  <a:t> </a:t>
                </a:r>
                <a:r>
                  <a:rPr lang="en-US" altLang="ja-JP" sz="1400" dirty="0"/>
                  <a:t>area</a:t>
                </a:r>
                <a:endParaRPr lang="ja-JP" altLang="en-US" sz="1400" dirty="0"/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BAD979F-BFD8-9A28-7DFA-52A6243D8E02}"/>
                  </a:ext>
                </a:extLst>
              </p:cNvPr>
              <p:cNvSpPr txBox="1"/>
              <p:nvPr/>
            </p:nvSpPr>
            <p:spPr>
              <a:xfrm>
                <a:off x="5865683" y="1534667"/>
                <a:ext cx="28937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ja-JP" sz="1400" baseline="-25000" dirty="0">
                    <a:latin typeface="Times New Roman" pitchFamily="18" charset="0"/>
                    <a:cs typeface="Times New Roman" pitchFamily="18" charset="0"/>
                  </a:rPr>
                  <a:t>in</a:t>
                </a:r>
                <a:r>
                  <a:rPr lang="en-US" altLang="ja-JP" sz="1400" dirty="0"/>
                  <a:t> : Number of irradiated particles</a:t>
                </a:r>
                <a:endParaRPr lang="ja-JP" altLang="en-US" sz="1400" dirty="0"/>
              </a:p>
            </p:txBody>
          </p: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2453BAF-FADC-8059-0478-7D8AE5948F03}"/>
                  </a:ext>
                </a:extLst>
              </p:cNvPr>
              <p:cNvSpPr txBox="1"/>
              <p:nvPr/>
            </p:nvSpPr>
            <p:spPr>
              <a:xfrm>
                <a:off x="5865683" y="1847298"/>
                <a:ext cx="23503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i="1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ja-JP" sz="1400" baseline="-25000" dirty="0" err="1">
                    <a:latin typeface="Times New Roman" pitchFamily="18" charset="0"/>
                    <a:cs typeface="Times New Roman" pitchFamily="18" charset="0"/>
                  </a:rPr>
                  <a:t>bit</a:t>
                </a:r>
                <a:r>
                  <a:rPr lang="en-US" altLang="ja-JP" sz="1400" dirty="0"/>
                  <a:t> : Number of memory bit</a:t>
                </a:r>
                <a:endParaRPr lang="ja-JP" altLang="en-US" sz="1400" dirty="0"/>
              </a:p>
            </p:txBody>
          </p:sp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5571DE6F-CA4C-CFE1-F44B-0F256D381234}"/>
                  </a:ext>
                </a:extLst>
              </p:cNvPr>
              <p:cNvSpPr txBox="1"/>
              <p:nvPr/>
            </p:nvSpPr>
            <p:spPr>
              <a:xfrm>
                <a:off x="5868235" y="2161559"/>
                <a:ext cx="36758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4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ja-JP" sz="1400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ja-JP" sz="1400" i="1" dirty="0">
                    <a:latin typeface="Times New Roman" pitchFamily="18" charset="0"/>
                    <a:cs typeface="Times New Roman" pitchFamily="18" charset="0"/>
                  </a:rPr>
                  <a:t>E</a:t>
                </a:r>
                <a:r>
                  <a:rPr lang="en-US" altLang="ja-JP" sz="1400" baseline="-25000" dirty="0">
                    <a:latin typeface="Times New Roman" pitchFamily="18" charset="0"/>
                    <a:cs typeface="Times New Roman" pitchFamily="18" charset="0"/>
                  </a:rPr>
                  <a:t>in</a:t>
                </a:r>
                <a:r>
                  <a:rPr lang="en-US" altLang="ja-JP" sz="1400" dirty="0"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en-US" altLang="ja-JP" sz="1400" i="1" dirty="0">
                    <a:latin typeface="Times New Roman" pitchFamily="18" charset="0"/>
                    <a:cs typeface="Times New Roman" pitchFamily="18" charset="0"/>
                  </a:rPr>
                  <a:t> q</a:t>
                </a:r>
                <a:r>
                  <a:rPr lang="en-US" altLang="ja-JP" sz="14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  <a:r>
                  <a:rPr lang="en-US" altLang="ja-JP" sz="1400" dirty="0"/>
                  <a:t> :  Number of event with</a:t>
                </a:r>
              </a:p>
              <a:p>
                <a:r>
                  <a:rPr lang="en-US" altLang="ja-JP" sz="1400" dirty="0"/>
                  <a:t>                 the corrected charge in [</a:t>
                </a:r>
                <a:r>
                  <a:rPr lang="en-US" altLang="ja-JP" sz="1400" i="1" dirty="0"/>
                  <a:t>q, </a:t>
                </a:r>
                <a:r>
                  <a:rPr lang="en-US" altLang="ja-JP" sz="1400" i="1" dirty="0" err="1"/>
                  <a:t>q</a:t>
                </a:r>
                <a:r>
                  <a:rPr lang="en-US" altLang="ja-JP" sz="1400" dirty="0" err="1"/>
                  <a:t>+</a:t>
                </a:r>
                <a:r>
                  <a:rPr lang="en-US" altLang="ja-JP" sz="1400" i="1" dirty="0" err="1"/>
                  <a:t>dq</a:t>
                </a:r>
                <a:r>
                  <a:rPr lang="en-US" altLang="ja-JP" sz="1400" dirty="0"/>
                  <a:t>]</a:t>
                </a:r>
                <a:endParaRPr lang="ja-JP" altLang="en-US" sz="1400" dirty="0"/>
              </a:p>
            </p:txBody>
          </p:sp>
        </p:grpSp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A1F1601B-0685-3B1F-7976-80BC9A837663}"/>
                </a:ext>
              </a:extLst>
            </p:cNvPr>
            <p:cNvCxnSpPr/>
            <p:nvPr/>
          </p:nvCxnSpPr>
          <p:spPr>
            <a:xfrm>
              <a:off x="5997525" y="2380567"/>
              <a:ext cx="62395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コネクタ: カギ線 5">
              <a:extLst>
                <a:ext uri="{FF2B5EF4-FFF2-40B4-BE49-F238E27FC236}">
                  <a16:creationId xmlns:a16="http://schemas.microsoft.com/office/drawing/2014/main" id="{41640EC4-F073-BD0C-98F0-D52BC6329BAC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rot="10800000">
              <a:off x="6309506" y="2380572"/>
              <a:ext cx="128512" cy="342873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64FCE16A-D890-0478-D1D2-FBC2DA2E8C81}"/>
                </a:ext>
              </a:extLst>
            </p:cNvPr>
            <p:cNvSpPr txBox="1"/>
            <p:nvPr/>
          </p:nvSpPr>
          <p:spPr>
            <a:xfrm>
              <a:off x="6438018" y="2569555"/>
              <a:ext cx="17954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>
                  <a:solidFill>
                    <a:srgbClr val="FF0000"/>
                  </a:solidFill>
                </a:rPr>
                <a:t>output of [T-Deposit]</a:t>
              </a:r>
              <a:endParaRPr lang="ja-JP" altLang="en-US" sz="1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矢印: 右 7">
            <a:extLst>
              <a:ext uri="{FF2B5EF4-FFF2-40B4-BE49-F238E27FC236}">
                <a16:creationId xmlns:a16="http://schemas.microsoft.com/office/drawing/2014/main" id="{60F55A11-F768-899D-25C2-7CCA7CB6CA54}"/>
              </a:ext>
            </a:extLst>
          </p:cNvPr>
          <p:cNvSpPr/>
          <p:nvPr/>
        </p:nvSpPr>
        <p:spPr>
          <a:xfrm>
            <a:off x="4652655" y="4837461"/>
            <a:ext cx="504000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13B5CD8-5704-EEB8-8F33-3FE7D5F1A4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446" y="3097497"/>
            <a:ext cx="4444599" cy="4303748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76BE5D4E-21B6-8935-9793-392E7151BF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13" y="3004253"/>
            <a:ext cx="4403966" cy="438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15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8A52E-CECB-6111-7F14-10215D843B4C}"/>
              </a:ext>
            </a:extLst>
          </p:cNvPr>
          <p:cNvSpPr txBox="1"/>
          <p:nvPr/>
        </p:nvSpPr>
        <p:spPr>
          <a:xfrm>
            <a:off x="0" y="-473"/>
            <a:ext cx="100806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200" dirty="0">
                <a:solidFill>
                  <a:schemeClr val="tx2"/>
                </a:solidFill>
              </a:rPr>
              <a:t>Step 4: output </a:t>
            </a:r>
            <a:r>
              <a:rPr lang="en-US" altLang="ja-JP" sz="4200" dirty="0">
                <a:solidFill>
                  <a:schemeClr val="tx2"/>
                </a:solidFill>
              </a:rPr>
              <a:t>dependence of SEU cross</a:t>
            </a:r>
          </a:p>
          <a:p>
            <a:r>
              <a:rPr lang="en-US" altLang="ja-JP" sz="4200" dirty="0">
                <a:solidFill>
                  <a:schemeClr val="tx2"/>
                </a:solidFill>
              </a:rPr>
              <a:t>            </a:t>
            </a:r>
            <a:r>
              <a:rPr lang="en-US" altLang="ja-JP" sz="2400" dirty="0">
                <a:solidFill>
                  <a:schemeClr val="tx2"/>
                </a:solidFill>
              </a:rPr>
              <a:t> </a:t>
            </a:r>
            <a:r>
              <a:rPr lang="en-US" altLang="ja-JP" sz="4200" dirty="0">
                <a:solidFill>
                  <a:schemeClr val="tx2"/>
                </a:solidFill>
              </a:rPr>
              <a:t>sections on incident energy</a:t>
            </a:r>
            <a:endParaRPr kumimoji="1" lang="ja-JP" altLang="en-US" sz="4200" dirty="0">
              <a:solidFill>
                <a:schemeClr val="tx2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73D714-0A71-A069-1336-73D72865B31B}"/>
              </a:ext>
            </a:extLst>
          </p:cNvPr>
          <p:cNvSpPr txBox="1"/>
          <p:nvPr/>
        </p:nvSpPr>
        <p:spPr>
          <a:xfrm>
            <a:off x="170677" y="1587299"/>
            <a:ext cx="95156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Calculate SEU cross section for incident energies of 8, 25, 200, 2000 MeV/n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1934C6-25DF-B7AC-684F-67A05A631D6C}"/>
              </a:ext>
            </a:extLst>
          </p:cNvPr>
          <p:cNvSpPr txBox="1"/>
          <p:nvPr/>
        </p:nvSpPr>
        <p:spPr>
          <a:xfrm>
            <a:off x="637564" y="2695813"/>
            <a:ext cx="90097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̶"/>
            </a:pPr>
            <a:r>
              <a:rPr kumimoji="1" lang="en-US" altLang="ja-JP" sz="2800" dirty="0"/>
              <a:t>tdeposit_to_SEUCS_4He.xlsx has sheets of “8MeV”, “25MeV”, “200MeV”, “2000MeV” and “10000MeV” to calculate SEU cross section for each incident energy in the same way as the sheet of “10MeV”</a:t>
            </a:r>
            <a:endParaRPr kumimoji="1" lang="ja-JP" altLang="en-US" sz="2800" dirty="0"/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22602C67-C62D-074F-8226-88BAB88E5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11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1928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41CC4781-3C56-CB29-0321-97078067B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12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B8385F3-73B9-1694-799C-97741C77C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63" y="869531"/>
            <a:ext cx="5967412" cy="58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85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9FA4C5EE-8B44-937F-FDA3-D251DF04A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13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2C57026-41B2-2ACC-8CC4-3E83E0D52A7D}"/>
              </a:ext>
            </a:extLst>
          </p:cNvPr>
          <p:cNvSpPr txBox="1"/>
          <p:nvPr/>
        </p:nvSpPr>
        <p:spPr>
          <a:xfrm>
            <a:off x="1778857" y="4782"/>
            <a:ext cx="65229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4400" b="1" dirty="0">
                <a:solidFill>
                  <a:schemeClr val="accent2"/>
                </a:solidFill>
              </a:rPr>
              <a:t>Open small-</a:t>
            </a:r>
            <a:r>
              <a:rPr lang="en-US" altLang="ja-JP" sz="4400" b="1" dirty="0" err="1">
                <a:solidFill>
                  <a:schemeClr val="accent2"/>
                </a:solidFill>
              </a:rPr>
              <a:t>satellite.inp</a:t>
            </a:r>
            <a:endParaRPr kumimoji="1" lang="ja-JP" altLang="en-US" sz="4400" b="1" dirty="0">
              <a:solidFill>
                <a:schemeClr val="accent2"/>
              </a:solidFill>
            </a:endParaRP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4943B977-C90B-2E8B-E5D5-BBC93CA67DC7}"/>
              </a:ext>
            </a:extLst>
          </p:cNvPr>
          <p:cNvGrpSpPr/>
          <p:nvPr/>
        </p:nvGrpSpPr>
        <p:grpSpPr>
          <a:xfrm>
            <a:off x="1866557" y="1706229"/>
            <a:ext cx="6266200" cy="5840456"/>
            <a:chOff x="1469212" y="451383"/>
            <a:chExt cx="6266200" cy="5840456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222BD69E-71BE-70FB-38A3-400BB4720A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0073" t="8772" r="14603" b="11388"/>
            <a:stretch/>
          </p:blipFill>
          <p:spPr>
            <a:xfrm>
              <a:off x="1469212" y="451383"/>
              <a:ext cx="6266200" cy="5840456"/>
            </a:xfrm>
            <a:prstGeom prst="rect">
              <a:avLst/>
            </a:prstGeom>
          </p:spPr>
        </p:pic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ADA20515-FF14-A1B0-9CB8-FF361B9F9EBD}"/>
                </a:ext>
              </a:extLst>
            </p:cNvPr>
            <p:cNvSpPr txBox="1"/>
            <p:nvPr/>
          </p:nvSpPr>
          <p:spPr>
            <a:xfrm>
              <a:off x="5407639" y="4240013"/>
              <a:ext cx="902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400" b="1" dirty="0">
                  <a:solidFill>
                    <a:schemeClr val="bg1"/>
                  </a:solidFill>
                </a:rPr>
                <a:t>Lens</a:t>
              </a:r>
              <a:endParaRPr kumimoji="1" lang="ja-JP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497BDAD2-9499-0629-3185-97DBD5CF5083}"/>
                </a:ext>
              </a:extLst>
            </p:cNvPr>
            <p:cNvSpPr txBox="1"/>
            <p:nvPr/>
          </p:nvSpPr>
          <p:spPr>
            <a:xfrm>
              <a:off x="4804609" y="1905367"/>
              <a:ext cx="21691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400" b="1" dirty="0">
                  <a:solidFill>
                    <a:schemeClr val="bg1"/>
                  </a:solidFill>
                </a:rPr>
                <a:t>Image sensor</a:t>
              </a:r>
              <a:endParaRPr kumimoji="1" lang="ja-JP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690FE625-9F51-36E1-A086-42D8C58123FD}"/>
                </a:ext>
              </a:extLst>
            </p:cNvPr>
            <p:cNvSpPr txBox="1"/>
            <p:nvPr/>
          </p:nvSpPr>
          <p:spPr>
            <a:xfrm>
              <a:off x="2259188" y="1552128"/>
              <a:ext cx="1982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400" b="1" dirty="0">
                  <a:solidFill>
                    <a:schemeClr val="bg1"/>
                  </a:solidFill>
                </a:rPr>
                <a:t>Transformer</a:t>
              </a:r>
              <a:endParaRPr kumimoji="1" lang="ja-JP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4900A9C0-9F5E-B862-56A7-1C8F887B1D41}"/>
                </a:ext>
              </a:extLst>
            </p:cNvPr>
            <p:cNvSpPr txBox="1"/>
            <p:nvPr/>
          </p:nvSpPr>
          <p:spPr>
            <a:xfrm>
              <a:off x="2562350" y="2650574"/>
              <a:ext cx="121219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400" b="1" dirty="0">
                  <a:solidFill>
                    <a:schemeClr val="bg1"/>
                  </a:solidFill>
                </a:rPr>
                <a:t>Li-ion</a:t>
              </a:r>
            </a:p>
            <a:p>
              <a:pPr algn="ctr"/>
              <a:r>
                <a:rPr lang="en-US" altLang="ja-JP" sz="2400" b="1" dirty="0">
                  <a:solidFill>
                    <a:schemeClr val="bg1"/>
                  </a:solidFill>
                </a:rPr>
                <a:t>battery</a:t>
              </a:r>
              <a:endParaRPr kumimoji="1" lang="en-US" altLang="ja-JP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4C2D25D7-A8BE-FCC5-6FBF-883E37DCBE6D}"/>
                </a:ext>
              </a:extLst>
            </p:cNvPr>
            <p:cNvSpPr txBox="1"/>
            <p:nvPr/>
          </p:nvSpPr>
          <p:spPr>
            <a:xfrm>
              <a:off x="2043582" y="4377587"/>
              <a:ext cx="1346843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400" b="1" dirty="0">
                  <a:solidFill>
                    <a:schemeClr val="bg1"/>
                  </a:solidFill>
                </a:rPr>
                <a:t>Attitude</a:t>
              </a:r>
            </a:p>
            <a:p>
              <a:pPr algn="ctr"/>
              <a:r>
                <a:rPr kumimoji="1" lang="en-US" altLang="ja-JP" sz="2400" b="1" dirty="0">
                  <a:solidFill>
                    <a:schemeClr val="bg1"/>
                  </a:solidFill>
                </a:rPr>
                <a:t>control</a:t>
              </a:r>
            </a:p>
            <a:p>
              <a:pPr algn="ctr"/>
              <a:r>
                <a:rPr kumimoji="1" lang="en-US" altLang="ja-JP" sz="2400" b="1" dirty="0">
                  <a:solidFill>
                    <a:schemeClr val="bg1"/>
                  </a:solidFill>
                </a:rPr>
                <a:t>system</a:t>
              </a:r>
              <a:endParaRPr kumimoji="1" lang="ja-JP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CA13E722-4462-A65D-147E-4FE17502BD2D}"/>
                </a:ext>
              </a:extLst>
            </p:cNvPr>
            <p:cNvSpPr txBox="1"/>
            <p:nvPr/>
          </p:nvSpPr>
          <p:spPr>
            <a:xfrm>
              <a:off x="2889992" y="5614668"/>
              <a:ext cx="23887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400" b="1" dirty="0">
                  <a:solidFill>
                    <a:schemeClr val="bg1"/>
                  </a:solidFill>
                </a:rPr>
                <a:t>Control boards</a:t>
              </a:r>
              <a:endParaRPr kumimoji="1" lang="ja-JP" altLang="en-US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E592A8A-820F-A0CC-39FD-608B9DB742AA}"/>
              </a:ext>
            </a:extLst>
          </p:cNvPr>
          <p:cNvSpPr txBox="1"/>
          <p:nvPr/>
        </p:nvSpPr>
        <p:spPr>
          <a:xfrm>
            <a:off x="546198" y="662692"/>
            <a:ext cx="96161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100" dirty="0"/>
              <a:t>Check the geometry by PHIG-3D and/or [T-Track] with </a:t>
            </a:r>
            <a:r>
              <a:rPr lang="en-US" altLang="ja-JP" sz="3100" dirty="0" err="1"/>
              <a:t>icntl</a:t>
            </a:r>
            <a:r>
              <a:rPr lang="en-US" altLang="ja-JP" sz="3100" dirty="0"/>
              <a:t> = 8</a:t>
            </a:r>
            <a:endParaRPr kumimoji="1" lang="ja-JP" altLang="en-US" sz="3100" dirty="0"/>
          </a:p>
        </p:txBody>
      </p:sp>
    </p:spTree>
    <p:extLst>
      <p:ext uri="{BB962C8B-B14F-4D97-AF65-F5344CB8AC3E}">
        <p14:creationId xmlns:p14="http://schemas.microsoft.com/office/powerpoint/2010/main" val="1257047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8A52E-CECB-6111-7F14-10215D843B4C}"/>
              </a:ext>
            </a:extLst>
          </p:cNvPr>
          <p:cNvSpPr txBox="1"/>
          <p:nvPr/>
        </p:nvSpPr>
        <p:spPr>
          <a:xfrm>
            <a:off x="1212994" y="280084"/>
            <a:ext cx="76546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dirty="0">
                <a:solidFill>
                  <a:schemeClr val="accent2"/>
                </a:solidFill>
              </a:rPr>
              <a:t>Step 5: Set [Multiplier] section</a:t>
            </a:r>
            <a:endParaRPr kumimoji="1" lang="ja-JP" altLang="en-US" sz="4400" dirty="0">
              <a:solidFill>
                <a:schemeClr val="accent2"/>
              </a:solidFill>
            </a:endParaRP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83B5FFA2-7871-057A-FF66-0E43E747B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14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C9573FD-11DC-1532-B52D-AECDC50A829C}"/>
              </a:ext>
            </a:extLst>
          </p:cNvPr>
          <p:cNvSpPr txBox="1"/>
          <p:nvPr/>
        </p:nvSpPr>
        <p:spPr>
          <a:xfrm>
            <a:off x="170677" y="1254703"/>
            <a:ext cx="97476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Set [Multiplier] section to use SEU cross section with the critical charge of 1.0 </a:t>
            </a:r>
            <a:r>
              <a:rPr lang="en-US" altLang="ja-JP" sz="3200" dirty="0" err="1"/>
              <a:t>fC</a:t>
            </a:r>
            <a:r>
              <a:rPr lang="en-US" altLang="ja-JP" sz="3200" dirty="0"/>
              <a:t>.</a:t>
            </a:r>
            <a:endParaRPr kumimoji="1" lang="ja-JP" altLang="en-US" sz="32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AF049EF-C1E4-F8FC-2898-E0351E3C1BBC}"/>
              </a:ext>
            </a:extLst>
          </p:cNvPr>
          <p:cNvSpPr txBox="1"/>
          <p:nvPr/>
        </p:nvSpPr>
        <p:spPr>
          <a:xfrm>
            <a:off x="637564" y="2699746"/>
            <a:ext cx="91407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̶"/>
            </a:pPr>
            <a:r>
              <a:rPr kumimoji="1" lang="en-US" altLang="ja-JP" sz="2800" dirty="0"/>
              <a:t>When the value of critical charge is set in the cell B8 of the sheet of “SEU_CS”, SEU cross section for each incident energy is obtained in D ~ F columns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DEA48A4-2955-93AF-D9AA-3EFFFCE718C6}"/>
              </a:ext>
            </a:extLst>
          </p:cNvPr>
          <p:cNvSpPr txBox="1"/>
          <p:nvPr/>
        </p:nvSpPr>
        <p:spPr>
          <a:xfrm>
            <a:off x="495300" y="2280277"/>
            <a:ext cx="802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kumimoji="1" lang="en-US" altLang="ja-JP" dirty="0">
                <a:solidFill>
                  <a:schemeClr val="bg1">
                    <a:lumMod val="50000"/>
                  </a:schemeClr>
                </a:solidFill>
              </a:rPr>
              <a:t>Ref.) How to use multiplier:  </a:t>
            </a:r>
            <a:r>
              <a:rPr kumimoji="1" lang="en-US" altLang="ja-JP" dirty="0" err="1">
                <a:solidFill>
                  <a:schemeClr val="bg1">
                    <a:lumMod val="50000"/>
                  </a:schemeClr>
                </a:solidFill>
              </a:rPr>
              <a:t>phits</a:t>
            </a:r>
            <a:r>
              <a:rPr kumimoji="1" lang="en-US" altLang="ja-JP" dirty="0">
                <a:solidFill>
                  <a:schemeClr val="bg1">
                    <a:lumMod val="50000"/>
                  </a:schemeClr>
                </a:solidFill>
              </a:rPr>
              <a:t>\lecture\advanced\option</a:t>
            </a:r>
            <a:endParaRPr kumimoji="1" lang="ja-JP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436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3F2B0AF-3915-64EF-125A-CB9356E971C8}"/>
              </a:ext>
            </a:extLst>
          </p:cNvPr>
          <p:cNvSpPr txBox="1"/>
          <p:nvPr/>
        </p:nvSpPr>
        <p:spPr>
          <a:xfrm>
            <a:off x="5980674" y="1614617"/>
            <a:ext cx="368722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it-IT" altLang="ja-JP" dirty="0"/>
              <a:t>[ Multiplier ]</a:t>
            </a:r>
          </a:p>
          <a:p>
            <a:r>
              <a:rPr kumimoji="1" lang="it-IT" altLang="ja-JP" dirty="0"/>
              <a:t>  number = -200</a:t>
            </a:r>
          </a:p>
          <a:p>
            <a:r>
              <a:rPr kumimoji="1" lang="it-IT" altLang="ja-JP" dirty="0"/>
              <a:t>  interpolation = log</a:t>
            </a:r>
          </a:p>
          <a:p>
            <a:r>
              <a:rPr kumimoji="1" lang="it-IT" altLang="ja-JP" dirty="0"/>
              <a:t>  part = 4He</a:t>
            </a:r>
          </a:p>
          <a:p>
            <a:r>
              <a:rPr kumimoji="1" lang="it-IT" altLang="ja-JP" dirty="0"/>
              <a:t>  ne = 5</a:t>
            </a:r>
          </a:p>
          <a:p>
            <a:r>
              <a:rPr kumimoji="1" lang="it-IT" altLang="ja-JP" dirty="0"/>
              <a:t>$  E_in (MeV/u),  </a:t>
            </a:r>
            <a:r>
              <a:rPr kumimoji="1" lang="en-US" altLang="ja-JP" dirty="0"/>
              <a:t>σ</a:t>
            </a:r>
            <a:r>
              <a:rPr kumimoji="1" lang="it-IT" altLang="ja-JP" dirty="0"/>
              <a:t>_SEU (cm2/bit)</a:t>
            </a:r>
          </a:p>
          <a:p>
            <a:r>
              <a:rPr kumimoji="1" lang="it-IT" altLang="ja-JP" dirty="0"/>
              <a:t> 8.0e+0            0.00e-0</a:t>
            </a:r>
          </a:p>
          <a:p>
            <a:r>
              <a:rPr kumimoji="1" lang="it-IT" altLang="ja-JP" dirty="0"/>
              <a:t>       1.0e+1            1.64e-</a:t>
            </a:r>
            <a:r>
              <a:rPr kumimoji="1" lang="en-US" altLang="ja-JP" dirty="0"/>
              <a:t>12</a:t>
            </a:r>
            <a:endParaRPr kumimoji="1" lang="it-IT" altLang="ja-JP" dirty="0"/>
          </a:p>
          <a:p>
            <a:r>
              <a:rPr kumimoji="1" lang="it-IT" altLang="ja-JP" dirty="0"/>
              <a:t>       2.5e+1            2.00e-13</a:t>
            </a:r>
          </a:p>
          <a:p>
            <a:r>
              <a:rPr kumimoji="1" lang="it-IT" altLang="ja-JP" dirty="0"/>
              <a:t>       2.0e+2            8.00e-13</a:t>
            </a:r>
          </a:p>
          <a:p>
            <a:r>
              <a:rPr kumimoji="1" lang="it-IT" altLang="ja-JP" dirty="0"/>
              <a:t>       2.0e+3            2.80e-13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6355C9C3-42E6-69CB-9CF8-C3F6B10CD0BA}"/>
              </a:ext>
            </a:extLst>
          </p:cNvPr>
          <p:cNvCxnSpPr/>
          <p:nvPr/>
        </p:nvCxnSpPr>
        <p:spPr>
          <a:xfrm flipH="1">
            <a:off x="8073082" y="1853513"/>
            <a:ext cx="360000" cy="3600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39DF547-F0AC-AA79-0BEE-AA0472275432}"/>
              </a:ext>
            </a:extLst>
          </p:cNvPr>
          <p:cNvSpPr txBox="1"/>
          <p:nvPr/>
        </p:nvSpPr>
        <p:spPr>
          <a:xfrm>
            <a:off x="7755877" y="1453435"/>
            <a:ext cx="2291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00B050"/>
                </a:solidFill>
              </a:rPr>
              <a:t>log-log interpolation</a:t>
            </a:r>
            <a:endParaRPr kumimoji="1" lang="ja-JP" altLang="en-US" dirty="0">
              <a:solidFill>
                <a:srgbClr val="00B050"/>
              </a:solidFill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9E5ABDA8-DDC0-0E94-4B27-04649BF5F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15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4F22919-4E88-38DD-F1D1-6B5F18B0262A}"/>
              </a:ext>
            </a:extLst>
          </p:cNvPr>
          <p:cNvSpPr/>
          <p:nvPr/>
        </p:nvSpPr>
        <p:spPr>
          <a:xfrm>
            <a:off x="5955275" y="1402635"/>
            <a:ext cx="3955788" cy="335130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E58A144-5711-D17B-2039-19883ABFE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2" y="511266"/>
            <a:ext cx="5967412" cy="5810669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C980572-23E8-F322-2815-065B8E33B2A3}"/>
              </a:ext>
            </a:extLst>
          </p:cNvPr>
          <p:cNvCxnSpPr/>
          <p:nvPr/>
        </p:nvCxnSpPr>
        <p:spPr>
          <a:xfrm>
            <a:off x="5071485" y="3221182"/>
            <a:ext cx="653906" cy="0"/>
          </a:xfrm>
          <a:prstGeom prst="line">
            <a:avLst/>
          </a:prstGeom>
          <a:ln w="19050">
            <a:solidFill>
              <a:schemeClr val="accent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29F2B00-0984-C5D8-C4E2-3673FA52E64A}"/>
              </a:ext>
            </a:extLst>
          </p:cNvPr>
          <p:cNvSpPr txBox="1"/>
          <p:nvPr/>
        </p:nvSpPr>
        <p:spPr>
          <a:xfrm>
            <a:off x="5492838" y="6001112"/>
            <a:ext cx="4288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schemeClr val="accent6"/>
                </a:solidFill>
              </a:rPr>
              <a:t>Last data is applied when multiplier does not defined.</a:t>
            </a:r>
            <a:endParaRPr kumimoji="1" lang="ja-JP" altLang="en-US" sz="2400" dirty="0">
              <a:solidFill>
                <a:schemeClr val="accent6"/>
              </a:solidFill>
            </a:endParaRP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3A6D2DAC-2720-54B4-28A0-6943DB5D4F9E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>
            <a:off x="5398438" y="3407071"/>
            <a:ext cx="94400" cy="3009541"/>
          </a:xfrm>
          <a:prstGeom prst="bentConnector2">
            <a:avLst/>
          </a:prstGeom>
          <a:ln w="381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565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8A52E-CECB-6111-7F14-10215D843B4C}"/>
              </a:ext>
            </a:extLst>
          </p:cNvPr>
          <p:cNvSpPr txBox="1"/>
          <p:nvPr/>
        </p:nvSpPr>
        <p:spPr>
          <a:xfrm>
            <a:off x="1573667" y="280084"/>
            <a:ext cx="69333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dirty="0">
                <a:solidFill>
                  <a:schemeClr val="accent2"/>
                </a:solidFill>
              </a:rPr>
              <a:t>Step 6: Calculate SEU rate</a:t>
            </a:r>
            <a:endParaRPr kumimoji="1" lang="ja-JP" altLang="en-US" sz="4400" dirty="0">
              <a:solidFill>
                <a:schemeClr val="accent2"/>
              </a:solidFill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5B0024E5-7603-7D91-7BAF-E4A917715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16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96EC1FB-DD65-E7A3-B9CD-A45E4E530B85}"/>
              </a:ext>
            </a:extLst>
          </p:cNvPr>
          <p:cNvSpPr txBox="1"/>
          <p:nvPr/>
        </p:nvSpPr>
        <p:spPr>
          <a:xfrm>
            <a:off x="495300" y="3792555"/>
            <a:ext cx="8394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chemeClr val="bg1">
                    <a:lumMod val="50000"/>
                  </a:schemeClr>
                </a:solidFill>
              </a:rPr>
              <a:t>* If computational time is too long, please reduce </a:t>
            </a:r>
            <a:r>
              <a:rPr kumimoji="1" lang="en-US" altLang="ja-JP" sz="2000" dirty="0" err="1">
                <a:solidFill>
                  <a:schemeClr val="bg1">
                    <a:lumMod val="50000"/>
                  </a:schemeClr>
                </a:solidFill>
              </a:rPr>
              <a:t>maxcas</a:t>
            </a:r>
            <a:r>
              <a:rPr kumimoji="1" lang="en-US" altLang="ja-JP" sz="2000" dirty="0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kumimoji="1" lang="en-US" altLang="ja-JP" sz="2000" dirty="0" err="1">
                <a:solidFill>
                  <a:schemeClr val="bg1">
                    <a:lumMod val="50000"/>
                  </a:schemeClr>
                </a:solidFill>
              </a:rPr>
              <a:t>maxbch</a:t>
            </a:r>
            <a:endParaRPr kumimoji="1" lang="ja-JP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7CD89DA-9FE8-2199-5D62-8F52B16A4103}"/>
              </a:ext>
            </a:extLst>
          </p:cNvPr>
          <p:cNvSpPr txBox="1"/>
          <p:nvPr/>
        </p:nvSpPr>
        <p:spPr>
          <a:xfrm>
            <a:off x="163786" y="1172692"/>
            <a:ext cx="97309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Modify parameters of 2nd [T-Track] sections to output SEU rate of image sensor (cell 151) and control boards (cell 152, 153, 154)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65DC59C-05D8-5DD8-2319-3673381A27E4}"/>
              </a:ext>
            </a:extLst>
          </p:cNvPr>
          <p:cNvSpPr txBox="1"/>
          <p:nvPr/>
        </p:nvSpPr>
        <p:spPr>
          <a:xfrm>
            <a:off x="163786" y="3213253"/>
            <a:ext cx="9730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Change “</a:t>
            </a:r>
            <a:r>
              <a:rPr lang="en-US" altLang="ja-JP" sz="3200" dirty="0" err="1"/>
              <a:t>icntl</a:t>
            </a:r>
            <a:r>
              <a:rPr lang="en-US" altLang="ja-JP" sz="3200" dirty="0"/>
              <a:t>=0”, run PHITS and check results</a:t>
            </a:r>
          </a:p>
        </p:txBody>
      </p:sp>
    </p:spTree>
    <p:extLst>
      <p:ext uri="{BB962C8B-B14F-4D97-AF65-F5344CB8AC3E}">
        <p14:creationId xmlns:p14="http://schemas.microsoft.com/office/powerpoint/2010/main" val="657336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52E065A1-3008-FF0D-78E6-7516E9AFA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17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6790D384-1157-C1A3-16AF-5E7C471F7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615040"/>
              </p:ext>
            </p:extLst>
          </p:nvPr>
        </p:nvGraphicFramePr>
        <p:xfrm>
          <a:off x="3873296" y="527567"/>
          <a:ext cx="4212590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8330">
                  <a:extLst>
                    <a:ext uri="{9D8B030D-6E8A-4147-A177-3AD203B41FA5}">
                      <a16:colId xmlns:a16="http://schemas.microsoft.com/office/drawing/2014/main" val="3045167336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3897522665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580603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Parts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Cell ID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SEU rate</a:t>
                      </a:r>
                    </a:p>
                    <a:p>
                      <a:pPr algn="ctr"/>
                      <a:r>
                        <a:rPr kumimoji="1" lang="en-US" altLang="ja-JP" dirty="0"/>
                        <a:t>(error/s/bit)</a:t>
                      </a:r>
                      <a:endParaRPr kumimoji="1" lang="ja-JP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969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Image sensor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1.780e-13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991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Control board 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1.818e-13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624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Control board 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2.056e-13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08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Control board 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1.805e-13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256627"/>
                  </a:ext>
                </a:extLst>
              </a:tr>
            </a:tbl>
          </a:graphicData>
        </a:graphic>
      </p:graphicFrame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EDE7464F-4710-70AD-3496-792A1867137F}"/>
              </a:ext>
            </a:extLst>
          </p:cNvPr>
          <p:cNvGrpSpPr/>
          <p:nvPr/>
        </p:nvGrpSpPr>
        <p:grpSpPr>
          <a:xfrm>
            <a:off x="265409" y="527567"/>
            <a:ext cx="3078964" cy="5302791"/>
            <a:chOff x="265409" y="527567"/>
            <a:chExt cx="3078964" cy="5302791"/>
          </a:xfrm>
        </p:grpSpPr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B24D231-E5BF-3AF1-8887-509C2FD812F7}"/>
                </a:ext>
              </a:extLst>
            </p:cNvPr>
            <p:cNvSpPr txBox="1"/>
            <p:nvPr/>
          </p:nvSpPr>
          <p:spPr>
            <a:xfrm>
              <a:off x="328203" y="567379"/>
              <a:ext cx="3016170" cy="5262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/>
                <a:t>[ T - T r a c k ]</a:t>
              </a:r>
            </a:p>
            <a:p>
              <a:r>
                <a:rPr kumimoji="1" lang="en-US" altLang="ja-JP" sz="1600" dirty="0"/>
                <a:t>     mesh =  reg</a:t>
              </a:r>
            </a:p>
            <a:p>
              <a:r>
                <a:rPr kumimoji="1" lang="en-US" altLang="ja-JP" sz="1600" dirty="0"/>
                <a:t>      reg =  </a:t>
              </a:r>
              <a:r>
                <a:rPr kumimoji="1" lang="en-US" altLang="ja-JP" sz="1600" dirty="0">
                  <a:solidFill>
                    <a:srgbClr val="FF0000"/>
                  </a:solidFill>
                </a:rPr>
                <a:t>151</a:t>
              </a:r>
              <a:r>
                <a:rPr kumimoji="1" lang="en-US" altLang="ja-JP" sz="1600" dirty="0"/>
                <a:t>  152  </a:t>
              </a:r>
              <a:r>
                <a:rPr kumimoji="1" lang="en-US" altLang="ja-JP" sz="1600" dirty="0">
                  <a:solidFill>
                    <a:srgbClr val="FF0000"/>
                  </a:solidFill>
                </a:rPr>
                <a:t>153  154</a:t>
              </a:r>
            </a:p>
            <a:p>
              <a:r>
                <a:rPr kumimoji="1" lang="en-US" altLang="ja-JP" sz="1600" dirty="0"/>
                <a:t>   volume</a:t>
              </a:r>
            </a:p>
            <a:p>
              <a:r>
                <a:rPr kumimoji="1" lang="en-US" altLang="ja-JP" sz="1600" dirty="0"/>
                <a:t>   reg   vol</a:t>
              </a:r>
            </a:p>
            <a:p>
              <a:r>
                <a:rPr kumimoji="1" lang="en-US" altLang="ja-JP" sz="1600" dirty="0">
                  <a:solidFill>
                    <a:srgbClr val="FF0000"/>
                  </a:solidFill>
                </a:rPr>
                <a:t>   151   4.0*4.0*0.1</a:t>
              </a:r>
            </a:p>
            <a:p>
              <a:r>
                <a:rPr kumimoji="1" lang="en-US" altLang="ja-JP" sz="1600" dirty="0"/>
                <a:t>   152   4.0*4.0*0.1</a:t>
              </a:r>
            </a:p>
            <a:p>
              <a:r>
                <a:rPr kumimoji="1" lang="en-US" altLang="ja-JP" sz="1600" dirty="0">
                  <a:solidFill>
                    <a:srgbClr val="FF0000"/>
                  </a:solidFill>
                </a:rPr>
                <a:t>   153   4.0*4.0*0.1</a:t>
              </a:r>
            </a:p>
            <a:p>
              <a:r>
                <a:rPr kumimoji="1" lang="en-US" altLang="ja-JP" sz="1600" dirty="0">
                  <a:solidFill>
                    <a:srgbClr val="FF0000"/>
                  </a:solidFill>
                </a:rPr>
                <a:t>   154   4.0*4.0*0.1</a:t>
              </a:r>
            </a:p>
            <a:p>
              <a:r>
                <a:rPr kumimoji="1" lang="en-US" altLang="ja-JP" sz="1600" dirty="0"/>
                <a:t>   e-type =    1</a:t>
              </a:r>
            </a:p>
            <a:p>
              <a:r>
                <a:rPr kumimoji="1" lang="en-US" altLang="ja-JP" sz="1600" dirty="0"/>
                <a:t>       ne =    1</a:t>
              </a:r>
            </a:p>
            <a:p>
              <a:r>
                <a:rPr kumimoji="1" lang="en-US" altLang="ja-JP" sz="1600" dirty="0"/>
                <a:t>             0.0  1.0e+6</a:t>
              </a:r>
            </a:p>
            <a:p>
              <a:r>
                <a:rPr kumimoji="1" lang="en-US" altLang="ja-JP" sz="1600" dirty="0"/>
                <a:t>     unit =    1</a:t>
              </a:r>
            </a:p>
            <a:p>
              <a:r>
                <a:rPr kumimoji="1" lang="en-US" altLang="ja-JP" sz="1600" dirty="0"/>
                <a:t>     axis =   reg</a:t>
              </a:r>
            </a:p>
            <a:p>
              <a:r>
                <a:rPr kumimoji="1" lang="en-US" altLang="ja-JP" sz="1600" dirty="0"/>
                <a:t>     file = </a:t>
              </a:r>
              <a:r>
                <a:rPr kumimoji="1" lang="en-US" altLang="ja-JP" sz="1600" dirty="0" err="1"/>
                <a:t>ttrack-reg.out</a:t>
              </a:r>
              <a:endParaRPr kumimoji="1" lang="en-US" altLang="ja-JP" sz="1600" dirty="0"/>
            </a:p>
            <a:p>
              <a:r>
                <a:rPr kumimoji="1" lang="en-US" altLang="ja-JP" sz="1600" dirty="0"/>
                <a:t>     part = 4He</a:t>
              </a:r>
            </a:p>
            <a:p>
              <a:r>
                <a:rPr kumimoji="1" lang="en-US" altLang="ja-JP" sz="1600" dirty="0"/>
                <a:t>    </a:t>
              </a:r>
              <a:r>
                <a:rPr kumimoji="1" lang="en-US" altLang="ja-JP" sz="1600" dirty="0" err="1"/>
                <a:t>gshow</a:t>
              </a:r>
              <a:r>
                <a:rPr kumimoji="1" lang="en-US" altLang="ja-JP" sz="1600" dirty="0"/>
                <a:t> =    1</a:t>
              </a:r>
            </a:p>
            <a:p>
              <a:r>
                <a:rPr kumimoji="1" lang="en-US" altLang="ja-JP" sz="1600" dirty="0"/>
                <a:t>   </a:t>
              </a:r>
              <a:r>
                <a:rPr kumimoji="1" lang="en-US" altLang="ja-JP" sz="1600" dirty="0" err="1"/>
                <a:t>epsout</a:t>
              </a:r>
              <a:r>
                <a:rPr kumimoji="1" lang="en-US" altLang="ja-JP" sz="1600" dirty="0"/>
                <a:t> =    1</a:t>
              </a:r>
            </a:p>
            <a:p>
              <a:r>
                <a:rPr kumimoji="1" lang="en-US" altLang="ja-JP" sz="1600" dirty="0"/>
                <a:t>  multiplier = all</a:t>
              </a:r>
            </a:p>
            <a:p>
              <a:r>
                <a:rPr kumimoji="1" lang="en-US" altLang="ja-JP" sz="1600" dirty="0"/>
                <a:t>   mat  mset1</a:t>
              </a:r>
            </a:p>
            <a:p>
              <a:r>
                <a:rPr kumimoji="1" lang="en-US" altLang="ja-JP" sz="1600" dirty="0"/>
                <a:t>   all  (1  -200)</a:t>
              </a: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34C72FC4-BCB4-0197-D2B8-B4C52EB89F2E}"/>
                </a:ext>
              </a:extLst>
            </p:cNvPr>
            <p:cNvSpPr/>
            <p:nvPr/>
          </p:nvSpPr>
          <p:spPr>
            <a:xfrm>
              <a:off x="265409" y="527567"/>
              <a:ext cx="2928433" cy="5302791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13D22E67-22DC-AFE6-EFF0-52891B9A8BBE}"/>
              </a:ext>
            </a:extLst>
          </p:cNvPr>
          <p:cNvGrpSpPr/>
          <p:nvPr/>
        </p:nvGrpSpPr>
        <p:grpSpPr>
          <a:xfrm>
            <a:off x="3407366" y="3140036"/>
            <a:ext cx="6568421" cy="4150800"/>
            <a:chOff x="3407366" y="3140036"/>
            <a:chExt cx="6568421" cy="4150800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60D62126-D3A0-A76E-DD7E-A227597F1D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4385" t="25870" r="8523" b="10963"/>
            <a:stretch/>
          </p:blipFill>
          <p:spPr>
            <a:xfrm>
              <a:off x="3407366" y="3140036"/>
              <a:ext cx="6568421" cy="4150800"/>
            </a:xfrm>
            <a:prstGeom prst="rect">
              <a:avLst/>
            </a:prstGeom>
          </p:spPr>
        </p:pic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BA531161-C567-F0D9-C48A-D44CBAD64095}"/>
                </a:ext>
              </a:extLst>
            </p:cNvPr>
            <p:cNvGrpSpPr/>
            <p:nvPr/>
          </p:nvGrpSpPr>
          <p:grpSpPr>
            <a:xfrm>
              <a:off x="8112687" y="4088338"/>
              <a:ext cx="371218" cy="1705916"/>
              <a:chOff x="7911801" y="4369785"/>
              <a:chExt cx="371218" cy="1705916"/>
            </a:xfrm>
          </p:grpSpPr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614EFD9F-2FDA-317A-15A8-3AA737B1C0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11801" y="4701987"/>
                <a:ext cx="0" cy="118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05370536-BF61-DE47-DA9F-B4179E536D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0631" y="4701987"/>
                <a:ext cx="0" cy="118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5FB59211-BDC3-1B36-BE18-C7611343D159}"/>
                  </a:ext>
                </a:extLst>
              </p:cNvPr>
              <p:cNvSpPr txBox="1"/>
              <p:nvPr/>
            </p:nvSpPr>
            <p:spPr>
              <a:xfrm rot="16200000">
                <a:off x="7291562" y="5084243"/>
                <a:ext cx="17059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200" dirty="0"/>
                  <a:t>SEU rate (err/s/bit)</a:t>
                </a:r>
                <a:endParaRPr kumimoji="1" lang="ja-JP" altLang="en-US" sz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0085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8F11CFE-2A82-8DDD-7909-12AEF461AD34}"/>
              </a:ext>
            </a:extLst>
          </p:cNvPr>
          <p:cNvSpPr txBox="1"/>
          <p:nvPr/>
        </p:nvSpPr>
        <p:spPr>
          <a:xfrm>
            <a:off x="251922" y="1942302"/>
            <a:ext cx="95156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Increase the thickness of small satellite wall and check the effect of SER rate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ACC76A-533D-1996-3B10-A3E234B3AC30}"/>
              </a:ext>
            </a:extLst>
          </p:cNvPr>
          <p:cNvSpPr txBox="1"/>
          <p:nvPr/>
        </p:nvSpPr>
        <p:spPr>
          <a:xfrm>
            <a:off x="156520" y="280084"/>
            <a:ext cx="97675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>
                <a:solidFill>
                  <a:schemeClr val="accent2"/>
                </a:solidFill>
              </a:rPr>
              <a:t>Step 7: Investigate the effect of thickening</a:t>
            </a:r>
          </a:p>
          <a:p>
            <a:r>
              <a:rPr kumimoji="1" lang="en-US" altLang="ja-JP" sz="4000" dirty="0">
                <a:solidFill>
                  <a:schemeClr val="accent2"/>
                </a:solidFill>
              </a:rPr>
              <a:t>            outer wall on SEU rate</a:t>
            </a:r>
            <a:endParaRPr kumimoji="1" lang="ja-JP" altLang="en-US" sz="4000" dirty="0">
              <a:solidFill>
                <a:schemeClr val="accent2"/>
              </a:solidFill>
            </a:endParaRP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9B3EBD5D-6BB2-5C3F-122A-44FCF7FD1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18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9848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E8075BF1-4B8A-FACE-D10D-D408DFA26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97655"/>
              </p:ext>
            </p:extLst>
          </p:nvPr>
        </p:nvGraphicFramePr>
        <p:xfrm>
          <a:off x="1143952" y="1696218"/>
          <a:ext cx="779272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1180">
                  <a:extLst>
                    <a:ext uri="{9D8B030D-6E8A-4147-A177-3AD203B41FA5}">
                      <a16:colId xmlns:a16="http://schemas.microsoft.com/office/drawing/2014/main" val="1152037700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3897522665"/>
                    </a:ext>
                  </a:extLst>
                </a:gridCol>
                <a:gridCol w="2519680">
                  <a:extLst>
                    <a:ext uri="{9D8B030D-6E8A-4147-A177-3AD203B41FA5}">
                      <a16:colId xmlns:a16="http://schemas.microsoft.com/office/drawing/2014/main" val="2580603896"/>
                    </a:ext>
                  </a:extLst>
                </a:gridCol>
                <a:gridCol w="2519680">
                  <a:extLst>
                    <a:ext uri="{9D8B030D-6E8A-4147-A177-3AD203B41FA5}">
                      <a16:colId xmlns:a16="http://schemas.microsoft.com/office/drawing/2014/main" val="3319639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SEU rate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(error/s/bit)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883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Parts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Cell ID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Wall thickness: 0.2 cm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Wall thickness: 1.2 cm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969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Image sensor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1.780e-13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1.642e-13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991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Control board 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1.818e-13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1.656e-13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624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Control board 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2.056e-13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1.904e-13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08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Control board 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1.805e-13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1.669e-13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256627"/>
                  </a:ext>
                </a:extLst>
              </a:tr>
            </a:tbl>
          </a:graphicData>
        </a:graphic>
      </p:graphicFrame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36CE9F80-B5BA-71FD-6F84-DEE7BB851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950360"/>
              </p:ext>
            </p:extLst>
          </p:nvPr>
        </p:nvGraphicFramePr>
        <p:xfrm>
          <a:off x="1143952" y="4071233"/>
          <a:ext cx="7794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4000">
                  <a:extLst>
                    <a:ext uri="{9D8B030D-6E8A-4147-A177-3AD203B41FA5}">
                      <a16:colId xmlns:a16="http://schemas.microsoft.com/office/drawing/2014/main" val="3897522665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580603896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3319639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Wall volume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(cm</a:t>
                      </a:r>
                      <a:r>
                        <a:rPr kumimoji="1" lang="en-US" altLang="ja-JP" baseline="30000" dirty="0"/>
                        <a:t>3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76.1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584.1</a:t>
                      </a:r>
                      <a:endParaRPr kumimoji="1" lang="ja-JP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969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Wall mass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(kg)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0.21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1.58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991979"/>
                  </a:ext>
                </a:extLst>
              </a:tr>
            </a:tbl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D68A8A2-07DA-D71E-757D-414475AB0E4D}"/>
              </a:ext>
            </a:extLst>
          </p:cNvPr>
          <p:cNvSpPr txBox="1"/>
          <p:nvPr/>
        </p:nvSpPr>
        <p:spPr>
          <a:xfrm>
            <a:off x="393112" y="5420497"/>
            <a:ext cx="8074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Mass of a 10 cm cube nanosatellite is approximately 1 kg</a:t>
            </a:r>
            <a:endParaRPr kumimoji="1" lang="ja-JP" altLang="en-US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9F8A098-4BB0-B42F-1CDE-D9F134CF7ECB}"/>
              </a:ext>
            </a:extLst>
          </p:cNvPr>
          <p:cNvSpPr txBox="1"/>
          <p:nvPr/>
        </p:nvSpPr>
        <p:spPr>
          <a:xfrm>
            <a:off x="879145" y="5863457"/>
            <a:ext cx="87449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SEU rate is reduced only about 10% even though the mass of nanosatellite more than doubles</a:t>
            </a:r>
            <a:endParaRPr kumimoji="1" lang="ja-JP" altLang="en-US" sz="2400" dirty="0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30C98C44-F50D-44A8-EBAB-2289F8004203}"/>
              </a:ext>
            </a:extLst>
          </p:cNvPr>
          <p:cNvSpPr/>
          <p:nvPr/>
        </p:nvSpPr>
        <p:spPr>
          <a:xfrm>
            <a:off x="494430" y="5959642"/>
            <a:ext cx="360000" cy="288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1E26C8A-EAF6-1D6A-4B5A-BB596ADE3051}"/>
              </a:ext>
            </a:extLst>
          </p:cNvPr>
          <p:cNvSpPr txBox="1"/>
          <p:nvPr/>
        </p:nvSpPr>
        <p:spPr>
          <a:xfrm>
            <a:off x="8112207" y="4824581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+ 1.37 kg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493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8A52E-CECB-6111-7F14-10215D843B4C}"/>
              </a:ext>
            </a:extLst>
          </p:cNvPr>
          <p:cNvSpPr txBox="1"/>
          <p:nvPr/>
        </p:nvSpPr>
        <p:spPr>
          <a:xfrm>
            <a:off x="2061775" y="280084"/>
            <a:ext cx="59570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dirty="0"/>
              <a:t>Additional exercise (1)</a:t>
            </a:r>
            <a:endParaRPr kumimoji="1" lang="ja-JP" altLang="en-US" sz="4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73D714-0A71-A069-1336-73D72865B31B}"/>
              </a:ext>
            </a:extLst>
          </p:cNvPr>
          <p:cNvSpPr txBox="1"/>
          <p:nvPr/>
        </p:nvSpPr>
        <p:spPr>
          <a:xfrm>
            <a:off x="282480" y="1444940"/>
            <a:ext cx="92569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In the calculation of SEU cross section, turn off parameters of </a:t>
            </a:r>
            <a:r>
              <a:rPr lang="en-US" altLang="ja-JP" sz="3200" dirty="0" err="1"/>
              <a:t>nspred</a:t>
            </a:r>
            <a:r>
              <a:rPr lang="en-US" altLang="ja-JP" sz="3200" dirty="0"/>
              <a:t> and </a:t>
            </a:r>
            <a:r>
              <a:rPr lang="en-US" altLang="ja-JP" sz="3200" dirty="0" err="1"/>
              <a:t>nedisp</a:t>
            </a:r>
            <a:r>
              <a:rPr lang="en-US" altLang="ja-JP" sz="3200" dirty="0"/>
              <a:t> and check the result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6CE5E8-79D0-22C7-5014-15C3EAEC0855}"/>
              </a:ext>
            </a:extLst>
          </p:cNvPr>
          <p:cNvSpPr txBox="1"/>
          <p:nvPr/>
        </p:nvSpPr>
        <p:spPr>
          <a:xfrm>
            <a:off x="541971" y="2993408"/>
            <a:ext cx="83219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(Please copy the excel file to compare the SEU cross section with the original setting</a:t>
            </a:r>
            <a:r>
              <a:rPr lang="ja-JP" altLang="en-US" sz="3200" dirty="0"/>
              <a:t>）</a:t>
            </a:r>
            <a:endParaRPr lang="en-US" altLang="ja-JP" sz="3200" dirty="0"/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C0E9D079-F2FB-F499-0A2F-14A0DE1D0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20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5502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73D714-0A71-A069-1336-73D72865B31B}"/>
              </a:ext>
            </a:extLst>
          </p:cNvPr>
          <p:cNvSpPr txBox="1"/>
          <p:nvPr/>
        </p:nvSpPr>
        <p:spPr>
          <a:xfrm>
            <a:off x="282480" y="1444940"/>
            <a:ext cx="92569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Turn on the </a:t>
            </a:r>
            <a:r>
              <a:rPr lang="en-US" altLang="ja-JP" sz="3200" dirty="0" err="1"/>
              <a:t>nspred</a:t>
            </a:r>
            <a:r>
              <a:rPr lang="en-US" altLang="ja-JP" sz="3200" dirty="0"/>
              <a:t> and </a:t>
            </a:r>
            <a:r>
              <a:rPr lang="en-US" altLang="ja-JP" sz="3200" dirty="0" err="1"/>
              <a:t>nedisp</a:t>
            </a:r>
            <a:r>
              <a:rPr lang="en-US" altLang="ja-JP" sz="3200" dirty="0"/>
              <a:t>, and then extend the area of semiconductor device and check the SEU cross section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29D43CC-75E5-9F98-588A-398320361388}"/>
              </a:ext>
            </a:extLst>
          </p:cNvPr>
          <p:cNvSpPr txBox="1"/>
          <p:nvPr/>
        </p:nvSpPr>
        <p:spPr>
          <a:xfrm>
            <a:off x="2155551" y="280084"/>
            <a:ext cx="57695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dirty="0"/>
              <a:t>Additional exercise (2)</a:t>
            </a:r>
            <a:endParaRPr kumimoji="1" lang="ja-JP" altLang="en-US" sz="4400" dirty="0"/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45B15D28-0C50-4656-1D92-54045D31D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21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9150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73D714-0A71-A069-1336-73D72865B31B}"/>
              </a:ext>
            </a:extLst>
          </p:cNvPr>
          <p:cNvSpPr txBox="1"/>
          <p:nvPr/>
        </p:nvSpPr>
        <p:spPr>
          <a:xfrm>
            <a:off x="282480" y="1444940"/>
            <a:ext cx="9256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Calculate SEU cross section with the other incident energies to obtain smooth curve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65DAA44-86E6-560E-6EC5-0321F54A5F81}"/>
              </a:ext>
            </a:extLst>
          </p:cNvPr>
          <p:cNvSpPr txBox="1"/>
          <p:nvPr/>
        </p:nvSpPr>
        <p:spPr>
          <a:xfrm>
            <a:off x="282480" y="3038961"/>
            <a:ext cx="94875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Do step 1 ~ 6 for the other ions, and then discuss the main cause of SEUs in space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F5F9BB-51F0-540E-9E28-6A9EFFD60AE3}"/>
              </a:ext>
            </a:extLst>
          </p:cNvPr>
          <p:cNvSpPr txBox="1"/>
          <p:nvPr/>
        </p:nvSpPr>
        <p:spPr>
          <a:xfrm>
            <a:off x="2061775" y="280084"/>
            <a:ext cx="59570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400" dirty="0"/>
              <a:t>Additional exercise (3)</a:t>
            </a:r>
            <a:endParaRPr kumimoji="1" lang="ja-JP" altLang="en-US" sz="4400" dirty="0"/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E6E1F477-77C1-5AB4-1E98-C00011E88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22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23258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標準デザイン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64519</TotalTime>
  <Words>1646</Words>
  <Application>Microsoft Office PowerPoint</Application>
  <PresentationFormat>ユーザー設定</PresentationFormat>
  <Paragraphs>283</Paragraphs>
  <Slides>22</Slides>
  <Notes>9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2" baseType="lpstr">
      <vt:lpstr>ＭＳ Ｐゴシック</vt:lpstr>
      <vt:lpstr>StarSymbol</vt:lpstr>
      <vt:lpstr>Arial</vt:lpstr>
      <vt:lpstr>Calibri</vt:lpstr>
      <vt:lpstr>Symbol</vt:lpstr>
      <vt:lpstr>Times New Roman</vt:lpstr>
      <vt:lpstr>Wingdings</vt:lpstr>
      <vt:lpstr>Default</vt:lpstr>
      <vt:lpstr>標準デザイン</vt:lpstr>
      <vt:lpstr>Equation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</dc:title>
  <dc:creator>T_Ogawa</dc:creator>
  <cp:lastModifiedBy>安部 晋一郎</cp:lastModifiedBy>
  <cp:revision>130</cp:revision>
  <dcterms:created xsi:type="dcterms:W3CDTF">2009-04-16T11:32:32Z</dcterms:created>
  <dcterms:modified xsi:type="dcterms:W3CDTF">2025-02-03T07:39:17Z</dcterms:modified>
</cp:coreProperties>
</file>