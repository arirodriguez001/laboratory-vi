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4" r:id="rId3"/>
    <p:sldId id="257" r:id="rId4"/>
    <p:sldId id="258" r:id="rId5"/>
    <p:sldId id="259" r:id="rId6"/>
    <p:sldId id="260" r:id="rId7"/>
    <p:sldId id="262" r:id="rId8"/>
    <p:sldId id="261" r:id="rId9"/>
    <p:sldId id="263" r:id="rId1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0" d="100"/>
          <a:sy n="120" d="100"/>
        </p:scale>
        <p:origin x="-948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FD1B0-BBEB-4454-93BD-07FE963503F5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1996F-BF91-4420-9958-CC53FF3765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6516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ln/>
        </p:spPr>
      </p:sp>
      <p:sp>
        <p:nvSpPr>
          <p:cNvPr id="10342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 altLang="en-US" smtClean="0"/>
          </a:p>
        </p:txBody>
      </p:sp>
    </p:spTree>
    <p:extLst>
      <p:ext uri="{BB962C8B-B14F-4D97-AF65-F5344CB8AC3E}">
        <p14:creationId xmlns:p14="http://schemas.microsoft.com/office/powerpoint/2010/main" val="2188324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53" indent="0" algn="ctr">
              <a:buNone/>
              <a:defRPr/>
            </a:lvl2pPr>
            <a:lvl3pPr marL="914305" indent="0" algn="ctr">
              <a:buNone/>
              <a:defRPr/>
            </a:lvl3pPr>
            <a:lvl4pPr marL="1371458" indent="0" algn="ctr">
              <a:buNone/>
              <a:defRPr/>
            </a:lvl4pPr>
            <a:lvl5pPr marL="1828610" indent="0" algn="ctr">
              <a:buNone/>
              <a:defRPr/>
            </a:lvl5pPr>
            <a:lvl6pPr marL="2285763" indent="0" algn="ctr">
              <a:buNone/>
              <a:defRPr/>
            </a:lvl6pPr>
            <a:lvl7pPr marL="2742915" indent="0" algn="ctr">
              <a:buNone/>
              <a:defRPr/>
            </a:lvl7pPr>
            <a:lvl8pPr marL="3200068" indent="0" algn="ctr">
              <a:buNone/>
              <a:defRPr/>
            </a:lvl8pPr>
            <a:lvl9pPr marL="365722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D60D0B-D6AA-47A9-84DE-9BF82EA5B0A6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665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91B703-D8A0-41AA-A21C-FDF9BA75AF98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333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53" indent="0">
              <a:buNone/>
              <a:defRPr sz="1800"/>
            </a:lvl2pPr>
            <a:lvl3pPr marL="914305" indent="0">
              <a:buNone/>
              <a:defRPr sz="1600"/>
            </a:lvl3pPr>
            <a:lvl4pPr marL="1371458" indent="0">
              <a:buNone/>
              <a:defRPr sz="1400"/>
            </a:lvl4pPr>
            <a:lvl5pPr marL="1828610" indent="0">
              <a:buNone/>
              <a:defRPr sz="1400"/>
            </a:lvl5pPr>
            <a:lvl6pPr marL="2285763" indent="0">
              <a:buNone/>
              <a:defRPr sz="1400"/>
            </a:lvl6pPr>
            <a:lvl7pPr marL="2742915" indent="0">
              <a:buNone/>
              <a:defRPr sz="1400"/>
            </a:lvl7pPr>
            <a:lvl8pPr marL="3200068" indent="0">
              <a:buNone/>
              <a:defRPr sz="1400"/>
            </a:lvl8pPr>
            <a:lvl9pPr marL="365722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77FAB5-4D49-4B70-9831-30C70C8D3515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144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FAC204-713D-4BE2-A142-8E48B9DF7548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700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3" indent="0">
              <a:buNone/>
              <a:defRPr sz="2000" b="1"/>
            </a:lvl2pPr>
            <a:lvl3pPr marL="914305" indent="0">
              <a:buNone/>
              <a:defRPr sz="1800" b="1"/>
            </a:lvl3pPr>
            <a:lvl4pPr marL="1371458" indent="0">
              <a:buNone/>
              <a:defRPr sz="1600" b="1"/>
            </a:lvl4pPr>
            <a:lvl5pPr marL="1828610" indent="0">
              <a:buNone/>
              <a:defRPr sz="1600" b="1"/>
            </a:lvl5pPr>
            <a:lvl6pPr marL="2285763" indent="0">
              <a:buNone/>
              <a:defRPr sz="1600" b="1"/>
            </a:lvl6pPr>
            <a:lvl7pPr marL="2742915" indent="0">
              <a:buNone/>
              <a:defRPr sz="1600" b="1"/>
            </a:lvl7pPr>
            <a:lvl8pPr marL="3200068" indent="0">
              <a:buNone/>
              <a:defRPr sz="1600" b="1"/>
            </a:lvl8pPr>
            <a:lvl9pPr marL="365722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3" indent="0">
              <a:buNone/>
              <a:defRPr sz="2000" b="1"/>
            </a:lvl2pPr>
            <a:lvl3pPr marL="914305" indent="0">
              <a:buNone/>
              <a:defRPr sz="1800" b="1"/>
            </a:lvl3pPr>
            <a:lvl4pPr marL="1371458" indent="0">
              <a:buNone/>
              <a:defRPr sz="1600" b="1"/>
            </a:lvl4pPr>
            <a:lvl5pPr marL="1828610" indent="0">
              <a:buNone/>
              <a:defRPr sz="1600" b="1"/>
            </a:lvl5pPr>
            <a:lvl6pPr marL="2285763" indent="0">
              <a:buNone/>
              <a:defRPr sz="1600" b="1"/>
            </a:lvl6pPr>
            <a:lvl7pPr marL="2742915" indent="0">
              <a:buNone/>
              <a:defRPr sz="1600" b="1"/>
            </a:lvl7pPr>
            <a:lvl8pPr marL="3200068" indent="0">
              <a:buNone/>
              <a:defRPr sz="1600" b="1"/>
            </a:lvl8pPr>
            <a:lvl9pPr marL="365722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8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9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F47656-3058-400E-88E1-8A3DA0D9A2B9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673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343011-A72D-4E6C-8051-63D4D32BBFC7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4171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DE8EA6-BD83-4B80-9348-645B3ECCE3F1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549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1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53" indent="0">
              <a:buNone/>
              <a:defRPr sz="1200"/>
            </a:lvl2pPr>
            <a:lvl3pPr marL="914305" indent="0">
              <a:buNone/>
              <a:defRPr sz="1000"/>
            </a:lvl3pPr>
            <a:lvl4pPr marL="1371458" indent="0">
              <a:buNone/>
              <a:defRPr sz="900"/>
            </a:lvl4pPr>
            <a:lvl5pPr marL="1828610" indent="0">
              <a:buNone/>
              <a:defRPr sz="900"/>
            </a:lvl5pPr>
            <a:lvl6pPr marL="2285763" indent="0">
              <a:buNone/>
              <a:defRPr sz="900"/>
            </a:lvl6pPr>
            <a:lvl7pPr marL="2742915" indent="0">
              <a:buNone/>
              <a:defRPr sz="900"/>
            </a:lvl7pPr>
            <a:lvl8pPr marL="3200068" indent="0">
              <a:buNone/>
              <a:defRPr sz="900"/>
            </a:lvl8pPr>
            <a:lvl9pPr marL="365722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29CA4D-AC21-4E32-9D49-16B91744F2D6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4665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53" indent="0">
              <a:buNone/>
              <a:defRPr sz="2800"/>
            </a:lvl2pPr>
            <a:lvl3pPr marL="914305" indent="0">
              <a:buNone/>
              <a:defRPr sz="2400"/>
            </a:lvl3pPr>
            <a:lvl4pPr marL="1371458" indent="0">
              <a:buNone/>
              <a:defRPr sz="2000"/>
            </a:lvl4pPr>
            <a:lvl5pPr marL="1828610" indent="0">
              <a:buNone/>
              <a:defRPr sz="2000"/>
            </a:lvl5pPr>
            <a:lvl6pPr marL="2285763" indent="0">
              <a:buNone/>
              <a:defRPr sz="2000"/>
            </a:lvl6pPr>
            <a:lvl7pPr marL="2742915" indent="0">
              <a:buNone/>
              <a:defRPr sz="2000"/>
            </a:lvl7pPr>
            <a:lvl8pPr marL="3200068" indent="0">
              <a:buNone/>
              <a:defRPr sz="2000"/>
            </a:lvl8pPr>
            <a:lvl9pPr marL="365722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53" indent="0">
              <a:buNone/>
              <a:defRPr sz="1200"/>
            </a:lvl2pPr>
            <a:lvl3pPr marL="914305" indent="0">
              <a:buNone/>
              <a:defRPr sz="1000"/>
            </a:lvl3pPr>
            <a:lvl4pPr marL="1371458" indent="0">
              <a:buNone/>
              <a:defRPr sz="900"/>
            </a:lvl4pPr>
            <a:lvl5pPr marL="1828610" indent="0">
              <a:buNone/>
              <a:defRPr sz="900"/>
            </a:lvl5pPr>
            <a:lvl6pPr marL="2285763" indent="0">
              <a:buNone/>
              <a:defRPr sz="900"/>
            </a:lvl6pPr>
            <a:lvl7pPr marL="2742915" indent="0">
              <a:buNone/>
              <a:defRPr sz="900"/>
            </a:lvl7pPr>
            <a:lvl8pPr marL="3200068" indent="0">
              <a:buNone/>
              <a:defRPr sz="900"/>
            </a:lvl8pPr>
            <a:lvl9pPr marL="365722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07C05D-716E-430B-8F1B-696FE9865A7B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4835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656C1D-A0E4-4894-B766-752C565B9C64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354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13D808-7D6D-40D6-BC10-FDB01196358E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69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t>2018/8/1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3076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charset="0"/>
                <a:ea typeface="ＭＳ Ｐゴシック" pitchFamily="50" charset="-128"/>
              </a:defRPr>
            </a:lvl1pPr>
          </a:lstStyle>
          <a:p>
            <a:pPr defTabSz="82945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7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charset="0"/>
                <a:ea typeface="ＭＳ Ｐゴシック" pitchFamily="50" charset="-128"/>
              </a:defRPr>
            </a:lvl1pPr>
          </a:lstStyle>
          <a:p>
            <a:pPr defTabSz="82945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8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defTabSz="829452" fontAlgn="base">
              <a:spcBef>
                <a:spcPct val="0"/>
              </a:spcBef>
              <a:spcAft>
                <a:spcPct val="0"/>
              </a:spcAft>
            </a:pPr>
            <a:fld id="{0A9DE9F4-1B0D-41D4-BB45-F82231040046}" type="slidenum">
              <a:rPr lang="en-US" altLang="ja-JP">
                <a:solidFill>
                  <a:srgbClr val="000000"/>
                </a:solidFill>
              </a:rPr>
              <a:pPr defTabSz="829452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53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5pPr>
      <a:lvl6pPr marL="457153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6pPr>
      <a:lvl7pPr marL="914305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7pPr>
      <a:lvl8pPr marL="1371458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8pPr>
      <a:lvl9pPr marL="182861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9pPr>
    </p:titleStyle>
    <p:bodyStyle>
      <a:lvl1pPr marL="342865" indent="-342865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873" indent="-28572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2882" indent="-228577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034" indent="-228577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187" indent="-228577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340" indent="-228577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92" indent="-228577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645" indent="-228577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97" indent="-228577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5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58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0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3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15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68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0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727200"/>
          </a:xfrm>
        </p:spPr>
        <p:txBody>
          <a:bodyPr/>
          <a:lstStyle/>
          <a:p>
            <a:pPr eaLnBrk="1" hangingPunct="1"/>
            <a:r>
              <a:rPr lang="en-US" altLang="ja-JP" sz="11000" b="1" i="1">
                <a:solidFill>
                  <a:srgbClr val="0000CC"/>
                </a:solidFill>
              </a:rPr>
              <a:t>P</a:t>
            </a:r>
            <a:r>
              <a:rPr lang="en-US" altLang="ja-JP" sz="9000" b="1" i="1">
                <a:solidFill>
                  <a:srgbClr val="0000CC"/>
                </a:solidFill>
              </a:rPr>
              <a:t>HI</a:t>
            </a:r>
            <a:r>
              <a:rPr lang="en-US" altLang="ja-JP" sz="9800" b="1" i="1">
                <a:solidFill>
                  <a:srgbClr val="0000CC"/>
                </a:solidFill>
              </a:rPr>
              <a:t>T</a:t>
            </a:r>
            <a:r>
              <a:rPr lang="en-US" altLang="ja-JP" sz="9000" b="1" i="1">
                <a:solidFill>
                  <a:srgbClr val="0000CC"/>
                </a:solidFill>
              </a:rPr>
              <a:t>S</a:t>
            </a:r>
          </a:p>
        </p:txBody>
      </p:sp>
      <p:sp>
        <p:nvSpPr>
          <p:cNvPr id="15363" name="Rectangle 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19100" y="3276603"/>
            <a:ext cx="8305800" cy="1752600"/>
          </a:xfrm>
        </p:spPr>
        <p:txBody>
          <a:bodyPr/>
          <a:lstStyle/>
          <a:p>
            <a:pPr eaLnBrk="1" hangingPunct="1">
              <a:defRPr/>
            </a:pPr>
            <a:r>
              <a:rPr lang="ja-JP" altLang="en-US" dirty="0" smtClean="0">
                <a:solidFill>
                  <a:srgbClr val="010000"/>
                </a:solidFill>
                <a:latin typeface="+mj-ea"/>
                <a:ea typeface="+mj-ea"/>
              </a:rPr>
              <a:t>応用実習用資料</a:t>
            </a:r>
            <a:endParaRPr lang="en-US" altLang="ja-JP" dirty="0" smtClean="0">
              <a:solidFill>
                <a:srgbClr val="010000"/>
              </a:solidFill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en-US" altLang="ja-JP" smtClean="0">
                <a:solidFill>
                  <a:srgbClr val="010000"/>
                </a:solidFill>
                <a:latin typeface="+mj-ea"/>
                <a:ea typeface="+mj-ea"/>
              </a:rPr>
              <a:t>Neutron target</a:t>
            </a:r>
            <a:endParaRPr lang="en-US" altLang="ja-JP" dirty="0">
              <a:solidFill>
                <a:srgbClr val="010000"/>
              </a:solidFill>
              <a:latin typeface="+mj-ea"/>
              <a:ea typeface="+mj-ea"/>
            </a:endParaRP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3" y="6448428"/>
            <a:ext cx="18637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6329363"/>
            <a:ext cx="9105900" cy="71437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defTabSz="829366" fontAlgn="base">
              <a:spcBef>
                <a:spcPct val="0"/>
              </a:spcBef>
              <a:spcAft>
                <a:spcPct val="0"/>
              </a:spcAft>
              <a:buNone/>
            </a:pPr>
            <a:endParaRPr lang="ja-JP" altLang="en-US" sz="2400">
              <a:solidFill>
                <a:srgbClr val="000000"/>
              </a:solidFill>
            </a:endParaRPr>
          </a:p>
        </p:txBody>
      </p:sp>
      <p:sp>
        <p:nvSpPr>
          <p:cNvPr id="15366" name="正方形/長方形 4"/>
          <p:cNvSpPr>
            <a:spLocks noChangeArrowheads="1"/>
          </p:cNvSpPr>
          <p:nvPr/>
        </p:nvSpPr>
        <p:spPr bwMode="auto">
          <a:xfrm>
            <a:off x="214315" y="2495550"/>
            <a:ext cx="864393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defTabSz="829366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ja-JP" sz="2200" b="1" i="1">
                <a:solidFill>
                  <a:srgbClr val="000000"/>
                </a:solidFill>
              </a:rPr>
              <a:t>Multi-Purpose </a:t>
            </a:r>
            <a:r>
              <a:rPr lang="en-US" altLang="ja-JP" sz="2200" b="1" i="1">
                <a:solidFill>
                  <a:srgbClr val="0000CC"/>
                </a:solidFill>
              </a:rPr>
              <a:t>P</a:t>
            </a:r>
            <a:r>
              <a:rPr lang="en-US" altLang="ja-JP" sz="2200" b="1" i="1">
                <a:solidFill>
                  <a:srgbClr val="000000"/>
                </a:solidFill>
              </a:rPr>
              <a:t>article and </a:t>
            </a:r>
            <a:r>
              <a:rPr lang="en-US" altLang="ja-JP" sz="2200" b="1" i="1">
                <a:solidFill>
                  <a:srgbClr val="0000CC"/>
                </a:solidFill>
              </a:rPr>
              <a:t>H</a:t>
            </a:r>
            <a:r>
              <a:rPr lang="en-US" altLang="ja-JP" sz="2200" b="1" i="1">
                <a:solidFill>
                  <a:srgbClr val="000000"/>
                </a:solidFill>
              </a:rPr>
              <a:t>eavy </a:t>
            </a:r>
            <a:r>
              <a:rPr lang="en-US" altLang="ja-JP" sz="2200" b="1" i="1">
                <a:solidFill>
                  <a:srgbClr val="0000CC"/>
                </a:solidFill>
              </a:rPr>
              <a:t>I</a:t>
            </a:r>
            <a:r>
              <a:rPr lang="en-US" altLang="ja-JP" sz="2200" b="1" i="1">
                <a:solidFill>
                  <a:srgbClr val="000000"/>
                </a:solidFill>
              </a:rPr>
              <a:t>on </a:t>
            </a:r>
            <a:r>
              <a:rPr lang="en-US" altLang="ja-JP" sz="2200" b="1" i="1">
                <a:solidFill>
                  <a:srgbClr val="0000CC"/>
                </a:solidFill>
              </a:rPr>
              <a:t>T</a:t>
            </a:r>
            <a:r>
              <a:rPr lang="en-US" altLang="ja-JP" sz="2200" b="1" i="1">
                <a:solidFill>
                  <a:srgbClr val="000000"/>
                </a:solidFill>
              </a:rPr>
              <a:t>ransport code </a:t>
            </a:r>
            <a:r>
              <a:rPr lang="en-US" altLang="ja-JP" sz="2200" b="1" i="1">
                <a:solidFill>
                  <a:srgbClr val="0000CC"/>
                </a:solidFill>
              </a:rPr>
              <a:t>S</a:t>
            </a:r>
            <a:r>
              <a:rPr lang="en-US" altLang="ja-JP" sz="2200" b="1" i="1">
                <a:solidFill>
                  <a:srgbClr val="000000"/>
                </a:solidFill>
              </a:rPr>
              <a:t>ystem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2197100" y="64008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defTabSz="829366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ja-JP" sz="2400">
                <a:solidFill>
                  <a:srgbClr val="000000"/>
                </a:solidFill>
                <a:latin typeface="Tahoma" panose="020B0604030504040204" pitchFamily="34" charset="0"/>
              </a:rPr>
              <a:t>title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8153400" y="6400800"/>
            <a:ext cx="71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defTabSz="829366" fontAlgn="base">
              <a:spcBef>
                <a:spcPct val="50000"/>
              </a:spcBef>
              <a:spcAft>
                <a:spcPct val="0"/>
              </a:spcAft>
              <a:buNone/>
            </a:pPr>
            <a:fld id="{7C192A15-7A00-4CA8-8E06-AD9085343294}" type="slidenum">
              <a:rPr lang="en-US" altLang="ja-JP" sz="2400">
                <a:solidFill>
                  <a:srgbClr val="000000"/>
                </a:solidFill>
                <a:latin typeface="Tahoma" panose="020B0604030504040204" pitchFamily="34" charset="0"/>
              </a:rPr>
              <a:pPr algn="ctr" defTabSz="829366" fontAlgn="base">
                <a:spcBef>
                  <a:spcPct val="50000"/>
                </a:spcBef>
                <a:spcAft>
                  <a:spcPct val="0"/>
                </a:spcAft>
                <a:buNone/>
              </a:pPr>
              <a:t>1</a:t>
            </a:fld>
            <a:endParaRPr lang="en-US" altLang="ja-JP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369" name="Text Box 15">
            <a:extLst>
              <a:ext uri="{FF2B5EF4-FFF2-40B4-BE49-F238E27FC236}"/>
            </a:extLst>
          </p:cNvPr>
          <p:cNvSpPr txBox="1">
            <a:spLocks noChangeArrowheads="1"/>
          </p:cNvSpPr>
          <p:nvPr/>
        </p:nvSpPr>
        <p:spPr bwMode="auto">
          <a:xfrm>
            <a:off x="3154366" y="5194303"/>
            <a:ext cx="2809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defTabSz="829366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ja-JP" sz="2800" dirty="0" smtClean="0">
                <a:solidFill>
                  <a:srgbClr val="FF0000"/>
                </a:solidFill>
                <a:latin typeface="ＭＳ Ｐゴシック"/>
                <a:ea typeface="ＭＳ Ｐゴシック"/>
              </a:rPr>
              <a:t>2018</a:t>
            </a:r>
            <a:r>
              <a:rPr lang="ja-JP" altLang="en-US" sz="2800" dirty="0" smtClean="0">
                <a:solidFill>
                  <a:srgbClr val="FF0000"/>
                </a:solidFill>
                <a:latin typeface="ＭＳ Ｐゴシック"/>
                <a:ea typeface="ＭＳ Ｐゴシック"/>
              </a:rPr>
              <a:t>年</a:t>
            </a:r>
            <a:r>
              <a:rPr lang="en-US" altLang="ja-JP" sz="2800" smtClean="0">
                <a:solidFill>
                  <a:srgbClr val="FF0000"/>
                </a:solidFill>
                <a:latin typeface="ＭＳ Ｐゴシック"/>
                <a:ea typeface="ＭＳ Ｐゴシック"/>
              </a:rPr>
              <a:t>8</a:t>
            </a:r>
            <a:r>
              <a:rPr lang="ja-JP" altLang="en-US" sz="2800" smtClean="0">
                <a:solidFill>
                  <a:srgbClr val="FF0000"/>
                </a:solidFill>
                <a:latin typeface="ＭＳ Ｐゴシック"/>
                <a:ea typeface="ＭＳ Ｐゴシック"/>
              </a:rPr>
              <a:t>月</a:t>
            </a:r>
            <a:r>
              <a:rPr lang="ja-JP" altLang="en-US" sz="2800" dirty="0">
                <a:solidFill>
                  <a:srgbClr val="FF0000"/>
                </a:solidFill>
                <a:latin typeface="ＭＳ Ｐゴシック"/>
                <a:ea typeface="ＭＳ Ｐゴシック"/>
              </a:rPr>
              <a:t>改訂</a:t>
            </a:r>
            <a:endParaRPr lang="en-US" altLang="ja-JP" sz="2800" dirty="0">
              <a:solidFill>
                <a:srgbClr val="FF0000"/>
              </a:solidFill>
              <a:latin typeface="ＭＳ Ｐゴシック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2361142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ステップ</a:t>
            </a:r>
            <a:r>
              <a:rPr kumimoji="1" lang="en-US" altLang="ja-JP" dirty="0" smtClean="0"/>
              <a:t> 1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5cm</a:t>
            </a:r>
            <a:r>
              <a:rPr lang="ja-JP" altLang="en-US" dirty="0" smtClean="0"/>
              <a:t>のアルミでできたビームパイプを定義</a:t>
            </a:r>
            <a:endParaRPr lang="en-US" altLang="ja-JP" dirty="0" smtClean="0"/>
          </a:p>
          <a:p>
            <a:r>
              <a:rPr lang="en-US" altLang="ja-JP" dirty="0" smtClean="0"/>
              <a:t>10MeV </a:t>
            </a:r>
            <a:r>
              <a:rPr lang="ja-JP" altLang="en-US" dirty="0" smtClean="0"/>
              <a:t>の陽子ビーム線源を定義</a:t>
            </a:r>
            <a:endParaRPr lang="en-US" altLang="ja-JP" dirty="0"/>
          </a:p>
          <a:p>
            <a:pPr lvl="1"/>
            <a:r>
              <a:rPr kumimoji="1" lang="ja-JP" altLang="en-US" dirty="0" smtClean="0"/>
              <a:t>ビームはパイプ中を貫通</a:t>
            </a:r>
            <a:endParaRPr kumimoji="1" lang="ja-JP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5352" y="3435311"/>
            <a:ext cx="4371603" cy="3459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24" y="3447679"/>
            <a:ext cx="4355976" cy="3447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3003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2" y="3425423"/>
            <a:ext cx="4348382" cy="344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845" y="3394449"/>
            <a:ext cx="4376155" cy="3463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ステップ</a:t>
            </a:r>
            <a:r>
              <a:rPr kumimoji="1" lang="en-US" altLang="ja-JP" dirty="0" smtClean="0"/>
              <a:t> 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79301"/>
            <a:ext cx="8229600" cy="4525963"/>
          </a:xfrm>
        </p:spPr>
        <p:txBody>
          <a:bodyPr/>
          <a:lstStyle/>
          <a:p>
            <a:r>
              <a:rPr kumimoji="1" lang="ja-JP" altLang="en-US" dirty="0" smtClean="0"/>
              <a:t>ターゲットを設置し中性子を出す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陽子をフルストップする厚みの</a:t>
            </a:r>
            <a:r>
              <a:rPr kumimoji="1" lang="en-US" altLang="ja-JP" dirty="0" smtClean="0"/>
              <a:t>Li </a:t>
            </a:r>
          </a:p>
          <a:p>
            <a:pPr lvl="1"/>
            <a:r>
              <a:rPr lang="ja-JP" altLang="en-US" dirty="0" smtClean="0"/>
              <a:t>中性子断面積と輸送スレッショルドに注意！</a:t>
            </a:r>
            <a:r>
              <a:rPr lang="en-US" altLang="ja-JP" dirty="0" smtClean="0"/>
              <a:t> </a:t>
            </a:r>
            <a:endParaRPr kumimoji="1" lang="en-US" altLang="ja-JP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59832" y="3975447"/>
            <a:ext cx="1034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solidFill>
                  <a:srgbClr val="FF0000"/>
                </a:solidFill>
              </a:rPr>
              <a:t>proton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615884" y="3975447"/>
            <a:ext cx="1191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solidFill>
                  <a:srgbClr val="FF0000"/>
                </a:solidFill>
              </a:rPr>
              <a:t>neutron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779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ステップ</a:t>
            </a:r>
            <a:r>
              <a:rPr kumimoji="1" lang="en-US" altLang="ja-JP" dirty="0" smtClean="0"/>
              <a:t> 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モデレータ・遮蔽・反射体を設置</a:t>
            </a:r>
            <a:endParaRPr kumimoji="1" lang="en-US" altLang="ja-JP" dirty="0" smtClean="0"/>
          </a:p>
          <a:p>
            <a:pPr lvl="1"/>
            <a:r>
              <a:rPr kumimoji="1" lang="ja-JP" altLang="en-US" dirty="0" smtClean="0"/>
              <a:t>モデレータ</a:t>
            </a:r>
            <a:r>
              <a:rPr kumimoji="1" lang="en-US" altLang="ja-JP" dirty="0" smtClean="0"/>
              <a:t>: </a:t>
            </a:r>
            <a:r>
              <a:rPr kumimoji="1" lang="ja-JP" altLang="en-US" dirty="0" smtClean="0"/>
              <a:t>中性子のエネルギーを下げる</a:t>
            </a:r>
            <a:endParaRPr kumimoji="1" lang="en-US" altLang="ja-JP" dirty="0" smtClean="0"/>
          </a:p>
          <a:p>
            <a:pPr lvl="2"/>
            <a:r>
              <a:rPr lang="ja-JP" altLang="en-US" dirty="0" smtClean="0"/>
              <a:t>中性子は</a:t>
            </a:r>
            <a:r>
              <a:rPr lang="en-US" altLang="ja-JP" dirty="0" smtClean="0"/>
              <a:t>H</a:t>
            </a:r>
            <a:r>
              <a:rPr lang="ja-JP" altLang="en-US" dirty="0" smtClean="0"/>
              <a:t>によって減速</a:t>
            </a:r>
            <a:r>
              <a:rPr lang="en-US" altLang="ja-JP" dirty="0" smtClean="0"/>
              <a:t>(</a:t>
            </a:r>
            <a:r>
              <a:rPr lang="ja-JP" altLang="en-US" dirty="0" smtClean="0"/>
              <a:t>下方散乱</a:t>
            </a:r>
            <a:r>
              <a:rPr lang="en-US" altLang="ja-JP" dirty="0" smtClean="0"/>
              <a:t>)</a:t>
            </a:r>
            <a:r>
              <a:rPr lang="ja-JP" altLang="en-US" dirty="0" smtClean="0"/>
              <a:t>される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遮蔽</a:t>
            </a:r>
            <a:r>
              <a:rPr lang="en-US" altLang="ja-JP" dirty="0" smtClean="0"/>
              <a:t> : </a:t>
            </a:r>
            <a:r>
              <a:rPr lang="ja-JP" altLang="en-US" dirty="0" smtClean="0"/>
              <a:t>ターゲットから出ていく中性子を遮る</a:t>
            </a:r>
            <a:endParaRPr lang="en-US" altLang="ja-JP" dirty="0" smtClean="0"/>
          </a:p>
          <a:p>
            <a:pPr lvl="2"/>
            <a:r>
              <a:rPr lang="ja-JP" altLang="en-US" dirty="0" smtClean="0"/>
              <a:t>中性子吸収材</a:t>
            </a:r>
            <a:r>
              <a:rPr lang="en-US" altLang="ja-JP" dirty="0" smtClean="0"/>
              <a:t>… </a:t>
            </a:r>
            <a:r>
              <a:rPr lang="en-US" altLang="ja-JP" dirty="0" err="1" smtClean="0"/>
              <a:t>Gd</a:t>
            </a:r>
            <a:r>
              <a:rPr lang="en-US" altLang="ja-JP" dirty="0" smtClean="0"/>
              <a:t> </a:t>
            </a:r>
            <a:r>
              <a:rPr lang="ja-JP" altLang="en-US" dirty="0" smtClean="0"/>
              <a:t>や</a:t>
            </a:r>
            <a:r>
              <a:rPr lang="en-US" altLang="ja-JP" dirty="0" smtClean="0"/>
              <a:t> B</a:t>
            </a:r>
          </a:p>
          <a:p>
            <a:pPr lvl="1"/>
            <a:r>
              <a:rPr kumimoji="1" lang="ja-JP" altLang="en-US" dirty="0" smtClean="0"/>
              <a:t>反射体</a:t>
            </a:r>
            <a:r>
              <a:rPr kumimoji="1" lang="en-US" altLang="ja-JP" dirty="0" smtClean="0"/>
              <a:t> : </a:t>
            </a:r>
            <a:r>
              <a:rPr kumimoji="1" lang="ja-JP" altLang="en-US" dirty="0" smtClean="0"/>
              <a:t>中性子を反射</a:t>
            </a:r>
            <a:r>
              <a:rPr kumimoji="1" lang="en-US" altLang="ja-JP" dirty="0" smtClean="0"/>
              <a:t> </a:t>
            </a:r>
          </a:p>
          <a:p>
            <a:pPr lvl="2"/>
            <a:r>
              <a:rPr kumimoji="1" lang="en-US" altLang="ja-JP" dirty="0" err="1" smtClean="0"/>
              <a:t>Pb</a:t>
            </a:r>
            <a:r>
              <a:rPr kumimoji="1" lang="en-US" altLang="ja-JP" dirty="0" smtClean="0"/>
              <a:t>, Be, </a:t>
            </a:r>
            <a:r>
              <a:rPr kumimoji="1" lang="ja-JP" altLang="en-US" dirty="0" smtClean="0"/>
              <a:t>等</a:t>
            </a:r>
            <a:r>
              <a:rPr kumimoji="1" lang="en-US" altLang="ja-JP" dirty="0" smtClean="0"/>
              <a:t>…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8805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3" t="37273" r="21211" b="20694"/>
          <a:stretch/>
        </p:blipFill>
        <p:spPr bwMode="auto">
          <a:xfrm>
            <a:off x="-17414" y="26031"/>
            <a:ext cx="7132368" cy="3402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6" t="37034" r="27098" b="20521"/>
          <a:stretch/>
        </p:blipFill>
        <p:spPr bwMode="auto">
          <a:xfrm>
            <a:off x="2651293" y="3429000"/>
            <a:ext cx="6492707" cy="3415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2644260" y="675421"/>
            <a:ext cx="1281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Be reflector</a:t>
            </a:r>
            <a:endParaRPr kumimoji="1" lang="ja-JP" altLang="en-US" dirty="0"/>
          </a:p>
        </p:txBody>
      </p:sp>
      <p:cxnSp>
        <p:nvCxnSpPr>
          <p:cNvPr id="6" name="直線矢印コネクタ 5"/>
          <p:cNvCxnSpPr>
            <a:stCxn id="4" idx="1"/>
          </p:cNvCxnSpPr>
          <p:nvPr/>
        </p:nvCxnSpPr>
        <p:spPr>
          <a:xfrm flipH="1">
            <a:off x="1656662" y="860087"/>
            <a:ext cx="987598" cy="1846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916375" y="3585240"/>
            <a:ext cx="180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Moderator (H2O)</a:t>
            </a:r>
            <a:endParaRPr kumimoji="1" lang="ja-JP" altLang="en-US" dirty="0"/>
          </a:p>
        </p:txBody>
      </p:sp>
      <p:cxnSp>
        <p:nvCxnSpPr>
          <p:cNvPr id="12" name="直線矢印コネクタ 11"/>
          <p:cNvCxnSpPr>
            <a:stCxn id="11" idx="0"/>
          </p:cNvCxnSpPr>
          <p:nvPr/>
        </p:nvCxnSpPr>
        <p:spPr>
          <a:xfrm flipH="1" flipV="1">
            <a:off x="1492439" y="1758348"/>
            <a:ext cx="328447" cy="18268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3259660" y="1499307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Beam pipe</a:t>
            </a:r>
            <a:endParaRPr kumimoji="1" lang="ja-JP" altLang="en-US" dirty="0"/>
          </a:p>
        </p:txBody>
      </p:sp>
      <p:cxnSp>
        <p:nvCxnSpPr>
          <p:cNvPr id="17" name="直線矢印コネクタ 16"/>
          <p:cNvCxnSpPr>
            <a:stCxn id="16" idx="1"/>
          </p:cNvCxnSpPr>
          <p:nvPr/>
        </p:nvCxnSpPr>
        <p:spPr>
          <a:xfrm flipH="1" flipV="1">
            <a:off x="2804568" y="1340769"/>
            <a:ext cx="455092" cy="3432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>
            <a:stCxn id="16" idx="1"/>
          </p:cNvCxnSpPr>
          <p:nvPr/>
        </p:nvCxnSpPr>
        <p:spPr>
          <a:xfrm flipH="1">
            <a:off x="2804568" y="1683973"/>
            <a:ext cx="455092" cy="3048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/>
          <p:cNvSpPr txBox="1"/>
          <p:nvPr/>
        </p:nvSpPr>
        <p:spPr>
          <a:xfrm>
            <a:off x="2974058" y="2132856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B4C shielding</a:t>
            </a:r>
            <a:endParaRPr kumimoji="1" lang="ja-JP" altLang="en-US" dirty="0"/>
          </a:p>
        </p:txBody>
      </p:sp>
      <p:cxnSp>
        <p:nvCxnSpPr>
          <p:cNvPr id="23" name="直線矢印コネクタ 22"/>
          <p:cNvCxnSpPr>
            <a:stCxn id="22" idx="1"/>
          </p:cNvCxnSpPr>
          <p:nvPr/>
        </p:nvCxnSpPr>
        <p:spPr>
          <a:xfrm flipH="1">
            <a:off x="1986460" y="2317522"/>
            <a:ext cx="987598" cy="1846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124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ステップ</a:t>
            </a:r>
            <a:r>
              <a:rPr kumimoji="1" lang="en-US" altLang="ja-JP" dirty="0" smtClean="0"/>
              <a:t> 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kumimoji="1" lang="ja-JP" altLang="en-US" dirty="0" smtClean="0"/>
              <a:t>中性子スペクトルを調整する</a:t>
            </a:r>
            <a:endParaRPr kumimoji="1" lang="en-US" altLang="ja-JP" dirty="0" smtClean="0"/>
          </a:p>
          <a:p>
            <a:pPr lvl="1"/>
            <a:r>
              <a:rPr lang="ja-JP" altLang="en-US" dirty="0" smtClean="0"/>
              <a:t>中性子ス</a:t>
            </a:r>
            <a:r>
              <a:rPr lang="ja-JP" altLang="en-US" dirty="0" err="1" smtClean="0"/>
              <a:t>ぺ</a:t>
            </a:r>
            <a:r>
              <a:rPr lang="ja-JP" altLang="en-US" dirty="0" smtClean="0"/>
              <a:t>クトルを確認</a:t>
            </a:r>
            <a:endParaRPr lang="en-US" altLang="ja-JP" dirty="0" smtClean="0"/>
          </a:p>
          <a:p>
            <a:pPr lvl="2"/>
            <a:r>
              <a:rPr lang="en-US" altLang="ja-JP" dirty="0" smtClean="0"/>
              <a:t>[T-Cross] </a:t>
            </a:r>
            <a:r>
              <a:rPr lang="ja-JP" altLang="en-US" dirty="0" smtClean="0"/>
              <a:t>のサンプルを </a:t>
            </a:r>
            <a:r>
              <a:rPr lang="en-US" altLang="ja-JP" dirty="0" smtClean="0"/>
              <a:t>\</a:t>
            </a:r>
            <a:r>
              <a:rPr lang="en-US" altLang="ja-JP" dirty="0" err="1" smtClean="0"/>
              <a:t>phits</a:t>
            </a:r>
            <a:r>
              <a:rPr lang="en-US" altLang="ja-JP" dirty="0" smtClean="0"/>
              <a:t>\</a:t>
            </a:r>
            <a:r>
              <a:rPr lang="en-US" altLang="ja-JP" dirty="0" err="1" smtClean="0"/>
              <a:t>tallysample</a:t>
            </a:r>
            <a:r>
              <a:rPr lang="en-US" altLang="ja-JP" dirty="0" smtClean="0"/>
              <a:t>\t-cross\t-</a:t>
            </a:r>
            <a:r>
              <a:rPr lang="en-US" altLang="ja-JP" dirty="0" err="1" smtClean="0"/>
              <a:t>cross_reg.inp</a:t>
            </a:r>
            <a:r>
              <a:rPr lang="en-US" altLang="ja-JP" dirty="0" smtClean="0"/>
              <a:t> </a:t>
            </a:r>
            <a:r>
              <a:rPr lang="ja-JP" altLang="en-US" dirty="0" smtClean="0"/>
              <a:t>から持ってくる</a:t>
            </a:r>
            <a:endParaRPr lang="en-US" altLang="ja-JP" dirty="0" smtClean="0"/>
          </a:p>
          <a:p>
            <a:pPr lvl="1"/>
            <a:r>
              <a:rPr lang="ja-JP" altLang="en-US" dirty="0"/>
              <a:t>モデレータ</a:t>
            </a:r>
            <a:r>
              <a:rPr lang="ja-JP" altLang="en-US" dirty="0" smtClean="0"/>
              <a:t>の材質や厚みなどを変えてみる</a:t>
            </a:r>
            <a:endParaRPr lang="en-US" altLang="ja-JP" dirty="0" smtClean="0"/>
          </a:p>
          <a:p>
            <a:pPr lvl="2"/>
            <a:r>
              <a:rPr kumimoji="1" lang="ja-JP" altLang="en-US" dirty="0" smtClean="0"/>
              <a:t>必要であれば</a:t>
            </a:r>
            <a:r>
              <a:rPr kumimoji="1" lang="en-US" altLang="ja-JP" dirty="0" err="1" smtClean="0"/>
              <a:t>maxcas</a:t>
            </a:r>
            <a:r>
              <a:rPr kumimoji="1" lang="en-US" altLang="ja-JP" dirty="0" smtClean="0"/>
              <a:t> </a:t>
            </a:r>
            <a:r>
              <a:rPr kumimoji="1" lang="ja-JP" altLang="en-US" dirty="0" smtClean="0"/>
              <a:t>を増やす</a:t>
            </a:r>
            <a:endParaRPr kumimoji="1" lang="en-US" altLang="ja-JP" dirty="0" smtClean="0"/>
          </a:p>
          <a:p>
            <a:pPr lvl="2"/>
            <a:endParaRPr kumimoji="1" lang="ja-JP" altLang="en-US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61" t="27296" r="31692" b="7504"/>
          <a:stretch/>
        </p:blipFill>
        <p:spPr bwMode="auto">
          <a:xfrm>
            <a:off x="899592" y="4010300"/>
            <a:ext cx="3240360" cy="28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1" t="27532" r="32813" b="9661"/>
          <a:stretch/>
        </p:blipFill>
        <p:spPr bwMode="auto">
          <a:xfrm>
            <a:off x="4932040" y="4010301"/>
            <a:ext cx="3275856" cy="2869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9884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ステップ </a:t>
            </a:r>
            <a:r>
              <a:rPr kumimoji="1" lang="en-US" altLang="ja-JP" dirty="0" smtClean="0"/>
              <a:t>5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79512" y="1166018"/>
            <a:ext cx="8964488" cy="4525963"/>
          </a:xfrm>
        </p:spPr>
        <p:txBody>
          <a:bodyPr/>
          <a:lstStyle/>
          <a:p>
            <a:r>
              <a:rPr kumimoji="1" lang="ja-JP" altLang="en-US" dirty="0" smtClean="0"/>
              <a:t>統計精度を上げる</a:t>
            </a:r>
            <a:endParaRPr kumimoji="1" lang="en-US" altLang="ja-JP" dirty="0" smtClean="0"/>
          </a:p>
          <a:p>
            <a:pPr lvl="1"/>
            <a:r>
              <a:rPr lang="ja-JP" altLang="en-US" dirty="0" smtClean="0"/>
              <a:t>スペクトル形状を正確に見られるように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モデレータを分割</a:t>
            </a:r>
            <a:r>
              <a:rPr kumimoji="1" lang="en-US" altLang="ja-JP" dirty="0" smtClean="0"/>
              <a:t> (</a:t>
            </a:r>
            <a:r>
              <a:rPr kumimoji="1" lang="ja-JP" altLang="en-US" dirty="0" smtClean="0"/>
              <a:t>スライス</a:t>
            </a:r>
            <a:r>
              <a:rPr kumimoji="1" lang="en-US" altLang="ja-JP" dirty="0" smtClean="0"/>
              <a:t>) </a:t>
            </a:r>
            <a:r>
              <a:rPr kumimoji="1" lang="ja-JP" altLang="en-US" dirty="0" smtClean="0"/>
              <a:t>して </a:t>
            </a:r>
            <a:r>
              <a:rPr kumimoji="1" lang="en-US" altLang="ja-JP" dirty="0" smtClean="0"/>
              <a:t>[importance]</a:t>
            </a:r>
            <a:r>
              <a:rPr kumimoji="1" lang="ja-JP" altLang="en-US" dirty="0" smtClean="0"/>
              <a:t>を使用</a:t>
            </a:r>
            <a:endParaRPr kumimoji="1" lang="en-US" altLang="ja-JP" dirty="0" smtClean="0"/>
          </a:p>
          <a:p>
            <a:pPr lvl="2"/>
            <a:r>
              <a:rPr lang="ja-JP" altLang="en-US" dirty="0" smtClean="0"/>
              <a:t>反射体を分割するのも有効</a:t>
            </a:r>
            <a:endParaRPr kumimoji="1" lang="ja-JP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8" t="27532" r="32662" b="9661"/>
          <a:stretch/>
        </p:blipFill>
        <p:spPr bwMode="auto">
          <a:xfrm>
            <a:off x="3062221" y="3373444"/>
            <a:ext cx="4032448" cy="3504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線矢印コネクタ 4"/>
          <p:cNvCxnSpPr>
            <a:stCxn id="7" idx="3"/>
          </p:cNvCxnSpPr>
          <p:nvPr/>
        </p:nvCxnSpPr>
        <p:spPr>
          <a:xfrm>
            <a:off x="2080093" y="3973706"/>
            <a:ext cx="2491907" cy="607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366162" y="3789040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熱中性子ピーク</a:t>
            </a:r>
            <a:endParaRPr kumimoji="1" lang="ja-JP" altLang="en-US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923928" y="1293950"/>
            <a:ext cx="19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/>
              <a:t>= </a:t>
            </a:r>
            <a:r>
              <a:rPr kumimoji="1" lang="ja-JP" altLang="en-US" sz="2000" dirty="0" smtClean="0"/>
              <a:t>計算を早くする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54330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kumimoji="1" lang="ja-JP" altLang="en-US" dirty="0" smtClean="0"/>
              <a:t>ステップ</a:t>
            </a:r>
            <a:r>
              <a:rPr kumimoji="1" lang="en-US" altLang="ja-JP" dirty="0" smtClean="0"/>
              <a:t> 6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kumimoji="1" lang="ja-JP" altLang="en-US" dirty="0" smtClean="0"/>
              <a:t>時間ごとのエネルギースペクトルを見る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“t-type”, “</a:t>
            </a:r>
            <a:r>
              <a:rPr lang="en-US" altLang="ja-JP" dirty="0" err="1" smtClean="0"/>
              <a:t>tmin</a:t>
            </a:r>
            <a:r>
              <a:rPr lang="en-US" altLang="ja-JP" dirty="0" smtClean="0"/>
              <a:t>”, “</a:t>
            </a:r>
            <a:r>
              <a:rPr lang="en-US" altLang="ja-JP" dirty="0" err="1" smtClean="0"/>
              <a:t>tmax</a:t>
            </a:r>
            <a:r>
              <a:rPr lang="en-US" altLang="ja-JP" dirty="0" smtClean="0"/>
              <a:t>”, “</a:t>
            </a:r>
            <a:r>
              <a:rPr lang="en-US" altLang="ja-JP" dirty="0" err="1" smtClean="0"/>
              <a:t>nt</a:t>
            </a:r>
            <a:r>
              <a:rPr lang="en-US" altLang="ja-JP" dirty="0" smtClean="0"/>
              <a:t>” </a:t>
            </a:r>
            <a:r>
              <a:rPr lang="ja-JP" altLang="en-US" dirty="0" smtClean="0"/>
              <a:t>を</a:t>
            </a:r>
            <a:r>
              <a:rPr lang="en-US" altLang="ja-JP" dirty="0" smtClean="0"/>
              <a:t> [T-cross]</a:t>
            </a:r>
            <a:r>
              <a:rPr lang="ja-JP" altLang="en-US" dirty="0" smtClean="0"/>
              <a:t>に入れる</a:t>
            </a:r>
            <a:r>
              <a:rPr lang="en-US" altLang="ja-JP" dirty="0" smtClean="0"/>
              <a:t> </a:t>
            </a:r>
          </a:p>
          <a:p>
            <a:pPr lvl="1"/>
            <a:r>
              <a:rPr kumimoji="1" lang="en-US" altLang="ja-JP" dirty="0" err="1" smtClean="0"/>
              <a:t>tmin</a:t>
            </a:r>
            <a:r>
              <a:rPr kumimoji="1" lang="en-US" altLang="ja-JP" dirty="0" smtClean="0"/>
              <a:t> ~ 10 ns</a:t>
            </a:r>
          </a:p>
          <a:p>
            <a:pPr lvl="1"/>
            <a:r>
              <a:rPr lang="en-US" altLang="ja-JP" dirty="0" err="1" smtClean="0"/>
              <a:t>tmax</a:t>
            </a:r>
            <a:r>
              <a:rPr lang="en-US" altLang="ja-JP" dirty="0" smtClean="0"/>
              <a:t> ~ 10^7 ns (10ms)</a:t>
            </a:r>
            <a:endParaRPr kumimoji="1" lang="en-US" altLang="ja-JP" dirty="0" smtClean="0"/>
          </a:p>
          <a:p>
            <a:pPr lvl="1"/>
            <a:r>
              <a:rPr lang="ja-JP" altLang="en-US" dirty="0" smtClean="0"/>
              <a:t>注意！</a:t>
            </a:r>
            <a:r>
              <a:rPr lang="en-US" altLang="ja-JP" dirty="0" smtClean="0"/>
              <a:t>: PHITS</a:t>
            </a:r>
            <a:r>
              <a:rPr lang="ja-JP" altLang="en-US" dirty="0" smtClean="0"/>
              <a:t>の時間の単位は</a:t>
            </a:r>
            <a:r>
              <a:rPr lang="en-US" altLang="ja-JP" dirty="0" smtClean="0"/>
              <a:t> “ns”</a:t>
            </a:r>
            <a:endParaRPr kumimoji="1" lang="ja-JP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1" t="27723" r="32510" b="9662"/>
          <a:stretch/>
        </p:blipFill>
        <p:spPr bwMode="auto">
          <a:xfrm>
            <a:off x="4860032" y="4255156"/>
            <a:ext cx="3059832" cy="2602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4" t="27965" r="32447" b="8749"/>
          <a:stretch/>
        </p:blipFill>
        <p:spPr bwMode="auto">
          <a:xfrm>
            <a:off x="899592" y="4255156"/>
            <a:ext cx="2974646" cy="2604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1475656" y="4509120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rgbClr val="FF0000"/>
                </a:solidFill>
              </a:rPr>
              <a:t>1.6ns – 2.1 ns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354023" y="4509120"/>
            <a:ext cx="1590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rgbClr val="FF0000"/>
                </a:solidFill>
              </a:rPr>
              <a:t>1.9ms – 2.5 </a:t>
            </a:r>
            <a:r>
              <a:rPr kumimoji="1" lang="en-US" altLang="ja-JP" dirty="0" err="1" smtClean="0">
                <a:solidFill>
                  <a:srgbClr val="FF0000"/>
                </a:solidFill>
              </a:rPr>
              <a:t>ms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294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標準デザイン">
  <a:themeElements>
    <a:clrScheme name="標準デザイン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標準デザイン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4336</TotalTime>
  <Words>268</Words>
  <Application>Microsoft Office PowerPoint</Application>
  <PresentationFormat>画面に合わせる (4:3)</PresentationFormat>
  <Paragraphs>50</Paragraphs>
  <Slides>8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2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Office テーマ</vt:lpstr>
      <vt:lpstr>標準デザイン</vt:lpstr>
      <vt:lpstr>PHITS</vt:lpstr>
      <vt:lpstr>ステップ 1</vt:lpstr>
      <vt:lpstr>ステップ 2</vt:lpstr>
      <vt:lpstr>ステップ 3</vt:lpstr>
      <vt:lpstr>PowerPoint プレゼンテーション</vt:lpstr>
      <vt:lpstr>ステップ 4</vt:lpstr>
      <vt:lpstr>ステップ 5</vt:lpstr>
      <vt:lpstr>ステップ 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</dc:title>
  <dc:creator>T_Ogawa</dc:creator>
  <cp:lastModifiedBy>SHashimoto</cp:lastModifiedBy>
  <cp:revision>28</cp:revision>
  <dcterms:created xsi:type="dcterms:W3CDTF">2017-06-26T06:47:04Z</dcterms:created>
  <dcterms:modified xsi:type="dcterms:W3CDTF">2018-08-01T07:27:27Z</dcterms:modified>
</cp:coreProperties>
</file>