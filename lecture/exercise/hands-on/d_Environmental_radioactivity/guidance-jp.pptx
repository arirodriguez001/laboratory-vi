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1"/>
  </p:notesMasterIdLst>
  <p:sldIdLst>
    <p:sldId id="266" r:id="rId3"/>
    <p:sldId id="280" r:id="rId4"/>
    <p:sldId id="257" r:id="rId5"/>
    <p:sldId id="270" r:id="rId6"/>
    <p:sldId id="271" r:id="rId7"/>
    <p:sldId id="272" r:id="rId8"/>
    <p:sldId id="273" r:id="rId9"/>
    <p:sldId id="274" r:id="rId10"/>
    <p:sldId id="275" r:id="rId11"/>
    <p:sldId id="268" r:id="rId12"/>
    <p:sldId id="276" r:id="rId13"/>
    <p:sldId id="277" r:id="rId14"/>
    <p:sldId id="279" r:id="rId15"/>
    <p:sldId id="282" r:id="rId16"/>
    <p:sldId id="278" r:id="rId17"/>
    <p:sldId id="286" r:id="rId18"/>
    <p:sldId id="283" r:id="rId19"/>
    <p:sldId id="287" r:id="rId20"/>
    <p:sldId id="284" r:id="rId21"/>
    <p:sldId id="288" r:id="rId22"/>
    <p:sldId id="285" r:id="rId23"/>
    <p:sldId id="289" r:id="rId24"/>
    <p:sldId id="290" r:id="rId25"/>
    <p:sldId id="291" r:id="rId26"/>
    <p:sldId id="294" r:id="rId27"/>
    <p:sldId id="292" r:id="rId28"/>
    <p:sldId id="293" r:id="rId29"/>
    <p:sldId id="269" r:id="rId30"/>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6A5C02D2-4A43-43AB-BD38-71B18228B95A}">
          <p14:sldIdLst>
            <p14:sldId id="266"/>
            <p14:sldId id="280"/>
            <p14:sldId id="257"/>
            <p14:sldId id="270"/>
            <p14:sldId id="271"/>
            <p14:sldId id="272"/>
            <p14:sldId id="273"/>
            <p14:sldId id="274"/>
            <p14:sldId id="275"/>
            <p14:sldId id="268"/>
            <p14:sldId id="276"/>
            <p14:sldId id="277"/>
            <p14:sldId id="279"/>
            <p14:sldId id="282"/>
            <p14:sldId id="278"/>
            <p14:sldId id="286"/>
            <p14:sldId id="283"/>
            <p14:sldId id="287"/>
            <p14:sldId id="284"/>
            <p14:sldId id="288"/>
            <p14:sldId id="285"/>
            <p14:sldId id="289"/>
            <p14:sldId id="290"/>
            <p14:sldId id="291"/>
            <p14:sldId id="294"/>
            <p14:sldId id="292"/>
            <p14:sldId id="293"/>
            <p14:sldId id="269"/>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EEE4"/>
    <a:srgbClr val="808000"/>
    <a:srgbClr val="CC9900"/>
    <a:srgbClr val="CC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6" d="100"/>
          <a:sy n="56" d="100"/>
        </p:scale>
        <p:origin x="702" y="4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52F39D3-6688-4634-862A-D9E5081A6F08}" type="datetimeFigureOut">
              <a:rPr kumimoji="1" lang="ja-JP" altLang="en-US" smtClean="0"/>
              <a:t>2024/10/10</a:t>
            </a:fld>
            <a:endParaRPr kumimoji="1" lang="ja-JP" altLang="en-US"/>
          </a:p>
        </p:txBody>
      </p:sp>
      <p:sp>
        <p:nvSpPr>
          <p:cNvPr id="4" name="スライド イメージ プレースホルダー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8D53672-2792-422E-A58C-0CC615C208C5}" type="slidenum">
              <a:rPr kumimoji="1" lang="ja-JP" altLang="en-US" smtClean="0"/>
              <a:t>‹#›</a:t>
            </a:fld>
            <a:endParaRPr kumimoji="1" lang="ja-JP" altLang="en-US"/>
          </a:p>
        </p:txBody>
      </p:sp>
    </p:spTree>
    <p:extLst>
      <p:ext uri="{BB962C8B-B14F-4D97-AF65-F5344CB8AC3E}">
        <p14:creationId xmlns:p14="http://schemas.microsoft.com/office/powerpoint/2010/main" val="364835213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1026"/>
          <p:cNvSpPr>
            <a:spLocks noGrp="1" noRot="1" noChangeAspect="1" noChangeArrowheads="1" noTextEdit="1"/>
          </p:cNvSpPr>
          <p:nvPr>
            <p:ph type="sldImg"/>
          </p:nvPr>
        </p:nvSpPr>
        <p:spPr>
          <a:xfrm>
            <a:off x="1143000" y="695325"/>
            <a:ext cx="4570413" cy="3427413"/>
          </a:xfrm>
          <a:ln/>
        </p:spPr>
      </p:sp>
      <p:sp>
        <p:nvSpPr>
          <p:cNvPr id="103427"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ja-JP" altLang="en-US"/>
          </a:p>
        </p:txBody>
      </p:sp>
    </p:spTree>
    <p:extLst>
      <p:ext uri="{BB962C8B-B14F-4D97-AF65-F5344CB8AC3E}">
        <p14:creationId xmlns:p14="http://schemas.microsoft.com/office/powerpoint/2010/main" val="21883242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a:t>マスタ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 サブタイトルの書式設定</a:t>
            </a:r>
          </a:p>
        </p:txBody>
      </p:sp>
      <p:sp>
        <p:nvSpPr>
          <p:cNvPr id="4" name="日付プレースホルダ 3"/>
          <p:cNvSpPr>
            <a:spLocks noGrp="1"/>
          </p:cNvSpPr>
          <p:nvPr>
            <p:ph type="dt" sz="half" idx="10"/>
          </p:nvPr>
        </p:nvSpPr>
        <p:spPr/>
        <p:txBody>
          <a:bodyPr/>
          <a:lstStyle/>
          <a:p>
            <a:fld id="{32FE67AC-3FEE-4518-80CF-325FBB3CBCA8}" type="datetime1">
              <a:rPr kumimoji="1" lang="ja-JP" altLang="en-US" smtClean="0"/>
              <a:t>2024/10/10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コンテンツ プレースホルダ 2"/>
          <p:cNvSpPr>
            <a:spLocks noGrp="1"/>
          </p:cNvSpPr>
          <p:nvPr>
            <p:ph idx="1"/>
          </p:nvPr>
        </p:nvSpPr>
        <p:spPr/>
        <p:txBody>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88543F0C-7734-45C0-9620-5A79EF261377}" type="datetime1">
              <a:rPr kumimoji="1" lang="ja-JP" altLang="en-US" smtClean="0"/>
              <a:t>2024/10/10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a:xfrm>
            <a:off x="6974904" y="6356350"/>
            <a:ext cx="2133600" cy="365125"/>
          </a:xfrm>
        </p:spPr>
        <p:txBody>
          <a:bodyPr/>
          <a:lstStyle>
            <a:lvl1pPr>
              <a:defRPr sz="3200"/>
            </a:lvl1pPr>
          </a:lstStyle>
          <a:p>
            <a:fld id="{D2D8002D-B5B0-4BAC-B1F6-782DDCCE6D9C}" type="slidenum">
              <a:rPr lang="ja-JP" altLang="en-US" smtClean="0"/>
              <a:pPr/>
              <a:t>‹#›</a:t>
            </a:fld>
            <a:endParaRPr lang="ja-JP" altLang="en-US" dirty="0"/>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a:t>マスタ タイトルの書式設定</a:t>
            </a:r>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a:t>マスタ テキストの書式設定</a:t>
            </a:r>
          </a:p>
        </p:txBody>
      </p:sp>
      <p:sp>
        <p:nvSpPr>
          <p:cNvPr id="4" name="日付プレースホルダ 3"/>
          <p:cNvSpPr>
            <a:spLocks noGrp="1"/>
          </p:cNvSpPr>
          <p:nvPr>
            <p:ph type="dt" sz="half" idx="10"/>
          </p:nvPr>
        </p:nvSpPr>
        <p:spPr/>
        <p:txBody>
          <a:bodyPr/>
          <a:lstStyle/>
          <a:p>
            <a:fld id="{92854FD6-F894-4CEC-945A-FAA1D9FA5FFD}" type="datetime1">
              <a:rPr kumimoji="1" lang="ja-JP" altLang="en-US" smtClean="0"/>
              <a:t>2024/10/10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 4"/>
          <p:cNvSpPr>
            <a:spLocks noGrp="1"/>
          </p:cNvSpPr>
          <p:nvPr>
            <p:ph type="dt" sz="half" idx="10"/>
          </p:nvPr>
        </p:nvSpPr>
        <p:spPr/>
        <p:txBody>
          <a:bodyPr/>
          <a:lstStyle/>
          <a:p>
            <a:fld id="{C4F7943D-4A4D-4F3B-973E-4E4F568B23BB}" type="datetime1">
              <a:rPr kumimoji="1" lang="ja-JP" altLang="en-US" smtClean="0"/>
              <a:t>2024/10/10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a:t>マスタ タイトルの書式設定</a:t>
            </a:r>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 6"/>
          <p:cNvSpPr>
            <a:spLocks noGrp="1"/>
          </p:cNvSpPr>
          <p:nvPr>
            <p:ph type="dt" sz="half" idx="10"/>
          </p:nvPr>
        </p:nvSpPr>
        <p:spPr/>
        <p:txBody>
          <a:bodyPr/>
          <a:lstStyle/>
          <a:p>
            <a:fld id="{FCC74FD8-4D84-430C-B47F-72591C4B84C1}" type="datetime1">
              <a:rPr kumimoji="1" lang="ja-JP" altLang="en-US" smtClean="0"/>
              <a:t>2024/10/10</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日付プレースホルダ 2"/>
          <p:cNvSpPr>
            <a:spLocks noGrp="1"/>
          </p:cNvSpPr>
          <p:nvPr>
            <p:ph type="dt" sz="half" idx="10"/>
          </p:nvPr>
        </p:nvSpPr>
        <p:spPr/>
        <p:txBody>
          <a:bodyPr/>
          <a:lstStyle/>
          <a:p>
            <a:fld id="{257C6D27-8C6A-4297-BA5C-E09773756038}" type="datetime1">
              <a:rPr kumimoji="1" lang="ja-JP" altLang="en-US" smtClean="0"/>
              <a:t>2024/10/10</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F9AB4363-3BB0-4F7D-8276-658FBE06CA3D}" type="datetime1">
              <a:rPr kumimoji="1" lang="ja-JP" altLang="en-US" smtClean="0"/>
              <a:t>2024/10/10</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a:t>マスタ タイトルの書式設定</a:t>
            </a:r>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5" name="日付プレースホルダ 4"/>
          <p:cNvSpPr>
            <a:spLocks noGrp="1"/>
          </p:cNvSpPr>
          <p:nvPr>
            <p:ph type="dt" sz="half" idx="10"/>
          </p:nvPr>
        </p:nvSpPr>
        <p:spPr/>
        <p:txBody>
          <a:bodyPr/>
          <a:lstStyle/>
          <a:p>
            <a:fld id="{9F4C9DEC-3DD0-469E-9C3E-A242551D913E}" type="datetime1">
              <a:rPr kumimoji="1" lang="ja-JP" altLang="en-US" smtClean="0"/>
              <a:t>2024/10/10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a:t>マスタ タイトルの書式設定</a:t>
            </a:r>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5" name="日付プレースホルダ 4"/>
          <p:cNvSpPr>
            <a:spLocks noGrp="1"/>
          </p:cNvSpPr>
          <p:nvPr>
            <p:ph type="dt" sz="half" idx="10"/>
          </p:nvPr>
        </p:nvSpPr>
        <p:spPr/>
        <p:txBody>
          <a:bodyPr/>
          <a:lstStyle/>
          <a:p>
            <a:fld id="{F4088E82-F995-49CA-A562-EFB0E090DBE5}" type="datetime1">
              <a:rPr kumimoji="1" lang="ja-JP" altLang="en-US" smtClean="0"/>
              <a:t>2024/10/10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3AA46972-B1F3-44E7-BE4D-23706CC90941}" type="datetime1">
              <a:rPr kumimoji="1" lang="ja-JP" altLang="en-US" smtClean="0"/>
              <a:t>2024/10/10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a:t>マスタ タイトルの書式設定</a:t>
            </a:r>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6EC9B793-0949-4F99-833F-D5A0B354BACC}" type="datetime1">
              <a:rPr kumimoji="1" lang="ja-JP" altLang="en-US" smtClean="0"/>
              <a:t>2024/10/10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t>‹#›</a:t>
            </a:fld>
            <a:endParaRPr kumimoji="1" lang="ja-JP"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6"/>
            <a:ext cx="7772400" cy="1470025"/>
          </a:xfrm>
        </p:spPr>
        <p:txBody>
          <a:bodyPr/>
          <a:lstStyle/>
          <a:p>
            <a:r>
              <a:rPr lang="ja-JP" altLang="en-US"/>
              <a:t>マスタ タイトルの書式設定</a:t>
            </a:r>
          </a:p>
        </p:txBody>
      </p:sp>
      <p:sp>
        <p:nvSpPr>
          <p:cNvPr id="3" name="サブタイトル 2"/>
          <p:cNvSpPr>
            <a:spLocks noGrp="1"/>
          </p:cNvSpPr>
          <p:nvPr>
            <p:ph type="subTitle" idx="1"/>
          </p:nvPr>
        </p:nvSpPr>
        <p:spPr>
          <a:xfrm>
            <a:off x="1371600" y="3886201"/>
            <a:ext cx="6400800" cy="1752600"/>
          </a:xfrm>
        </p:spPr>
        <p:txBody>
          <a:bodyPr/>
          <a:lstStyle>
            <a:lvl1pPr marL="0" indent="0" algn="ctr">
              <a:buNone/>
              <a:defRPr/>
            </a:lvl1pPr>
            <a:lvl2pPr marL="457153" indent="0" algn="ctr">
              <a:buNone/>
              <a:defRPr/>
            </a:lvl2pPr>
            <a:lvl3pPr marL="914305" indent="0" algn="ctr">
              <a:buNone/>
              <a:defRPr/>
            </a:lvl3pPr>
            <a:lvl4pPr marL="1371458" indent="0" algn="ctr">
              <a:buNone/>
              <a:defRPr/>
            </a:lvl4pPr>
            <a:lvl5pPr marL="1828610" indent="0" algn="ctr">
              <a:buNone/>
              <a:defRPr/>
            </a:lvl5pPr>
            <a:lvl6pPr marL="2285763" indent="0" algn="ctr">
              <a:buNone/>
              <a:defRPr/>
            </a:lvl6pPr>
            <a:lvl7pPr marL="2742915" indent="0" algn="ctr">
              <a:buNone/>
              <a:defRPr/>
            </a:lvl7pPr>
            <a:lvl8pPr marL="3200068" indent="0" algn="ctr">
              <a:buNone/>
              <a:defRPr/>
            </a:lvl8pPr>
            <a:lvl9pPr marL="3657220" indent="0" algn="ctr">
              <a:buNone/>
              <a:defRPr/>
            </a:lvl9pPr>
          </a:lstStyle>
          <a:p>
            <a:r>
              <a:rPr lang="ja-JP" altLang="en-US"/>
              <a:t>マスタ サブタイトルの書式設定</a:t>
            </a:r>
          </a:p>
        </p:txBody>
      </p:sp>
      <p:sp>
        <p:nvSpPr>
          <p:cNvPr id="4" name="Rectangle 4"/>
          <p:cNvSpPr>
            <a:spLocks noGrp="1" noChangeArrowheads="1"/>
          </p:cNvSpPr>
          <p:nvPr>
            <p:ph type="dt" sz="half" idx="10"/>
          </p:nvPr>
        </p:nvSpPr>
        <p:spPr>
          <a:ln/>
        </p:spPr>
        <p:txBody>
          <a:bodyPr/>
          <a:lstStyle>
            <a:lvl1pPr>
              <a:defRPr/>
            </a:lvl1pPr>
          </a:lstStyle>
          <a:p>
            <a:pPr>
              <a:defRPr/>
            </a:pPr>
            <a:fld id="{A991D493-43B2-446B-9708-E122CA65AE72}" type="datetime1">
              <a:rPr lang="ja-JP" altLang="en-US" smtClean="0">
                <a:solidFill>
                  <a:srgbClr val="000000"/>
                </a:solidFill>
              </a:rPr>
              <a:t>2024/10/10</a:t>
            </a:fld>
            <a:endParaRPr lang="en-US" altLang="ja-JP">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ja-JP">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fld id="{E4D60D0B-D6AA-47A9-84DE-9BF82EA5B0A6}" type="slidenum">
              <a:rPr lang="en-US" altLang="ja-JP">
                <a:solidFill>
                  <a:srgbClr val="000000"/>
                </a:solidFill>
              </a:rPr>
              <a:pPr/>
              <a:t>‹#›</a:t>
            </a:fld>
            <a:endParaRPr lang="en-US" altLang="ja-JP">
              <a:solidFill>
                <a:srgbClr val="000000"/>
              </a:solidFill>
            </a:endParaRPr>
          </a:p>
        </p:txBody>
      </p:sp>
    </p:spTree>
    <p:extLst>
      <p:ext uri="{BB962C8B-B14F-4D97-AF65-F5344CB8AC3E}">
        <p14:creationId xmlns:p14="http://schemas.microsoft.com/office/powerpoint/2010/main" val="9186029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idx="1"/>
          </p:nvPr>
        </p:nvSpPr>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p:cNvSpPr>
            <a:spLocks noGrp="1" noChangeArrowheads="1"/>
          </p:cNvSpPr>
          <p:nvPr>
            <p:ph type="dt" sz="half" idx="10"/>
          </p:nvPr>
        </p:nvSpPr>
        <p:spPr>
          <a:ln/>
        </p:spPr>
        <p:txBody>
          <a:bodyPr/>
          <a:lstStyle>
            <a:lvl1pPr>
              <a:defRPr/>
            </a:lvl1pPr>
          </a:lstStyle>
          <a:p>
            <a:pPr>
              <a:defRPr/>
            </a:pPr>
            <a:fld id="{E766477F-2DCA-4DA2-BD97-625F0314FF75}" type="datetime1">
              <a:rPr lang="ja-JP" altLang="en-US" smtClean="0">
                <a:solidFill>
                  <a:srgbClr val="000000"/>
                </a:solidFill>
              </a:rPr>
              <a:t>2024/10/10</a:t>
            </a:fld>
            <a:endParaRPr lang="en-US" altLang="ja-JP">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ja-JP">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fld id="{4C91B703-D8A0-41AA-A21C-FDF9BA75AF98}" type="slidenum">
              <a:rPr lang="en-US" altLang="ja-JP">
                <a:solidFill>
                  <a:srgbClr val="000000"/>
                </a:solidFill>
              </a:rPr>
              <a:pPr/>
              <a:t>‹#›</a:t>
            </a:fld>
            <a:endParaRPr lang="en-US" altLang="ja-JP">
              <a:solidFill>
                <a:srgbClr val="000000"/>
              </a:solidFill>
            </a:endParaRPr>
          </a:p>
        </p:txBody>
      </p:sp>
    </p:spTree>
    <p:extLst>
      <p:ext uri="{BB962C8B-B14F-4D97-AF65-F5344CB8AC3E}">
        <p14:creationId xmlns:p14="http://schemas.microsoft.com/office/powerpoint/2010/main" val="18433351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1"/>
            <a:ext cx="7772400" cy="1362075"/>
          </a:xfrm>
        </p:spPr>
        <p:txBody>
          <a:bodyPr anchor="t"/>
          <a:lstStyle>
            <a:lvl1pPr algn="l">
              <a:defRPr sz="4000" b="1" cap="all"/>
            </a:lvl1pPr>
          </a:lstStyle>
          <a:p>
            <a:r>
              <a:rPr lang="ja-JP" altLang="en-US"/>
              <a:t>マスタ タイトルの書式設定</a:t>
            </a:r>
          </a:p>
        </p:txBody>
      </p:sp>
      <p:sp>
        <p:nvSpPr>
          <p:cNvPr id="3" name="テキスト プレースホルダ 2"/>
          <p:cNvSpPr>
            <a:spLocks noGrp="1"/>
          </p:cNvSpPr>
          <p:nvPr>
            <p:ph type="body" idx="1"/>
          </p:nvPr>
        </p:nvSpPr>
        <p:spPr>
          <a:xfrm>
            <a:off x="722313" y="2906714"/>
            <a:ext cx="7772400" cy="1500187"/>
          </a:xfrm>
        </p:spPr>
        <p:txBody>
          <a:bodyPr anchor="b"/>
          <a:lstStyle>
            <a:lvl1pPr marL="0" indent="0">
              <a:buNone/>
              <a:defRPr sz="2000"/>
            </a:lvl1pPr>
            <a:lvl2pPr marL="457153" indent="0">
              <a:buNone/>
              <a:defRPr sz="1800"/>
            </a:lvl2pPr>
            <a:lvl3pPr marL="914305" indent="0">
              <a:buNone/>
              <a:defRPr sz="1600"/>
            </a:lvl3pPr>
            <a:lvl4pPr marL="1371458" indent="0">
              <a:buNone/>
              <a:defRPr sz="1400"/>
            </a:lvl4pPr>
            <a:lvl5pPr marL="1828610" indent="0">
              <a:buNone/>
              <a:defRPr sz="1400"/>
            </a:lvl5pPr>
            <a:lvl6pPr marL="2285763" indent="0">
              <a:buNone/>
              <a:defRPr sz="1400"/>
            </a:lvl6pPr>
            <a:lvl7pPr marL="2742915" indent="0">
              <a:buNone/>
              <a:defRPr sz="1400"/>
            </a:lvl7pPr>
            <a:lvl8pPr marL="3200068" indent="0">
              <a:buNone/>
              <a:defRPr sz="1400"/>
            </a:lvl8pPr>
            <a:lvl9pPr marL="3657220" indent="0">
              <a:buNone/>
              <a:defRPr sz="1400"/>
            </a:lvl9pPr>
          </a:lstStyle>
          <a:p>
            <a:pPr lvl="0"/>
            <a:r>
              <a:rPr lang="ja-JP" altLang="en-US"/>
              <a:t>マスタ テキストの書式設定</a:t>
            </a:r>
          </a:p>
        </p:txBody>
      </p:sp>
      <p:sp>
        <p:nvSpPr>
          <p:cNvPr id="4" name="Rectangle 4"/>
          <p:cNvSpPr>
            <a:spLocks noGrp="1" noChangeArrowheads="1"/>
          </p:cNvSpPr>
          <p:nvPr>
            <p:ph type="dt" sz="half" idx="10"/>
          </p:nvPr>
        </p:nvSpPr>
        <p:spPr>
          <a:ln/>
        </p:spPr>
        <p:txBody>
          <a:bodyPr/>
          <a:lstStyle>
            <a:lvl1pPr>
              <a:defRPr/>
            </a:lvl1pPr>
          </a:lstStyle>
          <a:p>
            <a:pPr>
              <a:defRPr/>
            </a:pPr>
            <a:fld id="{5F49110B-2102-4AED-9DE0-6E29E39E893E}" type="datetime1">
              <a:rPr lang="ja-JP" altLang="en-US" smtClean="0">
                <a:solidFill>
                  <a:srgbClr val="000000"/>
                </a:solidFill>
              </a:rPr>
              <a:t>2024/10/10</a:t>
            </a:fld>
            <a:endParaRPr lang="en-US" altLang="ja-JP">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ja-JP">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fld id="{9077FAB5-4D49-4B70-9831-30C70C8D3515}" type="slidenum">
              <a:rPr lang="en-US" altLang="ja-JP">
                <a:solidFill>
                  <a:srgbClr val="000000"/>
                </a:solidFill>
              </a:rPr>
              <a:pPr/>
              <a:t>‹#›</a:t>
            </a:fld>
            <a:endParaRPr lang="en-US" altLang="ja-JP">
              <a:solidFill>
                <a:srgbClr val="000000"/>
              </a:solidFill>
            </a:endParaRPr>
          </a:p>
        </p:txBody>
      </p:sp>
    </p:spTree>
    <p:extLst>
      <p:ext uri="{BB962C8B-B14F-4D97-AF65-F5344CB8AC3E}">
        <p14:creationId xmlns:p14="http://schemas.microsoft.com/office/powerpoint/2010/main" val="32515880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4"/>
          <p:cNvSpPr>
            <a:spLocks noGrp="1" noChangeArrowheads="1"/>
          </p:cNvSpPr>
          <p:nvPr>
            <p:ph type="dt" sz="half" idx="10"/>
          </p:nvPr>
        </p:nvSpPr>
        <p:spPr>
          <a:ln/>
        </p:spPr>
        <p:txBody>
          <a:bodyPr/>
          <a:lstStyle>
            <a:lvl1pPr>
              <a:defRPr/>
            </a:lvl1pPr>
          </a:lstStyle>
          <a:p>
            <a:pPr>
              <a:defRPr/>
            </a:pPr>
            <a:fld id="{AE4592C9-D702-4E99-A759-2E3F70F97C36}" type="datetime1">
              <a:rPr lang="ja-JP" altLang="en-US" smtClean="0">
                <a:solidFill>
                  <a:srgbClr val="000000"/>
                </a:solidFill>
              </a:rPr>
              <a:t>2024/10/10</a:t>
            </a:fld>
            <a:endParaRPr lang="en-US" altLang="ja-JP">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ja-JP">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fld id="{4DFAC204-713D-4BE2-A142-8E48B9DF7548}" type="slidenum">
              <a:rPr lang="en-US" altLang="ja-JP">
                <a:solidFill>
                  <a:srgbClr val="000000"/>
                </a:solidFill>
              </a:rPr>
              <a:pPr/>
              <a:t>‹#›</a:t>
            </a:fld>
            <a:endParaRPr lang="en-US" altLang="ja-JP">
              <a:solidFill>
                <a:srgbClr val="000000"/>
              </a:solidFill>
            </a:endParaRPr>
          </a:p>
        </p:txBody>
      </p:sp>
    </p:spTree>
    <p:extLst>
      <p:ext uri="{BB962C8B-B14F-4D97-AF65-F5344CB8AC3E}">
        <p14:creationId xmlns:p14="http://schemas.microsoft.com/office/powerpoint/2010/main" val="1722395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143000"/>
          </a:xfrm>
        </p:spPr>
        <p:txBody>
          <a:bodyPr/>
          <a:lstStyle>
            <a:lvl1pPr>
              <a:defRPr/>
            </a:lvl1pPr>
          </a:lstStyle>
          <a:p>
            <a:r>
              <a:rPr lang="ja-JP" altLang="en-US"/>
              <a:t>マスタ タイトルの書式設定</a:t>
            </a:r>
          </a:p>
        </p:txBody>
      </p:sp>
      <p:sp>
        <p:nvSpPr>
          <p:cNvPr id="3" name="テキスト プレースホルダ 2"/>
          <p:cNvSpPr>
            <a:spLocks noGrp="1"/>
          </p:cNvSpPr>
          <p:nvPr>
            <p:ph type="body" idx="1"/>
          </p:nvPr>
        </p:nvSpPr>
        <p:spPr>
          <a:xfrm>
            <a:off x="457200" y="1535114"/>
            <a:ext cx="4040188" cy="639762"/>
          </a:xfrm>
        </p:spPr>
        <p:txBody>
          <a:bodyPr anchor="b"/>
          <a:lstStyle>
            <a:lvl1pPr marL="0" indent="0">
              <a:buNone/>
              <a:defRPr sz="2400" b="1"/>
            </a:lvl1pPr>
            <a:lvl2pPr marL="457153" indent="0">
              <a:buNone/>
              <a:defRPr sz="2000" b="1"/>
            </a:lvl2pPr>
            <a:lvl3pPr marL="914305" indent="0">
              <a:buNone/>
              <a:defRPr sz="1800" b="1"/>
            </a:lvl3pPr>
            <a:lvl4pPr marL="1371458" indent="0">
              <a:buNone/>
              <a:defRPr sz="1600" b="1"/>
            </a:lvl4pPr>
            <a:lvl5pPr marL="1828610" indent="0">
              <a:buNone/>
              <a:defRPr sz="1600" b="1"/>
            </a:lvl5pPr>
            <a:lvl6pPr marL="2285763" indent="0">
              <a:buNone/>
              <a:defRPr sz="1600" b="1"/>
            </a:lvl6pPr>
            <a:lvl7pPr marL="2742915" indent="0">
              <a:buNone/>
              <a:defRPr sz="1600" b="1"/>
            </a:lvl7pPr>
            <a:lvl8pPr marL="3200068" indent="0">
              <a:buNone/>
              <a:defRPr sz="1600" b="1"/>
            </a:lvl8pPr>
            <a:lvl9pPr marL="3657220" indent="0">
              <a:buNone/>
              <a:defRPr sz="1600" b="1"/>
            </a:lvl9pPr>
          </a:lstStyle>
          <a:p>
            <a:pPr lvl="0"/>
            <a:r>
              <a:rPr lang="ja-JP" altLang="en-US"/>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4645025" y="1535114"/>
            <a:ext cx="4041775" cy="639762"/>
          </a:xfrm>
        </p:spPr>
        <p:txBody>
          <a:bodyPr anchor="b"/>
          <a:lstStyle>
            <a:lvl1pPr marL="0" indent="0">
              <a:buNone/>
              <a:defRPr sz="2400" b="1"/>
            </a:lvl1pPr>
            <a:lvl2pPr marL="457153" indent="0">
              <a:buNone/>
              <a:defRPr sz="2000" b="1"/>
            </a:lvl2pPr>
            <a:lvl3pPr marL="914305" indent="0">
              <a:buNone/>
              <a:defRPr sz="1800" b="1"/>
            </a:lvl3pPr>
            <a:lvl4pPr marL="1371458" indent="0">
              <a:buNone/>
              <a:defRPr sz="1600" b="1"/>
            </a:lvl4pPr>
            <a:lvl5pPr marL="1828610" indent="0">
              <a:buNone/>
              <a:defRPr sz="1600" b="1"/>
            </a:lvl5pPr>
            <a:lvl6pPr marL="2285763" indent="0">
              <a:buNone/>
              <a:defRPr sz="1600" b="1"/>
            </a:lvl6pPr>
            <a:lvl7pPr marL="2742915" indent="0">
              <a:buNone/>
              <a:defRPr sz="1600" b="1"/>
            </a:lvl7pPr>
            <a:lvl8pPr marL="3200068" indent="0">
              <a:buNone/>
              <a:defRPr sz="1600" b="1"/>
            </a:lvl8pPr>
            <a:lvl9pPr marL="3657220" indent="0">
              <a:buNone/>
              <a:defRPr sz="1600" b="1"/>
            </a:lvl9pPr>
          </a:lstStyle>
          <a:p>
            <a:pPr lvl="0"/>
            <a:r>
              <a:rPr lang="ja-JP" altLang="en-US"/>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4"/>
          <p:cNvSpPr>
            <a:spLocks noGrp="1" noChangeArrowheads="1"/>
          </p:cNvSpPr>
          <p:nvPr>
            <p:ph type="dt" sz="half" idx="10"/>
          </p:nvPr>
        </p:nvSpPr>
        <p:spPr>
          <a:ln/>
        </p:spPr>
        <p:txBody>
          <a:bodyPr/>
          <a:lstStyle>
            <a:lvl1pPr>
              <a:defRPr/>
            </a:lvl1pPr>
          </a:lstStyle>
          <a:p>
            <a:pPr>
              <a:defRPr/>
            </a:pPr>
            <a:fld id="{249F73E6-771C-4104-BEB5-CCB7342DA1A9}" type="datetime1">
              <a:rPr lang="ja-JP" altLang="en-US" smtClean="0">
                <a:solidFill>
                  <a:srgbClr val="000000"/>
                </a:solidFill>
              </a:rPr>
              <a:t>2024/10/10</a:t>
            </a:fld>
            <a:endParaRPr lang="en-US" altLang="ja-JP">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ja-JP">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fld id="{35F47656-3058-400E-88E1-8A3DA0D9A2B9}" type="slidenum">
              <a:rPr lang="en-US" altLang="ja-JP">
                <a:solidFill>
                  <a:srgbClr val="000000"/>
                </a:solidFill>
              </a:rPr>
              <a:pPr/>
              <a:t>‹#›</a:t>
            </a:fld>
            <a:endParaRPr lang="en-US" altLang="ja-JP">
              <a:solidFill>
                <a:srgbClr val="000000"/>
              </a:solidFill>
            </a:endParaRPr>
          </a:p>
        </p:txBody>
      </p:sp>
    </p:spTree>
    <p:extLst>
      <p:ext uri="{BB962C8B-B14F-4D97-AF65-F5344CB8AC3E}">
        <p14:creationId xmlns:p14="http://schemas.microsoft.com/office/powerpoint/2010/main" val="3653594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Rectangle 4"/>
          <p:cNvSpPr>
            <a:spLocks noGrp="1" noChangeArrowheads="1"/>
          </p:cNvSpPr>
          <p:nvPr>
            <p:ph type="dt" sz="half" idx="10"/>
          </p:nvPr>
        </p:nvSpPr>
        <p:spPr>
          <a:ln/>
        </p:spPr>
        <p:txBody>
          <a:bodyPr/>
          <a:lstStyle>
            <a:lvl1pPr>
              <a:defRPr/>
            </a:lvl1pPr>
          </a:lstStyle>
          <a:p>
            <a:pPr>
              <a:defRPr/>
            </a:pPr>
            <a:fld id="{41987905-A533-451A-A14A-34423A6A5A0F}" type="datetime1">
              <a:rPr lang="ja-JP" altLang="en-US" smtClean="0">
                <a:solidFill>
                  <a:srgbClr val="000000"/>
                </a:solidFill>
              </a:rPr>
              <a:t>2024/10/10</a:t>
            </a:fld>
            <a:endParaRPr lang="en-US" altLang="ja-JP">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ja-JP">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fld id="{4F343011-A72D-4E6C-8051-63D4D32BBFC7}" type="slidenum">
              <a:rPr lang="en-US" altLang="ja-JP">
                <a:solidFill>
                  <a:srgbClr val="000000"/>
                </a:solidFill>
              </a:rPr>
              <a:pPr/>
              <a:t>‹#›</a:t>
            </a:fld>
            <a:endParaRPr lang="en-US" altLang="ja-JP">
              <a:solidFill>
                <a:srgbClr val="000000"/>
              </a:solidFill>
            </a:endParaRPr>
          </a:p>
        </p:txBody>
      </p:sp>
    </p:spTree>
    <p:extLst>
      <p:ext uri="{BB962C8B-B14F-4D97-AF65-F5344CB8AC3E}">
        <p14:creationId xmlns:p14="http://schemas.microsoft.com/office/powerpoint/2010/main" val="15321764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38D82A10-C8B4-43BE-9623-33C7EA270905}" type="datetime1">
              <a:rPr lang="ja-JP" altLang="en-US" smtClean="0">
                <a:solidFill>
                  <a:srgbClr val="000000"/>
                </a:solidFill>
              </a:rPr>
              <a:t>2024/10/10</a:t>
            </a:fld>
            <a:endParaRPr lang="en-US" altLang="ja-JP">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ja-JP">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fld id="{94DE8EA6-BD83-4B80-9348-645B3ECCE3F1}" type="slidenum">
              <a:rPr lang="en-US" altLang="ja-JP">
                <a:solidFill>
                  <a:srgbClr val="000000"/>
                </a:solidFill>
              </a:rPr>
              <a:pPr/>
              <a:t>‹#›</a:t>
            </a:fld>
            <a:endParaRPr lang="en-US" altLang="ja-JP">
              <a:solidFill>
                <a:srgbClr val="000000"/>
              </a:solidFill>
            </a:endParaRPr>
          </a:p>
        </p:txBody>
      </p:sp>
    </p:spTree>
    <p:extLst>
      <p:ext uri="{BB962C8B-B14F-4D97-AF65-F5344CB8AC3E}">
        <p14:creationId xmlns:p14="http://schemas.microsoft.com/office/powerpoint/2010/main" val="386988884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1" y="273050"/>
            <a:ext cx="3008313" cy="1162050"/>
          </a:xfrm>
        </p:spPr>
        <p:txBody>
          <a:bodyPr anchor="b"/>
          <a:lstStyle>
            <a:lvl1pPr algn="l">
              <a:defRPr sz="2000" b="1"/>
            </a:lvl1pPr>
          </a:lstStyle>
          <a:p>
            <a:r>
              <a:rPr lang="ja-JP" altLang="en-US"/>
              <a:t>マスタ タイトルの書式設定</a:t>
            </a:r>
          </a:p>
        </p:txBody>
      </p:sp>
      <p:sp>
        <p:nvSpPr>
          <p:cNvPr id="3" name="コンテンツ プレースホルダ 2"/>
          <p:cNvSpPr>
            <a:spLocks noGrp="1"/>
          </p:cNvSpPr>
          <p:nvPr>
            <p:ph idx="1"/>
          </p:nvPr>
        </p:nvSpPr>
        <p:spPr>
          <a:xfrm>
            <a:off x="3575051" y="273051"/>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457201" y="1435101"/>
            <a:ext cx="3008313" cy="4691063"/>
          </a:xfrm>
        </p:spPr>
        <p:txBody>
          <a:bodyPr/>
          <a:lstStyle>
            <a:lvl1pPr marL="0" indent="0">
              <a:buNone/>
              <a:defRPr sz="1400"/>
            </a:lvl1pPr>
            <a:lvl2pPr marL="457153" indent="0">
              <a:buNone/>
              <a:defRPr sz="1200"/>
            </a:lvl2pPr>
            <a:lvl3pPr marL="914305" indent="0">
              <a:buNone/>
              <a:defRPr sz="1000"/>
            </a:lvl3pPr>
            <a:lvl4pPr marL="1371458" indent="0">
              <a:buNone/>
              <a:defRPr sz="900"/>
            </a:lvl4pPr>
            <a:lvl5pPr marL="1828610" indent="0">
              <a:buNone/>
              <a:defRPr sz="900"/>
            </a:lvl5pPr>
            <a:lvl6pPr marL="2285763" indent="0">
              <a:buNone/>
              <a:defRPr sz="900"/>
            </a:lvl6pPr>
            <a:lvl7pPr marL="2742915" indent="0">
              <a:buNone/>
              <a:defRPr sz="900"/>
            </a:lvl7pPr>
            <a:lvl8pPr marL="3200068" indent="0">
              <a:buNone/>
              <a:defRPr sz="900"/>
            </a:lvl8pPr>
            <a:lvl9pPr marL="3657220" indent="0">
              <a:buNone/>
              <a:defRPr sz="900"/>
            </a:lvl9pPr>
          </a:lstStyle>
          <a:p>
            <a:pPr lvl="0"/>
            <a:r>
              <a:rPr lang="ja-JP" altLang="en-US"/>
              <a:t>マスタ テキストの書式設定</a:t>
            </a:r>
          </a:p>
        </p:txBody>
      </p:sp>
      <p:sp>
        <p:nvSpPr>
          <p:cNvPr id="5" name="Rectangle 4"/>
          <p:cNvSpPr>
            <a:spLocks noGrp="1" noChangeArrowheads="1"/>
          </p:cNvSpPr>
          <p:nvPr>
            <p:ph type="dt" sz="half" idx="10"/>
          </p:nvPr>
        </p:nvSpPr>
        <p:spPr>
          <a:ln/>
        </p:spPr>
        <p:txBody>
          <a:bodyPr/>
          <a:lstStyle>
            <a:lvl1pPr>
              <a:defRPr/>
            </a:lvl1pPr>
          </a:lstStyle>
          <a:p>
            <a:pPr>
              <a:defRPr/>
            </a:pPr>
            <a:fld id="{935F5853-7E62-4E1E-BD5E-8673D692E472}" type="datetime1">
              <a:rPr lang="ja-JP" altLang="en-US" smtClean="0">
                <a:solidFill>
                  <a:srgbClr val="000000"/>
                </a:solidFill>
              </a:rPr>
              <a:t>2024/10/10</a:t>
            </a:fld>
            <a:endParaRPr lang="en-US" altLang="ja-JP">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ja-JP">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fld id="{1A29CA4D-AC21-4E32-9D49-16B91744F2D6}" type="slidenum">
              <a:rPr lang="en-US" altLang="ja-JP">
                <a:solidFill>
                  <a:srgbClr val="000000"/>
                </a:solidFill>
              </a:rPr>
              <a:pPr/>
              <a:t>‹#›</a:t>
            </a:fld>
            <a:endParaRPr lang="en-US" altLang="ja-JP">
              <a:solidFill>
                <a:srgbClr val="000000"/>
              </a:solidFill>
            </a:endParaRPr>
          </a:p>
        </p:txBody>
      </p:sp>
    </p:spTree>
    <p:extLst>
      <p:ext uri="{BB962C8B-B14F-4D97-AF65-F5344CB8AC3E}">
        <p14:creationId xmlns:p14="http://schemas.microsoft.com/office/powerpoint/2010/main" val="35887336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lang="ja-JP" altLang="en-US"/>
              <a:t>マスタ タイトルの書式設定</a:t>
            </a:r>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153" indent="0">
              <a:buNone/>
              <a:defRPr sz="2800"/>
            </a:lvl2pPr>
            <a:lvl3pPr marL="914305" indent="0">
              <a:buNone/>
              <a:defRPr sz="2400"/>
            </a:lvl3pPr>
            <a:lvl4pPr marL="1371458" indent="0">
              <a:buNone/>
              <a:defRPr sz="2000"/>
            </a:lvl4pPr>
            <a:lvl5pPr marL="1828610" indent="0">
              <a:buNone/>
              <a:defRPr sz="2000"/>
            </a:lvl5pPr>
            <a:lvl6pPr marL="2285763" indent="0">
              <a:buNone/>
              <a:defRPr sz="2000"/>
            </a:lvl6pPr>
            <a:lvl7pPr marL="2742915" indent="0">
              <a:buNone/>
              <a:defRPr sz="2000"/>
            </a:lvl7pPr>
            <a:lvl8pPr marL="3200068" indent="0">
              <a:buNone/>
              <a:defRPr sz="2000"/>
            </a:lvl8pPr>
            <a:lvl9pPr marL="3657220" indent="0">
              <a:buNone/>
              <a:defRPr sz="2000"/>
            </a:lvl9pPr>
          </a:lstStyle>
          <a:p>
            <a:pPr lvl="0"/>
            <a:endParaRPr lang="ja-JP" altLang="en-US" noProof="0"/>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153" indent="0">
              <a:buNone/>
              <a:defRPr sz="1200"/>
            </a:lvl2pPr>
            <a:lvl3pPr marL="914305" indent="0">
              <a:buNone/>
              <a:defRPr sz="1000"/>
            </a:lvl3pPr>
            <a:lvl4pPr marL="1371458" indent="0">
              <a:buNone/>
              <a:defRPr sz="900"/>
            </a:lvl4pPr>
            <a:lvl5pPr marL="1828610" indent="0">
              <a:buNone/>
              <a:defRPr sz="900"/>
            </a:lvl5pPr>
            <a:lvl6pPr marL="2285763" indent="0">
              <a:buNone/>
              <a:defRPr sz="900"/>
            </a:lvl6pPr>
            <a:lvl7pPr marL="2742915" indent="0">
              <a:buNone/>
              <a:defRPr sz="900"/>
            </a:lvl7pPr>
            <a:lvl8pPr marL="3200068" indent="0">
              <a:buNone/>
              <a:defRPr sz="900"/>
            </a:lvl8pPr>
            <a:lvl9pPr marL="3657220" indent="0">
              <a:buNone/>
              <a:defRPr sz="900"/>
            </a:lvl9pPr>
          </a:lstStyle>
          <a:p>
            <a:pPr lvl="0"/>
            <a:r>
              <a:rPr lang="ja-JP" altLang="en-US"/>
              <a:t>マスタ テキストの書式設定</a:t>
            </a:r>
          </a:p>
        </p:txBody>
      </p:sp>
      <p:sp>
        <p:nvSpPr>
          <p:cNvPr id="5" name="Rectangle 4"/>
          <p:cNvSpPr>
            <a:spLocks noGrp="1" noChangeArrowheads="1"/>
          </p:cNvSpPr>
          <p:nvPr>
            <p:ph type="dt" sz="half" idx="10"/>
          </p:nvPr>
        </p:nvSpPr>
        <p:spPr>
          <a:ln/>
        </p:spPr>
        <p:txBody>
          <a:bodyPr/>
          <a:lstStyle>
            <a:lvl1pPr>
              <a:defRPr/>
            </a:lvl1pPr>
          </a:lstStyle>
          <a:p>
            <a:pPr>
              <a:defRPr/>
            </a:pPr>
            <a:fld id="{0FC1BD11-651F-4DC6-BB48-610767866447}" type="datetime1">
              <a:rPr lang="ja-JP" altLang="en-US" smtClean="0">
                <a:solidFill>
                  <a:srgbClr val="000000"/>
                </a:solidFill>
              </a:rPr>
              <a:t>2024/10/10</a:t>
            </a:fld>
            <a:endParaRPr lang="en-US" altLang="ja-JP">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ja-JP">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fld id="{4E07C05D-716E-430B-8F1B-696FE9865A7B}" type="slidenum">
              <a:rPr lang="en-US" altLang="ja-JP">
                <a:solidFill>
                  <a:srgbClr val="000000"/>
                </a:solidFill>
              </a:rPr>
              <a:pPr/>
              <a:t>‹#›</a:t>
            </a:fld>
            <a:endParaRPr lang="en-US" altLang="ja-JP">
              <a:solidFill>
                <a:srgbClr val="000000"/>
              </a:solidFill>
            </a:endParaRPr>
          </a:p>
        </p:txBody>
      </p:sp>
    </p:spTree>
    <p:extLst>
      <p:ext uri="{BB962C8B-B14F-4D97-AF65-F5344CB8AC3E}">
        <p14:creationId xmlns:p14="http://schemas.microsoft.com/office/powerpoint/2010/main" val="12224408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p:cNvSpPr>
            <a:spLocks noGrp="1" noChangeArrowheads="1"/>
          </p:cNvSpPr>
          <p:nvPr>
            <p:ph type="dt" sz="half" idx="10"/>
          </p:nvPr>
        </p:nvSpPr>
        <p:spPr>
          <a:ln/>
        </p:spPr>
        <p:txBody>
          <a:bodyPr/>
          <a:lstStyle>
            <a:lvl1pPr>
              <a:defRPr/>
            </a:lvl1pPr>
          </a:lstStyle>
          <a:p>
            <a:pPr>
              <a:defRPr/>
            </a:pPr>
            <a:fld id="{9E1F9026-C3B4-4C5D-B346-43356818BCF6}" type="datetime1">
              <a:rPr lang="ja-JP" altLang="en-US" smtClean="0">
                <a:solidFill>
                  <a:srgbClr val="000000"/>
                </a:solidFill>
              </a:rPr>
              <a:t>2024/10/10</a:t>
            </a:fld>
            <a:endParaRPr lang="en-US" altLang="ja-JP">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ja-JP">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fld id="{85656C1D-A0E4-4894-B766-752C565B9C64}" type="slidenum">
              <a:rPr lang="en-US" altLang="ja-JP">
                <a:solidFill>
                  <a:srgbClr val="000000"/>
                </a:solidFill>
              </a:rPr>
              <a:pPr/>
              <a:t>‹#›</a:t>
            </a:fld>
            <a:endParaRPr lang="en-US" altLang="ja-JP">
              <a:solidFill>
                <a:srgbClr val="000000"/>
              </a:solidFill>
            </a:endParaRPr>
          </a:p>
        </p:txBody>
      </p:sp>
    </p:spTree>
    <p:extLst>
      <p:ext uri="{BB962C8B-B14F-4D97-AF65-F5344CB8AC3E}">
        <p14:creationId xmlns:p14="http://schemas.microsoft.com/office/powerpoint/2010/main" val="10340245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515100" y="609600"/>
            <a:ext cx="1943100" cy="5486400"/>
          </a:xfrm>
        </p:spPr>
        <p:txBody>
          <a:bodyPr vert="eaVert"/>
          <a:lstStyle/>
          <a:p>
            <a:r>
              <a:rPr lang="ja-JP" altLang="en-US"/>
              <a:t>マスタ タイトルの書式設定</a:t>
            </a:r>
          </a:p>
        </p:txBody>
      </p:sp>
      <p:sp>
        <p:nvSpPr>
          <p:cNvPr id="3" name="縦書きテキスト プレースホルダ 2"/>
          <p:cNvSpPr>
            <a:spLocks noGrp="1"/>
          </p:cNvSpPr>
          <p:nvPr>
            <p:ph type="body" orient="vert" idx="1"/>
          </p:nvPr>
        </p:nvSpPr>
        <p:spPr>
          <a:xfrm>
            <a:off x="685800" y="609600"/>
            <a:ext cx="5676900" cy="5486400"/>
          </a:xfrm>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4"/>
          <p:cNvSpPr>
            <a:spLocks noGrp="1" noChangeArrowheads="1"/>
          </p:cNvSpPr>
          <p:nvPr>
            <p:ph type="dt" sz="half" idx="10"/>
          </p:nvPr>
        </p:nvSpPr>
        <p:spPr>
          <a:ln/>
        </p:spPr>
        <p:txBody>
          <a:bodyPr/>
          <a:lstStyle>
            <a:lvl1pPr>
              <a:defRPr/>
            </a:lvl1pPr>
          </a:lstStyle>
          <a:p>
            <a:pPr>
              <a:defRPr/>
            </a:pPr>
            <a:fld id="{B731F047-0745-424A-A41E-ACF2E2DFACDE}" type="datetime1">
              <a:rPr lang="ja-JP" altLang="en-US" smtClean="0">
                <a:solidFill>
                  <a:srgbClr val="000000"/>
                </a:solidFill>
              </a:rPr>
              <a:t>2024/10/10</a:t>
            </a:fld>
            <a:endParaRPr lang="en-US" altLang="ja-JP">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ja-JP">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fld id="{A713D808-7D6D-40D6-BC10-FDB01196358E}" type="slidenum">
              <a:rPr lang="en-US" altLang="ja-JP">
                <a:solidFill>
                  <a:srgbClr val="000000"/>
                </a:solidFill>
              </a:rPr>
              <a:pPr/>
              <a:t>‹#›</a:t>
            </a:fld>
            <a:endParaRPr lang="en-US" altLang="ja-JP">
              <a:solidFill>
                <a:srgbClr val="000000"/>
              </a:solidFill>
            </a:endParaRPr>
          </a:p>
        </p:txBody>
      </p:sp>
    </p:spTree>
    <p:extLst>
      <p:ext uri="{BB962C8B-B14F-4D97-AF65-F5344CB8AC3E}">
        <p14:creationId xmlns:p14="http://schemas.microsoft.com/office/powerpoint/2010/main" val="15620454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a:t>マスタ タイトルの書式設定</a:t>
            </a:r>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BE99C4-C915-48B9-9A42-0AE48EEEA06D}" type="datetime1">
              <a:rPr kumimoji="1" lang="ja-JP" altLang="en-US" smtClean="0"/>
              <a:t>2024/10/10</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0" tIns="45715" rIns="91430" bIns="45715" numCol="1" anchor="ctr" anchorCtr="0" compatLnSpc="1">
            <a:prstTxWarp prst="textNoShape">
              <a:avLst/>
            </a:prstTxWarp>
          </a:bodyPr>
          <a:lstStyle/>
          <a:p>
            <a:pPr lvl="0"/>
            <a:r>
              <a:rPr lang="ja-JP" altLang="en-US"/>
              <a:t>マスタ タイトルの書式設定</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0" tIns="45715" rIns="91430" bIns="45715"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3076"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30" tIns="45715" rIns="91430" bIns="45715" numCol="1" anchor="t" anchorCtr="0" compatLnSpc="1">
            <a:prstTxWarp prst="textNoShape">
              <a:avLst/>
            </a:prstTxWarp>
          </a:bodyPr>
          <a:lstStyle>
            <a:lvl1pPr eaLnBrk="1" hangingPunct="1">
              <a:defRPr sz="1400">
                <a:latin typeface="Times New Roman" charset="0"/>
                <a:ea typeface="ＭＳ Ｐゴシック" pitchFamily="50" charset="-128"/>
              </a:defRPr>
            </a:lvl1pPr>
          </a:lstStyle>
          <a:p>
            <a:pPr defTabSz="829452" fontAlgn="base">
              <a:spcBef>
                <a:spcPct val="0"/>
              </a:spcBef>
              <a:spcAft>
                <a:spcPct val="0"/>
              </a:spcAft>
              <a:defRPr/>
            </a:pPr>
            <a:fld id="{F724365C-36E4-4C68-B642-18B8576D4953}" type="datetime1">
              <a:rPr lang="ja-JP" altLang="en-US" smtClean="0">
                <a:solidFill>
                  <a:srgbClr val="000000"/>
                </a:solidFill>
              </a:rPr>
              <a:t>2024/10/10</a:t>
            </a:fld>
            <a:endParaRPr lang="en-US" altLang="ja-JP">
              <a:solidFill>
                <a:srgbClr val="000000"/>
              </a:solidFill>
            </a:endParaRPr>
          </a:p>
        </p:txBody>
      </p:sp>
      <p:sp>
        <p:nvSpPr>
          <p:cNvPr id="3077"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30" tIns="45715" rIns="91430" bIns="45715" numCol="1" anchor="t" anchorCtr="0" compatLnSpc="1">
            <a:prstTxWarp prst="textNoShape">
              <a:avLst/>
            </a:prstTxWarp>
          </a:bodyPr>
          <a:lstStyle>
            <a:lvl1pPr algn="ctr" eaLnBrk="1" hangingPunct="1">
              <a:defRPr sz="1400">
                <a:latin typeface="Times New Roman" charset="0"/>
                <a:ea typeface="ＭＳ Ｐゴシック" pitchFamily="50" charset="-128"/>
              </a:defRPr>
            </a:lvl1pPr>
          </a:lstStyle>
          <a:p>
            <a:pPr defTabSz="829452" fontAlgn="base">
              <a:spcBef>
                <a:spcPct val="0"/>
              </a:spcBef>
              <a:spcAft>
                <a:spcPct val="0"/>
              </a:spcAft>
              <a:defRPr/>
            </a:pPr>
            <a:endParaRPr lang="en-US" altLang="ja-JP">
              <a:solidFill>
                <a:srgbClr val="000000"/>
              </a:solidFill>
            </a:endParaRPr>
          </a:p>
        </p:txBody>
      </p:sp>
      <p:sp>
        <p:nvSpPr>
          <p:cNvPr id="3078"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30" tIns="45715" rIns="91430" bIns="45715" numCol="1" anchor="t" anchorCtr="0" compatLnSpc="1">
            <a:prstTxWarp prst="textNoShape">
              <a:avLst/>
            </a:prstTxWarp>
          </a:bodyPr>
          <a:lstStyle>
            <a:lvl1pPr algn="r" eaLnBrk="1" hangingPunct="1">
              <a:defRPr sz="1400"/>
            </a:lvl1pPr>
          </a:lstStyle>
          <a:p>
            <a:pPr defTabSz="829452" fontAlgn="base">
              <a:spcBef>
                <a:spcPct val="0"/>
              </a:spcBef>
              <a:spcAft>
                <a:spcPct val="0"/>
              </a:spcAft>
            </a:pPr>
            <a:fld id="{0A9DE9F4-1B0D-41D4-BB45-F82231040046}" type="slidenum">
              <a:rPr lang="en-US" altLang="ja-JP">
                <a:solidFill>
                  <a:srgbClr val="000000"/>
                </a:solidFill>
              </a:rPr>
              <a:pPr defTabSz="829452" fontAlgn="base">
                <a:spcBef>
                  <a:spcPct val="0"/>
                </a:spcBef>
                <a:spcAft>
                  <a:spcPct val="0"/>
                </a:spcAft>
              </a:pPr>
              <a:t>‹#›</a:t>
            </a:fld>
            <a:endParaRPr lang="en-US" altLang="ja-JP">
              <a:solidFill>
                <a:srgbClr val="000000"/>
              </a:solidFill>
            </a:endParaRPr>
          </a:p>
        </p:txBody>
      </p:sp>
    </p:spTree>
    <p:extLst>
      <p:ext uri="{BB962C8B-B14F-4D97-AF65-F5344CB8AC3E}">
        <p14:creationId xmlns:p14="http://schemas.microsoft.com/office/powerpoint/2010/main" val="39678541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2pPr>
      <a:lvl3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3pPr>
      <a:lvl4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4pPr>
      <a:lvl5pPr algn="ctr" rtl="0" eaLnBrk="0" fontAlgn="base" hangingPunct="0">
        <a:spcBef>
          <a:spcPct val="0"/>
        </a:spcBef>
        <a:spcAft>
          <a:spcPct val="0"/>
        </a:spcAft>
        <a:defRPr kumimoji="1" sz="4400">
          <a:solidFill>
            <a:schemeClr val="tx2"/>
          </a:solidFill>
          <a:latin typeface="Times New Roman" charset="0"/>
          <a:ea typeface="ＭＳ Ｐゴシック" pitchFamily="50" charset="-128"/>
        </a:defRPr>
      </a:lvl5pPr>
      <a:lvl6pPr marL="457153" algn="ctr" rtl="0" fontAlgn="base">
        <a:spcBef>
          <a:spcPct val="0"/>
        </a:spcBef>
        <a:spcAft>
          <a:spcPct val="0"/>
        </a:spcAft>
        <a:defRPr kumimoji="1" sz="4400">
          <a:solidFill>
            <a:schemeClr val="tx2"/>
          </a:solidFill>
          <a:latin typeface="Times New Roman" charset="0"/>
          <a:ea typeface="ＭＳ Ｐゴシック" pitchFamily="50" charset="-128"/>
        </a:defRPr>
      </a:lvl6pPr>
      <a:lvl7pPr marL="914305" algn="ctr" rtl="0" fontAlgn="base">
        <a:spcBef>
          <a:spcPct val="0"/>
        </a:spcBef>
        <a:spcAft>
          <a:spcPct val="0"/>
        </a:spcAft>
        <a:defRPr kumimoji="1" sz="4400">
          <a:solidFill>
            <a:schemeClr val="tx2"/>
          </a:solidFill>
          <a:latin typeface="Times New Roman" charset="0"/>
          <a:ea typeface="ＭＳ Ｐゴシック" pitchFamily="50" charset="-128"/>
        </a:defRPr>
      </a:lvl7pPr>
      <a:lvl8pPr marL="1371458" algn="ctr" rtl="0" fontAlgn="base">
        <a:spcBef>
          <a:spcPct val="0"/>
        </a:spcBef>
        <a:spcAft>
          <a:spcPct val="0"/>
        </a:spcAft>
        <a:defRPr kumimoji="1" sz="4400">
          <a:solidFill>
            <a:schemeClr val="tx2"/>
          </a:solidFill>
          <a:latin typeface="Times New Roman" charset="0"/>
          <a:ea typeface="ＭＳ Ｐゴシック" pitchFamily="50" charset="-128"/>
        </a:defRPr>
      </a:lvl8pPr>
      <a:lvl9pPr marL="1828610" algn="ctr" rtl="0" fontAlgn="base">
        <a:spcBef>
          <a:spcPct val="0"/>
        </a:spcBef>
        <a:spcAft>
          <a:spcPct val="0"/>
        </a:spcAft>
        <a:defRPr kumimoji="1" sz="4400">
          <a:solidFill>
            <a:schemeClr val="tx2"/>
          </a:solidFill>
          <a:latin typeface="Times New Roman" charset="0"/>
          <a:ea typeface="ＭＳ Ｐゴシック" pitchFamily="50" charset="-128"/>
        </a:defRPr>
      </a:lvl9pPr>
    </p:titleStyle>
    <p:bodyStyle>
      <a:lvl1pPr marL="342865" indent="-342865" algn="l" rtl="0" eaLnBrk="0" fontAlgn="base" hangingPunct="0">
        <a:spcBef>
          <a:spcPct val="20000"/>
        </a:spcBef>
        <a:spcAft>
          <a:spcPct val="0"/>
        </a:spcAft>
        <a:buChar char="•"/>
        <a:defRPr kumimoji="1" sz="3200">
          <a:solidFill>
            <a:schemeClr val="tx1"/>
          </a:solidFill>
          <a:latin typeface="+mn-lt"/>
          <a:ea typeface="+mn-ea"/>
          <a:cs typeface="+mn-cs"/>
        </a:defRPr>
      </a:lvl1pPr>
      <a:lvl2pPr marL="742873" indent="-285720" algn="l" rtl="0" eaLnBrk="0" fontAlgn="base" hangingPunct="0">
        <a:spcBef>
          <a:spcPct val="20000"/>
        </a:spcBef>
        <a:spcAft>
          <a:spcPct val="0"/>
        </a:spcAft>
        <a:buChar char="–"/>
        <a:defRPr kumimoji="1" sz="2800">
          <a:solidFill>
            <a:schemeClr val="tx1"/>
          </a:solidFill>
          <a:latin typeface="+mn-lt"/>
          <a:ea typeface="+mn-ea"/>
        </a:defRPr>
      </a:lvl2pPr>
      <a:lvl3pPr marL="1142882" indent="-228577" algn="l" rtl="0" eaLnBrk="0" fontAlgn="base" hangingPunct="0">
        <a:spcBef>
          <a:spcPct val="20000"/>
        </a:spcBef>
        <a:spcAft>
          <a:spcPct val="0"/>
        </a:spcAft>
        <a:buChar char="•"/>
        <a:defRPr kumimoji="1" sz="2400">
          <a:solidFill>
            <a:schemeClr val="tx1"/>
          </a:solidFill>
          <a:latin typeface="+mn-lt"/>
          <a:ea typeface="+mn-ea"/>
        </a:defRPr>
      </a:lvl3pPr>
      <a:lvl4pPr marL="1600034" indent="-228577" algn="l" rtl="0" eaLnBrk="0" fontAlgn="base" hangingPunct="0">
        <a:spcBef>
          <a:spcPct val="20000"/>
        </a:spcBef>
        <a:spcAft>
          <a:spcPct val="0"/>
        </a:spcAft>
        <a:buChar char="–"/>
        <a:defRPr kumimoji="1" sz="2000">
          <a:solidFill>
            <a:schemeClr val="tx1"/>
          </a:solidFill>
          <a:latin typeface="+mn-lt"/>
          <a:ea typeface="+mn-ea"/>
        </a:defRPr>
      </a:lvl4pPr>
      <a:lvl5pPr marL="2057187" indent="-228577" algn="l" rtl="0" eaLnBrk="0" fontAlgn="base" hangingPunct="0">
        <a:spcBef>
          <a:spcPct val="20000"/>
        </a:spcBef>
        <a:spcAft>
          <a:spcPct val="0"/>
        </a:spcAft>
        <a:buChar char="»"/>
        <a:defRPr kumimoji="1" sz="2000">
          <a:solidFill>
            <a:schemeClr val="tx1"/>
          </a:solidFill>
          <a:latin typeface="+mn-lt"/>
          <a:ea typeface="+mn-ea"/>
        </a:defRPr>
      </a:lvl5pPr>
      <a:lvl6pPr marL="2514340" indent="-228577" algn="l" rtl="0" fontAlgn="base">
        <a:spcBef>
          <a:spcPct val="20000"/>
        </a:spcBef>
        <a:spcAft>
          <a:spcPct val="0"/>
        </a:spcAft>
        <a:buChar char="»"/>
        <a:defRPr kumimoji="1" sz="2000">
          <a:solidFill>
            <a:schemeClr val="tx1"/>
          </a:solidFill>
          <a:latin typeface="+mn-lt"/>
          <a:ea typeface="+mn-ea"/>
        </a:defRPr>
      </a:lvl6pPr>
      <a:lvl7pPr marL="2971492" indent="-228577" algn="l" rtl="0" fontAlgn="base">
        <a:spcBef>
          <a:spcPct val="20000"/>
        </a:spcBef>
        <a:spcAft>
          <a:spcPct val="0"/>
        </a:spcAft>
        <a:buChar char="»"/>
        <a:defRPr kumimoji="1" sz="2000">
          <a:solidFill>
            <a:schemeClr val="tx1"/>
          </a:solidFill>
          <a:latin typeface="+mn-lt"/>
          <a:ea typeface="+mn-ea"/>
        </a:defRPr>
      </a:lvl7pPr>
      <a:lvl8pPr marL="3428645" indent="-228577" algn="l" rtl="0" fontAlgn="base">
        <a:spcBef>
          <a:spcPct val="20000"/>
        </a:spcBef>
        <a:spcAft>
          <a:spcPct val="0"/>
        </a:spcAft>
        <a:buChar char="»"/>
        <a:defRPr kumimoji="1" sz="2000">
          <a:solidFill>
            <a:schemeClr val="tx1"/>
          </a:solidFill>
          <a:latin typeface="+mn-lt"/>
          <a:ea typeface="+mn-ea"/>
        </a:defRPr>
      </a:lvl8pPr>
      <a:lvl9pPr marL="3885797" indent="-228577" algn="l" rtl="0" fontAlgn="base">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305" rtl="0" eaLnBrk="1" latinLnBrk="0" hangingPunct="1">
        <a:defRPr kumimoji="1" sz="1800" kern="1200">
          <a:solidFill>
            <a:schemeClr val="tx1"/>
          </a:solidFill>
          <a:latin typeface="+mn-lt"/>
          <a:ea typeface="+mn-ea"/>
          <a:cs typeface="+mn-cs"/>
        </a:defRPr>
      </a:lvl1pPr>
      <a:lvl2pPr marL="457153" algn="l" defTabSz="914305" rtl="0" eaLnBrk="1" latinLnBrk="0" hangingPunct="1">
        <a:defRPr kumimoji="1" sz="1800" kern="1200">
          <a:solidFill>
            <a:schemeClr val="tx1"/>
          </a:solidFill>
          <a:latin typeface="+mn-lt"/>
          <a:ea typeface="+mn-ea"/>
          <a:cs typeface="+mn-cs"/>
        </a:defRPr>
      </a:lvl2pPr>
      <a:lvl3pPr marL="914305" algn="l" defTabSz="914305" rtl="0" eaLnBrk="1" latinLnBrk="0" hangingPunct="1">
        <a:defRPr kumimoji="1" sz="1800" kern="1200">
          <a:solidFill>
            <a:schemeClr val="tx1"/>
          </a:solidFill>
          <a:latin typeface="+mn-lt"/>
          <a:ea typeface="+mn-ea"/>
          <a:cs typeface="+mn-cs"/>
        </a:defRPr>
      </a:lvl3pPr>
      <a:lvl4pPr marL="1371458" algn="l" defTabSz="914305" rtl="0" eaLnBrk="1" latinLnBrk="0" hangingPunct="1">
        <a:defRPr kumimoji="1" sz="1800" kern="1200">
          <a:solidFill>
            <a:schemeClr val="tx1"/>
          </a:solidFill>
          <a:latin typeface="+mn-lt"/>
          <a:ea typeface="+mn-ea"/>
          <a:cs typeface="+mn-cs"/>
        </a:defRPr>
      </a:lvl4pPr>
      <a:lvl5pPr marL="1828610" algn="l" defTabSz="914305" rtl="0" eaLnBrk="1" latinLnBrk="0" hangingPunct="1">
        <a:defRPr kumimoji="1" sz="1800" kern="1200">
          <a:solidFill>
            <a:schemeClr val="tx1"/>
          </a:solidFill>
          <a:latin typeface="+mn-lt"/>
          <a:ea typeface="+mn-ea"/>
          <a:cs typeface="+mn-cs"/>
        </a:defRPr>
      </a:lvl5pPr>
      <a:lvl6pPr marL="2285763" algn="l" defTabSz="914305" rtl="0" eaLnBrk="1" latinLnBrk="0" hangingPunct="1">
        <a:defRPr kumimoji="1" sz="1800" kern="1200">
          <a:solidFill>
            <a:schemeClr val="tx1"/>
          </a:solidFill>
          <a:latin typeface="+mn-lt"/>
          <a:ea typeface="+mn-ea"/>
          <a:cs typeface="+mn-cs"/>
        </a:defRPr>
      </a:lvl6pPr>
      <a:lvl7pPr marL="2742915" algn="l" defTabSz="914305" rtl="0" eaLnBrk="1" latinLnBrk="0" hangingPunct="1">
        <a:defRPr kumimoji="1" sz="1800" kern="1200">
          <a:solidFill>
            <a:schemeClr val="tx1"/>
          </a:solidFill>
          <a:latin typeface="+mn-lt"/>
          <a:ea typeface="+mn-ea"/>
          <a:cs typeface="+mn-cs"/>
        </a:defRPr>
      </a:lvl7pPr>
      <a:lvl8pPr marL="3200068" algn="l" defTabSz="914305" rtl="0" eaLnBrk="1" latinLnBrk="0" hangingPunct="1">
        <a:defRPr kumimoji="1" sz="1800" kern="1200">
          <a:solidFill>
            <a:schemeClr val="tx1"/>
          </a:solidFill>
          <a:latin typeface="+mn-lt"/>
          <a:ea typeface="+mn-ea"/>
          <a:cs typeface="+mn-cs"/>
        </a:defRPr>
      </a:lvl8pPr>
      <a:lvl9pPr marL="3657220" algn="l" defTabSz="914305"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ctrTitle"/>
          </p:nvPr>
        </p:nvSpPr>
        <p:spPr>
          <a:xfrm>
            <a:off x="685800" y="990600"/>
            <a:ext cx="7772400" cy="1727200"/>
          </a:xfrm>
        </p:spPr>
        <p:txBody>
          <a:bodyPr/>
          <a:lstStyle/>
          <a:p>
            <a:pPr eaLnBrk="1" hangingPunct="1"/>
            <a:r>
              <a:rPr lang="en-US" altLang="ja-JP" sz="11000" b="1" i="1">
                <a:solidFill>
                  <a:srgbClr val="0000CC"/>
                </a:solidFill>
              </a:rPr>
              <a:t>P</a:t>
            </a:r>
            <a:r>
              <a:rPr lang="en-US" altLang="ja-JP" sz="9000" b="1" i="1">
                <a:solidFill>
                  <a:srgbClr val="0000CC"/>
                </a:solidFill>
              </a:rPr>
              <a:t>HI</a:t>
            </a:r>
            <a:r>
              <a:rPr lang="en-US" altLang="ja-JP" sz="9800" b="1" i="1">
                <a:solidFill>
                  <a:srgbClr val="0000CC"/>
                </a:solidFill>
              </a:rPr>
              <a:t>T</a:t>
            </a:r>
            <a:r>
              <a:rPr lang="en-US" altLang="ja-JP" sz="9000" b="1" i="1">
                <a:solidFill>
                  <a:srgbClr val="0000CC"/>
                </a:solidFill>
              </a:rPr>
              <a:t>S</a:t>
            </a:r>
          </a:p>
        </p:txBody>
      </p:sp>
      <p:sp>
        <p:nvSpPr>
          <p:cNvPr id="15363" name="Rectangle 3"/>
          <p:cNvSpPr>
            <a:spLocks noGrp="1" noChangeArrowheads="1"/>
          </p:cNvSpPr>
          <p:nvPr>
            <p:ph type="subTitle" idx="1"/>
          </p:nvPr>
        </p:nvSpPr>
        <p:spPr>
          <a:xfrm>
            <a:off x="419100" y="3276603"/>
            <a:ext cx="8305800" cy="1752600"/>
          </a:xfrm>
        </p:spPr>
        <p:txBody>
          <a:bodyPr/>
          <a:lstStyle/>
          <a:p>
            <a:pPr eaLnBrk="1" hangingPunct="1">
              <a:defRPr/>
            </a:pPr>
            <a:r>
              <a:rPr lang="ja-JP" altLang="en-US" dirty="0">
                <a:solidFill>
                  <a:srgbClr val="010000"/>
                </a:solidFill>
                <a:latin typeface="+mj-ea"/>
                <a:ea typeface="+mj-ea"/>
              </a:rPr>
              <a:t>応用実習用資料</a:t>
            </a:r>
            <a:endParaRPr lang="en-US" altLang="ja-JP" dirty="0">
              <a:solidFill>
                <a:srgbClr val="010000"/>
              </a:solidFill>
              <a:latin typeface="+mj-ea"/>
              <a:ea typeface="+mj-ea"/>
            </a:endParaRPr>
          </a:p>
          <a:p>
            <a:pPr eaLnBrk="1" hangingPunct="1">
              <a:defRPr/>
            </a:pPr>
            <a:r>
              <a:rPr lang="en-US" altLang="ja-JP" dirty="0">
                <a:solidFill>
                  <a:srgbClr val="010000"/>
                </a:solidFill>
                <a:latin typeface="+mj-ea"/>
                <a:ea typeface="+mj-ea"/>
              </a:rPr>
              <a:t>Environmental radioactivity</a:t>
            </a:r>
          </a:p>
        </p:txBody>
      </p:sp>
      <p:pic>
        <p:nvPicPr>
          <p:cNvPr id="1536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3" y="6448428"/>
            <a:ext cx="186372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5" name="Rectangle 5"/>
          <p:cNvSpPr>
            <a:spLocks noChangeArrowheads="1"/>
          </p:cNvSpPr>
          <p:nvPr/>
        </p:nvSpPr>
        <p:spPr bwMode="auto">
          <a:xfrm>
            <a:off x="0" y="6329363"/>
            <a:ext cx="9105900" cy="71437"/>
          </a:xfrm>
          <a:prstGeom prst="rect">
            <a:avLst/>
          </a:prstGeom>
          <a:gradFill rotWithShape="0">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1410" tIns="45706" rIns="91410" bIns="45706" anchor="ct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defTabSz="829366" fontAlgn="base">
              <a:spcBef>
                <a:spcPct val="0"/>
              </a:spcBef>
              <a:spcAft>
                <a:spcPct val="0"/>
              </a:spcAft>
              <a:buNone/>
            </a:pPr>
            <a:endParaRPr lang="ja-JP" altLang="en-US" sz="2400">
              <a:solidFill>
                <a:srgbClr val="000000"/>
              </a:solidFill>
            </a:endParaRPr>
          </a:p>
        </p:txBody>
      </p:sp>
      <p:sp>
        <p:nvSpPr>
          <p:cNvPr id="15366" name="正方形/長方形 4"/>
          <p:cNvSpPr>
            <a:spLocks noChangeArrowheads="1"/>
          </p:cNvSpPr>
          <p:nvPr/>
        </p:nvSpPr>
        <p:spPr bwMode="auto">
          <a:xfrm>
            <a:off x="214315" y="2495550"/>
            <a:ext cx="8643937"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0" tIns="45706" rIns="91410" bIns="45706">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defTabSz="829366" fontAlgn="base">
              <a:spcBef>
                <a:spcPct val="0"/>
              </a:spcBef>
              <a:spcAft>
                <a:spcPct val="0"/>
              </a:spcAft>
              <a:buNone/>
            </a:pPr>
            <a:r>
              <a:rPr lang="en-US" altLang="ja-JP" sz="2200" b="1" i="1">
                <a:solidFill>
                  <a:srgbClr val="000000"/>
                </a:solidFill>
              </a:rPr>
              <a:t>Multi-Purpose </a:t>
            </a:r>
            <a:r>
              <a:rPr lang="en-US" altLang="ja-JP" sz="2200" b="1" i="1">
                <a:solidFill>
                  <a:srgbClr val="0000CC"/>
                </a:solidFill>
              </a:rPr>
              <a:t>P</a:t>
            </a:r>
            <a:r>
              <a:rPr lang="en-US" altLang="ja-JP" sz="2200" b="1" i="1">
                <a:solidFill>
                  <a:srgbClr val="000000"/>
                </a:solidFill>
              </a:rPr>
              <a:t>article and </a:t>
            </a:r>
            <a:r>
              <a:rPr lang="en-US" altLang="ja-JP" sz="2200" b="1" i="1">
                <a:solidFill>
                  <a:srgbClr val="0000CC"/>
                </a:solidFill>
              </a:rPr>
              <a:t>H</a:t>
            </a:r>
            <a:r>
              <a:rPr lang="en-US" altLang="ja-JP" sz="2200" b="1" i="1">
                <a:solidFill>
                  <a:srgbClr val="000000"/>
                </a:solidFill>
              </a:rPr>
              <a:t>eavy </a:t>
            </a:r>
            <a:r>
              <a:rPr lang="en-US" altLang="ja-JP" sz="2200" b="1" i="1">
                <a:solidFill>
                  <a:srgbClr val="0000CC"/>
                </a:solidFill>
              </a:rPr>
              <a:t>I</a:t>
            </a:r>
            <a:r>
              <a:rPr lang="en-US" altLang="ja-JP" sz="2200" b="1" i="1">
                <a:solidFill>
                  <a:srgbClr val="000000"/>
                </a:solidFill>
              </a:rPr>
              <a:t>on </a:t>
            </a:r>
            <a:r>
              <a:rPr lang="en-US" altLang="ja-JP" sz="2200" b="1" i="1">
                <a:solidFill>
                  <a:srgbClr val="0000CC"/>
                </a:solidFill>
              </a:rPr>
              <a:t>T</a:t>
            </a:r>
            <a:r>
              <a:rPr lang="en-US" altLang="ja-JP" sz="2200" b="1" i="1">
                <a:solidFill>
                  <a:srgbClr val="000000"/>
                </a:solidFill>
              </a:rPr>
              <a:t>ransport code </a:t>
            </a:r>
            <a:r>
              <a:rPr lang="en-US" altLang="ja-JP" sz="2200" b="1" i="1">
                <a:solidFill>
                  <a:srgbClr val="0000CC"/>
                </a:solidFill>
              </a:rPr>
              <a:t>S</a:t>
            </a:r>
            <a:r>
              <a:rPr lang="en-US" altLang="ja-JP" sz="2200" b="1" i="1">
                <a:solidFill>
                  <a:srgbClr val="000000"/>
                </a:solidFill>
              </a:rPr>
              <a:t>ystem</a:t>
            </a:r>
          </a:p>
        </p:txBody>
      </p:sp>
      <p:sp>
        <p:nvSpPr>
          <p:cNvPr id="15367" name="Text Box 7"/>
          <p:cNvSpPr txBox="1">
            <a:spLocks noChangeArrowheads="1"/>
          </p:cNvSpPr>
          <p:nvPr/>
        </p:nvSpPr>
        <p:spPr bwMode="auto">
          <a:xfrm>
            <a:off x="2197100" y="6400800"/>
            <a:ext cx="472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0" tIns="45706" rIns="91410" bIns="45706">
            <a:spAutoFit/>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defTabSz="829366" fontAlgn="base">
              <a:spcBef>
                <a:spcPct val="50000"/>
              </a:spcBef>
              <a:spcAft>
                <a:spcPct val="0"/>
              </a:spcAft>
              <a:buNone/>
            </a:pPr>
            <a:r>
              <a:rPr lang="en-US" altLang="ja-JP" sz="2400">
                <a:solidFill>
                  <a:srgbClr val="000000"/>
                </a:solidFill>
                <a:latin typeface="Tahoma" panose="020B0604030504040204" pitchFamily="34" charset="0"/>
              </a:rPr>
              <a:t>title</a:t>
            </a:r>
          </a:p>
        </p:txBody>
      </p:sp>
      <p:sp>
        <p:nvSpPr>
          <p:cNvPr id="15368" name="Text Box 8"/>
          <p:cNvSpPr txBox="1">
            <a:spLocks noChangeArrowheads="1"/>
          </p:cNvSpPr>
          <p:nvPr/>
        </p:nvSpPr>
        <p:spPr bwMode="auto">
          <a:xfrm>
            <a:off x="8153400" y="6400800"/>
            <a:ext cx="719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0" tIns="45706" rIns="91410" bIns="45706"/>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algn="ctr" defTabSz="829366" fontAlgn="base">
              <a:spcBef>
                <a:spcPct val="50000"/>
              </a:spcBef>
              <a:spcAft>
                <a:spcPct val="0"/>
              </a:spcAft>
              <a:buNone/>
            </a:pPr>
            <a:fld id="{7C192A15-7A00-4CA8-8E06-AD9085343294}" type="slidenum">
              <a:rPr lang="en-US" altLang="ja-JP" sz="2400">
                <a:solidFill>
                  <a:srgbClr val="000000"/>
                </a:solidFill>
                <a:latin typeface="Tahoma" panose="020B0604030504040204" pitchFamily="34" charset="0"/>
              </a:rPr>
              <a:pPr algn="ctr" defTabSz="829366" fontAlgn="base">
                <a:spcBef>
                  <a:spcPct val="50000"/>
                </a:spcBef>
                <a:spcAft>
                  <a:spcPct val="0"/>
                </a:spcAft>
                <a:buNone/>
              </a:pPr>
              <a:t>1</a:t>
            </a:fld>
            <a:endParaRPr lang="en-US" altLang="ja-JP" sz="2400" dirty="0">
              <a:solidFill>
                <a:srgbClr val="000000"/>
              </a:solidFill>
              <a:latin typeface="Tahoma" panose="020B0604030504040204" pitchFamily="34" charset="0"/>
            </a:endParaRPr>
          </a:p>
        </p:txBody>
      </p:sp>
      <p:sp>
        <p:nvSpPr>
          <p:cNvPr id="15369" name="Text Box 15"/>
          <p:cNvSpPr txBox="1">
            <a:spLocks noChangeArrowheads="1"/>
          </p:cNvSpPr>
          <p:nvPr/>
        </p:nvSpPr>
        <p:spPr bwMode="auto">
          <a:xfrm>
            <a:off x="3154366" y="5194303"/>
            <a:ext cx="28098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0" tIns="45706" rIns="91410" bIns="45706">
            <a:spAutoFit/>
          </a:bodyPr>
          <a:lstStyle>
            <a:lvl1pPr>
              <a:spcBef>
                <a:spcPct val="20000"/>
              </a:spcBef>
              <a:buChar char="•"/>
              <a:defRPr kumimoji="1" sz="3200">
                <a:solidFill>
                  <a:schemeClr val="tx1"/>
                </a:solidFill>
                <a:latin typeface="Times New Roman" pitchFamily="18" charset="0"/>
                <a:ea typeface="ＭＳ Ｐゴシック" pitchFamily="50" charset="-128"/>
              </a:defRPr>
            </a:lvl1pPr>
            <a:lvl2pPr marL="742950" indent="-285750">
              <a:spcBef>
                <a:spcPct val="20000"/>
              </a:spcBef>
              <a:buChar char="–"/>
              <a:defRPr kumimoji="1" sz="2800">
                <a:solidFill>
                  <a:schemeClr val="tx1"/>
                </a:solidFill>
                <a:latin typeface="Times New Roman" pitchFamily="18" charset="0"/>
                <a:ea typeface="ＭＳ Ｐゴシック" pitchFamily="50" charset="-128"/>
              </a:defRPr>
            </a:lvl2pPr>
            <a:lvl3pPr marL="1143000" indent="-228600">
              <a:spcBef>
                <a:spcPct val="20000"/>
              </a:spcBef>
              <a:buChar char="•"/>
              <a:defRPr kumimoji="1" sz="2400">
                <a:solidFill>
                  <a:schemeClr val="tx1"/>
                </a:solidFill>
                <a:latin typeface="Times New Roman" pitchFamily="18" charset="0"/>
                <a:ea typeface="ＭＳ Ｐゴシック" pitchFamily="50" charset="-128"/>
              </a:defRPr>
            </a:lvl3pPr>
            <a:lvl4pPr marL="1600200" indent="-228600">
              <a:spcBef>
                <a:spcPct val="20000"/>
              </a:spcBef>
              <a:buChar char="–"/>
              <a:defRPr kumimoji="1" sz="2000">
                <a:solidFill>
                  <a:schemeClr val="tx1"/>
                </a:solidFill>
                <a:latin typeface="Times New Roman" pitchFamily="18" charset="0"/>
                <a:ea typeface="ＭＳ Ｐゴシック" pitchFamily="50" charset="-128"/>
              </a:defRPr>
            </a:lvl4pPr>
            <a:lvl5pPr marL="2057400" indent="-228600">
              <a:spcBef>
                <a:spcPct val="20000"/>
              </a:spcBef>
              <a:buChar char="»"/>
              <a:defRPr kumimoji="1" sz="2000">
                <a:solidFill>
                  <a:schemeClr val="tx1"/>
                </a:solidFill>
                <a:latin typeface="Times New Roman" pitchFamily="18" charset="0"/>
                <a:ea typeface="ＭＳ Ｐゴシック"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ＭＳ Ｐゴシック" pitchFamily="50" charset="-128"/>
              </a:defRPr>
            </a:lvl9pPr>
          </a:lstStyle>
          <a:p>
            <a:pPr algn="ctr" defTabSz="829366" fontAlgn="base">
              <a:spcBef>
                <a:spcPct val="0"/>
              </a:spcBef>
              <a:spcAft>
                <a:spcPct val="0"/>
              </a:spcAft>
              <a:buNone/>
              <a:defRPr/>
            </a:pPr>
            <a:r>
              <a:rPr lang="en-US" altLang="ja-JP" sz="2800" dirty="0">
                <a:solidFill>
                  <a:srgbClr val="FF0000"/>
                </a:solidFill>
                <a:latin typeface="ＭＳ Ｐゴシック"/>
                <a:ea typeface="ＭＳ Ｐゴシック"/>
              </a:rPr>
              <a:t>2024</a:t>
            </a:r>
            <a:r>
              <a:rPr lang="ja-JP" altLang="en-US" sz="2800" dirty="0">
                <a:solidFill>
                  <a:srgbClr val="FF0000"/>
                </a:solidFill>
                <a:latin typeface="ＭＳ Ｐゴシック"/>
                <a:ea typeface="ＭＳ Ｐゴシック"/>
              </a:rPr>
              <a:t>年</a:t>
            </a:r>
            <a:r>
              <a:rPr lang="en-US" altLang="ja-JP" sz="2800" dirty="0">
                <a:solidFill>
                  <a:srgbClr val="FF0000"/>
                </a:solidFill>
                <a:latin typeface="ＭＳ Ｐゴシック"/>
                <a:ea typeface="ＭＳ Ｐゴシック"/>
              </a:rPr>
              <a:t>10</a:t>
            </a:r>
            <a:r>
              <a:rPr lang="ja-JP" altLang="en-US" sz="2800" dirty="0">
                <a:solidFill>
                  <a:srgbClr val="FF0000"/>
                </a:solidFill>
                <a:latin typeface="ＭＳ Ｐゴシック"/>
                <a:ea typeface="ＭＳ Ｐゴシック"/>
              </a:rPr>
              <a:t>月改訂</a:t>
            </a:r>
            <a:endParaRPr lang="en-US" altLang="ja-JP" sz="2800" dirty="0">
              <a:solidFill>
                <a:srgbClr val="FF0000"/>
              </a:solidFill>
              <a:latin typeface="ＭＳ Ｐゴシック"/>
              <a:ea typeface="ＭＳ Ｐゴシック"/>
            </a:endParaRPr>
          </a:p>
        </p:txBody>
      </p:sp>
      <p:sp>
        <p:nvSpPr>
          <p:cNvPr id="2" name="スライド番号プレースホルダー 1">
            <a:extLst>
              <a:ext uri="{FF2B5EF4-FFF2-40B4-BE49-F238E27FC236}">
                <a16:creationId xmlns:a16="http://schemas.microsoft.com/office/drawing/2014/main" id="{039D25D7-2118-880F-3DF5-6C7E285EAE2E}"/>
              </a:ext>
            </a:extLst>
          </p:cNvPr>
          <p:cNvSpPr>
            <a:spLocks noGrp="1"/>
          </p:cNvSpPr>
          <p:nvPr>
            <p:ph type="sldNum" sz="quarter" idx="12"/>
          </p:nvPr>
        </p:nvSpPr>
        <p:spPr/>
        <p:txBody>
          <a:bodyPr/>
          <a:lstStyle/>
          <a:p>
            <a:fld id="{E4D60D0B-D6AA-47A9-84DE-9BF82EA5B0A6}" type="slidenum">
              <a:rPr lang="en-US" altLang="ja-JP" smtClean="0">
                <a:solidFill>
                  <a:srgbClr val="000000"/>
                </a:solidFill>
              </a:rPr>
              <a:pPr/>
              <a:t>1</a:t>
            </a:fld>
            <a:endParaRPr lang="en-US" altLang="ja-JP">
              <a:solidFill>
                <a:srgbClr val="000000"/>
              </a:solidFill>
            </a:endParaRPr>
          </a:p>
        </p:txBody>
      </p:sp>
    </p:spTree>
    <p:extLst>
      <p:ext uri="{BB962C8B-B14F-4D97-AF65-F5344CB8AC3E}">
        <p14:creationId xmlns:p14="http://schemas.microsoft.com/office/powerpoint/2010/main" val="2675581924"/>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B17A7-3205-316C-FB43-717CC22E7373}"/>
            </a:ext>
          </a:extLst>
        </p:cNvPr>
        <p:cNvGrpSpPr/>
        <p:nvPr/>
      </p:nvGrpSpPr>
      <p:grpSpPr>
        <a:xfrm>
          <a:off x="0" y="0"/>
          <a:ext cx="0" cy="0"/>
          <a:chOff x="0" y="0"/>
          <a:chExt cx="0" cy="0"/>
        </a:xfrm>
      </p:grpSpPr>
      <p:cxnSp>
        <p:nvCxnSpPr>
          <p:cNvPr id="8" name="直線矢印コネクタ 7">
            <a:extLst>
              <a:ext uri="{FF2B5EF4-FFF2-40B4-BE49-F238E27FC236}">
                <a16:creationId xmlns:a16="http://schemas.microsoft.com/office/drawing/2014/main" id="{E885473C-BCF4-A926-35BD-3F383B3E2724}"/>
              </a:ext>
            </a:extLst>
          </p:cNvPr>
          <p:cNvCxnSpPr/>
          <p:nvPr/>
        </p:nvCxnSpPr>
        <p:spPr>
          <a:xfrm flipV="1">
            <a:off x="6941368" y="3305338"/>
            <a:ext cx="366936" cy="814372"/>
          </a:xfrm>
          <a:prstGeom prst="straightConnector1">
            <a:avLst/>
          </a:prstGeom>
          <a:ln w="38100">
            <a:solidFill>
              <a:srgbClr val="FFC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直線矢印コネクタ 8">
            <a:extLst>
              <a:ext uri="{FF2B5EF4-FFF2-40B4-BE49-F238E27FC236}">
                <a16:creationId xmlns:a16="http://schemas.microsoft.com/office/drawing/2014/main" id="{3B02A2BA-D5A1-BC8D-47D6-4DDDD7EBC492}"/>
              </a:ext>
            </a:extLst>
          </p:cNvPr>
          <p:cNvCxnSpPr/>
          <p:nvPr/>
        </p:nvCxnSpPr>
        <p:spPr>
          <a:xfrm flipH="1" flipV="1">
            <a:off x="4997152" y="3615666"/>
            <a:ext cx="366936" cy="497613"/>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0" name="直線矢印コネクタ 9">
            <a:extLst>
              <a:ext uri="{FF2B5EF4-FFF2-40B4-BE49-F238E27FC236}">
                <a16:creationId xmlns:a16="http://schemas.microsoft.com/office/drawing/2014/main" id="{6F0C31AB-E8DA-0F19-D985-3155967958DF}"/>
              </a:ext>
            </a:extLst>
          </p:cNvPr>
          <p:cNvCxnSpPr/>
          <p:nvPr/>
        </p:nvCxnSpPr>
        <p:spPr>
          <a:xfrm flipH="1" flipV="1">
            <a:off x="3707904" y="3486322"/>
            <a:ext cx="216024" cy="633386"/>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D03259CC-491E-690F-C67A-836F724CF1CF}"/>
              </a:ext>
            </a:extLst>
          </p:cNvPr>
          <p:cNvCxnSpPr/>
          <p:nvPr/>
        </p:nvCxnSpPr>
        <p:spPr>
          <a:xfrm flipV="1">
            <a:off x="4997152" y="3305338"/>
            <a:ext cx="546956" cy="814370"/>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12" name="正方形/長方形 11">
            <a:extLst>
              <a:ext uri="{FF2B5EF4-FFF2-40B4-BE49-F238E27FC236}">
                <a16:creationId xmlns:a16="http://schemas.microsoft.com/office/drawing/2014/main" id="{43AF1314-8C95-04C8-2B73-BE2403167698}"/>
              </a:ext>
            </a:extLst>
          </p:cNvPr>
          <p:cNvSpPr/>
          <p:nvPr/>
        </p:nvSpPr>
        <p:spPr>
          <a:xfrm>
            <a:off x="323528" y="4119708"/>
            <a:ext cx="8568952" cy="216038"/>
          </a:xfrm>
          <a:prstGeom prst="rect">
            <a:avLst/>
          </a:prstGeom>
          <a:solidFill>
            <a:srgbClr val="808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3" name="直線矢印コネクタ 12">
            <a:extLst>
              <a:ext uri="{FF2B5EF4-FFF2-40B4-BE49-F238E27FC236}">
                <a16:creationId xmlns:a16="http://schemas.microsoft.com/office/drawing/2014/main" id="{B2B6F9FE-48D2-D220-4895-A16796CCF136}"/>
              </a:ext>
            </a:extLst>
          </p:cNvPr>
          <p:cNvCxnSpPr/>
          <p:nvPr/>
        </p:nvCxnSpPr>
        <p:spPr>
          <a:xfrm flipV="1">
            <a:off x="1403648" y="3501008"/>
            <a:ext cx="504056" cy="618714"/>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186DB89F-555C-DFFE-7B86-5A2A21785FDB}"/>
              </a:ext>
            </a:extLst>
          </p:cNvPr>
          <p:cNvCxnSpPr/>
          <p:nvPr/>
        </p:nvCxnSpPr>
        <p:spPr>
          <a:xfrm flipH="1" flipV="1">
            <a:off x="323528" y="3068960"/>
            <a:ext cx="288032" cy="1050762"/>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EF75CE93-5BCB-EB5D-7D94-FFE52AB983A4}"/>
              </a:ext>
            </a:extLst>
          </p:cNvPr>
          <p:cNvCxnSpPr/>
          <p:nvPr/>
        </p:nvCxnSpPr>
        <p:spPr>
          <a:xfrm flipH="1" flipV="1">
            <a:off x="7452320" y="3938741"/>
            <a:ext cx="929208" cy="180969"/>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22B9A4FC-F89C-85F9-D5EE-4064EBF35F73}"/>
              </a:ext>
            </a:extLst>
          </p:cNvPr>
          <p:cNvCxnSpPr/>
          <p:nvPr/>
        </p:nvCxnSpPr>
        <p:spPr>
          <a:xfrm flipH="1" flipV="1">
            <a:off x="2411760" y="3615666"/>
            <a:ext cx="432048" cy="491201"/>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B04077D4-0090-4274-E2FA-A6E98EC129D7}"/>
              </a:ext>
            </a:extLst>
          </p:cNvPr>
          <p:cNvCxnSpPr/>
          <p:nvPr/>
        </p:nvCxnSpPr>
        <p:spPr>
          <a:xfrm flipV="1">
            <a:off x="6228184" y="3111610"/>
            <a:ext cx="72008" cy="1001670"/>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B84C3C0B-90E7-C923-13D7-4DCE8A750906}"/>
              </a:ext>
            </a:extLst>
          </p:cNvPr>
          <p:cNvCxnSpPr/>
          <p:nvPr/>
        </p:nvCxnSpPr>
        <p:spPr>
          <a:xfrm flipH="1" flipV="1">
            <a:off x="6941368" y="3068960"/>
            <a:ext cx="366936" cy="236379"/>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grpSp>
        <p:nvGrpSpPr>
          <p:cNvPr id="131" name="グループ化 130">
            <a:extLst>
              <a:ext uri="{FF2B5EF4-FFF2-40B4-BE49-F238E27FC236}">
                <a16:creationId xmlns:a16="http://schemas.microsoft.com/office/drawing/2014/main" id="{5CE42F0D-D119-7BC8-D6D3-97BF7B0A7CE5}"/>
              </a:ext>
            </a:extLst>
          </p:cNvPr>
          <p:cNvGrpSpPr/>
          <p:nvPr/>
        </p:nvGrpSpPr>
        <p:grpSpPr>
          <a:xfrm>
            <a:off x="3995920" y="3224982"/>
            <a:ext cx="1114356" cy="924098"/>
            <a:chOff x="4064518" y="3799793"/>
            <a:chExt cx="1299592" cy="1172733"/>
          </a:xfrm>
        </p:grpSpPr>
        <p:sp>
          <p:nvSpPr>
            <p:cNvPr id="133" name="正方形/長方形 132">
              <a:extLst>
                <a:ext uri="{FF2B5EF4-FFF2-40B4-BE49-F238E27FC236}">
                  <a16:creationId xmlns:a16="http://schemas.microsoft.com/office/drawing/2014/main" id="{654D6F22-876A-9F38-E6B1-2B6EE693CEA5}"/>
                </a:ext>
              </a:extLst>
            </p:cNvPr>
            <p:cNvSpPr/>
            <p:nvPr/>
          </p:nvSpPr>
          <p:spPr>
            <a:xfrm>
              <a:off x="4283960" y="4005093"/>
              <a:ext cx="846102" cy="872879"/>
            </a:xfrm>
            <a:prstGeom prst="rect">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4" name="二等辺三角形 133">
              <a:extLst>
                <a:ext uri="{FF2B5EF4-FFF2-40B4-BE49-F238E27FC236}">
                  <a16:creationId xmlns:a16="http://schemas.microsoft.com/office/drawing/2014/main" id="{20001338-A8B9-5A79-36B5-4D43B55F9E9C}"/>
                </a:ext>
              </a:extLst>
            </p:cNvPr>
            <p:cNvSpPr/>
            <p:nvPr/>
          </p:nvSpPr>
          <p:spPr>
            <a:xfrm>
              <a:off x="4064518" y="3799793"/>
              <a:ext cx="1299592" cy="205287"/>
            </a:xfrm>
            <a:prstGeom prst="triangl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5" name="正方形/長方形 134">
              <a:extLst>
                <a:ext uri="{FF2B5EF4-FFF2-40B4-BE49-F238E27FC236}">
                  <a16:creationId xmlns:a16="http://schemas.microsoft.com/office/drawing/2014/main" id="{02CF12DA-877A-656A-BC6E-741182588DBA}"/>
                </a:ext>
              </a:extLst>
            </p:cNvPr>
            <p:cNvSpPr/>
            <p:nvPr/>
          </p:nvSpPr>
          <p:spPr>
            <a:xfrm>
              <a:off x="4316526" y="4149100"/>
              <a:ext cx="327484" cy="216030"/>
            </a:xfrm>
            <a:prstGeom prst="rect">
              <a:avLst/>
            </a:prstGeom>
            <a:solidFill>
              <a:srgbClr val="00F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6" name="正方形/長方形 135">
              <a:extLst>
                <a:ext uri="{FF2B5EF4-FFF2-40B4-BE49-F238E27FC236}">
                  <a16:creationId xmlns:a16="http://schemas.microsoft.com/office/drawing/2014/main" id="{7809F419-E31C-F8E2-DBC0-9489900EC039}"/>
                </a:ext>
              </a:extLst>
            </p:cNvPr>
            <p:cNvSpPr/>
            <p:nvPr/>
          </p:nvSpPr>
          <p:spPr>
            <a:xfrm>
              <a:off x="4590018" y="4509150"/>
              <a:ext cx="486052" cy="368822"/>
            </a:xfrm>
            <a:prstGeom prst="rect">
              <a:avLst/>
            </a:prstGeom>
            <a:solidFill>
              <a:srgbClr val="00F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7" name="正方形/長方形 136">
              <a:extLst>
                <a:ext uri="{FF2B5EF4-FFF2-40B4-BE49-F238E27FC236}">
                  <a16:creationId xmlns:a16="http://schemas.microsoft.com/office/drawing/2014/main" id="{DDE55C3A-E270-0420-72A0-F6318D15C26B}"/>
                </a:ext>
              </a:extLst>
            </p:cNvPr>
            <p:cNvSpPr/>
            <p:nvPr/>
          </p:nvSpPr>
          <p:spPr>
            <a:xfrm>
              <a:off x="4211950" y="4877972"/>
              <a:ext cx="990110" cy="94554"/>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5" name="直線矢印コネクタ 4">
            <a:extLst>
              <a:ext uri="{FF2B5EF4-FFF2-40B4-BE49-F238E27FC236}">
                <a16:creationId xmlns:a16="http://schemas.microsoft.com/office/drawing/2014/main" id="{7B3FF2D8-9870-9A4E-77B2-2E4064D4B409}"/>
              </a:ext>
            </a:extLst>
          </p:cNvPr>
          <p:cNvCxnSpPr/>
          <p:nvPr/>
        </p:nvCxnSpPr>
        <p:spPr>
          <a:xfrm flipV="1">
            <a:off x="323528" y="3752075"/>
            <a:ext cx="3600400" cy="36965"/>
          </a:xfrm>
          <a:prstGeom prst="straightConnector1">
            <a:avLst/>
          </a:prstGeom>
          <a:ln w="28575">
            <a:solidFill>
              <a:schemeClr val="tx1"/>
            </a:solidFill>
            <a:prstDash val="dash"/>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E6C7F01B-A6D4-2A31-AEC3-B783F68B155D}"/>
              </a:ext>
            </a:extLst>
          </p:cNvPr>
          <p:cNvSpPr txBox="1"/>
          <p:nvPr/>
        </p:nvSpPr>
        <p:spPr>
          <a:xfrm>
            <a:off x="1630778" y="3707111"/>
            <a:ext cx="1116124" cy="461665"/>
          </a:xfrm>
          <a:prstGeom prst="rect">
            <a:avLst/>
          </a:prstGeom>
          <a:noFill/>
        </p:spPr>
        <p:txBody>
          <a:bodyPr wrap="square" rtlCol="0">
            <a:spAutoFit/>
          </a:bodyPr>
          <a:lstStyle/>
          <a:p>
            <a:r>
              <a:rPr lang="ja-JP" altLang="en-US" sz="2400" dirty="0"/>
              <a:t>数百</a:t>
            </a:r>
            <a:r>
              <a:rPr kumimoji="1" lang="en-US" altLang="ja-JP" sz="2400" dirty="0"/>
              <a:t>m</a:t>
            </a:r>
            <a:endParaRPr kumimoji="1" lang="ja-JP" altLang="en-US" sz="2400" dirty="0"/>
          </a:p>
        </p:txBody>
      </p:sp>
      <p:sp>
        <p:nvSpPr>
          <p:cNvPr id="7" name="テキスト ボックス 6">
            <a:extLst>
              <a:ext uri="{FF2B5EF4-FFF2-40B4-BE49-F238E27FC236}">
                <a16:creationId xmlns:a16="http://schemas.microsoft.com/office/drawing/2014/main" id="{D1DD0570-B31B-59D4-E458-15C8209AF525}"/>
              </a:ext>
            </a:extLst>
          </p:cNvPr>
          <p:cNvSpPr txBox="1"/>
          <p:nvPr/>
        </p:nvSpPr>
        <p:spPr>
          <a:xfrm>
            <a:off x="4074692" y="2344243"/>
            <a:ext cx="965212" cy="461665"/>
          </a:xfrm>
          <a:prstGeom prst="rect">
            <a:avLst/>
          </a:prstGeom>
          <a:noFill/>
        </p:spPr>
        <p:txBody>
          <a:bodyPr wrap="square" rtlCol="0">
            <a:spAutoFit/>
          </a:bodyPr>
          <a:lstStyle/>
          <a:p>
            <a:r>
              <a:rPr lang="en-US" altLang="ja-JP" sz="2400" dirty="0">
                <a:sym typeface="Symbol" panose="05050102010706020507" pitchFamily="18" charset="2"/>
              </a:rPr>
              <a:t></a:t>
            </a:r>
            <a:r>
              <a:rPr lang="en-US" altLang="ja-JP" sz="2400" dirty="0"/>
              <a:t>10m</a:t>
            </a:r>
            <a:endParaRPr kumimoji="1" lang="ja-JP" altLang="en-US" sz="2400" dirty="0"/>
          </a:p>
        </p:txBody>
      </p:sp>
      <p:sp>
        <p:nvSpPr>
          <p:cNvPr id="18" name="テキスト ボックス 17">
            <a:extLst>
              <a:ext uri="{FF2B5EF4-FFF2-40B4-BE49-F238E27FC236}">
                <a16:creationId xmlns:a16="http://schemas.microsoft.com/office/drawing/2014/main" id="{0D2B4CD9-3387-A878-05E7-01A33B49647A}"/>
              </a:ext>
            </a:extLst>
          </p:cNvPr>
          <p:cNvSpPr txBox="1"/>
          <p:nvPr/>
        </p:nvSpPr>
        <p:spPr>
          <a:xfrm>
            <a:off x="1137320" y="119534"/>
            <a:ext cx="6869360" cy="1077218"/>
          </a:xfrm>
          <a:prstGeom prst="rect">
            <a:avLst/>
          </a:prstGeom>
          <a:noFill/>
        </p:spPr>
        <p:txBody>
          <a:bodyPr wrap="square" rtlCol="0">
            <a:spAutoFit/>
          </a:bodyPr>
          <a:lstStyle/>
          <a:p>
            <a:pPr algn="ctr"/>
            <a:r>
              <a:rPr lang="ja-JP" altLang="en-US" sz="3200" dirty="0">
                <a:ea typeface="メイリオ" panose="020B0604030504040204" pitchFamily="50" charset="-128"/>
              </a:rPr>
              <a:t>広大な環境中の線源からの線量寄与を効率的に計算する手法</a:t>
            </a:r>
            <a:endParaRPr kumimoji="1" lang="ja-JP" altLang="en-US" sz="3200" dirty="0">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79DD3850-2CD3-2252-214C-3C8F97FC30BD}"/>
              </a:ext>
            </a:extLst>
          </p:cNvPr>
          <p:cNvSpPr txBox="1"/>
          <p:nvPr/>
        </p:nvSpPr>
        <p:spPr>
          <a:xfrm>
            <a:off x="588132" y="1427104"/>
            <a:ext cx="7967736" cy="523220"/>
          </a:xfrm>
          <a:prstGeom prst="rect">
            <a:avLst/>
          </a:prstGeom>
          <a:noFill/>
        </p:spPr>
        <p:txBody>
          <a:bodyPr wrap="square" rtlCol="0">
            <a:spAutoFit/>
          </a:bodyPr>
          <a:lstStyle/>
          <a:p>
            <a:r>
              <a:rPr kumimoji="1" lang="ja-JP" altLang="en-US" sz="2800" dirty="0"/>
              <a:t>例：</a:t>
            </a:r>
            <a:r>
              <a:rPr kumimoji="1" lang="en-US" altLang="ja-JP" sz="2800" dirty="0"/>
              <a:t>Cs-137</a:t>
            </a:r>
            <a:r>
              <a:rPr kumimoji="1" lang="ja-JP" altLang="en-US" sz="2800" dirty="0"/>
              <a:t>で汚染された土壌に立つ建物内での線量</a:t>
            </a:r>
          </a:p>
        </p:txBody>
      </p:sp>
      <p:sp>
        <p:nvSpPr>
          <p:cNvPr id="21" name="テキスト ボックス 20">
            <a:extLst>
              <a:ext uri="{FF2B5EF4-FFF2-40B4-BE49-F238E27FC236}">
                <a16:creationId xmlns:a16="http://schemas.microsoft.com/office/drawing/2014/main" id="{C3B51B48-2FB2-3EDB-6A64-1090436740CD}"/>
              </a:ext>
            </a:extLst>
          </p:cNvPr>
          <p:cNvSpPr txBox="1"/>
          <p:nvPr/>
        </p:nvSpPr>
        <p:spPr>
          <a:xfrm>
            <a:off x="419825" y="4331912"/>
            <a:ext cx="8304348" cy="830997"/>
          </a:xfrm>
          <a:prstGeom prst="rect">
            <a:avLst/>
          </a:prstGeom>
          <a:noFill/>
        </p:spPr>
        <p:txBody>
          <a:bodyPr wrap="square" rtlCol="0">
            <a:spAutoFit/>
          </a:bodyPr>
          <a:lstStyle/>
          <a:p>
            <a:r>
              <a:rPr kumimoji="1" lang="ja-JP" altLang="en-US" sz="2400" dirty="0"/>
              <a:t>発生したガンマ線のほとんどは、屋内に到達しない。</a:t>
            </a:r>
            <a:endParaRPr kumimoji="1" lang="en-US" altLang="ja-JP" sz="2400" dirty="0"/>
          </a:p>
          <a:p>
            <a:r>
              <a:rPr lang="en-US" altLang="ja-JP" sz="2400" dirty="0"/>
              <a:t>=&gt; </a:t>
            </a:r>
            <a:r>
              <a:rPr lang="ja-JP" altLang="en-US" sz="2400" dirty="0"/>
              <a:t>統計精度を上げるために、非常に多くのヒストリ計算が必要</a:t>
            </a:r>
            <a:endParaRPr kumimoji="1" lang="ja-JP" altLang="en-US" sz="2400" dirty="0"/>
          </a:p>
        </p:txBody>
      </p:sp>
      <p:sp>
        <p:nvSpPr>
          <p:cNvPr id="22" name="テキスト ボックス 21">
            <a:extLst>
              <a:ext uri="{FF2B5EF4-FFF2-40B4-BE49-F238E27FC236}">
                <a16:creationId xmlns:a16="http://schemas.microsoft.com/office/drawing/2014/main" id="{63EDB292-2EA1-8F69-974C-0724B07BB5A1}"/>
              </a:ext>
            </a:extLst>
          </p:cNvPr>
          <p:cNvSpPr txBox="1"/>
          <p:nvPr/>
        </p:nvSpPr>
        <p:spPr>
          <a:xfrm>
            <a:off x="482316" y="2521320"/>
            <a:ext cx="3291644" cy="461665"/>
          </a:xfrm>
          <a:prstGeom prst="rect">
            <a:avLst/>
          </a:prstGeom>
          <a:noFill/>
        </p:spPr>
        <p:txBody>
          <a:bodyPr wrap="square" rtlCol="0">
            <a:spAutoFit/>
          </a:bodyPr>
          <a:lstStyle/>
          <a:p>
            <a:r>
              <a:rPr kumimoji="1" lang="ja-JP" altLang="en-US" sz="2400" dirty="0"/>
              <a:t>平均自由行程～</a:t>
            </a:r>
            <a:r>
              <a:rPr kumimoji="1" lang="en-US" altLang="ja-JP" sz="2400" dirty="0"/>
              <a:t>100m</a:t>
            </a:r>
            <a:endParaRPr kumimoji="1" lang="ja-JP" altLang="en-US" sz="2400" dirty="0"/>
          </a:p>
        </p:txBody>
      </p:sp>
      <p:sp>
        <p:nvSpPr>
          <p:cNvPr id="23" name="テキスト ボックス 22">
            <a:extLst>
              <a:ext uri="{FF2B5EF4-FFF2-40B4-BE49-F238E27FC236}">
                <a16:creationId xmlns:a16="http://schemas.microsoft.com/office/drawing/2014/main" id="{21DE29F6-6DEA-A9A4-B938-2457456467DE}"/>
              </a:ext>
            </a:extLst>
          </p:cNvPr>
          <p:cNvSpPr txBox="1"/>
          <p:nvPr/>
        </p:nvSpPr>
        <p:spPr>
          <a:xfrm>
            <a:off x="2627784" y="5626187"/>
            <a:ext cx="3764130" cy="461665"/>
          </a:xfrm>
          <a:prstGeom prst="rect">
            <a:avLst/>
          </a:prstGeom>
          <a:noFill/>
        </p:spPr>
        <p:txBody>
          <a:bodyPr wrap="square" rtlCol="0">
            <a:spAutoFit/>
          </a:bodyPr>
          <a:lstStyle/>
          <a:p>
            <a:r>
              <a:rPr kumimoji="1" lang="ja-JP" altLang="en-US" sz="2400" dirty="0">
                <a:solidFill>
                  <a:srgbClr val="FF0000"/>
                </a:solidFill>
              </a:rPr>
              <a:t>効率的な計算をするには？</a:t>
            </a:r>
          </a:p>
        </p:txBody>
      </p:sp>
      <p:cxnSp>
        <p:nvCxnSpPr>
          <p:cNvPr id="24" name="直線矢印コネクタ 23">
            <a:extLst>
              <a:ext uri="{FF2B5EF4-FFF2-40B4-BE49-F238E27FC236}">
                <a16:creationId xmlns:a16="http://schemas.microsoft.com/office/drawing/2014/main" id="{C6959D04-4D95-49D9-473B-F6A0BE7FA7ED}"/>
              </a:ext>
            </a:extLst>
          </p:cNvPr>
          <p:cNvCxnSpPr>
            <a:cxnSpLocks/>
          </p:cNvCxnSpPr>
          <p:nvPr/>
        </p:nvCxnSpPr>
        <p:spPr>
          <a:xfrm>
            <a:off x="4004320" y="2924944"/>
            <a:ext cx="1105956" cy="0"/>
          </a:xfrm>
          <a:prstGeom prst="straightConnector1">
            <a:avLst/>
          </a:prstGeom>
          <a:ln w="28575">
            <a:solidFill>
              <a:schemeClr val="tx1"/>
            </a:solidFill>
            <a:prstDash val="dash"/>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2" name="スライド番号プレースホルダー 1">
            <a:extLst>
              <a:ext uri="{FF2B5EF4-FFF2-40B4-BE49-F238E27FC236}">
                <a16:creationId xmlns:a16="http://schemas.microsoft.com/office/drawing/2014/main" id="{8B82D48A-513F-CCAA-CA46-771B73E0C5A6}"/>
              </a:ext>
            </a:extLst>
          </p:cNvPr>
          <p:cNvSpPr>
            <a:spLocks noGrp="1"/>
          </p:cNvSpPr>
          <p:nvPr>
            <p:ph type="sldNum" sz="quarter" idx="12"/>
          </p:nvPr>
        </p:nvSpPr>
        <p:spPr/>
        <p:txBody>
          <a:bodyPr/>
          <a:lstStyle/>
          <a:p>
            <a:fld id="{D2D8002D-B5B0-4BAC-B1F6-782DDCCE6D9C}" type="slidenum">
              <a:rPr kumimoji="1" lang="ja-JP" altLang="en-US" smtClean="0"/>
              <a:t>2</a:t>
            </a:fld>
            <a:endParaRPr kumimoji="1" lang="ja-JP" altLang="en-US"/>
          </a:p>
        </p:txBody>
      </p:sp>
    </p:spTree>
    <p:extLst>
      <p:ext uri="{BB962C8B-B14F-4D97-AF65-F5344CB8AC3E}">
        <p14:creationId xmlns:p14="http://schemas.microsoft.com/office/powerpoint/2010/main" val="2308294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53752"/>
            <a:ext cx="8229600" cy="1143000"/>
          </a:xfrm>
        </p:spPr>
        <p:txBody>
          <a:bodyPr>
            <a:normAutofit/>
          </a:bodyPr>
          <a:lstStyle/>
          <a:p>
            <a:r>
              <a:rPr lang="ja-JP" altLang="en-US" dirty="0">
                <a:latin typeface="Arial" pitchFamily="18"/>
              </a:rPr>
              <a:t>半無限平面の計算</a:t>
            </a:r>
            <a:endParaRPr kumimoji="1" lang="ja-JP" altLang="en-US" dirty="0"/>
          </a:p>
        </p:txBody>
      </p:sp>
      <p:cxnSp>
        <p:nvCxnSpPr>
          <p:cNvPr id="9" name="直線矢印コネクタ 8">
            <a:extLst>
              <a:ext uri="{FF2B5EF4-FFF2-40B4-BE49-F238E27FC236}">
                <a16:creationId xmlns:a16="http://schemas.microsoft.com/office/drawing/2014/main" id="{02737D1E-7BDA-6F47-CF94-1CFF8D6E6C01}"/>
              </a:ext>
            </a:extLst>
          </p:cNvPr>
          <p:cNvCxnSpPr/>
          <p:nvPr/>
        </p:nvCxnSpPr>
        <p:spPr>
          <a:xfrm flipV="1">
            <a:off x="6941368" y="2113988"/>
            <a:ext cx="366936" cy="814372"/>
          </a:xfrm>
          <a:prstGeom prst="straightConnector1">
            <a:avLst/>
          </a:prstGeom>
          <a:ln w="38100">
            <a:solidFill>
              <a:srgbClr val="FFC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直線矢印コネクタ 9">
            <a:extLst>
              <a:ext uri="{FF2B5EF4-FFF2-40B4-BE49-F238E27FC236}">
                <a16:creationId xmlns:a16="http://schemas.microsoft.com/office/drawing/2014/main" id="{B48B0796-3136-EEC1-E8CA-4B78A3451867}"/>
              </a:ext>
            </a:extLst>
          </p:cNvPr>
          <p:cNvCxnSpPr/>
          <p:nvPr/>
        </p:nvCxnSpPr>
        <p:spPr>
          <a:xfrm flipH="1" flipV="1">
            <a:off x="4997152" y="2424316"/>
            <a:ext cx="366936" cy="497613"/>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AAAE3721-D013-686C-191E-531E25046CCE}"/>
              </a:ext>
            </a:extLst>
          </p:cNvPr>
          <p:cNvCxnSpPr/>
          <p:nvPr/>
        </p:nvCxnSpPr>
        <p:spPr>
          <a:xfrm flipH="1" flipV="1">
            <a:off x="3707904" y="2294972"/>
            <a:ext cx="216024" cy="633386"/>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2EFD2D17-2FD2-1098-9D34-468FC0165101}"/>
              </a:ext>
            </a:extLst>
          </p:cNvPr>
          <p:cNvCxnSpPr/>
          <p:nvPr/>
        </p:nvCxnSpPr>
        <p:spPr>
          <a:xfrm flipV="1">
            <a:off x="4997152" y="2113988"/>
            <a:ext cx="546956" cy="814370"/>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BCC6EC44-A986-4CC4-CC71-C42F361E8E92}"/>
              </a:ext>
            </a:extLst>
          </p:cNvPr>
          <p:cNvSpPr/>
          <p:nvPr/>
        </p:nvSpPr>
        <p:spPr>
          <a:xfrm>
            <a:off x="323528" y="2928358"/>
            <a:ext cx="8568952" cy="395882"/>
          </a:xfrm>
          <a:prstGeom prst="rect">
            <a:avLst/>
          </a:prstGeom>
          <a:solidFill>
            <a:srgbClr val="808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直線矢印コネクタ 13">
            <a:extLst>
              <a:ext uri="{FF2B5EF4-FFF2-40B4-BE49-F238E27FC236}">
                <a16:creationId xmlns:a16="http://schemas.microsoft.com/office/drawing/2014/main" id="{4970B7F6-E604-0E2E-36A1-45518A99F8DA}"/>
              </a:ext>
            </a:extLst>
          </p:cNvPr>
          <p:cNvCxnSpPr/>
          <p:nvPr/>
        </p:nvCxnSpPr>
        <p:spPr>
          <a:xfrm flipV="1">
            <a:off x="1403648" y="2309658"/>
            <a:ext cx="504056" cy="618714"/>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6FCD14C1-FB5B-1C4E-EABB-02D57301088D}"/>
              </a:ext>
            </a:extLst>
          </p:cNvPr>
          <p:cNvCxnSpPr/>
          <p:nvPr/>
        </p:nvCxnSpPr>
        <p:spPr>
          <a:xfrm flipH="1" flipV="1">
            <a:off x="323528" y="1877610"/>
            <a:ext cx="288032" cy="1050762"/>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D0EA4F3D-2465-BE09-FED8-5573559EA96E}"/>
              </a:ext>
            </a:extLst>
          </p:cNvPr>
          <p:cNvCxnSpPr/>
          <p:nvPr/>
        </p:nvCxnSpPr>
        <p:spPr>
          <a:xfrm flipH="1" flipV="1">
            <a:off x="7452320" y="2747391"/>
            <a:ext cx="929208" cy="180969"/>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8D5460AC-DB72-90C4-01F9-F16185F4197A}"/>
              </a:ext>
            </a:extLst>
          </p:cNvPr>
          <p:cNvCxnSpPr/>
          <p:nvPr/>
        </p:nvCxnSpPr>
        <p:spPr>
          <a:xfrm flipH="1" flipV="1">
            <a:off x="2411760" y="2424316"/>
            <a:ext cx="432048" cy="491201"/>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350D5E63-79F7-D84C-8492-D4D77469FE53}"/>
              </a:ext>
            </a:extLst>
          </p:cNvPr>
          <p:cNvCxnSpPr/>
          <p:nvPr/>
        </p:nvCxnSpPr>
        <p:spPr>
          <a:xfrm flipV="1">
            <a:off x="6228184" y="1920260"/>
            <a:ext cx="72008" cy="1001670"/>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9" name="直線矢印コネクタ 18">
            <a:extLst>
              <a:ext uri="{FF2B5EF4-FFF2-40B4-BE49-F238E27FC236}">
                <a16:creationId xmlns:a16="http://schemas.microsoft.com/office/drawing/2014/main" id="{C685A1D3-70DD-75A7-9991-6F095F565F97}"/>
              </a:ext>
            </a:extLst>
          </p:cNvPr>
          <p:cNvCxnSpPr>
            <a:cxnSpLocks/>
          </p:cNvCxnSpPr>
          <p:nvPr/>
        </p:nvCxnSpPr>
        <p:spPr>
          <a:xfrm flipV="1">
            <a:off x="323528" y="2747391"/>
            <a:ext cx="4248472" cy="36965"/>
          </a:xfrm>
          <a:prstGeom prst="straightConnector1">
            <a:avLst/>
          </a:prstGeom>
          <a:ln w="28575">
            <a:solidFill>
              <a:schemeClr val="tx1"/>
            </a:solidFill>
            <a:prstDash val="dash"/>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20" name="テキスト ボックス 19">
            <a:extLst>
              <a:ext uri="{FF2B5EF4-FFF2-40B4-BE49-F238E27FC236}">
                <a16:creationId xmlns:a16="http://schemas.microsoft.com/office/drawing/2014/main" id="{1823F0A5-A371-0F1A-6242-5A53A182D84F}"/>
              </a:ext>
            </a:extLst>
          </p:cNvPr>
          <p:cNvSpPr txBox="1"/>
          <p:nvPr/>
        </p:nvSpPr>
        <p:spPr>
          <a:xfrm>
            <a:off x="1619672" y="2424316"/>
            <a:ext cx="929208" cy="461665"/>
          </a:xfrm>
          <a:prstGeom prst="rect">
            <a:avLst/>
          </a:prstGeom>
          <a:noFill/>
        </p:spPr>
        <p:txBody>
          <a:bodyPr wrap="square" rtlCol="0">
            <a:spAutoFit/>
          </a:bodyPr>
          <a:lstStyle/>
          <a:p>
            <a:r>
              <a:rPr kumimoji="1" lang="en-US" altLang="ja-JP" sz="2400" dirty="0"/>
              <a:t>200m</a:t>
            </a:r>
            <a:endParaRPr kumimoji="1" lang="ja-JP" altLang="en-US" sz="2400" dirty="0"/>
          </a:p>
        </p:txBody>
      </p:sp>
      <p:cxnSp>
        <p:nvCxnSpPr>
          <p:cNvPr id="21" name="直線矢印コネクタ 20">
            <a:extLst>
              <a:ext uri="{FF2B5EF4-FFF2-40B4-BE49-F238E27FC236}">
                <a16:creationId xmlns:a16="http://schemas.microsoft.com/office/drawing/2014/main" id="{3D7D77B2-5904-3764-FEE7-BD4ACF71A062}"/>
              </a:ext>
            </a:extLst>
          </p:cNvPr>
          <p:cNvCxnSpPr/>
          <p:nvPr/>
        </p:nvCxnSpPr>
        <p:spPr>
          <a:xfrm flipH="1" flipV="1">
            <a:off x="6941368" y="1877610"/>
            <a:ext cx="366936" cy="236379"/>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915447A1-8F1F-AED7-1975-3A8EE57198BC}"/>
              </a:ext>
            </a:extLst>
          </p:cNvPr>
          <p:cNvCxnSpPr>
            <a:cxnSpLocks/>
          </p:cNvCxnSpPr>
          <p:nvPr/>
        </p:nvCxnSpPr>
        <p:spPr>
          <a:xfrm flipV="1">
            <a:off x="4615892" y="2709498"/>
            <a:ext cx="4248472" cy="36965"/>
          </a:xfrm>
          <a:prstGeom prst="straightConnector1">
            <a:avLst/>
          </a:prstGeom>
          <a:ln w="28575">
            <a:solidFill>
              <a:schemeClr val="tx1"/>
            </a:solidFill>
            <a:prstDash val="dash"/>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27" name="テキスト ボックス 26">
            <a:extLst>
              <a:ext uri="{FF2B5EF4-FFF2-40B4-BE49-F238E27FC236}">
                <a16:creationId xmlns:a16="http://schemas.microsoft.com/office/drawing/2014/main" id="{5D78D2B9-C94A-871B-DA31-A8F5D25D14DE}"/>
              </a:ext>
            </a:extLst>
          </p:cNvPr>
          <p:cNvSpPr txBox="1"/>
          <p:nvPr/>
        </p:nvSpPr>
        <p:spPr>
          <a:xfrm>
            <a:off x="6228184" y="2381236"/>
            <a:ext cx="929208" cy="461665"/>
          </a:xfrm>
          <a:prstGeom prst="rect">
            <a:avLst/>
          </a:prstGeom>
          <a:noFill/>
        </p:spPr>
        <p:txBody>
          <a:bodyPr wrap="square" rtlCol="0">
            <a:spAutoFit/>
          </a:bodyPr>
          <a:lstStyle/>
          <a:p>
            <a:r>
              <a:rPr kumimoji="1" lang="en-US" altLang="ja-JP" sz="2400" dirty="0"/>
              <a:t>200m</a:t>
            </a:r>
            <a:endParaRPr kumimoji="1" lang="ja-JP" altLang="en-US" sz="2400" dirty="0"/>
          </a:p>
        </p:txBody>
      </p:sp>
      <p:sp>
        <p:nvSpPr>
          <p:cNvPr id="28" name="楕円 27">
            <a:extLst>
              <a:ext uri="{FF2B5EF4-FFF2-40B4-BE49-F238E27FC236}">
                <a16:creationId xmlns:a16="http://schemas.microsoft.com/office/drawing/2014/main" id="{B6FADFB8-2330-421A-1FCA-D5FF4D973D27}"/>
              </a:ext>
            </a:extLst>
          </p:cNvPr>
          <p:cNvSpPr/>
          <p:nvPr/>
        </p:nvSpPr>
        <p:spPr>
          <a:xfrm>
            <a:off x="4482486" y="2101583"/>
            <a:ext cx="216024" cy="216619"/>
          </a:xfrm>
          <a:prstGeom prst="ellipse">
            <a:avLst/>
          </a:prstGeom>
          <a:no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9" name="直線矢印コネクタ 28">
            <a:extLst>
              <a:ext uri="{FF2B5EF4-FFF2-40B4-BE49-F238E27FC236}">
                <a16:creationId xmlns:a16="http://schemas.microsoft.com/office/drawing/2014/main" id="{892F5405-887E-D8D0-6E45-F6B22F1F333C}"/>
              </a:ext>
            </a:extLst>
          </p:cNvPr>
          <p:cNvCxnSpPr>
            <a:cxnSpLocks/>
          </p:cNvCxnSpPr>
          <p:nvPr/>
        </p:nvCxnSpPr>
        <p:spPr>
          <a:xfrm flipH="1" flipV="1">
            <a:off x="4583584" y="2375206"/>
            <a:ext cx="6908" cy="536339"/>
          </a:xfrm>
          <a:prstGeom prst="straightConnector1">
            <a:avLst/>
          </a:prstGeom>
          <a:ln w="28575">
            <a:solidFill>
              <a:schemeClr val="tx1"/>
            </a:solidFill>
            <a:prstDash val="dash"/>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5D228705-37E3-EB59-CA3E-E0C1D6A7D36B}"/>
              </a:ext>
            </a:extLst>
          </p:cNvPr>
          <p:cNvSpPr txBox="1"/>
          <p:nvPr/>
        </p:nvSpPr>
        <p:spPr>
          <a:xfrm>
            <a:off x="3994306" y="2205104"/>
            <a:ext cx="685706" cy="461665"/>
          </a:xfrm>
          <a:prstGeom prst="rect">
            <a:avLst/>
          </a:prstGeom>
          <a:noFill/>
        </p:spPr>
        <p:txBody>
          <a:bodyPr wrap="square" rtlCol="0">
            <a:spAutoFit/>
          </a:bodyPr>
          <a:lstStyle/>
          <a:p>
            <a:r>
              <a:rPr lang="en-US" altLang="ja-JP" sz="2400" dirty="0"/>
              <a:t>1</a:t>
            </a:r>
            <a:r>
              <a:rPr kumimoji="1" lang="en-US" altLang="ja-JP" sz="2400" dirty="0"/>
              <a:t>m</a:t>
            </a:r>
            <a:endParaRPr kumimoji="1" lang="ja-JP" altLang="en-US" sz="2400" dirty="0"/>
          </a:p>
        </p:txBody>
      </p:sp>
      <p:sp>
        <p:nvSpPr>
          <p:cNvPr id="32" name="テキスト ボックス 31">
            <a:extLst>
              <a:ext uri="{FF2B5EF4-FFF2-40B4-BE49-F238E27FC236}">
                <a16:creationId xmlns:a16="http://schemas.microsoft.com/office/drawing/2014/main" id="{B78D7A27-211E-D5DF-4006-C83CAEF15458}"/>
              </a:ext>
            </a:extLst>
          </p:cNvPr>
          <p:cNvSpPr txBox="1"/>
          <p:nvPr/>
        </p:nvSpPr>
        <p:spPr>
          <a:xfrm>
            <a:off x="4699448" y="1291786"/>
            <a:ext cx="2968896" cy="461665"/>
          </a:xfrm>
          <a:prstGeom prst="rect">
            <a:avLst/>
          </a:prstGeom>
          <a:noFill/>
        </p:spPr>
        <p:txBody>
          <a:bodyPr wrap="square" rtlCol="0">
            <a:spAutoFit/>
          </a:bodyPr>
          <a:lstStyle/>
          <a:p>
            <a:r>
              <a:rPr lang="ja-JP" altLang="en-US" sz="2400" dirty="0">
                <a:solidFill>
                  <a:srgbClr val="FF0000"/>
                </a:solidFill>
              </a:rPr>
              <a:t>評価点</a:t>
            </a:r>
            <a:r>
              <a:rPr lang="en-US" altLang="ja-JP" sz="2400" dirty="0">
                <a:solidFill>
                  <a:srgbClr val="FF0000"/>
                </a:solidFill>
              </a:rPr>
              <a:t>(</a:t>
            </a:r>
            <a:r>
              <a:rPr lang="ja-JP" altLang="en-US" sz="2400" dirty="0">
                <a:solidFill>
                  <a:srgbClr val="FF0000"/>
                </a:solidFill>
              </a:rPr>
              <a:t>半径</a:t>
            </a:r>
            <a:r>
              <a:rPr lang="en-US" altLang="ja-JP" sz="2400" dirty="0">
                <a:solidFill>
                  <a:srgbClr val="FF0000"/>
                </a:solidFill>
              </a:rPr>
              <a:t>10cm</a:t>
            </a:r>
            <a:r>
              <a:rPr lang="ja-JP" altLang="en-US" sz="2400" dirty="0">
                <a:solidFill>
                  <a:srgbClr val="FF0000"/>
                </a:solidFill>
              </a:rPr>
              <a:t>球</a:t>
            </a:r>
            <a:r>
              <a:rPr lang="en-US" altLang="ja-JP" sz="2400" dirty="0">
                <a:solidFill>
                  <a:srgbClr val="FF0000"/>
                </a:solidFill>
              </a:rPr>
              <a:t>)</a:t>
            </a:r>
            <a:endParaRPr kumimoji="1" lang="ja-JP" altLang="en-US" sz="2400" dirty="0">
              <a:solidFill>
                <a:srgbClr val="FF0000"/>
              </a:solidFill>
            </a:endParaRPr>
          </a:p>
        </p:txBody>
      </p:sp>
      <p:cxnSp>
        <p:nvCxnSpPr>
          <p:cNvPr id="34" name="直線矢印コネクタ 33">
            <a:extLst>
              <a:ext uri="{FF2B5EF4-FFF2-40B4-BE49-F238E27FC236}">
                <a16:creationId xmlns:a16="http://schemas.microsoft.com/office/drawing/2014/main" id="{9998FADB-CE17-BCFB-8C41-3E7724D0620D}"/>
              </a:ext>
            </a:extLst>
          </p:cNvPr>
          <p:cNvCxnSpPr>
            <a:cxnSpLocks/>
          </p:cNvCxnSpPr>
          <p:nvPr/>
        </p:nvCxnSpPr>
        <p:spPr>
          <a:xfrm flipV="1">
            <a:off x="3520579" y="2894595"/>
            <a:ext cx="0" cy="429645"/>
          </a:xfrm>
          <a:prstGeom prst="straightConnector1">
            <a:avLst/>
          </a:prstGeom>
          <a:ln w="28575">
            <a:solidFill>
              <a:schemeClr val="tx1"/>
            </a:solidFill>
            <a:prstDash val="dash"/>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36" name="テキスト ボックス 35">
            <a:extLst>
              <a:ext uri="{FF2B5EF4-FFF2-40B4-BE49-F238E27FC236}">
                <a16:creationId xmlns:a16="http://schemas.microsoft.com/office/drawing/2014/main" id="{5D464045-4D62-F943-FD6C-21CDB43BE4E1}"/>
              </a:ext>
            </a:extLst>
          </p:cNvPr>
          <p:cNvSpPr txBox="1"/>
          <p:nvPr/>
        </p:nvSpPr>
        <p:spPr>
          <a:xfrm>
            <a:off x="2966243" y="3304197"/>
            <a:ext cx="1028063" cy="461665"/>
          </a:xfrm>
          <a:prstGeom prst="rect">
            <a:avLst/>
          </a:prstGeom>
          <a:noFill/>
        </p:spPr>
        <p:txBody>
          <a:bodyPr wrap="square" rtlCol="0">
            <a:spAutoFit/>
          </a:bodyPr>
          <a:lstStyle/>
          <a:p>
            <a:r>
              <a:rPr lang="en-US" altLang="ja-JP" sz="2400" dirty="0"/>
              <a:t>5</a:t>
            </a:r>
            <a:r>
              <a:rPr kumimoji="1" lang="en-US" altLang="ja-JP" sz="2400" dirty="0"/>
              <a:t>0cm</a:t>
            </a:r>
            <a:endParaRPr kumimoji="1" lang="ja-JP" altLang="en-US" sz="2400" dirty="0"/>
          </a:p>
        </p:txBody>
      </p:sp>
      <p:sp>
        <p:nvSpPr>
          <p:cNvPr id="37" name="テキスト ボックス 36">
            <a:extLst>
              <a:ext uri="{FF2B5EF4-FFF2-40B4-BE49-F238E27FC236}">
                <a16:creationId xmlns:a16="http://schemas.microsoft.com/office/drawing/2014/main" id="{6D818B55-D349-7494-24B2-5C2DF13E2AFF}"/>
              </a:ext>
            </a:extLst>
          </p:cNvPr>
          <p:cNvSpPr txBox="1"/>
          <p:nvPr/>
        </p:nvSpPr>
        <p:spPr>
          <a:xfrm>
            <a:off x="2804630" y="2864978"/>
            <a:ext cx="645572" cy="461665"/>
          </a:xfrm>
          <a:prstGeom prst="rect">
            <a:avLst/>
          </a:prstGeom>
          <a:noFill/>
        </p:spPr>
        <p:txBody>
          <a:bodyPr wrap="square" rtlCol="0">
            <a:spAutoFit/>
          </a:bodyPr>
          <a:lstStyle/>
          <a:p>
            <a:r>
              <a:rPr lang="en-US" altLang="ja-JP" sz="2400" dirty="0">
                <a:solidFill>
                  <a:schemeClr val="bg1"/>
                </a:solidFill>
              </a:rPr>
              <a:t>Soil</a:t>
            </a:r>
            <a:endParaRPr kumimoji="1" lang="ja-JP" altLang="en-US" sz="2400" dirty="0">
              <a:solidFill>
                <a:schemeClr val="bg1"/>
              </a:solidFill>
            </a:endParaRPr>
          </a:p>
        </p:txBody>
      </p:sp>
      <p:sp>
        <p:nvSpPr>
          <p:cNvPr id="38" name="テキスト ボックス 37">
            <a:extLst>
              <a:ext uri="{FF2B5EF4-FFF2-40B4-BE49-F238E27FC236}">
                <a16:creationId xmlns:a16="http://schemas.microsoft.com/office/drawing/2014/main" id="{7722BC7C-B732-A7D2-A47A-00D23F2FBC0B}"/>
              </a:ext>
            </a:extLst>
          </p:cNvPr>
          <p:cNvSpPr txBox="1"/>
          <p:nvPr/>
        </p:nvSpPr>
        <p:spPr>
          <a:xfrm>
            <a:off x="3069116" y="1403652"/>
            <a:ext cx="576064" cy="461665"/>
          </a:xfrm>
          <a:prstGeom prst="rect">
            <a:avLst/>
          </a:prstGeom>
          <a:noFill/>
        </p:spPr>
        <p:txBody>
          <a:bodyPr wrap="square" rtlCol="0">
            <a:spAutoFit/>
          </a:bodyPr>
          <a:lstStyle/>
          <a:p>
            <a:r>
              <a:rPr lang="en-US" altLang="ja-JP" sz="2400" dirty="0"/>
              <a:t>Air</a:t>
            </a:r>
          </a:p>
        </p:txBody>
      </p:sp>
      <p:cxnSp>
        <p:nvCxnSpPr>
          <p:cNvPr id="45" name="直線矢印コネクタ 44">
            <a:extLst>
              <a:ext uri="{FF2B5EF4-FFF2-40B4-BE49-F238E27FC236}">
                <a16:creationId xmlns:a16="http://schemas.microsoft.com/office/drawing/2014/main" id="{2C05BA22-5757-5440-4D3B-178254112930}"/>
              </a:ext>
            </a:extLst>
          </p:cNvPr>
          <p:cNvCxnSpPr>
            <a:cxnSpLocks/>
          </p:cNvCxnSpPr>
          <p:nvPr/>
        </p:nvCxnSpPr>
        <p:spPr>
          <a:xfrm flipH="1">
            <a:off x="4698510" y="1736856"/>
            <a:ext cx="188312" cy="38771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 name="直線矢印コネクタ 3">
            <a:extLst>
              <a:ext uri="{FF2B5EF4-FFF2-40B4-BE49-F238E27FC236}">
                <a16:creationId xmlns:a16="http://schemas.microsoft.com/office/drawing/2014/main" id="{F51927BE-062F-0180-F4CF-5DB1301E48E4}"/>
              </a:ext>
            </a:extLst>
          </p:cNvPr>
          <p:cNvCxnSpPr>
            <a:cxnSpLocks/>
          </p:cNvCxnSpPr>
          <p:nvPr/>
        </p:nvCxnSpPr>
        <p:spPr>
          <a:xfrm>
            <a:off x="8515381" y="2318202"/>
            <a:ext cx="0" cy="610156"/>
          </a:xfrm>
          <a:prstGeom prst="straightConnector1">
            <a:avLst/>
          </a:prstGeom>
          <a:ln w="28575">
            <a:solidFill>
              <a:schemeClr val="tx1"/>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9AD2ED7B-6C32-7410-18C5-B9B8B7D0EA4C}"/>
              </a:ext>
            </a:extLst>
          </p:cNvPr>
          <p:cNvSpPr txBox="1"/>
          <p:nvPr/>
        </p:nvSpPr>
        <p:spPr>
          <a:xfrm>
            <a:off x="7610400" y="1669002"/>
            <a:ext cx="929208" cy="461665"/>
          </a:xfrm>
          <a:prstGeom prst="rect">
            <a:avLst/>
          </a:prstGeom>
          <a:noFill/>
        </p:spPr>
        <p:txBody>
          <a:bodyPr wrap="square" rtlCol="0">
            <a:spAutoFit/>
          </a:bodyPr>
          <a:lstStyle/>
          <a:p>
            <a:r>
              <a:rPr kumimoji="1" lang="en-US" altLang="ja-JP" sz="2400" dirty="0"/>
              <a:t>200m</a:t>
            </a:r>
            <a:endParaRPr kumimoji="1" lang="ja-JP" altLang="en-US" sz="2400" dirty="0"/>
          </a:p>
        </p:txBody>
      </p:sp>
      <p:sp>
        <p:nvSpPr>
          <p:cNvPr id="8" name="テキスト ボックス 7">
            <a:extLst>
              <a:ext uri="{FF2B5EF4-FFF2-40B4-BE49-F238E27FC236}">
                <a16:creationId xmlns:a16="http://schemas.microsoft.com/office/drawing/2014/main" id="{A2870F0E-0722-D070-B963-D6C51467ADE7}"/>
              </a:ext>
            </a:extLst>
          </p:cNvPr>
          <p:cNvSpPr txBox="1"/>
          <p:nvPr/>
        </p:nvSpPr>
        <p:spPr>
          <a:xfrm>
            <a:off x="251520" y="1184240"/>
            <a:ext cx="929205" cy="523220"/>
          </a:xfrm>
          <a:prstGeom prst="rect">
            <a:avLst/>
          </a:prstGeom>
          <a:noFill/>
          <a:ln>
            <a:solidFill>
              <a:schemeClr val="tx1"/>
            </a:solidFill>
          </a:ln>
        </p:spPr>
        <p:txBody>
          <a:bodyPr wrap="square" rtlCol="0">
            <a:spAutoFit/>
          </a:bodyPr>
          <a:lstStyle/>
          <a:p>
            <a:r>
              <a:rPr kumimoji="1" lang="ja-JP" altLang="en-US" sz="2800" dirty="0"/>
              <a:t>体系</a:t>
            </a:r>
          </a:p>
        </p:txBody>
      </p:sp>
      <p:sp>
        <p:nvSpPr>
          <p:cNvPr id="25" name="Text Box 1031">
            <a:extLst>
              <a:ext uri="{FF2B5EF4-FFF2-40B4-BE49-F238E27FC236}">
                <a16:creationId xmlns:a16="http://schemas.microsoft.com/office/drawing/2014/main" id="{3970E703-DB1C-FBB5-50C4-9AFA7918905A}"/>
              </a:ext>
            </a:extLst>
          </p:cNvPr>
          <p:cNvSpPr txBox="1">
            <a:spLocks noChangeArrowheads="1"/>
          </p:cNvSpPr>
          <p:nvPr/>
        </p:nvSpPr>
        <p:spPr bwMode="auto">
          <a:xfrm>
            <a:off x="88687" y="3834393"/>
            <a:ext cx="4248472" cy="2052535"/>
          </a:xfrm>
          <a:prstGeom prst="rect">
            <a:avLst/>
          </a:prstGeom>
          <a:solidFill>
            <a:schemeClr val="bg1"/>
          </a:solidFill>
          <a:ln w="19050">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400" dirty="0">
                <a:latin typeface="Tahoma" panose="020B0604030504040204" pitchFamily="34" charset="0"/>
              </a:rPr>
              <a:t>set:c1[20000] $ World cylinder radius</a:t>
            </a:r>
          </a:p>
          <a:p>
            <a:pPr eaLnBrk="1" hangingPunct="1">
              <a:spcBef>
                <a:spcPct val="0"/>
              </a:spcBef>
              <a:buFontTx/>
              <a:buNone/>
            </a:pPr>
            <a:r>
              <a:rPr lang="en-US" altLang="ja-JP" sz="1400" dirty="0">
                <a:latin typeface="Tahoma" panose="020B0604030504040204" pitchFamily="34" charset="0"/>
              </a:rPr>
              <a:t>set:c2[1.0]     $ Density of soil g/cm3</a:t>
            </a:r>
          </a:p>
          <a:p>
            <a:pPr eaLnBrk="1" hangingPunct="1">
              <a:spcBef>
                <a:spcPct val="0"/>
              </a:spcBef>
              <a:buFontTx/>
              <a:buNone/>
            </a:pPr>
            <a:r>
              <a:rPr lang="pt-BR" altLang="ja-JP" sz="1400" dirty="0">
                <a:solidFill>
                  <a:srgbClr val="000000"/>
                </a:solidFill>
                <a:latin typeface="Tahoma" panose="020B0604030504040204" pitchFamily="34" charset="0"/>
              </a:rPr>
              <a:t>...</a:t>
            </a:r>
          </a:p>
          <a:p>
            <a:pPr eaLnBrk="1" hangingPunct="1">
              <a:spcBef>
                <a:spcPct val="0"/>
              </a:spcBef>
              <a:buFontTx/>
              <a:buNone/>
            </a:pPr>
            <a:r>
              <a:rPr lang="en-US" altLang="ja-JP" sz="1400" dirty="0">
                <a:solidFill>
                  <a:srgbClr val="000000"/>
                </a:solidFill>
                <a:latin typeface="Tahoma" panose="020B0604030504040204" pitchFamily="34" charset="0"/>
              </a:rPr>
              <a:t>[ Surface ]</a:t>
            </a:r>
          </a:p>
          <a:p>
            <a:pPr eaLnBrk="1" hangingPunct="1">
              <a:spcBef>
                <a:spcPct val="0"/>
              </a:spcBef>
              <a:buFontTx/>
              <a:buNone/>
            </a:pPr>
            <a:r>
              <a:rPr lang="en-US" altLang="ja-JP" sz="1400" dirty="0">
                <a:solidFill>
                  <a:srgbClr val="000000"/>
                </a:solidFill>
                <a:latin typeface="Tahoma" panose="020B0604030504040204" pitchFamily="34" charset="0"/>
              </a:rPr>
              <a:t> 10  </a:t>
            </a:r>
            <a:r>
              <a:rPr lang="en-US" altLang="ja-JP" sz="1400" dirty="0" err="1">
                <a:solidFill>
                  <a:srgbClr val="000000"/>
                </a:solidFill>
                <a:latin typeface="Tahoma" panose="020B0604030504040204" pitchFamily="34" charset="0"/>
              </a:rPr>
              <a:t>sz</a:t>
            </a:r>
            <a:r>
              <a:rPr lang="en-US" altLang="ja-JP" sz="1400" dirty="0">
                <a:solidFill>
                  <a:srgbClr val="000000"/>
                </a:solidFill>
                <a:latin typeface="Tahoma" panose="020B0604030504040204" pitchFamily="34" charset="0"/>
              </a:rPr>
              <a:t>  100.0 10.0   $ Detection volume</a:t>
            </a:r>
          </a:p>
          <a:p>
            <a:pPr eaLnBrk="1" hangingPunct="1">
              <a:spcBef>
                <a:spcPct val="0"/>
              </a:spcBef>
              <a:buFontTx/>
              <a:buNone/>
            </a:pPr>
            <a:r>
              <a:rPr lang="en-US" altLang="ja-JP" sz="1400" dirty="0">
                <a:solidFill>
                  <a:srgbClr val="000000"/>
                </a:solidFill>
                <a:latin typeface="Tahoma" panose="020B0604030504040204" pitchFamily="34" charset="0"/>
              </a:rPr>
              <a:t> 900  </a:t>
            </a:r>
            <a:r>
              <a:rPr lang="en-US" altLang="ja-JP" sz="1400" dirty="0" err="1">
                <a:solidFill>
                  <a:srgbClr val="000000"/>
                </a:solidFill>
                <a:latin typeface="Tahoma" panose="020B0604030504040204" pitchFamily="34" charset="0"/>
              </a:rPr>
              <a:t>pz</a:t>
            </a:r>
            <a:r>
              <a:rPr lang="en-US" altLang="ja-JP" sz="1400" dirty="0">
                <a:solidFill>
                  <a:srgbClr val="000000"/>
                </a:solidFill>
                <a:latin typeface="Tahoma" panose="020B0604030504040204" pitchFamily="34" charset="0"/>
              </a:rPr>
              <a:t>  -50.0         $ Soil depth down to 50 cm</a:t>
            </a:r>
          </a:p>
          <a:p>
            <a:pPr eaLnBrk="1" hangingPunct="1">
              <a:spcBef>
                <a:spcPct val="0"/>
              </a:spcBef>
              <a:buFontTx/>
              <a:buNone/>
            </a:pPr>
            <a:r>
              <a:rPr lang="en-US" altLang="ja-JP" sz="1400" dirty="0">
                <a:solidFill>
                  <a:srgbClr val="000000"/>
                </a:solidFill>
                <a:latin typeface="Tahoma" panose="020B0604030504040204" pitchFamily="34" charset="0"/>
              </a:rPr>
              <a:t> 901  </a:t>
            </a:r>
            <a:r>
              <a:rPr lang="en-US" altLang="ja-JP" sz="1400" dirty="0" err="1">
                <a:solidFill>
                  <a:srgbClr val="000000"/>
                </a:solidFill>
                <a:latin typeface="Tahoma" panose="020B0604030504040204" pitchFamily="34" charset="0"/>
              </a:rPr>
              <a:t>pz</a:t>
            </a:r>
            <a:r>
              <a:rPr lang="en-US" altLang="ja-JP" sz="1400" dirty="0">
                <a:solidFill>
                  <a:srgbClr val="000000"/>
                </a:solidFill>
                <a:latin typeface="Tahoma" panose="020B0604030504040204" pitchFamily="34" charset="0"/>
              </a:rPr>
              <a:t>    0.0          $ Soil surface</a:t>
            </a:r>
          </a:p>
          <a:p>
            <a:pPr eaLnBrk="1" hangingPunct="1">
              <a:spcBef>
                <a:spcPct val="0"/>
              </a:spcBef>
              <a:buFontTx/>
              <a:buNone/>
            </a:pPr>
            <a:r>
              <a:rPr lang="en-US" altLang="ja-JP" sz="1400" dirty="0">
                <a:solidFill>
                  <a:srgbClr val="000000"/>
                </a:solidFill>
                <a:latin typeface="Tahoma" panose="020B0604030504040204" pitchFamily="34" charset="0"/>
              </a:rPr>
              <a:t> 902  </a:t>
            </a:r>
            <a:r>
              <a:rPr lang="en-US" altLang="ja-JP" sz="1400" dirty="0" err="1">
                <a:solidFill>
                  <a:srgbClr val="000000"/>
                </a:solidFill>
                <a:latin typeface="Tahoma" panose="020B0604030504040204" pitchFamily="34" charset="0"/>
              </a:rPr>
              <a:t>pz</a:t>
            </a:r>
            <a:r>
              <a:rPr lang="en-US" altLang="ja-JP" sz="1400" dirty="0">
                <a:solidFill>
                  <a:srgbClr val="000000"/>
                </a:solidFill>
                <a:latin typeface="Tahoma" panose="020B0604030504040204" pitchFamily="34" charset="0"/>
              </a:rPr>
              <a:t> 20000.0      $ Sky top up to 200 m</a:t>
            </a:r>
          </a:p>
          <a:p>
            <a:pPr eaLnBrk="1" hangingPunct="1">
              <a:spcBef>
                <a:spcPct val="0"/>
              </a:spcBef>
              <a:buFontTx/>
              <a:buNone/>
            </a:pPr>
            <a:r>
              <a:rPr lang="en-US" altLang="ja-JP" sz="1400" dirty="0">
                <a:solidFill>
                  <a:srgbClr val="000000"/>
                </a:solidFill>
                <a:latin typeface="Tahoma" panose="020B0604030504040204" pitchFamily="34" charset="0"/>
              </a:rPr>
              <a:t> 910  </a:t>
            </a:r>
            <a:r>
              <a:rPr lang="en-US" altLang="ja-JP" sz="1400" dirty="0" err="1">
                <a:solidFill>
                  <a:srgbClr val="000000"/>
                </a:solidFill>
                <a:latin typeface="Tahoma" panose="020B0604030504040204" pitchFamily="34" charset="0"/>
              </a:rPr>
              <a:t>cz</a:t>
            </a:r>
            <a:r>
              <a:rPr lang="en-US" altLang="ja-JP" sz="1400" dirty="0">
                <a:solidFill>
                  <a:srgbClr val="000000"/>
                </a:solidFill>
                <a:latin typeface="Tahoma" panose="020B0604030504040204" pitchFamily="34" charset="0"/>
              </a:rPr>
              <a:t>  c1             $ World cylinder</a:t>
            </a:r>
            <a:endParaRPr lang="pt-BR" altLang="ja-JP" sz="1400" dirty="0">
              <a:solidFill>
                <a:srgbClr val="000000"/>
              </a:solidFill>
              <a:latin typeface="Tahoma" panose="020B0604030504040204" pitchFamily="34" charset="0"/>
            </a:endParaRPr>
          </a:p>
        </p:txBody>
      </p:sp>
      <p:cxnSp>
        <p:nvCxnSpPr>
          <p:cNvPr id="35" name="直線矢印コネクタ 34">
            <a:extLst>
              <a:ext uri="{FF2B5EF4-FFF2-40B4-BE49-F238E27FC236}">
                <a16:creationId xmlns:a16="http://schemas.microsoft.com/office/drawing/2014/main" id="{A6F20C54-6171-2477-AADA-F17EF02B4497}"/>
              </a:ext>
            </a:extLst>
          </p:cNvPr>
          <p:cNvCxnSpPr>
            <a:cxnSpLocks/>
          </p:cNvCxnSpPr>
          <p:nvPr/>
        </p:nvCxnSpPr>
        <p:spPr>
          <a:xfrm flipH="1" flipV="1">
            <a:off x="8505234" y="1052736"/>
            <a:ext cx="10147" cy="552886"/>
          </a:xfrm>
          <a:prstGeom prst="straightConnector1">
            <a:avLst/>
          </a:prstGeom>
          <a:ln w="28575">
            <a:solidFill>
              <a:schemeClr val="tx1"/>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7" name="直線矢印コネクタ 46">
            <a:extLst>
              <a:ext uri="{FF2B5EF4-FFF2-40B4-BE49-F238E27FC236}">
                <a16:creationId xmlns:a16="http://schemas.microsoft.com/office/drawing/2014/main" id="{6890B287-4B3A-EE14-67FF-6BCDCDDDC376}"/>
              </a:ext>
            </a:extLst>
          </p:cNvPr>
          <p:cNvCxnSpPr>
            <a:cxnSpLocks/>
          </p:cNvCxnSpPr>
          <p:nvPr/>
        </p:nvCxnSpPr>
        <p:spPr>
          <a:xfrm flipV="1">
            <a:off x="8515381" y="1642642"/>
            <a:ext cx="0" cy="611052"/>
          </a:xfrm>
          <a:prstGeom prst="straightConnector1">
            <a:avLst/>
          </a:prstGeom>
          <a:ln w="28575">
            <a:solidFill>
              <a:schemeClr val="tx1"/>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E086B02A-1C06-7489-FD68-01277F5D3858}"/>
              </a:ext>
            </a:extLst>
          </p:cNvPr>
          <p:cNvSpPr txBox="1"/>
          <p:nvPr/>
        </p:nvSpPr>
        <p:spPr>
          <a:xfrm>
            <a:off x="3192453" y="831177"/>
            <a:ext cx="2808311" cy="523220"/>
          </a:xfrm>
          <a:prstGeom prst="rect">
            <a:avLst/>
          </a:prstGeom>
          <a:noFill/>
          <a:ln>
            <a:noFill/>
          </a:ln>
        </p:spPr>
        <p:txBody>
          <a:bodyPr wrap="square" rtlCol="0">
            <a:spAutoFit/>
          </a:bodyPr>
          <a:lstStyle/>
          <a:p>
            <a:r>
              <a:rPr kumimoji="1" lang="en-US" altLang="ja-JP" sz="2800" u="sng" dirty="0" err="1"/>
              <a:t>groundsource.inp</a:t>
            </a:r>
            <a:endParaRPr kumimoji="1" lang="ja-JP" altLang="en-US" sz="2800" u="sng" dirty="0"/>
          </a:p>
        </p:txBody>
      </p:sp>
      <p:sp>
        <p:nvSpPr>
          <p:cNvPr id="51" name="Text Box 1031">
            <a:extLst>
              <a:ext uri="{FF2B5EF4-FFF2-40B4-BE49-F238E27FC236}">
                <a16:creationId xmlns:a16="http://schemas.microsoft.com/office/drawing/2014/main" id="{9BBB268F-BBFB-DDCB-8ADA-0D6A823B8637}"/>
              </a:ext>
            </a:extLst>
          </p:cNvPr>
          <p:cNvSpPr txBox="1">
            <a:spLocks noChangeArrowheads="1"/>
          </p:cNvSpPr>
          <p:nvPr/>
        </p:nvSpPr>
        <p:spPr bwMode="auto">
          <a:xfrm>
            <a:off x="4590492" y="3830665"/>
            <a:ext cx="4435388" cy="1839366"/>
          </a:xfrm>
          <a:prstGeom prst="rect">
            <a:avLst/>
          </a:prstGeom>
          <a:solidFill>
            <a:schemeClr val="bg1"/>
          </a:solidFill>
          <a:ln w="19050">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400" dirty="0">
                <a:solidFill>
                  <a:srgbClr val="000000"/>
                </a:solidFill>
                <a:latin typeface="Tahoma" panose="020B0604030504040204" pitchFamily="34" charset="0"/>
              </a:rPr>
              <a:t>[ Cell ]</a:t>
            </a:r>
          </a:p>
          <a:p>
            <a:pPr eaLnBrk="1" hangingPunct="1">
              <a:spcBef>
                <a:spcPct val="0"/>
              </a:spcBef>
              <a:buFontTx/>
              <a:buNone/>
            </a:pPr>
            <a:r>
              <a:rPr lang="en-US" altLang="ja-JP" sz="1400" dirty="0">
                <a:solidFill>
                  <a:srgbClr val="000000"/>
                </a:solidFill>
                <a:latin typeface="Tahoma" panose="020B0604030504040204" pitchFamily="34" charset="0"/>
              </a:rPr>
              <a:t> 10  1 -1.2e-3  -10                      $ Detection volume </a:t>
            </a:r>
          </a:p>
          <a:p>
            <a:pPr eaLnBrk="1" hangingPunct="1">
              <a:spcBef>
                <a:spcPct val="0"/>
              </a:spcBef>
              <a:buFontTx/>
              <a:buNone/>
            </a:pPr>
            <a:endParaRPr lang="en-US" altLang="ja-JP" sz="1400" dirty="0">
              <a:solidFill>
                <a:srgbClr val="000000"/>
              </a:solidFill>
              <a:latin typeface="Tahoma" panose="020B0604030504040204" pitchFamily="34" charset="0"/>
            </a:endParaRPr>
          </a:p>
          <a:p>
            <a:pPr marL="342900" indent="-342900" eaLnBrk="1" hangingPunct="1">
              <a:spcBef>
                <a:spcPct val="0"/>
              </a:spcBef>
              <a:buFontTx/>
              <a:buAutoNum type="arabicPlain" startAt="100"/>
            </a:pPr>
            <a:r>
              <a:rPr lang="en-US" altLang="ja-JP" sz="1400" dirty="0">
                <a:solidFill>
                  <a:srgbClr val="000000"/>
                </a:solidFill>
                <a:latin typeface="Tahoma" panose="020B0604030504040204" pitchFamily="34" charset="0"/>
              </a:rPr>
              <a:t>1 -1.2e-3  -910 901 -902 10  $ Air</a:t>
            </a:r>
          </a:p>
          <a:p>
            <a:pPr eaLnBrk="1" hangingPunct="1">
              <a:spcBef>
                <a:spcPct val="0"/>
              </a:spcBef>
              <a:buNone/>
            </a:pPr>
            <a:endParaRPr lang="en-US" altLang="ja-JP" sz="1400" dirty="0">
              <a:solidFill>
                <a:srgbClr val="000000"/>
              </a:solidFill>
              <a:latin typeface="Tahoma" panose="020B0604030504040204" pitchFamily="34" charset="0"/>
            </a:endParaRPr>
          </a:p>
          <a:p>
            <a:pPr marL="342900" indent="-342900" eaLnBrk="1" hangingPunct="1">
              <a:spcBef>
                <a:spcPct val="0"/>
              </a:spcBef>
              <a:buFontTx/>
              <a:buAutoNum type="arabicPlain" startAt="200"/>
            </a:pPr>
            <a:r>
              <a:rPr lang="en-US" altLang="ja-JP" sz="1400" dirty="0">
                <a:solidFill>
                  <a:srgbClr val="000000"/>
                </a:solidFill>
                <a:latin typeface="Tahoma" panose="020B0604030504040204" pitchFamily="34" charset="0"/>
              </a:rPr>
              <a:t>2 -c2     -910 900 -901          $ Soil</a:t>
            </a:r>
          </a:p>
          <a:p>
            <a:pPr eaLnBrk="1" hangingPunct="1">
              <a:spcBef>
                <a:spcPct val="0"/>
              </a:spcBef>
              <a:buNone/>
            </a:pPr>
            <a:endParaRPr lang="pt-BR" altLang="ja-JP" sz="1400" dirty="0">
              <a:solidFill>
                <a:srgbClr val="000000"/>
              </a:solidFill>
              <a:latin typeface="Tahoma" panose="020B0604030504040204" pitchFamily="34" charset="0"/>
            </a:endParaRPr>
          </a:p>
          <a:p>
            <a:pPr eaLnBrk="1" hangingPunct="1">
              <a:spcBef>
                <a:spcPct val="0"/>
              </a:spcBef>
              <a:buNone/>
            </a:pPr>
            <a:r>
              <a:rPr lang="en-US" altLang="ja-JP" sz="1400" dirty="0">
                <a:solidFill>
                  <a:srgbClr val="000000"/>
                </a:solidFill>
                <a:latin typeface="Tahoma" panose="020B0604030504040204" pitchFamily="34" charset="0"/>
              </a:rPr>
              <a:t>900 -1           910:-900:902         $ Outer void</a:t>
            </a:r>
          </a:p>
        </p:txBody>
      </p:sp>
      <p:cxnSp>
        <p:nvCxnSpPr>
          <p:cNvPr id="5" name="直線矢印コネクタ 4">
            <a:extLst>
              <a:ext uri="{FF2B5EF4-FFF2-40B4-BE49-F238E27FC236}">
                <a16:creationId xmlns:a16="http://schemas.microsoft.com/office/drawing/2014/main" id="{F5482DE2-735A-D570-8DEC-A472C11CC683}"/>
              </a:ext>
            </a:extLst>
          </p:cNvPr>
          <p:cNvCxnSpPr/>
          <p:nvPr/>
        </p:nvCxnSpPr>
        <p:spPr>
          <a:xfrm flipV="1">
            <a:off x="827584" y="1772816"/>
            <a:ext cx="0" cy="5760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線矢印コネクタ 21">
            <a:extLst>
              <a:ext uri="{FF2B5EF4-FFF2-40B4-BE49-F238E27FC236}">
                <a16:creationId xmlns:a16="http://schemas.microsoft.com/office/drawing/2014/main" id="{F3FD3A67-9CC4-3A69-3C69-F5585302CFEA}"/>
              </a:ext>
            </a:extLst>
          </p:cNvPr>
          <p:cNvCxnSpPr/>
          <p:nvPr/>
        </p:nvCxnSpPr>
        <p:spPr>
          <a:xfrm>
            <a:off x="827584" y="2348880"/>
            <a:ext cx="57606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テキスト ボックス 22">
            <a:extLst>
              <a:ext uri="{FF2B5EF4-FFF2-40B4-BE49-F238E27FC236}">
                <a16:creationId xmlns:a16="http://schemas.microsoft.com/office/drawing/2014/main" id="{6F2235AD-E910-033E-2479-12FED1763296}"/>
              </a:ext>
            </a:extLst>
          </p:cNvPr>
          <p:cNvSpPr txBox="1"/>
          <p:nvPr/>
        </p:nvSpPr>
        <p:spPr>
          <a:xfrm>
            <a:off x="574980" y="1817216"/>
            <a:ext cx="197526" cy="523220"/>
          </a:xfrm>
          <a:prstGeom prst="rect">
            <a:avLst/>
          </a:prstGeom>
          <a:noFill/>
        </p:spPr>
        <p:txBody>
          <a:bodyPr wrap="square" rtlCol="0">
            <a:spAutoFit/>
          </a:bodyPr>
          <a:lstStyle/>
          <a:p>
            <a:r>
              <a:rPr lang="en-US" altLang="ja-JP" sz="2800" dirty="0">
                <a:solidFill>
                  <a:srgbClr val="0070C0"/>
                </a:solidFill>
              </a:rPr>
              <a:t>z</a:t>
            </a:r>
            <a:endParaRPr kumimoji="1" lang="ja-JP" altLang="en-US" sz="2800" dirty="0">
              <a:solidFill>
                <a:srgbClr val="0070C0"/>
              </a:solidFill>
            </a:endParaRPr>
          </a:p>
        </p:txBody>
      </p:sp>
      <p:sp>
        <p:nvSpPr>
          <p:cNvPr id="24" name="テキスト ボックス 23">
            <a:extLst>
              <a:ext uri="{FF2B5EF4-FFF2-40B4-BE49-F238E27FC236}">
                <a16:creationId xmlns:a16="http://schemas.microsoft.com/office/drawing/2014/main" id="{90595D51-735F-6DD7-9142-B1F8D78D373F}"/>
              </a:ext>
            </a:extLst>
          </p:cNvPr>
          <p:cNvSpPr txBox="1"/>
          <p:nvPr/>
        </p:nvSpPr>
        <p:spPr>
          <a:xfrm>
            <a:off x="918090" y="2189906"/>
            <a:ext cx="197526" cy="523220"/>
          </a:xfrm>
          <a:prstGeom prst="rect">
            <a:avLst/>
          </a:prstGeom>
          <a:noFill/>
        </p:spPr>
        <p:txBody>
          <a:bodyPr wrap="square" rtlCol="0">
            <a:spAutoFit/>
          </a:bodyPr>
          <a:lstStyle/>
          <a:p>
            <a:r>
              <a:rPr kumimoji="1" lang="en-US" altLang="ja-JP" sz="2800" dirty="0">
                <a:solidFill>
                  <a:srgbClr val="0070C0"/>
                </a:solidFill>
              </a:rPr>
              <a:t>x</a:t>
            </a:r>
            <a:endParaRPr kumimoji="1" lang="ja-JP" altLang="en-US" sz="2800" dirty="0">
              <a:solidFill>
                <a:srgbClr val="0070C0"/>
              </a:solidFill>
            </a:endParaRPr>
          </a:p>
        </p:txBody>
      </p:sp>
      <p:sp>
        <p:nvSpPr>
          <p:cNvPr id="3" name="スライド番号プレースホルダー 2">
            <a:extLst>
              <a:ext uri="{FF2B5EF4-FFF2-40B4-BE49-F238E27FC236}">
                <a16:creationId xmlns:a16="http://schemas.microsoft.com/office/drawing/2014/main" id="{4D84051D-7459-3A9F-8E04-FC1C6104D892}"/>
              </a:ext>
            </a:extLst>
          </p:cNvPr>
          <p:cNvSpPr>
            <a:spLocks noGrp="1"/>
          </p:cNvSpPr>
          <p:nvPr>
            <p:ph type="sldNum" sz="quarter" idx="12"/>
          </p:nvPr>
        </p:nvSpPr>
        <p:spPr/>
        <p:txBody>
          <a:bodyPr/>
          <a:lstStyle/>
          <a:p>
            <a:fld id="{D2D8002D-B5B0-4BAC-B1F6-782DDCCE6D9C}" type="slidenum">
              <a:rPr kumimoji="1" lang="ja-JP" altLang="en-US" smtClean="0"/>
              <a:t>3</a:t>
            </a:fld>
            <a:endParaRPr kumimoji="1" lang="ja-JP" altLang="en-US"/>
          </a:p>
        </p:txBody>
      </p:sp>
    </p:spTree>
    <p:extLst>
      <p:ext uri="{BB962C8B-B14F-4D97-AF65-F5344CB8AC3E}">
        <p14:creationId xmlns:p14="http://schemas.microsoft.com/office/powerpoint/2010/main" val="2591728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A9184-1890-E527-E280-FE5C96182E9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C9F5ED9-568F-45F5-40F6-DF2768800C4E}"/>
              </a:ext>
            </a:extLst>
          </p:cNvPr>
          <p:cNvSpPr>
            <a:spLocks noGrp="1"/>
          </p:cNvSpPr>
          <p:nvPr>
            <p:ph type="title"/>
          </p:nvPr>
        </p:nvSpPr>
        <p:spPr>
          <a:xfrm>
            <a:off x="457200" y="53752"/>
            <a:ext cx="8229600" cy="1143000"/>
          </a:xfrm>
        </p:spPr>
        <p:txBody>
          <a:bodyPr>
            <a:normAutofit/>
          </a:bodyPr>
          <a:lstStyle/>
          <a:p>
            <a:r>
              <a:rPr lang="ja-JP" altLang="en-US" dirty="0">
                <a:latin typeface="Arial" pitchFamily="18"/>
              </a:rPr>
              <a:t>半無限平面の計算つづき</a:t>
            </a:r>
            <a:endParaRPr kumimoji="1" lang="ja-JP" altLang="en-US" dirty="0"/>
          </a:p>
        </p:txBody>
      </p:sp>
      <p:cxnSp>
        <p:nvCxnSpPr>
          <p:cNvPr id="9" name="直線矢印コネクタ 8">
            <a:extLst>
              <a:ext uri="{FF2B5EF4-FFF2-40B4-BE49-F238E27FC236}">
                <a16:creationId xmlns:a16="http://schemas.microsoft.com/office/drawing/2014/main" id="{0E924BA9-0EA9-0283-E370-BC65EB6BDD2F}"/>
              </a:ext>
            </a:extLst>
          </p:cNvPr>
          <p:cNvCxnSpPr/>
          <p:nvPr/>
        </p:nvCxnSpPr>
        <p:spPr>
          <a:xfrm flipV="1">
            <a:off x="6941368" y="2113988"/>
            <a:ext cx="366936" cy="814372"/>
          </a:xfrm>
          <a:prstGeom prst="straightConnector1">
            <a:avLst/>
          </a:prstGeom>
          <a:ln w="38100">
            <a:solidFill>
              <a:srgbClr val="FFC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直線矢印コネクタ 9">
            <a:extLst>
              <a:ext uri="{FF2B5EF4-FFF2-40B4-BE49-F238E27FC236}">
                <a16:creationId xmlns:a16="http://schemas.microsoft.com/office/drawing/2014/main" id="{0883CC3D-208E-7AF0-481D-0C3CFEAADCC8}"/>
              </a:ext>
            </a:extLst>
          </p:cNvPr>
          <p:cNvCxnSpPr/>
          <p:nvPr/>
        </p:nvCxnSpPr>
        <p:spPr>
          <a:xfrm flipH="1" flipV="1">
            <a:off x="4997152" y="2424316"/>
            <a:ext cx="366936" cy="497613"/>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940E9291-6EDE-07B0-D354-8E66DF69E7BE}"/>
              </a:ext>
            </a:extLst>
          </p:cNvPr>
          <p:cNvCxnSpPr/>
          <p:nvPr/>
        </p:nvCxnSpPr>
        <p:spPr>
          <a:xfrm flipH="1" flipV="1">
            <a:off x="3707904" y="2294972"/>
            <a:ext cx="216024" cy="633386"/>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1F4C748F-C20D-449D-BDBF-B6EFB240D46F}"/>
              </a:ext>
            </a:extLst>
          </p:cNvPr>
          <p:cNvCxnSpPr/>
          <p:nvPr/>
        </p:nvCxnSpPr>
        <p:spPr>
          <a:xfrm flipV="1">
            <a:off x="4997152" y="2113988"/>
            <a:ext cx="546956" cy="814370"/>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B88ECEDE-8D58-D104-2811-1B4FB8511559}"/>
              </a:ext>
            </a:extLst>
          </p:cNvPr>
          <p:cNvSpPr/>
          <p:nvPr/>
        </p:nvSpPr>
        <p:spPr>
          <a:xfrm>
            <a:off x="323528" y="2928358"/>
            <a:ext cx="8568952" cy="395882"/>
          </a:xfrm>
          <a:prstGeom prst="rect">
            <a:avLst/>
          </a:prstGeom>
          <a:solidFill>
            <a:srgbClr val="808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直線矢印コネクタ 13">
            <a:extLst>
              <a:ext uri="{FF2B5EF4-FFF2-40B4-BE49-F238E27FC236}">
                <a16:creationId xmlns:a16="http://schemas.microsoft.com/office/drawing/2014/main" id="{2118951F-4818-035E-9A20-C384025BC158}"/>
              </a:ext>
            </a:extLst>
          </p:cNvPr>
          <p:cNvCxnSpPr/>
          <p:nvPr/>
        </p:nvCxnSpPr>
        <p:spPr>
          <a:xfrm flipV="1">
            <a:off x="1403648" y="2309658"/>
            <a:ext cx="504056" cy="618714"/>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16D259AB-E73E-1B1B-DF03-D67A7FF75B4D}"/>
              </a:ext>
            </a:extLst>
          </p:cNvPr>
          <p:cNvCxnSpPr/>
          <p:nvPr/>
        </p:nvCxnSpPr>
        <p:spPr>
          <a:xfrm flipH="1" flipV="1">
            <a:off x="323528" y="1877610"/>
            <a:ext cx="288032" cy="1050762"/>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54089AD5-17C8-D63A-21E5-E2DAB99F2F74}"/>
              </a:ext>
            </a:extLst>
          </p:cNvPr>
          <p:cNvCxnSpPr/>
          <p:nvPr/>
        </p:nvCxnSpPr>
        <p:spPr>
          <a:xfrm flipH="1" flipV="1">
            <a:off x="7452320" y="2747391"/>
            <a:ext cx="929208" cy="180969"/>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6E10DAAF-B002-F26C-EFF3-40878FCBC34C}"/>
              </a:ext>
            </a:extLst>
          </p:cNvPr>
          <p:cNvCxnSpPr/>
          <p:nvPr/>
        </p:nvCxnSpPr>
        <p:spPr>
          <a:xfrm flipH="1" flipV="1">
            <a:off x="2411760" y="2424316"/>
            <a:ext cx="432048" cy="491201"/>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EBF1FF42-655A-93A9-C4E5-06B9061B19D8}"/>
              </a:ext>
            </a:extLst>
          </p:cNvPr>
          <p:cNvCxnSpPr/>
          <p:nvPr/>
        </p:nvCxnSpPr>
        <p:spPr>
          <a:xfrm flipV="1">
            <a:off x="6228184" y="1920260"/>
            <a:ext cx="72008" cy="1001670"/>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21" name="直線矢印コネクタ 20">
            <a:extLst>
              <a:ext uri="{FF2B5EF4-FFF2-40B4-BE49-F238E27FC236}">
                <a16:creationId xmlns:a16="http://schemas.microsoft.com/office/drawing/2014/main" id="{08EB46CE-BCF5-CC11-5239-350B0A619DB4}"/>
              </a:ext>
            </a:extLst>
          </p:cNvPr>
          <p:cNvCxnSpPr/>
          <p:nvPr/>
        </p:nvCxnSpPr>
        <p:spPr>
          <a:xfrm flipH="1" flipV="1">
            <a:off x="6941368" y="1877610"/>
            <a:ext cx="366936" cy="236379"/>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37" name="テキスト ボックス 36">
            <a:extLst>
              <a:ext uri="{FF2B5EF4-FFF2-40B4-BE49-F238E27FC236}">
                <a16:creationId xmlns:a16="http://schemas.microsoft.com/office/drawing/2014/main" id="{21402A23-8BFC-2FF8-4F48-0AF52FEC9C7C}"/>
              </a:ext>
            </a:extLst>
          </p:cNvPr>
          <p:cNvSpPr txBox="1"/>
          <p:nvPr/>
        </p:nvSpPr>
        <p:spPr>
          <a:xfrm>
            <a:off x="2804630" y="2864978"/>
            <a:ext cx="645572" cy="461665"/>
          </a:xfrm>
          <a:prstGeom prst="rect">
            <a:avLst/>
          </a:prstGeom>
          <a:noFill/>
        </p:spPr>
        <p:txBody>
          <a:bodyPr wrap="square" rtlCol="0">
            <a:spAutoFit/>
          </a:bodyPr>
          <a:lstStyle/>
          <a:p>
            <a:r>
              <a:rPr lang="en-US" altLang="ja-JP" sz="2400" dirty="0">
                <a:solidFill>
                  <a:schemeClr val="bg1"/>
                </a:solidFill>
              </a:rPr>
              <a:t>Soil</a:t>
            </a:r>
            <a:endParaRPr kumimoji="1" lang="ja-JP" altLang="en-US" sz="2400" dirty="0">
              <a:solidFill>
                <a:schemeClr val="bg1"/>
              </a:solidFill>
            </a:endParaRPr>
          </a:p>
        </p:txBody>
      </p:sp>
      <p:sp>
        <p:nvSpPr>
          <p:cNvPr id="8" name="テキスト ボックス 7">
            <a:extLst>
              <a:ext uri="{FF2B5EF4-FFF2-40B4-BE49-F238E27FC236}">
                <a16:creationId xmlns:a16="http://schemas.microsoft.com/office/drawing/2014/main" id="{A53CAFB7-46BD-A53B-7C56-212F6409B007}"/>
              </a:ext>
            </a:extLst>
          </p:cNvPr>
          <p:cNvSpPr txBox="1"/>
          <p:nvPr/>
        </p:nvSpPr>
        <p:spPr>
          <a:xfrm>
            <a:off x="251520" y="1184240"/>
            <a:ext cx="929205" cy="523220"/>
          </a:xfrm>
          <a:prstGeom prst="rect">
            <a:avLst/>
          </a:prstGeom>
          <a:noFill/>
          <a:ln>
            <a:solidFill>
              <a:schemeClr val="tx1"/>
            </a:solidFill>
          </a:ln>
        </p:spPr>
        <p:txBody>
          <a:bodyPr wrap="square" rtlCol="0">
            <a:spAutoFit/>
          </a:bodyPr>
          <a:lstStyle/>
          <a:p>
            <a:r>
              <a:rPr lang="ja-JP" altLang="en-US" sz="2800" dirty="0"/>
              <a:t>線源</a:t>
            </a:r>
            <a:endParaRPr kumimoji="1" lang="ja-JP" altLang="en-US" sz="2800" dirty="0"/>
          </a:p>
        </p:txBody>
      </p:sp>
      <p:sp>
        <p:nvSpPr>
          <p:cNvPr id="25" name="Text Box 1031">
            <a:extLst>
              <a:ext uri="{FF2B5EF4-FFF2-40B4-BE49-F238E27FC236}">
                <a16:creationId xmlns:a16="http://schemas.microsoft.com/office/drawing/2014/main" id="{B2EB9C4B-1071-16D2-2AB1-52B0BDE6A2A3}"/>
              </a:ext>
            </a:extLst>
          </p:cNvPr>
          <p:cNvSpPr txBox="1">
            <a:spLocks noChangeArrowheads="1"/>
          </p:cNvSpPr>
          <p:nvPr/>
        </p:nvSpPr>
        <p:spPr bwMode="auto">
          <a:xfrm>
            <a:off x="304710" y="3468107"/>
            <a:ext cx="3619218" cy="3339023"/>
          </a:xfrm>
          <a:prstGeom prst="rect">
            <a:avLst/>
          </a:prstGeom>
          <a:solidFill>
            <a:schemeClr val="bg1"/>
          </a:solidFill>
          <a:ln w="19050">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400" dirty="0">
                <a:latin typeface="Tahoma" panose="020B0604030504040204" pitchFamily="34" charset="0"/>
              </a:rPr>
              <a:t>set:c1[20000] $ World cylinder radius</a:t>
            </a:r>
          </a:p>
          <a:p>
            <a:pPr eaLnBrk="1" hangingPunct="1">
              <a:spcBef>
                <a:spcPct val="0"/>
              </a:spcBef>
              <a:buFontTx/>
              <a:buNone/>
            </a:pPr>
            <a:r>
              <a:rPr lang="en-US" altLang="ja-JP" sz="1400" dirty="0">
                <a:latin typeface="Tahoma" panose="020B0604030504040204" pitchFamily="34" charset="0"/>
              </a:rPr>
              <a:t>set:c2[1.0]     $ Density of soil g/cm3</a:t>
            </a:r>
          </a:p>
          <a:p>
            <a:pPr eaLnBrk="1" hangingPunct="1">
              <a:spcBef>
                <a:spcPct val="0"/>
              </a:spcBef>
              <a:buFontTx/>
              <a:buNone/>
            </a:pPr>
            <a:r>
              <a:rPr lang="en-US" altLang="ja-JP" sz="1400" dirty="0">
                <a:latin typeface="Tahoma" panose="020B0604030504040204" pitchFamily="34" charset="0"/>
              </a:rPr>
              <a:t>...</a:t>
            </a:r>
          </a:p>
          <a:p>
            <a:pPr eaLnBrk="1" hangingPunct="1">
              <a:spcBef>
                <a:spcPct val="0"/>
              </a:spcBef>
              <a:buFontTx/>
              <a:buNone/>
            </a:pPr>
            <a:endParaRPr lang="en-US" altLang="ja-JP" sz="1400" dirty="0">
              <a:latin typeface="Tahoma" panose="020B0604030504040204" pitchFamily="34" charset="0"/>
            </a:endParaRPr>
          </a:p>
          <a:p>
            <a:pPr eaLnBrk="1" hangingPunct="1">
              <a:spcBef>
                <a:spcPct val="0"/>
              </a:spcBef>
              <a:buFontTx/>
              <a:buNone/>
            </a:pPr>
            <a:r>
              <a:rPr lang="en-US" altLang="ja-JP" sz="1400" dirty="0">
                <a:latin typeface="Tahoma" panose="020B0604030504040204" pitchFamily="34" charset="0"/>
              </a:rPr>
              <a:t>[ Source ]</a:t>
            </a:r>
          </a:p>
          <a:p>
            <a:pPr eaLnBrk="1" hangingPunct="1">
              <a:spcBef>
                <a:spcPct val="0"/>
              </a:spcBef>
              <a:buFontTx/>
              <a:buNone/>
            </a:pPr>
            <a:r>
              <a:rPr lang="en-US" altLang="ja-JP" sz="1400" dirty="0">
                <a:latin typeface="Tahoma" panose="020B0604030504040204" pitchFamily="34" charset="0"/>
              </a:rPr>
              <a:t>  </a:t>
            </a:r>
            <a:r>
              <a:rPr lang="en-US" altLang="ja-JP" sz="1400" dirty="0" err="1">
                <a:latin typeface="Tahoma" panose="020B0604030504040204" pitchFamily="34" charset="0"/>
              </a:rPr>
              <a:t>totfact</a:t>
            </a:r>
            <a:r>
              <a:rPr lang="en-US" altLang="ja-JP" sz="1400" dirty="0">
                <a:latin typeface="Tahoma" panose="020B0604030504040204" pitchFamily="34" charset="0"/>
              </a:rPr>
              <a:t> =     pi*c1*c1    $ per 1 </a:t>
            </a:r>
            <a:r>
              <a:rPr lang="en-US" altLang="ja-JP" sz="1400" dirty="0" err="1">
                <a:latin typeface="Tahoma" panose="020B0604030504040204" pitchFamily="34" charset="0"/>
              </a:rPr>
              <a:t>Bq</a:t>
            </a:r>
            <a:r>
              <a:rPr lang="en-US" altLang="ja-JP" sz="1400" dirty="0">
                <a:latin typeface="Tahoma" panose="020B0604030504040204" pitchFamily="34" charset="0"/>
              </a:rPr>
              <a:t>/cm2</a:t>
            </a:r>
          </a:p>
          <a:p>
            <a:pPr eaLnBrk="1" hangingPunct="1">
              <a:spcBef>
                <a:spcPct val="0"/>
              </a:spcBef>
              <a:buFontTx/>
              <a:buNone/>
            </a:pPr>
            <a:r>
              <a:rPr lang="en-US" altLang="ja-JP" sz="1400" dirty="0">
                <a:latin typeface="Tahoma" panose="020B0604030504040204" pitchFamily="34" charset="0"/>
              </a:rPr>
              <a:t>   s-type =     1</a:t>
            </a:r>
          </a:p>
          <a:p>
            <a:pPr eaLnBrk="1" hangingPunct="1">
              <a:spcBef>
                <a:spcPct val="0"/>
              </a:spcBef>
              <a:buFontTx/>
              <a:buNone/>
            </a:pPr>
            <a:r>
              <a:rPr lang="en-US" altLang="ja-JP" sz="1400" dirty="0">
                <a:latin typeface="Tahoma" panose="020B0604030504040204" pitchFamily="34" charset="0"/>
              </a:rPr>
              <a:t>     </a:t>
            </a:r>
            <a:r>
              <a:rPr lang="en-US" altLang="ja-JP" sz="1400" dirty="0" err="1">
                <a:latin typeface="Tahoma" panose="020B0604030504040204" pitchFamily="34" charset="0"/>
              </a:rPr>
              <a:t>proj</a:t>
            </a:r>
            <a:r>
              <a:rPr lang="en-US" altLang="ja-JP" sz="1400" dirty="0">
                <a:latin typeface="Tahoma" panose="020B0604030504040204" pitchFamily="34" charset="0"/>
              </a:rPr>
              <a:t> =   photon</a:t>
            </a:r>
          </a:p>
          <a:p>
            <a:pPr eaLnBrk="1" hangingPunct="1">
              <a:spcBef>
                <a:spcPct val="0"/>
              </a:spcBef>
              <a:buFontTx/>
              <a:buNone/>
            </a:pPr>
            <a:r>
              <a:rPr lang="en-US" altLang="ja-JP" sz="1400" dirty="0">
                <a:latin typeface="Tahoma" panose="020B0604030504040204" pitchFamily="34" charset="0"/>
              </a:rPr>
              <a:t>       r0 =     c1</a:t>
            </a:r>
          </a:p>
          <a:p>
            <a:pPr eaLnBrk="1" hangingPunct="1">
              <a:spcBef>
                <a:spcPct val="0"/>
              </a:spcBef>
              <a:buFontTx/>
              <a:buNone/>
            </a:pPr>
            <a:r>
              <a:rPr lang="en-US" altLang="ja-JP" sz="1400" dirty="0">
                <a:latin typeface="Tahoma" panose="020B0604030504040204" pitchFamily="34" charset="0"/>
              </a:rPr>
              <a:t>       z0 =    -0.5/c2       $ 0.5g/cm2 depth </a:t>
            </a:r>
          </a:p>
          <a:p>
            <a:pPr eaLnBrk="1" hangingPunct="1">
              <a:spcBef>
                <a:spcPct val="0"/>
              </a:spcBef>
              <a:buFontTx/>
              <a:buNone/>
            </a:pPr>
            <a:r>
              <a:rPr lang="en-US" altLang="ja-JP" sz="1400" dirty="0">
                <a:latin typeface="Tahoma" panose="020B0604030504040204" pitchFamily="34" charset="0"/>
              </a:rPr>
              <a:t>       z1 =    -0.5/c2       $ 0.5g/cm2 </a:t>
            </a:r>
          </a:p>
          <a:p>
            <a:pPr eaLnBrk="1" hangingPunct="1">
              <a:spcBef>
                <a:spcPct val="0"/>
              </a:spcBef>
              <a:buFontTx/>
              <a:buNone/>
            </a:pPr>
            <a:r>
              <a:rPr lang="en-US" altLang="ja-JP" sz="1400" dirty="0">
                <a:latin typeface="Tahoma" panose="020B0604030504040204" pitchFamily="34" charset="0"/>
              </a:rPr>
              <a:t>      </a:t>
            </a:r>
            <a:r>
              <a:rPr lang="en-US" altLang="ja-JP" sz="1400" dirty="0" err="1">
                <a:latin typeface="Tahoma" panose="020B0604030504040204" pitchFamily="34" charset="0"/>
              </a:rPr>
              <a:t>dir</a:t>
            </a:r>
            <a:r>
              <a:rPr lang="en-US" altLang="ja-JP" sz="1400" dirty="0">
                <a:latin typeface="Tahoma" panose="020B0604030504040204" pitchFamily="34" charset="0"/>
              </a:rPr>
              <a:t> =   all         </a:t>
            </a:r>
            <a:r>
              <a:rPr lang="ja-JP" altLang="en-US" sz="1400" dirty="0">
                <a:latin typeface="Tahoma" panose="020B0604030504040204" pitchFamily="34" charset="0"/>
              </a:rPr>
              <a:t>　</a:t>
            </a:r>
            <a:r>
              <a:rPr lang="en-US" altLang="ja-JP" sz="1400" dirty="0">
                <a:latin typeface="Tahoma" panose="020B0604030504040204" pitchFamily="34" charset="0"/>
              </a:rPr>
              <a:t>   $ isotropic</a:t>
            </a:r>
          </a:p>
          <a:p>
            <a:pPr eaLnBrk="1" hangingPunct="1">
              <a:spcBef>
                <a:spcPct val="0"/>
              </a:spcBef>
              <a:buFontTx/>
              <a:buNone/>
            </a:pPr>
            <a:r>
              <a:rPr lang="en-US" altLang="ja-JP" sz="1400" dirty="0">
                <a:latin typeface="Tahoma" panose="020B0604030504040204" pitchFamily="34" charset="0"/>
              </a:rPr>
              <a:t>   e-type =   28             $ RI </a:t>
            </a:r>
            <a:r>
              <a:rPr lang="en-US" altLang="ja-JP" sz="1400" dirty="0" err="1">
                <a:latin typeface="Tahoma" panose="020B0604030504040204" pitchFamily="34" charset="0"/>
              </a:rPr>
              <a:t>soource</a:t>
            </a:r>
            <a:endParaRPr lang="en-US" altLang="ja-JP" sz="1400" dirty="0">
              <a:latin typeface="Tahoma" panose="020B0604030504040204" pitchFamily="34" charset="0"/>
            </a:endParaRPr>
          </a:p>
          <a:p>
            <a:pPr eaLnBrk="1" hangingPunct="1">
              <a:spcBef>
                <a:spcPct val="0"/>
              </a:spcBef>
              <a:buFontTx/>
              <a:buNone/>
            </a:pPr>
            <a:r>
              <a:rPr lang="en-US" altLang="ja-JP" sz="1400" dirty="0">
                <a:latin typeface="Tahoma" panose="020B0604030504040204" pitchFamily="34" charset="0"/>
              </a:rPr>
              <a:t>       </a:t>
            </a:r>
            <a:r>
              <a:rPr lang="en-US" altLang="ja-JP" sz="1400" dirty="0" err="1">
                <a:latin typeface="Tahoma" panose="020B0604030504040204" pitchFamily="34" charset="0"/>
              </a:rPr>
              <a:t>ni</a:t>
            </a:r>
            <a:r>
              <a:rPr lang="en-US" altLang="ja-JP" sz="1400" dirty="0">
                <a:latin typeface="Tahoma" panose="020B0604030504040204" pitchFamily="34" charset="0"/>
              </a:rPr>
              <a:t> =   1</a:t>
            </a:r>
          </a:p>
          <a:p>
            <a:pPr eaLnBrk="1" hangingPunct="1">
              <a:spcBef>
                <a:spcPct val="0"/>
              </a:spcBef>
              <a:buFontTx/>
              <a:buNone/>
            </a:pPr>
            <a:r>
              <a:rPr lang="en-US" altLang="ja-JP" sz="1400" dirty="0">
                <a:latin typeface="Tahoma" panose="020B0604030504040204" pitchFamily="34" charset="0"/>
              </a:rPr>
              <a:t>     137Cs    1.0            $ activity is 1 </a:t>
            </a:r>
            <a:r>
              <a:rPr lang="en-US" altLang="ja-JP" sz="1400" dirty="0" err="1">
                <a:latin typeface="Tahoma" panose="020B0604030504040204" pitchFamily="34" charset="0"/>
              </a:rPr>
              <a:t>Bq</a:t>
            </a:r>
            <a:endParaRPr lang="en-US" altLang="ja-JP" sz="1400" dirty="0">
              <a:latin typeface="Tahoma" panose="020B0604030504040204" pitchFamily="34" charset="0"/>
            </a:endParaRPr>
          </a:p>
        </p:txBody>
      </p:sp>
      <p:sp>
        <p:nvSpPr>
          <p:cNvPr id="50" name="テキスト ボックス 49">
            <a:extLst>
              <a:ext uri="{FF2B5EF4-FFF2-40B4-BE49-F238E27FC236}">
                <a16:creationId xmlns:a16="http://schemas.microsoft.com/office/drawing/2014/main" id="{6CC90B98-2CE8-2B78-390C-D0774BFB061B}"/>
              </a:ext>
            </a:extLst>
          </p:cNvPr>
          <p:cNvSpPr txBox="1"/>
          <p:nvPr/>
        </p:nvSpPr>
        <p:spPr>
          <a:xfrm>
            <a:off x="3203849" y="836712"/>
            <a:ext cx="2808311" cy="523220"/>
          </a:xfrm>
          <a:prstGeom prst="rect">
            <a:avLst/>
          </a:prstGeom>
          <a:noFill/>
          <a:ln>
            <a:noFill/>
          </a:ln>
        </p:spPr>
        <p:txBody>
          <a:bodyPr wrap="square" rtlCol="0">
            <a:spAutoFit/>
          </a:bodyPr>
          <a:lstStyle/>
          <a:p>
            <a:r>
              <a:rPr kumimoji="1" lang="en-US" altLang="ja-JP" sz="2800" u="sng" dirty="0" err="1"/>
              <a:t>groundsource.inp</a:t>
            </a:r>
            <a:endParaRPr kumimoji="1" lang="ja-JP" altLang="en-US" sz="2800" u="sng" dirty="0"/>
          </a:p>
        </p:txBody>
      </p:sp>
      <p:sp>
        <p:nvSpPr>
          <p:cNvPr id="3" name="テキスト ボックス 2">
            <a:extLst>
              <a:ext uri="{FF2B5EF4-FFF2-40B4-BE49-F238E27FC236}">
                <a16:creationId xmlns:a16="http://schemas.microsoft.com/office/drawing/2014/main" id="{6F839B07-9D12-9F4D-5E83-241B9583AF73}"/>
              </a:ext>
            </a:extLst>
          </p:cNvPr>
          <p:cNvSpPr txBox="1"/>
          <p:nvPr/>
        </p:nvSpPr>
        <p:spPr>
          <a:xfrm>
            <a:off x="4788024" y="3399564"/>
            <a:ext cx="3816942" cy="830997"/>
          </a:xfrm>
          <a:prstGeom prst="rect">
            <a:avLst/>
          </a:prstGeom>
          <a:noFill/>
        </p:spPr>
        <p:txBody>
          <a:bodyPr wrap="square" rtlCol="0">
            <a:spAutoFit/>
          </a:bodyPr>
          <a:lstStyle/>
          <a:p>
            <a:pPr algn="ctr"/>
            <a:r>
              <a:rPr lang="ja-JP" altLang="en-US" sz="2400" dirty="0">
                <a:solidFill>
                  <a:srgbClr val="FF0000"/>
                </a:solidFill>
              </a:rPr>
              <a:t>積算重量深度（密度</a:t>
            </a:r>
            <a:r>
              <a:rPr lang="en-US" altLang="ja-JP" sz="2400" dirty="0">
                <a:solidFill>
                  <a:srgbClr val="FF0000"/>
                </a:solidFill>
              </a:rPr>
              <a:t>x</a:t>
            </a:r>
            <a:r>
              <a:rPr lang="ja-JP" altLang="en-US" sz="2400" dirty="0">
                <a:solidFill>
                  <a:srgbClr val="FF0000"/>
                </a:solidFill>
              </a:rPr>
              <a:t>深さ）</a:t>
            </a:r>
            <a:r>
              <a:rPr lang="en-US" altLang="ja-JP" sz="2400" dirty="0">
                <a:solidFill>
                  <a:srgbClr val="FF0000"/>
                </a:solidFill>
              </a:rPr>
              <a:t>0.5g/cm</a:t>
            </a:r>
            <a:r>
              <a:rPr lang="en-US" altLang="ja-JP" sz="2400" baseline="30000" dirty="0">
                <a:solidFill>
                  <a:srgbClr val="FF0000"/>
                </a:solidFill>
              </a:rPr>
              <a:t>2</a:t>
            </a:r>
            <a:r>
              <a:rPr lang="ja-JP" altLang="en-US" sz="2400" dirty="0">
                <a:solidFill>
                  <a:srgbClr val="FF0000"/>
                </a:solidFill>
              </a:rPr>
              <a:t>の一様平面線源</a:t>
            </a:r>
            <a:endParaRPr kumimoji="1" lang="ja-JP" altLang="en-US" sz="2400" dirty="0">
              <a:solidFill>
                <a:srgbClr val="FF0000"/>
              </a:solidFill>
            </a:endParaRPr>
          </a:p>
        </p:txBody>
      </p:sp>
      <p:sp>
        <p:nvSpPr>
          <p:cNvPr id="5" name="テキスト ボックス 4">
            <a:extLst>
              <a:ext uri="{FF2B5EF4-FFF2-40B4-BE49-F238E27FC236}">
                <a16:creationId xmlns:a16="http://schemas.microsoft.com/office/drawing/2014/main" id="{6E55B708-6E37-FC42-61A9-6882E87D2385}"/>
              </a:ext>
            </a:extLst>
          </p:cNvPr>
          <p:cNvSpPr txBox="1"/>
          <p:nvPr/>
        </p:nvSpPr>
        <p:spPr>
          <a:xfrm>
            <a:off x="4997152" y="5368266"/>
            <a:ext cx="2644359" cy="461665"/>
          </a:xfrm>
          <a:prstGeom prst="rect">
            <a:avLst/>
          </a:prstGeom>
          <a:noFill/>
        </p:spPr>
        <p:txBody>
          <a:bodyPr wrap="square" rtlCol="0">
            <a:spAutoFit/>
          </a:bodyPr>
          <a:lstStyle/>
          <a:p>
            <a:r>
              <a:rPr kumimoji="1" lang="en-US" altLang="ja-JP" sz="2400" dirty="0">
                <a:solidFill>
                  <a:srgbClr val="FF0000"/>
                </a:solidFill>
              </a:rPr>
              <a:t>1Bq/cm</a:t>
            </a:r>
            <a:r>
              <a:rPr kumimoji="1" lang="en-US" altLang="ja-JP" sz="2400" baseline="30000" dirty="0">
                <a:solidFill>
                  <a:srgbClr val="FF0000"/>
                </a:solidFill>
              </a:rPr>
              <a:t>2</a:t>
            </a:r>
            <a:r>
              <a:rPr lang="ja-JP" altLang="en-US" sz="2400" dirty="0">
                <a:solidFill>
                  <a:srgbClr val="FF0000"/>
                </a:solidFill>
              </a:rPr>
              <a:t>の</a:t>
            </a:r>
            <a:r>
              <a:rPr lang="en-US" altLang="ja-JP" sz="2400" dirty="0">
                <a:solidFill>
                  <a:srgbClr val="FF0000"/>
                </a:solidFill>
              </a:rPr>
              <a:t>Cs-137</a:t>
            </a:r>
            <a:endParaRPr kumimoji="1" lang="ja-JP" altLang="en-US" sz="2400" dirty="0">
              <a:solidFill>
                <a:srgbClr val="FF0000"/>
              </a:solidFill>
            </a:endParaRPr>
          </a:p>
        </p:txBody>
      </p:sp>
      <p:sp>
        <p:nvSpPr>
          <p:cNvPr id="6" name="テキスト ボックス 5">
            <a:extLst>
              <a:ext uri="{FF2B5EF4-FFF2-40B4-BE49-F238E27FC236}">
                <a16:creationId xmlns:a16="http://schemas.microsoft.com/office/drawing/2014/main" id="{164D8D9E-C548-A26B-6060-C26C4A4D1F52}"/>
              </a:ext>
            </a:extLst>
          </p:cNvPr>
          <p:cNvSpPr txBox="1"/>
          <p:nvPr/>
        </p:nvSpPr>
        <p:spPr>
          <a:xfrm>
            <a:off x="5180620" y="4230561"/>
            <a:ext cx="3791799" cy="1015663"/>
          </a:xfrm>
          <a:prstGeom prst="rect">
            <a:avLst/>
          </a:prstGeom>
          <a:noFill/>
          <a:ln>
            <a:solidFill>
              <a:schemeClr val="tx1"/>
            </a:solidFill>
          </a:ln>
        </p:spPr>
        <p:txBody>
          <a:bodyPr wrap="square" rtlCol="0">
            <a:spAutoFit/>
          </a:bodyPr>
          <a:lstStyle/>
          <a:p>
            <a:pPr algn="ctr"/>
            <a:r>
              <a:rPr kumimoji="1" lang="ja-JP" altLang="en-US" sz="2000" dirty="0"/>
              <a:t>事象直後の地表面汚染でも初期移行と地面の凸凹の影響を考え、地中に線源を配置する</a:t>
            </a:r>
          </a:p>
        </p:txBody>
      </p:sp>
      <p:sp>
        <p:nvSpPr>
          <p:cNvPr id="22" name="テキスト ボックス 21">
            <a:extLst>
              <a:ext uri="{FF2B5EF4-FFF2-40B4-BE49-F238E27FC236}">
                <a16:creationId xmlns:a16="http://schemas.microsoft.com/office/drawing/2014/main" id="{B1C3010A-4D35-F527-6FB1-F679EEBE255C}"/>
              </a:ext>
            </a:extLst>
          </p:cNvPr>
          <p:cNvSpPr txBox="1"/>
          <p:nvPr/>
        </p:nvSpPr>
        <p:spPr>
          <a:xfrm>
            <a:off x="5180620" y="5944338"/>
            <a:ext cx="3327194" cy="646331"/>
          </a:xfrm>
          <a:prstGeom prst="rect">
            <a:avLst/>
          </a:prstGeom>
          <a:noFill/>
          <a:ln>
            <a:solidFill>
              <a:schemeClr val="tx1"/>
            </a:solidFill>
          </a:ln>
        </p:spPr>
        <p:txBody>
          <a:bodyPr wrap="square" rtlCol="0">
            <a:spAutoFit/>
          </a:bodyPr>
          <a:lstStyle/>
          <a:p>
            <a:r>
              <a:rPr kumimoji="1" lang="en-US" altLang="ja-JP" dirty="0"/>
              <a:t>RI</a:t>
            </a:r>
            <a:r>
              <a:rPr kumimoji="1" lang="ja-JP" altLang="en-US" dirty="0"/>
              <a:t>線源の設定</a:t>
            </a:r>
            <a:endParaRPr kumimoji="1" lang="en-US" altLang="ja-JP" dirty="0"/>
          </a:p>
          <a:p>
            <a:r>
              <a:rPr kumimoji="1" lang="en-US" altLang="ja-JP" dirty="0" err="1"/>
              <a:t>phits</a:t>
            </a:r>
            <a:r>
              <a:rPr kumimoji="1" lang="en-US" altLang="ja-JP" dirty="0"/>
              <a:t>/lecture/advanced/</a:t>
            </a:r>
            <a:r>
              <a:rPr lang="en-US" altLang="ja-JP" dirty="0" err="1"/>
              <a:t>sourceA</a:t>
            </a:r>
            <a:endParaRPr kumimoji="1" lang="ja-JP" altLang="en-US" dirty="0"/>
          </a:p>
        </p:txBody>
      </p:sp>
      <p:sp>
        <p:nvSpPr>
          <p:cNvPr id="24" name="四角形: 角を丸くする 23">
            <a:extLst>
              <a:ext uri="{FF2B5EF4-FFF2-40B4-BE49-F238E27FC236}">
                <a16:creationId xmlns:a16="http://schemas.microsoft.com/office/drawing/2014/main" id="{7FDAF388-740F-B26B-C791-5DBB4CCF01AF}"/>
              </a:ext>
            </a:extLst>
          </p:cNvPr>
          <p:cNvSpPr/>
          <p:nvPr/>
        </p:nvSpPr>
        <p:spPr>
          <a:xfrm>
            <a:off x="467544" y="6093296"/>
            <a:ext cx="3312368" cy="648072"/>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3" name="直線矢印コネクタ 32">
            <a:extLst>
              <a:ext uri="{FF2B5EF4-FFF2-40B4-BE49-F238E27FC236}">
                <a16:creationId xmlns:a16="http://schemas.microsoft.com/office/drawing/2014/main" id="{78E6A4D0-D41A-CC4C-AF7A-BCB779C2D8AE}"/>
              </a:ext>
            </a:extLst>
          </p:cNvPr>
          <p:cNvCxnSpPr>
            <a:cxnSpLocks/>
            <a:stCxn id="5" idx="1"/>
          </p:cNvCxnSpPr>
          <p:nvPr/>
        </p:nvCxnSpPr>
        <p:spPr>
          <a:xfrm flipH="1">
            <a:off x="3779912" y="5599099"/>
            <a:ext cx="1217240" cy="71022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9" name="四角形: 角を丸くする 38">
            <a:extLst>
              <a:ext uri="{FF2B5EF4-FFF2-40B4-BE49-F238E27FC236}">
                <a16:creationId xmlns:a16="http://schemas.microsoft.com/office/drawing/2014/main" id="{13F4B8C2-72B8-ADDC-4C18-258465A52608}"/>
              </a:ext>
            </a:extLst>
          </p:cNvPr>
          <p:cNvSpPr/>
          <p:nvPr/>
        </p:nvSpPr>
        <p:spPr>
          <a:xfrm>
            <a:off x="467544" y="5455232"/>
            <a:ext cx="3312368" cy="40951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四角形: 角を丸くする 40">
            <a:extLst>
              <a:ext uri="{FF2B5EF4-FFF2-40B4-BE49-F238E27FC236}">
                <a16:creationId xmlns:a16="http://schemas.microsoft.com/office/drawing/2014/main" id="{8B58FA82-A2FA-A224-8458-BDEB27A65453}"/>
              </a:ext>
            </a:extLst>
          </p:cNvPr>
          <p:cNvSpPr/>
          <p:nvPr/>
        </p:nvSpPr>
        <p:spPr>
          <a:xfrm>
            <a:off x="1295636" y="4545137"/>
            <a:ext cx="972108" cy="24601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2" name="直線矢印コネクタ 41">
            <a:extLst>
              <a:ext uri="{FF2B5EF4-FFF2-40B4-BE49-F238E27FC236}">
                <a16:creationId xmlns:a16="http://schemas.microsoft.com/office/drawing/2014/main" id="{6C6EF7FD-EB74-A1B9-EE54-4CD978C43D37}"/>
              </a:ext>
            </a:extLst>
          </p:cNvPr>
          <p:cNvCxnSpPr>
            <a:cxnSpLocks/>
            <a:stCxn id="5" idx="1"/>
          </p:cNvCxnSpPr>
          <p:nvPr/>
        </p:nvCxnSpPr>
        <p:spPr>
          <a:xfrm flipH="1" flipV="1">
            <a:off x="2304718" y="4816780"/>
            <a:ext cx="2692434" cy="78231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矢印コネクタ 43">
            <a:extLst>
              <a:ext uri="{FF2B5EF4-FFF2-40B4-BE49-F238E27FC236}">
                <a16:creationId xmlns:a16="http://schemas.microsoft.com/office/drawing/2014/main" id="{9D3EB9D7-69FE-920A-B96B-257ECFEF689C}"/>
              </a:ext>
            </a:extLst>
          </p:cNvPr>
          <p:cNvCxnSpPr>
            <a:cxnSpLocks/>
            <a:stCxn id="3" idx="1"/>
          </p:cNvCxnSpPr>
          <p:nvPr/>
        </p:nvCxnSpPr>
        <p:spPr>
          <a:xfrm flipH="1">
            <a:off x="3707904" y="3815063"/>
            <a:ext cx="1080120" cy="160164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 name="テキスト ボックス 48">
            <a:extLst>
              <a:ext uri="{FF2B5EF4-FFF2-40B4-BE49-F238E27FC236}">
                <a16:creationId xmlns:a16="http://schemas.microsoft.com/office/drawing/2014/main" id="{E4906A07-098F-D119-FB93-FCE09C9E7072}"/>
              </a:ext>
            </a:extLst>
          </p:cNvPr>
          <p:cNvSpPr txBox="1"/>
          <p:nvPr/>
        </p:nvSpPr>
        <p:spPr>
          <a:xfrm>
            <a:off x="1403648" y="4190322"/>
            <a:ext cx="648072" cy="369332"/>
          </a:xfrm>
          <a:prstGeom prst="rect">
            <a:avLst/>
          </a:prstGeom>
          <a:noFill/>
        </p:spPr>
        <p:txBody>
          <a:bodyPr wrap="square" rtlCol="0">
            <a:spAutoFit/>
          </a:bodyPr>
          <a:lstStyle/>
          <a:p>
            <a:r>
              <a:rPr kumimoji="1" lang="ja-JP" altLang="en-US" dirty="0">
                <a:solidFill>
                  <a:srgbClr val="FF0000"/>
                </a:solidFill>
              </a:rPr>
              <a:t>面積</a:t>
            </a:r>
          </a:p>
        </p:txBody>
      </p:sp>
      <p:sp>
        <p:nvSpPr>
          <p:cNvPr id="4" name="スライド番号プレースホルダー 3">
            <a:extLst>
              <a:ext uri="{FF2B5EF4-FFF2-40B4-BE49-F238E27FC236}">
                <a16:creationId xmlns:a16="http://schemas.microsoft.com/office/drawing/2014/main" id="{4807AF2C-8733-A6E2-334C-BC7B9599C388}"/>
              </a:ext>
            </a:extLst>
          </p:cNvPr>
          <p:cNvSpPr>
            <a:spLocks noGrp="1"/>
          </p:cNvSpPr>
          <p:nvPr>
            <p:ph type="sldNum" sz="quarter" idx="12"/>
          </p:nvPr>
        </p:nvSpPr>
        <p:spPr/>
        <p:txBody>
          <a:bodyPr/>
          <a:lstStyle/>
          <a:p>
            <a:fld id="{D2D8002D-B5B0-4BAC-B1F6-782DDCCE6D9C}" type="slidenum">
              <a:rPr kumimoji="1" lang="ja-JP" altLang="en-US" smtClean="0"/>
              <a:t>4</a:t>
            </a:fld>
            <a:endParaRPr kumimoji="1" lang="ja-JP" altLang="en-US"/>
          </a:p>
        </p:txBody>
      </p:sp>
    </p:spTree>
    <p:extLst>
      <p:ext uri="{BB962C8B-B14F-4D97-AF65-F5344CB8AC3E}">
        <p14:creationId xmlns:p14="http://schemas.microsoft.com/office/powerpoint/2010/main" val="140644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9EACC-2658-DD42-41F5-C26FFD64505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52771FD-6763-3FEE-3FCD-3383AB44AD2F}"/>
              </a:ext>
            </a:extLst>
          </p:cNvPr>
          <p:cNvSpPr>
            <a:spLocks noGrp="1"/>
          </p:cNvSpPr>
          <p:nvPr>
            <p:ph type="title"/>
          </p:nvPr>
        </p:nvSpPr>
        <p:spPr>
          <a:xfrm>
            <a:off x="457200" y="53752"/>
            <a:ext cx="8229600" cy="1143000"/>
          </a:xfrm>
        </p:spPr>
        <p:txBody>
          <a:bodyPr>
            <a:normAutofit/>
          </a:bodyPr>
          <a:lstStyle/>
          <a:p>
            <a:r>
              <a:rPr lang="ja-JP" altLang="en-US" dirty="0">
                <a:latin typeface="Arial" pitchFamily="18"/>
              </a:rPr>
              <a:t>半無限平面の計算つづき</a:t>
            </a:r>
            <a:endParaRPr kumimoji="1" lang="ja-JP" altLang="en-US" dirty="0"/>
          </a:p>
        </p:txBody>
      </p:sp>
      <p:cxnSp>
        <p:nvCxnSpPr>
          <p:cNvPr id="9" name="直線矢印コネクタ 8">
            <a:extLst>
              <a:ext uri="{FF2B5EF4-FFF2-40B4-BE49-F238E27FC236}">
                <a16:creationId xmlns:a16="http://schemas.microsoft.com/office/drawing/2014/main" id="{B8F87FB0-9A81-62BD-0A67-B7B441643649}"/>
              </a:ext>
            </a:extLst>
          </p:cNvPr>
          <p:cNvCxnSpPr/>
          <p:nvPr/>
        </p:nvCxnSpPr>
        <p:spPr>
          <a:xfrm flipV="1">
            <a:off x="6941368" y="2113988"/>
            <a:ext cx="366936" cy="814372"/>
          </a:xfrm>
          <a:prstGeom prst="straightConnector1">
            <a:avLst/>
          </a:prstGeom>
          <a:ln w="38100">
            <a:solidFill>
              <a:srgbClr val="FFC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直線矢印コネクタ 9">
            <a:extLst>
              <a:ext uri="{FF2B5EF4-FFF2-40B4-BE49-F238E27FC236}">
                <a16:creationId xmlns:a16="http://schemas.microsoft.com/office/drawing/2014/main" id="{1D9F41E0-F264-92A9-71DD-A01F5CC8D6E8}"/>
              </a:ext>
            </a:extLst>
          </p:cNvPr>
          <p:cNvCxnSpPr/>
          <p:nvPr/>
        </p:nvCxnSpPr>
        <p:spPr>
          <a:xfrm flipH="1" flipV="1">
            <a:off x="4997152" y="2424316"/>
            <a:ext cx="366936" cy="497613"/>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3E2A55D5-3F6B-638D-4B89-1B924FE359D6}"/>
              </a:ext>
            </a:extLst>
          </p:cNvPr>
          <p:cNvCxnSpPr/>
          <p:nvPr/>
        </p:nvCxnSpPr>
        <p:spPr>
          <a:xfrm flipH="1" flipV="1">
            <a:off x="3707904" y="2294972"/>
            <a:ext cx="216024" cy="633386"/>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A1C060C5-BFDD-2543-8FD3-2A356165E801}"/>
              </a:ext>
            </a:extLst>
          </p:cNvPr>
          <p:cNvCxnSpPr/>
          <p:nvPr/>
        </p:nvCxnSpPr>
        <p:spPr>
          <a:xfrm flipV="1">
            <a:off x="4997152" y="2113988"/>
            <a:ext cx="546956" cy="814370"/>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02A06239-5168-32FC-C7BD-23E5DF1AC9D0}"/>
              </a:ext>
            </a:extLst>
          </p:cNvPr>
          <p:cNvSpPr/>
          <p:nvPr/>
        </p:nvSpPr>
        <p:spPr>
          <a:xfrm>
            <a:off x="323528" y="2928358"/>
            <a:ext cx="8568952" cy="395882"/>
          </a:xfrm>
          <a:prstGeom prst="rect">
            <a:avLst/>
          </a:prstGeom>
          <a:solidFill>
            <a:srgbClr val="808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直線矢印コネクタ 13">
            <a:extLst>
              <a:ext uri="{FF2B5EF4-FFF2-40B4-BE49-F238E27FC236}">
                <a16:creationId xmlns:a16="http://schemas.microsoft.com/office/drawing/2014/main" id="{D916763B-0E63-ACF4-0218-F4181F52A598}"/>
              </a:ext>
            </a:extLst>
          </p:cNvPr>
          <p:cNvCxnSpPr/>
          <p:nvPr/>
        </p:nvCxnSpPr>
        <p:spPr>
          <a:xfrm flipV="1">
            <a:off x="1403648" y="2309658"/>
            <a:ext cx="504056" cy="618714"/>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E4A08AE3-A095-1962-AFD4-7CF4FAB7D7C8}"/>
              </a:ext>
            </a:extLst>
          </p:cNvPr>
          <p:cNvCxnSpPr/>
          <p:nvPr/>
        </p:nvCxnSpPr>
        <p:spPr>
          <a:xfrm flipH="1" flipV="1">
            <a:off x="323528" y="1877610"/>
            <a:ext cx="288032" cy="1050762"/>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C819822C-F25D-E5B4-0758-7C11DE4AA83A}"/>
              </a:ext>
            </a:extLst>
          </p:cNvPr>
          <p:cNvCxnSpPr/>
          <p:nvPr/>
        </p:nvCxnSpPr>
        <p:spPr>
          <a:xfrm flipH="1" flipV="1">
            <a:off x="7452320" y="2747391"/>
            <a:ext cx="929208" cy="180969"/>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575F4FAD-CEC6-5BF8-D804-5E24AA083FC2}"/>
              </a:ext>
            </a:extLst>
          </p:cNvPr>
          <p:cNvCxnSpPr/>
          <p:nvPr/>
        </p:nvCxnSpPr>
        <p:spPr>
          <a:xfrm flipH="1" flipV="1">
            <a:off x="2411760" y="2424316"/>
            <a:ext cx="432048" cy="491201"/>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C261EB29-416C-0AC8-2631-5B0B437250F6}"/>
              </a:ext>
            </a:extLst>
          </p:cNvPr>
          <p:cNvCxnSpPr/>
          <p:nvPr/>
        </p:nvCxnSpPr>
        <p:spPr>
          <a:xfrm flipV="1">
            <a:off x="6228184" y="1920260"/>
            <a:ext cx="72008" cy="1001670"/>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21" name="直線矢印コネクタ 20">
            <a:extLst>
              <a:ext uri="{FF2B5EF4-FFF2-40B4-BE49-F238E27FC236}">
                <a16:creationId xmlns:a16="http://schemas.microsoft.com/office/drawing/2014/main" id="{5442470B-489C-FA69-D101-2149D896F90A}"/>
              </a:ext>
            </a:extLst>
          </p:cNvPr>
          <p:cNvCxnSpPr/>
          <p:nvPr/>
        </p:nvCxnSpPr>
        <p:spPr>
          <a:xfrm flipH="1" flipV="1">
            <a:off x="6941368" y="1877610"/>
            <a:ext cx="366936" cy="236379"/>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28" name="楕円 27">
            <a:extLst>
              <a:ext uri="{FF2B5EF4-FFF2-40B4-BE49-F238E27FC236}">
                <a16:creationId xmlns:a16="http://schemas.microsoft.com/office/drawing/2014/main" id="{53F94511-4642-18FE-D4C7-F5E835895ECF}"/>
              </a:ext>
            </a:extLst>
          </p:cNvPr>
          <p:cNvSpPr/>
          <p:nvPr/>
        </p:nvSpPr>
        <p:spPr>
          <a:xfrm>
            <a:off x="4482486" y="2101583"/>
            <a:ext cx="216024" cy="216619"/>
          </a:xfrm>
          <a:prstGeom prst="ellipse">
            <a:avLst/>
          </a:prstGeom>
          <a:no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9" name="直線矢印コネクタ 28">
            <a:extLst>
              <a:ext uri="{FF2B5EF4-FFF2-40B4-BE49-F238E27FC236}">
                <a16:creationId xmlns:a16="http://schemas.microsoft.com/office/drawing/2014/main" id="{8A9E7897-757D-86FF-D8C6-A65680B74520}"/>
              </a:ext>
            </a:extLst>
          </p:cNvPr>
          <p:cNvCxnSpPr>
            <a:cxnSpLocks/>
          </p:cNvCxnSpPr>
          <p:nvPr/>
        </p:nvCxnSpPr>
        <p:spPr>
          <a:xfrm flipH="1" flipV="1">
            <a:off x="4583584" y="2375206"/>
            <a:ext cx="6908" cy="536339"/>
          </a:xfrm>
          <a:prstGeom prst="straightConnector1">
            <a:avLst/>
          </a:prstGeom>
          <a:ln w="28575">
            <a:solidFill>
              <a:schemeClr val="tx1"/>
            </a:solidFill>
            <a:prstDash val="dash"/>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6A8C21D5-2866-19F9-09F6-88EA70522A25}"/>
              </a:ext>
            </a:extLst>
          </p:cNvPr>
          <p:cNvSpPr txBox="1"/>
          <p:nvPr/>
        </p:nvSpPr>
        <p:spPr>
          <a:xfrm>
            <a:off x="3994306" y="2205104"/>
            <a:ext cx="685706" cy="461665"/>
          </a:xfrm>
          <a:prstGeom prst="rect">
            <a:avLst/>
          </a:prstGeom>
          <a:noFill/>
        </p:spPr>
        <p:txBody>
          <a:bodyPr wrap="square" rtlCol="0">
            <a:spAutoFit/>
          </a:bodyPr>
          <a:lstStyle/>
          <a:p>
            <a:r>
              <a:rPr lang="en-US" altLang="ja-JP" sz="2400" dirty="0"/>
              <a:t>1</a:t>
            </a:r>
            <a:r>
              <a:rPr kumimoji="1" lang="en-US" altLang="ja-JP" sz="2400" dirty="0"/>
              <a:t>m</a:t>
            </a:r>
            <a:endParaRPr kumimoji="1" lang="ja-JP" altLang="en-US" sz="2400" dirty="0"/>
          </a:p>
        </p:txBody>
      </p:sp>
      <p:sp>
        <p:nvSpPr>
          <p:cNvPr id="32" name="テキスト ボックス 31">
            <a:extLst>
              <a:ext uri="{FF2B5EF4-FFF2-40B4-BE49-F238E27FC236}">
                <a16:creationId xmlns:a16="http://schemas.microsoft.com/office/drawing/2014/main" id="{584566F2-080A-7CDA-E2ED-B5B703F47CBA}"/>
              </a:ext>
            </a:extLst>
          </p:cNvPr>
          <p:cNvSpPr txBox="1"/>
          <p:nvPr/>
        </p:nvSpPr>
        <p:spPr>
          <a:xfrm>
            <a:off x="4699448" y="1291786"/>
            <a:ext cx="4058705" cy="461665"/>
          </a:xfrm>
          <a:prstGeom prst="rect">
            <a:avLst/>
          </a:prstGeom>
          <a:noFill/>
        </p:spPr>
        <p:txBody>
          <a:bodyPr wrap="square" rtlCol="0">
            <a:spAutoFit/>
          </a:bodyPr>
          <a:lstStyle/>
          <a:p>
            <a:r>
              <a:rPr lang="ja-JP" altLang="en-US" sz="2400" dirty="0">
                <a:solidFill>
                  <a:srgbClr val="FF0000"/>
                </a:solidFill>
              </a:rPr>
              <a:t>評価点</a:t>
            </a:r>
            <a:r>
              <a:rPr lang="en-US" altLang="ja-JP" sz="2400" dirty="0">
                <a:solidFill>
                  <a:srgbClr val="FF0000"/>
                </a:solidFill>
              </a:rPr>
              <a:t>(</a:t>
            </a:r>
            <a:r>
              <a:rPr lang="ja-JP" altLang="en-US" sz="2400" dirty="0">
                <a:solidFill>
                  <a:srgbClr val="FF0000"/>
                </a:solidFill>
              </a:rPr>
              <a:t>半径</a:t>
            </a:r>
            <a:r>
              <a:rPr lang="en-US" altLang="ja-JP" sz="2400" dirty="0">
                <a:solidFill>
                  <a:srgbClr val="FF0000"/>
                </a:solidFill>
              </a:rPr>
              <a:t>10cm</a:t>
            </a:r>
            <a:r>
              <a:rPr lang="ja-JP" altLang="en-US" sz="2400" dirty="0">
                <a:solidFill>
                  <a:srgbClr val="FF0000"/>
                </a:solidFill>
              </a:rPr>
              <a:t>球</a:t>
            </a:r>
            <a:r>
              <a:rPr lang="en-US" altLang="ja-JP" sz="2400" dirty="0">
                <a:solidFill>
                  <a:srgbClr val="FF0000"/>
                </a:solidFill>
              </a:rPr>
              <a:t>): Cell 10</a:t>
            </a:r>
            <a:endParaRPr kumimoji="1" lang="ja-JP" altLang="en-US" sz="2400" dirty="0">
              <a:solidFill>
                <a:srgbClr val="FF0000"/>
              </a:solidFill>
            </a:endParaRPr>
          </a:p>
        </p:txBody>
      </p:sp>
      <p:sp>
        <p:nvSpPr>
          <p:cNvPr id="37" name="テキスト ボックス 36">
            <a:extLst>
              <a:ext uri="{FF2B5EF4-FFF2-40B4-BE49-F238E27FC236}">
                <a16:creationId xmlns:a16="http://schemas.microsoft.com/office/drawing/2014/main" id="{C1E8E633-F013-8329-57FF-C402C1D75B4E}"/>
              </a:ext>
            </a:extLst>
          </p:cNvPr>
          <p:cNvSpPr txBox="1"/>
          <p:nvPr/>
        </p:nvSpPr>
        <p:spPr>
          <a:xfrm>
            <a:off x="2804630" y="2864978"/>
            <a:ext cx="645572" cy="461665"/>
          </a:xfrm>
          <a:prstGeom prst="rect">
            <a:avLst/>
          </a:prstGeom>
          <a:noFill/>
        </p:spPr>
        <p:txBody>
          <a:bodyPr wrap="square" rtlCol="0">
            <a:spAutoFit/>
          </a:bodyPr>
          <a:lstStyle/>
          <a:p>
            <a:r>
              <a:rPr lang="en-US" altLang="ja-JP" sz="2400" dirty="0">
                <a:solidFill>
                  <a:schemeClr val="bg1"/>
                </a:solidFill>
              </a:rPr>
              <a:t>Soil</a:t>
            </a:r>
            <a:endParaRPr kumimoji="1" lang="ja-JP" altLang="en-US" sz="2400" dirty="0">
              <a:solidFill>
                <a:schemeClr val="bg1"/>
              </a:solidFill>
            </a:endParaRPr>
          </a:p>
        </p:txBody>
      </p:sp>
      <p:sp>
        <p:nvSpPr>
          <p:cNvPr id="38" name="テキスト ボックス 37">
            <a:extLst>
              <a:ext uri="{FF2B5EF4-FFF2-40B4-BE49-F238E27FC236}">
                <a16:creationId xmlns:a16="http://schemas.microsoft.com/office/drawing/2014/main" id="{5AC3A892-01AC-1532-074C-A26FCEDE23A6}"/>
              </a:ext>
            </a:extLst>
          </p:cNvPr>
          <p:cNvSpPr txBox="1"/>
          <p:nvPr/>
        </p:nvSpPr>
        <p:spPr>
          <a:xfrm>
            <a:off x="3440957" y="1729495"/>
            <a:ext cx="576064" cy="461665"/>
          </a:xfrm>
          <a:prstGeom prst="rect">
            <a:avLst/>
          </a:prstGeom>
          <a:noFill/>
        </p:spPr>
        <p:txBody>
          <a:bodyPr wrap="square" rtlCol="0">
            <a:spAutoFit/>
          </a:bodyPr>
          <a:lstStyle/>
          <a:p>
            <a:r>
              <a:rPr lang="en-US" altLang="ja-JP" sz="2400" dirty="0"/>
              <a:t>Air</a:t>
            </a:r>
          </a:p>
        </p:txBody>
      </p:sp>
      <p:cxnSp>
        <p:nvCxnSpPr>
          <p:cNvPr id="45" name="直線矢印コネクタ 44">
            <a:extLst>
              <a:ext uri="{FF2B5EF4-FFF2-40B4-BE49-F238E27FC236}">
                <a16:creationId xmlns:a16="http://schemas.microsoft.com/office/drawing/2014/main" id="{BF7AF0E2-B007-6D84-F384-F7F5DD7C3020}"/>
              </a:ext>
            </a:extLst>
          </p:cNvPr>
          <p:cNvCxnSpPr>
            <a:cxnSpLocks/>
          </p:cNvCxnSpPr>
          <p:nvPr/>
        </p:nvCxnSpPr>
        <p:spPr>
          <a:xfrm flipH="1">
            <a:off x="4698510" y="1736856"/>
            <a:ext cx="188312" cy="38771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テキスト ボックス 7">
            <a:extLst>
              <a:ext uri="{FF2B5EF4-FFF2-40B4-BE49-F238E27FC236}">
                <a16:creationId xmlns:a16="http://schemas.microsoft.com/office/drawing/2014/main" id="{C4EADD4D-A481-C110-E488-DE2D9FE9182C}"/>
              </a:ext>
            </a:extLst>
          </p:cNvPr>
          <p:cNvSpPr txBox="1"/>
          <p:nvPr/>
        </p:nvSpPr>
        <p:spPr>
          <a:xfrm>
            <a:off x="251520" y="1184240"/>
            <a:ext cx="1150016" cy="523220"/>
          </a:xfrm>
          <a:prstGeom prst="rect">
            <a:avLst/>
          </a:prstGeom>
          <a:noFill/>
          <a:ln>
            <a:solidFill>
              <a:schemeClr val="tx1"/>
            </a:solidFill>
          </a:ln>
        </p:spPr>
        <p:txBody>
          <a:bodyPr wrap="square" rtlCol="0">
            <a:spAutoFit/>
          </a:bodyPr>
          <a:lstStyle/>
          <a:p>
            <a:r>
              <a:rPr lang="ja-JP" altLang="en-US" sz="2800" dirty="0"/>
              <a:t>タリー</a:t>
            </a:r>
            <a:endParaRPr kumimoji="1" lang="ja-JP" altLang="en-US" sz="2800" dirty="0"/>
          </a:p>
        </p:txBody>
      </p:sp>
      <p:sp>
        <p:nvSpPr>
          <p:cNvPr id="50" name="テキスト ボックス 49">
            <a:extLst>
              <a:ext uri="{FF2B5EF4-FFF2-40B4-BE49-F238E27FC236}">
                <a16:creationId xmlns:a16="http://schemas.microsoft.com/office/drawing/2014/main" id="{FEEBD5BB-33A6-1B0F-9D7F-0936F1146C8D}"/>
              </a:ext>
            </a:extLst>
          </p:cNvPr>
          <p:cNvSpPr txBox="1"/>
          <p:nvPr/>
        </p:nvSpPr>
        <p:spPr>
          <a:xfrm>
            <a:off x="3192453" y="831177"/>
            <a:ext cx="2808311" cy="523220"/>
          </a:xfrm>
          <a:prstGeom prst="rect">
            <a:avLst/>
          </a:prstGeom>
          <a:noFill/>
          <a:ln>
            <a:noFill/>
          </a:ln>
        </p:spPr>
        <p:txBody>
          <a:bodyPr wrap="square" rtlCol="0">
            <a:spAutoFit/>
          </a:bodyPr>
          <a:lstStyle/>
          <a:p>
            <a:r>
              <a:rPr kumimoji="1" lang="en-US" altLang="ja-JP" sz="2800" u="sng" dirty="0" err="1"/>
              <a:t>groundsource.inp</a:t>
            </a:r>
            <a:endParaRPr kumimoji="1" lang="ja-JP" altLang="en-US" sz="2800" u="sng" dirty="0"/>
          </a:p>
        </p:txBody>
      </p:sp>
      <p:sp>
        <p:nvSpPr>
          <p:cNvPr id="3" name="テキスト ボックス 2">
            <a:extLst>
              <a:ext uri="{FF2B5EF4-FFF2-40B4-BE49-F238E27FC236}">
                <a16:creationId xmlns:a16="http://schemas.microsoft.com/office/drawing/2014/main" id="{0D788FBD-C919-1EFB-FAC9-A23967F2956C}"/>
              </a:ext>
            </a:extLst>
          </p:cNvPr>
          <p:cNvSpPr txBox="1"/>
          <p:nvPr/>
        </p:nvSpPr>
        <p:spPr>
          <a:xfrm>
            <a:off x="4045423" y="5006813"/>
            <a:ext cx="2376264" cy="523220"/>
          </a:xfrm>
          <a:prstGeom prst="rect">
            <a:avLst/>
          </a:prstGeom>
          <a:noFill/>
        </p:spPr>
        <p:txBody>
          <a:bodyPr wrap="square" rtlCol="0">
            <a:spAutoFit/>
          </a:bodyPr>
          <a:lstStyle/>
          <a:p>
            <a:r>
              <a:rPr lang="ja-JP" altLang="en-US" sz="2800" dirty="0">
                <a:solidFill>
                  <a:srgbClr val="FF0000"/>
                </a:solidFill>
              </a:rPr>
              <a:t>周辺線量当量</a:t>
            </a:r>
            <a:endParaRPr kumimoji="1" lang="ja-JP" altLang="en-US" sz="2800" dirty="0">
              <a:solidFill>
                <a:srgbClr val="FF0000"/>
              </a:solidFill>
            </a:endParaRPr>
          </a:p>
        </p:txBody>
      </p:sp>
      <p:grpSp>
        <p:nvGrpSpPr>
          <p:cNvPr id="7" name="グループ化 6">
            <a:extLst>
              <a:ext uri="{FF2B5EF4-FFF2-40B4-BE49-F238E27FC236}">
                <a16:creationId xmlns:a16="http://schemas.microsoft.com/office/drawing/2014/main" id="{1BDACD88-FFC6-4A3F-1873-7CE3E32CFBD7}"/>
              </a:ext>
            </a:extLst>
          </p:cNvPr>
          <p:cNvGrpSpPr/>
          <p:nvPr/>
        </p:nvGrpSpPr>
        <p:grpSpPr>
          <a:xfrm>
            <a:off x="4168126" y="3403967"/>
            <a:ext cx="4518674" cy="1569660"/>
            <a:chOff x="4329413" y="3957074"/>
            <a:chExt cx="4518674" cy="1569660"/>
          </a:xfrm>
        </p:grpSpPr>
        <p:sp>
          <p:nvSpPr>
            <p:cNvPr id="5" name="テキスト ボックス 4">
              <a:extLst>
                <a:ext uri="{FF2B5EF4-FFF2-40B4-BE49-F238E27FC236}">
                  <a16:creationId xmlns:a16="http://schemas.microsoft.com/office/drawing/2014/main" id="{4EE7716B-15B7-10C4-6EE3-166BF2FB1395}"/>
                </a:ext>
              </a:extLst>
            </p:cNvPr>
            <p:cNvSpPr txBox="1"/>
            <p:nvPr/>
          </p:nvSpPr>
          <p:spPr>
            <a:xfrm>
              <a:off x="4329413" y="3957074"/>
              <a:ext cx="4518674" cy="1569660"/>
            </a:xfrm>
            <a:prstGeom prst="rect">
              <a:avLst/>
            </a:prstGeom>
            <a:noFill/>
            <a:ln>
              <a:solidFill>
                <a:schemeClr val="tx1"/>
              </a:solidFill>
            </a:ln>
          </p:spPr>
          <p:txBody>
            <a:bodyPr wrap="square" rtlCol="0">
              <a:spAutoFit/>
            </a:bodyPr>
            <a:lstStyle/>
            <a:p>
              <a:r>
                <a:rPr kumimoji="1" lang="en-US" altLang="ja-JP" sz="2400" dirty="0"/>
                <a:t>[T-Track]</a:t>
              </a:r>
              <a:r>
                <a:rPr kumimoji="1" lang="ja-JP" altLang="en-US" sz="2400" dirty="0"/>
                <a:t>タリーで光子フルエンスを計算し、</a:t>
              </a:r>
              <a:r>
                <a:rPr kumimoji="1" lang="en-US" altLang="ja-JP" sz="2400" dirty="0"/>
                <a:t>multiplier</a:t>
              </a:r>
              <a:r>
                <a:rPr kumimoji="1" lang="ja-JP" altLang="en-US" sz="2400" dirty="0"/>
                <a:t>機能を使用することで線量換算係数を掛けて導出</a:t>
              </a:r>
              <a:endParaRPr kumimoji="1" lang="en-US" altLang="ja-JP" sz="2400" dirty="0"/>
            </a:p>
            <a:p>
              <a:endParaRPr kumimoji="1" lang="ja-JP" altLang="en-US" sz="2400" dirty="0"/>
            </a:p>
          </p:txBody>
        </p:sp>
        <p:sp>
          <p:nvSpPr>
            <p:cNvPr id="6" name="テキスト ボックス 5">
              <a:extLst>
                <a:ext uri="{FF2B5EF4-FFF2-40B4-BE49-F238E27FC236}">
                  <a16:creationId xmlns:a16="http://schemas.microsoft.com/office/drawing/2014/main" id="{C24F557B-E724-D8BB-B99D-AA357818FEE5}"/>
                </a:ext>
              </a:extLst>
            </p:cNvPr>
            <p:cNvSpPr txBox="1"/>
            <p:nvPr/>
          </p:nvSpPr>
          <p:spPr>
            <a:xfrm>
              <a:off x="4886822" y="5136771"/>
              <a:ext cx="3327194" cy="369332"/>
            </a:xfrm>
            <a:prstGeom prst="rect">
              <a:avLst/>
            </a:prstGeom>
            <a:noFill/>
          </p:spPr>
          <p:txBody>
            <a:bodyPr wrap="square" rtlCol="0">
              <a:spAutoFit/>
            </a:bodyPr>
            <a:lstStyle/>
            <a:p>
              <a:r>
                <a:rPr kumimoji="1" lang="en-US" altLang="ja-JP" dirty="0" err="1"/>
                <a:t>phits</a:t>
              </a:r>
              <a:r>
                <a:rPr kumimoji="1" lang="en-US" altLang="ja-JP" dirty="0"/>
                <a:t>/lecture/advanced/options</a:t>
              </a:r>
              <a:endParaRPr kumimoji="1" lang="ja-JP" altLang="en-US" dirty="0"/>
            </a:p>
          </p:txBody>
        </p:sp>
      </p:grpSp>
      <p:sp>
        <p:nvSpPr>
          <p:cNvPr id="22" name="Text Box 1031">
            <a:extLst>
              <a:ext uri="{FF2B5EF4-FFF2-40B4-BE49-F238E27FC236}">
                <a16:creationId xmlns:a16="http://schemas.microsoft.com/office/drawing/2014/main" id="{00100D02-5DE0-EFC0-EC38-3DD094734442}"/>
              </a:ext>
            </a:extLst>
          </p:cNvPr>
          <p:cNvSpPr txBox="1">
            <a:spLocks noChangeArrowheads="1"/>
          </p:cNvSpPr>
          <p:nvPr/>
        </p:nvSpPr>
        <p:spPr bwMode="auto">
          <a:xfrm>
            <a:off x="295913" y="3449891"/>
            <a:ext cx="2508718" cy="2056212"/>
          </a:xfrm>
          <a:prstGeom prst="rect">
            <a:avLst/>
          </a:prstGeom>
          <a:solidFill>
            <a:schemeClr val="bg1"/>
          </a:solidFill>
          <a:ln w="19050">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fr-FR" altLang="ja-JP" sz="1400" dirty="0">
                <a:latin typeface="Tahoma" panose="020B0604030504040204" pitchFamily="34" charset="0"/>
              </a:rPr>
              <a:t>[ T-track ]</a:t>
            </a:r>
          </a:p>
          <a:p>
            <a:pPr eaLnBrk="1" hangingPunct="1">
              <a:spcBef>
                <a:spcPct val="0"/>
              </a:spcBef>
              <a:buFontTx/>
              <a:buNone/>
            </a:pPr>
            <a:r>
              <a:rPr lang="nn-NO" altLang="ja-JP" sz="1400" dirty="0">
                <a:latin typeface="Tahoma" panose="020B0604030504040204" pitchFamily="34" charset="0"/>
              </a:rPr>
              <a:t> file = dose.out</a:t>
            </a:r>
          </a:p>
          <a:p>
            <a:pPr eaLnBrk="1" hangingPunct="1">
              <a:spcBef>
                <a:spcPct val="0"/>
              </a:spcBef>
              <a:buFontTx/>
              <a:buNone/>
            </a:pPr>
            <a:r>
              <a:rPr lang="nn-NO" altLang="ja-JP" sz="1400" dirty="0">
                <a:latin typeface="Tahoma" panose="020B0604030504040204" pitchFamily="34" charset="0"/>
              </a:rPr>
              <a:t> mesh = reg</a:t>
            </a:r>
          </a:p>
          <a:p>
            <a:pPr eaLnBrk="1" hangingPunct="1">
              <a:spcBef>
                <a:spcPct val="0"/>
              </a:spcBef>
              <a:buFontTx/>
              <a:buNone/>
            </a:pPr>
            <a:r>
              <a:rPr lang="nn-NO" altLang="ja-JP" sz="1400" dirty="0">
                <a:latin typeface="Tahoma" panose="020B0604030504040204" pitchFamily="34" charset="0"/>
              </a:rPr>
              <a:t>  reg = 10</a:t>
            </a:r>
            <a:endParaRPr lang="fr-FR" altLang="ja-JP" sz="1400" dirty="0">
              <a:latin typeface="Tahoma" panose="020B0604030504040204" pitchFamily="34" charset="0"/>
            </a:endParaRPr>
          </a:p>
          <a:p>
            <a:pPr eaLnBrk="1" hangingPunct="1">
              <a:spcBef>
                <a:spcPct val="0"/>
              </a:spcBef>
              <a:buFontTx/>
              <a:buNone/>
            </a:pPr>
            <a:r>
              <a:rPr lang="fr-FR" altLang="ja-JP" sz="1400" dirty="0">
                <a:latin typeface="Tahoma" panose="020B0604030504040204" pitchFamily="34" charset="0"/>
              </a:rPr>
              <a:t>...</a:t>
            </a:r>
          </a:p>
          <a:p>
            <a:pPr eaLnBrk="1" hangingPunct="1">
              <a:spcBef>
                <a:spcPct val="0"/>
              </a:spcBef>
              <a:buFontTx/>
              <a:buNone/>
            </a:pPr>
            <a:r>
              <a:rPr lang="fr-FR" altLang="ja-JP" sz="1400" dirty="0">
                <a:latin typeface="Tahoma" panose="020B0604030504040204" pitchFamily="34" charset="0"/>
              </a:rPr>
              <a:t> multiplier = 1</a:t>
            </a:r>
          </a:p>
          <a:p>
            <a:pPr eaLnBrk="1" hangingPunct="1">
              <a:spcBef>
                <a:spcPct val="0"/>
              </a:spcBef>
              <a:buFontTx/>
              <a:buNone/>
            </a:pPr>
            <a:r>
              <a:rPr lang="fr-FR" altLang="ja-JP" sz="1400" dirty="0">
                <a:latin typeface="Tahoma" panose="020B0604030504040204" pitchFamily="34" charset="0"/>
              </a:rPr>
              <a:t> part = photon</a:t>
            </a:r>
          </a:p>
          <a:p>
            <a:pPr eaLnBrk="1" hangingPunct="1">
              <a:spcBef>
                <a:spcPct val="0"/>
              </a:spcBef>
              <a:buFontTx/>
              <a:buNone/>
            </a:pPr>
            <a:r>
              <a:rPr lang="fr-FR" altLang="ja-JP" sz="1400" dirty="0">
                <a:latin typeface="Tahoma" panose="020B0604030504040204" pitchFamily="34" charset="0"/>
              </a:rPr>
              <a:t> mat  mset1</a:t>
            </a:r>
          </a:p>
          <a:p>
            <a:pPr eaLnBrk="1" hangingPunct="1">
              <a:spcBef>
                <a:spcPct val="0"/>
              </a:spcBef>
              <a:buFontTx/>
              <a:buNone/>
            </a:pPr>
            <a:r>
              <a:rPr lang="fr-FR" altLang="ja-JP" sz="1400" dirty="0">
                <a:latin typeface="Tahoma" panose="020B0604030504040204" pitchFamily="34" charset="0"/>
              </a:rPr>
              <a:t> 1    (1.0e-6*3600.0</a:t>
            </a:r>
            <a:r>
              <a:rPr lang="ja-JP" altLang="en-US" sz="1400" dirty="0">
                <a:latin typeface="Tahoma" panose="020B0604030504040204" pitchFamily="34" charset="0"/>
              </a:rPr>
              <a:t>　</a:t>
            </a:r>
            <a:r>
              <a:rPr lang="fr-FR" altLang="ja-JP" sz="1400" dirty="0">
                <a:latin typeface="Tahoma" panose="020B0604030504040204" pitchFamily="34" charset="0"/>
              </a:rPr>
              <a:t> -200)</a:t>
            </a:r>
            <a:endParaRPr lang="pt-BR" altLang="ja-JP" sz="1400" dirty="0">
              <a:solidFill>
                <a:srgbClr val="000000"/>
              </a:solidFill>
              <a:latin typeface="Tahoma" panose="020B0604030504040204" pitchFamily="34" charset="0"/>
            </a:endParaRPr>
          </a:p>
        </p:txBody>
      </p:sp>
      <p:sp>
        <p:nvSpPr>
          <p:cNvPr id="4" name="四角形: 角を丸くする 3">
            <a:extLst>
              <a:ext uri="{FF2B5EF4-FFF2-40B4-BE49-F238E27FC236}">
                <a16:creationId xmlns:a16="http://schemas.microsoft.com/office/drawing/2014/main" id="{C6A3A500-FE35-A29B-7982-A8C41B5692E0}"/>
              </a:ext>
            </a:extLst>
          </p:cNvPr>
          <p:cNvSpPr/>
          <p:nvPr/>
        </p:nvSpPr>
        <p:spPr>
          <a:xfrm>
            <a:off x="2123728" y="5198429"/>
            <a:ext cx="432048" cy="24601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四角形: 角を丸くする 18">
            <a:extLst>
              <a:ext uri="{FF2B5EF4-FFF2-40B4-BE49-F238E27FC236}">
                <a16:creationId xmlns:a16="http://schemas.microsoft.com/office/drawing/2014/main" id="{2A3E073D-F789-02E9-D9FA-AB73C1E92C5C}"/>
              </a:ext>
            </a:extLst>
          </p:cNvPr>
          <p:cNvSpPr/>
          <p:nvPr/>
        </p:nvSpPr>
        <p:spPr>
          <a:xfrm>
            <a:off x="386794" y="4584571"/>
            <a:ext cx="2240990" cy="921531"/>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直線矢印コネクタ 19">
            <a:extLst>
              <a:ext uri="{FF2B5EF4-FFF2-40B4-BE49-F238E27FC236}">
                <a16:creationId xmlns:a16="http://schemas.microsoft.com/office/drawing/2014/main" id="{19DA2AB4-9699-9DD5-FE99-DC0246638F93}"/>
              </a:ext>
            </a:extLst>
          </p:cNvPr>
          <p:cNvCxnSpPr>
            <a:cxnSpLocks/>
            <a:stCxn id="5" idx="1"/>
          </p:cNvCxnSpPr>
          <p:nvPr/>
        </p:nvCxnSpPr>
        <p:spPr>
          <a:xfrm flipH="1">
            <a:off x="2627784" y="4188797"/>
            <a:ext cx="1540342" cy="39486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11EB3A84-986A-8558-38C0-4821FBA093CA}"/>
              </a:ext>
            </a:extLst>
          </p:cNvPr>
          <p:cNvCxnSpPr>
            <a:cxnSpLocks/>
            <a:stCxn id="3" idx="1"/>
          </p:cNvCxnSpPr>
          <p:nvPr/>
        </p:nvCxnSpPr>
        <p:spPr>
          <a:xfrm flipH="1">
            <a:off x="2555776" y="5268423"/>
            <a:ext cx="1489647" cy="5301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四角形: 角を丸くする 26">
            <a:extLst>
              <a:ext uri="{FF2B5EF4-FFF2-40B4-BE49-F238E27FC236}">
                <a16:creationId xmlns:a16="http://schemas.microsoft.com/office/drawing/2014/main" id="{65FD8F87-AC56-8DBC-3EAF-4F59954499BE}"/>
              </a:ext>
            </a:extLst>
          </p:cNvPr>
          <p:cNvSpPr/>
          <p:nvPr/>
        </p:nvSpPr>
        <p:spPr>
          <a:xfrm>
            <a:off x="820046" y="5202341"/>
            <a:ext cx="1159666" cy="24601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DB8CCCC6-0297-9B38-90B6-EAEB46BAB1C1}"/>
              </a:ext>
            </a:extLst>
          </p:cNvPr>
          <p:cNvSpPr txBox="1"/>
          <p:nvPr/>
        </p:nvSpPr>
        <p:spPr>
          <a:xfrm>
            <a:off x="386794" y="5805130"/>
            <a:ext cx="2312998" cy="646331"/>
          </a:xfrm>
          <a:prstGeom prst="rect">
            <a:avLst/>
          </a:prstGeom>
          <a:noFill/>
          <a:ln>
            <a:solidFill>
              <a:schemeClr val="tx1"/>
            </a:solidFill>
          </a:ln>
        </p:spPr>
        <p:txBody>
          <a:bodyPr wrap="square" rtlCol="0">
            <a:spAutoFit/>
          </a:bodyPr>
          <a:lstStyle/>
          <a:p>
            <a:r>
              <a:rPr kumimoji="1" lang="ja-JP" altLang="en-US" dirty="0"/>
              <a:t>換算係数</a:t>
            </a:r>
            <a:r>
              <a:rPr kumimoji="1" lang="en-US" altLang="ja-JP" dirty="0"/>
              <a:t>(</a:t>
            </a:r>
            <a:r>
              <a:rPr kumimoji="1" lang="en-US" altLang="ja-JP" dirty="0" err="1"/>
              <a:t>pSv</a:t>
            </a:r>
            <a:r>
              <a:rPr kumimoji="1" lang="en-US" altLang="ja-JP" dirty="0"/>
              <a:t> cm</a:t>
            </a:r>
            <a:r>
              <a:rPr kumimoji="1" lang="en-US" altLang="ja-JP" baseline="30000" dirty="0"/>
              <a:t>2</a:t>
            </a:r>
            <a:r>
              <a:rPr lang="en-US" altLang="ja-JP" dirty="0"/>
              <a:t>)</a:t>
            </a:r>
          </a:p>
          <a:p>
            <a:r>
              <a:rPr lang="en-US" altLang="ja-JP" dirty="0"/>
              <a:t>x 10</a:t>
            </a:r>
            <a:r>
              <a:rPr lang="en-US" altLang="ja-JP" baseline="30000" dirty="0"/>
              <a:t>-6</a:t>
            </a:r>
            <a:r>
              <a:rPr lang="en-US" altLang="ja-JP" dirty="0"/>
              <a:t>*3600 =&gt; </a:t>
            </a:r>
            <a:r>
              <a:rPr lang="en-US" altLang="ja-JP" dirty="0">
                <a:sym typeface="Symbol" panose="05050102010706020507" pitchFamily="18" charset="2"/>
              </a:rPr>
              <a:t></a:t>
            </a:r>
            <a:r>
              <a:rPr lang="en-US" altLang="ja-JP" dirty="0" err="1">
                <a:sym typeface="Symbol" panose="05050102010706020507" pitchFamily="18" charset="2"/>
              </a:rPr>
              <a:t>Sv</a:t>
            </a:r>
            <a:r>
              <a:rPr lang="en-US" altLang="ja-JP" dirty="0">
                <a:sym typeface="Symbol" panose="05050102010706020507" pitchFamily="18" charset="2"/>
              </a:rPr>
              <a:t>/h</a:t>
            </a:r>
            <a:endParaRPr kumimoji="1" lang="ja-JP" altLang="en-US" dirty="0"/>
          </a:p>
        </p:txBody>
      </p:sp>
      <p:cxnSp>
        <p:nvCxnSpPr>
          <p:cNvPr id="33" name="直線矢印コネクタ 32">
            <a:extLst>
              <a:ext uri="{FF2B5EF4-FFF2-40B4-BE49-F238E27FC236}">
                <a16:creationId xmlns:a16="http://schemas.microsoft.com/office/drawing/2014/main" id="{1E198168-B7C2-F0C0-39AE-56FBE191C835}"/>
              </a:ext>
            </a:extLst>
          </p:cNvPr>
          <p:cNvCxnSpPr>
            <a:cxnSpLocks/>
          </p:cNvCxnSpPr>
          <p:nvPr/>
        </p:nvCxnSpPr>
        <p:spPr>
          <a:xfrm flipV="1">
            <a:off x="1343401" y="5473073"/>
            <a:ext cx="0" cy="33205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スライド番号プレースホルダー 22">
            <a:extLst>
              <a:ext uri="{FF2B5EF4-FFF2-40B4-BE49-F238E27FC236}">
                <a16:creationId xmlns:a16="http://schemas.microsoft.com/office/drawing/2014/main" id="{C3AD9F3C-4252-EB7E-198A-851B64027344}"/>
              </a:ext>
            </a:extLst>
          </p:cNvPr>
          <p:cNvSpPr>
            <a:spLocks noGrp="1"/>
          </p:cNvSpPr>
          <p:nvPr>
            <p:ph type="sldNum" sz="quarter" idx="12"/>
          </p:nvPr>
        </p:nvSpPr>
        <p:spPr/>
        <p:txBody>
          <a:bodyPr/>
          <a:lstStyle/>
          <a:p>
            <a:fld id="{D2D8002D-B5B0-4BAC-B1F6-782DDCCE6D9C}" type="slidenum">
              <a:rPr kumimoji="1" lang="ja-JP" altLang="en-US" smtClean="0"/>
              <a:t>5</a:t>
            </a:fld>
            <a:endParaRPr kumimoji="1" lang="ja-JP" altLang="en-US"/>
          </a:p>
        </p:txBody>
      </p:sp>
    </p:spTree>
    <p:extLst>
      <p:ext uri="{BB962C8B-B14F-4D97-AF65-F5344CB8AC3E}">
        <p14:creationId xmlns:p14="http://schemas.microsoft.com/office/powerpoint/2010/main" val="4721749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89F56-5675-7501-2D9F-8FD2B9178BC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34461C7-4088-8C55-9985-92690F9C47AC}"/>
              </a:ext>
            </a:extLst>
          </p:cNvPr>
          <p:cNvSpPr>
            <a:spLocks noGrp="1"/>
          </p:cNvSpPr>
          <p:nvPr>
            <p:ph type="title"/>
          </p:nvPr>
        </p:nvSpPr>
        <p:spPr>
          <a:xfrm>
            <a:off x="457200" y="53752"/>
            <a:ext cx="8229600" cy="1143000"/>
          </a:xfrm>
        </p:spPr>
        <p:txBody>
          <a:bodyPr>
            <a:normAutofit/>
          </a:bodyPr>
          <a:lstStyle/>
          <a:p>
            <a:r>
              <a:rPr lang="ja-JP" altLang="en-US" dirty="0">
                <a:latin typeface="Arial" pitchFamily="18"/>
              </a:rPr>
              <a:t>ステップ</a:t>
            </a:r>
            <a:r>
              <a:rPr lang="ja-JP" altLang="ja-JP" dirty="0">
                <a:latin typeface="Arial" pitchFamily="18"/>
              </a:rPr>
              <a:t> 1</a:t>
            </a:r>
            <a:r>
              <a:rPr lang="ja-JP" altLang="en-US" dirty="0">
                <a:latin typeface="Arial" pitchFamily="18"/>
              </a:rPr>
              <a:t>（半無限平面）</a:t>
            </a:r>
            <a:endParaRPr kumimoji="1" lang="ja-JP" altLang="en-US" dirty="0"/>
          </a:p>
        </p:txBody>
      </p:sp>
      <p:sp>
        <p:nvSpPr>
          <p:cNvPr id="3" name="テキスト ボックス 2">
            <a:extLst>
              <a:ext uri="{FF2B5EF4-FFF2-40B4-BE49-F238E27FC236}">
                <a16:creationId xmlns:a16="http://schemas.microsoft.com/office/drawing/2014/main" id="{4A9F24D9-67EE-38FD-BA91-3ACD761AE290}"/>
              </a:ext>
            </a:extLst>
          </p:cNvPr>
          <p:cNvSpPr txBox="1"/>
          <p:nvPr/>
        </p:nvSpPr>
        <p:spPr>
          <a:xfrm>
            <a:off x="1061863" y="1823339"/>
            <a:ext cx="7020273" cy="523220"/>
          </a:xfrm>
          <a:prstGeom prst="rect">
            <a:avLst/>
          </a:prstGeom>
          <a:noFill/>
        </p:spPr>
        <p:txBody>
          <a:bodyPr wrap="square" rtlCol="0">
            <a:spAutoFit/>
          </a:bodyPr>
          <a:lstStyle/>
          <a:p>
            <a:r>
              <a:rPr kumimoji="1" lang="ja-JP" altLang="en-US" sz="2800" dirty="0">
                <a:solidFill>
                  <a:srgbClr val="FF0000"/>
                </a:solidFill>
              </a:rPr>
              <a:t>輸送計算</a:t>
            </a:r>
            <a:r>
              <a:rPr kumimoji="1" lang="en-US" altLang="ja-JP" sz="2800" dirty="0">
                <a:solidFill>
                  <a:srgbClr val="FF0000"/>
                </a:solidFill>
              </a:rPr>
              <a:t>(</a:t>
            </a:r>
            <a:r>
              <a:rPr kumimoji="1" lang="en-US" altLang="ja-JP" sz="2800" dirty="0" err="1">
                <a:solidFill>
                  <a:srgbClr val="FF0000"/>
                </a:solidFill>
              </a:rPr>
              <a:t>groundsource.inp</a:t>
            </a:r>
            <a:r>
              <a:rPr kumimoji="1" lang="en-US" altLang="ja-JP" sz="2800" dirty="0">
                <a:solidFill>
                  <a:srgbClr val="FF0000"/>
                </a:solidFill>
              </a:rPr>
              <a:t>)</a:t>
            </a:r>
            <a:r>
              <a:rPr kumimoji="1" lang="ja-JP" altLang="en-US" sz="2800" dirty="0">
                <a:solidFill>
                  <a:srgbClr val="FF0000"/>
                </a:solidFill>
              </a:rPr>
              <a:t>を実行してみよう</a:t>
            </a:r>
          </a:p>
        </p:txBody>
      </p:sp>
      <p:sp>
        <p:nvSpPr>
          <p:cNvPr id="5" name="テキスト ボックス 4">
            <a:extLst>
              <a:ext uri="{FF2B5EF4-FFF2-40B4-BE49-F238E27FC236}">
                <a16:creationId xmlns:a16="http://schemas.microsoft.com/office/drawing/2014/main" id="{07DC9E85-74C3-EC2F-0D28-4EF9274938EA}"/>
              </a:ext>
            </a:extLst>
          </p:cNvPr>
          <p:cNvSpPr txBox="1"/>
          <p:nvPr/>
        </p:nvSpPr>
        <p:spPr>
          <a:xfrm>
            <a:off x="1359757" y="3044859"/>
            <a:ext cx="6408712" cy="1569660"/>
          </a:xfrm>
          <a:prstGeom prst="rect">
            <a:avLst/>
          </a:prstGeom>
          <a:noFill/>
        </p:spPr>
        <p:txBody>
          <a:bodyPr wrap="square" rtlCol="0">
            <a:spAutoFit/>
          </a:bodyPr>
          <a:lstStyle/>
          <a:p>
            <a:r>
              <a:rPr lang="ja-JP" altLang="en-US" sz="2400" dirty="0"/>
              <a:t>実行後、</a:t>
            </a:r>
            <a:endParaRPr lang="en-US" altLang="ja-JP" sz="2400" dirty="0"/>
          </a:p>
          <a:p>
            <a:r>
              <a:rPr lang="ja-JP" altLang="en-US" sz="2400" dirty="0"/>
              <a:t>　広い範囲のフラックス分布</a:t>
            </a:r>
            <a:r>
              <a:rPr lang="en-US" altLang="ja-JP" sz="2400" dirty="0"/>
              <a:t>(</a:t>
            </a:r>
            <a:r>
              <a:rPr lang="en-US" altLang="ja-JP" sz="2400" dirty="0" err="1"/>
              <a:t>track.eps</a:t>
            </a:r>
            <a:r>
              <a:rPr lang="en-US" altLang="ja-JP" sz="2400" dirty="0"/>
              <a:t>)</a:t>
            </a:r>
          </a:p>
          <a:p>
            <a:r>
              <a:rPr kumimoji="1" lang="en-US" altLang="ja-JP" sz="2400" dirty="0"/>
              <a:t>   </a:t>
            </a:r>
            <a:r>
              <a:rPr lang="ja-JP" altLang="en-US" sz="2400" dirty="0"/>
              <a:t>評価点周辺のフラックス分布</a:t>
            </a:r>
            <a:r>
              <a:rPr lang="en-US" altLang="ja-JP" sz="2400" dirty="0"/>
              <a:t>(</a:t>
            </a:r>
            <a:r>
              <a:rPr lang="en-US" altLang="ja-JP" sz="2400" dirty="0" err="1"/>
              <a:t>track_inside.eps</a:t>
            </a:r>
            <a:r>
              <a:rPr lang="en-US" altLang="ja-JP" sz="2400" dirty="0"/>
              <a:t>)</a:t>
            </a:r>
          </a:p>
          <a:p>
            <a:r>
              <a:rPr lang="ja-JP" altLang="en-US" sz="2400" dirty="0"/>
              <a:t>を確認する。</a:t>
            </a:r>
            <a:endParaRPr kumimoji="1" lang="ja-JP" altLang="en-US" sz="2400" dirty="0"/>
          </a:p>
        </p:txBody>
      </p:sp>
      <p:sp>
        <p:nvSpPr>
          <p:cNvPr id="6" name="テキスト ボックス 5">
            <a:extLst>
              <a:ext uri="{FF2B5EF4-FFF2-40B4-BE49-F238E27FC236}">
                <a16:creationId xmlns:a16="http://schemas.microsoft.com/office/drawing/2014/main" id="{2CC0E78D-13DF-D0E2-7896-23C377176A43}"/>
              </a:ext>
            </a:extLst>
          </p:cNvPr>
          <p:cNvSpPr txBox="1"/>
          <p:nvPr/>
        </p:nvSpPr>
        <p:spPr>
          <a:xfrm>
            <a:off x="1367644" y="4773051"/>
            <a:ext cx="6408712" cy="1200329"/>
          </a:xfrm>
          <a:prstGeom prst="rect">
            <a:avLst/>
          </a:prstGeom>
          <a:noFill/>
        </p:spPr>
        <p:txBody>
          <a:bodyPr wrap="square" rtlCol="0">
            <a:spAutoFit/>
          </a:bodyPr>
          <a:lstStyle/>
          <a:p>
            <a:r>
              <a:rPr lang="ja-JP" altLang="en-US" sz="2400" dirty="0"/>
              <a:t>また、</a:t>
            </a:r>
            <a:endParaRPr lang="en-US" altLang="ja-JP" sz="2400" dirty="0"/>
          </a:p>
          <a:p>
            <a:r>
              <a:rPr lang="ja-JP" altLang="en-US" sz="2400" dirty="0"/>
              <a:t>　評価点の線量値</a:t>
            </a:r>
            <a:r>
              <a:rPr lang="en-US" altLang="ja-JP" sz="2400" dirty="0"/>
              <a:t>(</a:t>
            </a:r>
            <a:r>
              <a:rPr lang="en-US" altLang="ja-JP" sz="2400" dirty="0" err="1"/>
              <a:t>dose.out</a:t>
            </a:r>
            <a:r>
              <a:rPr lang="en-US" altLang="ja-JP" sz="2400" dirty="0"/>
              <a:t>)</a:t>
            </a:r>
          </a:p>
          <a:p>
            <a:r>
              <a:rPr lang="ja-JP" altLang="en-US" sz="2400" dirty="0"/>
              <a:t>を確認する。</a:t>
            </a:r>
            <a:endParaRPr kumimoji="1" lang="ja-JP" altLang="en-US" sz="2400" dirty="0"/>
          </a:p>
        </p:txBody>
      </p:sp>
      <p:sp>
        <p:nvSpPr>
          <p:cNvPr id="4" name="スライド番号プレースホルダー 3">
            <a:extLst>
              <a:ext uri="{FF2B5EF4-FFF2-40B4-BE49-F238E27FC236}">
                <a16:creationId xmlns:a16="http://schemas.microsoft.com/office/drawing/2014/main" id="{B27E6E6D-BB86-2212-DAC4-19E04F3FEEE5}"/>
              </a:ext>
            </a:extLst>
          </p:cNvPr>
          <p:cNvSpPr>
            <a:spLocks noGrp="1"/>
          </p:cNvSpPr>
          <p:nvPr>
            <p:ph type="sldNum" sz="quarter" idx="12"/>
          </p:nvPr>
        </p:nvSpPr>
        <p:spPr/>
        <p:txBody>
          <a:bodyPr/>
          <a:lstStyle/>
          <a:p>
            <a:fld id="{D2D8002D-B5B0-4BAC-B1F6-782DDCCE6D9C}" type="slidenum">
              <a:rPr kumimoji="1" lang="ja-JP" altLang="en-US" smtClean="0"/>
              <a:t>6</a:t>
            </a:fld>
            <a:endParaRPr kumimoji="1" lang="ja-JP" altLang="en-US"/>
          </a:p>
        </p:txBody>
      </p:sp>
    </p:spTree>
    <p:extLst>
      <p:ext uri="{BB962C8B-B14F-4D97-AF65-F5344CB8AC3E}">
        <p14:creationId xmlns:p14="http://schemas.microsoft.com/office/powerpoint/2010/main" val="20756736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17F63-6FD5-A761-0FF5-359792798308}"/>
            </a:ext>
          </a:extLst>
        </p:cNvPr>
        <p:cNvGrpSpPr/>
        <p:nvPr/>
      </p:nvGrpSpPr>
      <p:grpSpPr>
        <a:xfrm>
          <a:off x="0" y="0"/>
          <a:ext cx="0" cy="0"/>
          <a:chOff x="0" y="0"/>
          <a:chExt cx="0" cy="0"/>
        </a:xfrm>
      </p:grpSpPr>
      <p:pic>
        <p:nvPicPr>
          <p:cNvPr id="4" name="図 3">
            <a:extLst>
              <a:ext uri="{FF2B5EF4-FFF2-40B4-BE49-F238E27FC236}">
                <a16:creationId xmlns:a16="http://schemas.microsoft.com/office/drawing/2014/main" id="{864577AB-C10D-3BA2-7496-16B6D2EF5A56}"/>
              </a:ext>
            </a:extLst>
          </p:cNvPr>
          <p:cNvPicPr>
            <a:picLocks noChangeAspect="1"/>
          </p:cNvPicPr>
          <p:nvPr/>
        </p:nvPicPr>
        <p:blipFill>
          <a:blip r:embed="rId2"/>
          <a:srcRect l="2615" t="8000" r="3286" b="1701"/>
          <a:stretch/>
        </p:blipFill>
        <p:spPr>
          <a:xfrm>
            <a:off x="5601228" y="1399987"/>
            <a:ext cx="3527244" cy="4492800"/>
          </a:xfrm>
          <a:prstGeom prst="rect">
            <a:avLst/>
          </a:prstGeom>
        </p:spPr>
      </p:pic>
      <p:sp>
        <p:nvSpPr>
          <p:cNvPr id="2" name="タイトル 1">
            <a:extLst>
              <a:ext uri="{FF2B5EF4-FFF2-40B4-BE49-F238E27FC236}">
                <a16:creationId xmlns:a16="http://schemas.microsoft.com/office/drawing/2014/main" id="{39E5872A-5149-EDE1-D22C-1CA97E83D4A0}"/>
              </a:ext>
            </a:extLst>
          </p:cNvPr>
          <p:cNvSpPr>
            <a:spLocks noGrp="1"/>
          </p:cNvSpPr>
          <p:nvPr>
            <p:ph type="title"/>
          </p:nvPr>
        </p:nvSpPr>
        <p:spPr>
          <a:xfrm>
            <a:off x="457200" y="53752"/>
            <a:ext cx="8229600" cy="1143000"/>
          </a:xfrm>
        </p:spPr>
        <p:txBody>
          <a:bodyPr>
            <a:normAutofit/>
          </a:bodyPr>
          <a:lstStyle/>
          <a:p>
            <a:r>
              <a:rPr lang="ja-JP" altLang="en-US" dirty="0">
                <a:latin typeface="Arial" pitchFamily="18"/>
              </a:rPr>
              <a:t>ステップ</a:t>
            </a:r>
            <a:r>
              <a:rPr lang="ja-JP" altLang="ja-JP" dirty="0">
                <a:latin typeface="Arial" pitchFamily="18"/>
              </a:rPr>
              <a:t> 1</a:t>
            </a:r>
            <a:r>
              <a:rPr lang="ja-JP" altLang="en-US" dirty="0">
                <a:latin typeface="Arial" pitchFamily="18"/>
              </a:rPr>
              <a:t>（半無限平面）結果</a:t>
            </a:r>
            <a:endParaRPr kumimoji="1" lang="ja-JP" altLang="en-US" dirty="0"/>
          </a:p>
        </p:txBody>
      </p:sp>
      <p:pic>
        <p:nvPicPr>
          <p:cNvPr id="9" name="図 8">
            <a:extLst>
              <a:ext uri="{FF2B5EF4-FFF2-40B4-BE49-F238E27FC236}">
                <a16:creationId xmlns:a16="http://schemas.microsoft.com/office/drawing/2014/main" id="{ADCC3D15-956E-3D7F-8F95-DBB8601594A5}"/>
              </a:ext>
            </a:extLst>
          </p:cNvPr>
          <p:cNvPicPr>
            <a:picLocks noChangeAspect="1"/>
          </p:cNvPicPr>
          <p:nvPr/>
        </p:nvPicPr>
        <p:blipFill>
          <a:blip r:embed="rId3"/>
          <a:srcRect l="1964" t="15259" r="5396" b="6920"/>
          <a:stretch/>
        </p:blipFill>
        <p:spPr>
          <a:xfrm>
            <a:off x="107503" y="1359932"/>
            <a:ext cx="5520185" cy="3816424"/>
          </a:xfrm>
          <a:prstGeom prst="rect">
            <a:avLst/>
          </a:prstGeom>
        </p:spPr>
      </p:pic>
      <p:sp>
        <p:nvSpPr>
          <p:cNvPr id="13" name="テキスト ボックス 12">
            <a:extLst>
              <a:ext uri="{FF2B5EF4-FFF2-40B4-BE49-F238E27FC236}">
                <a16:creationId xmlns:a16="http://schemas.microsoft.com/office/drawing/2014/main" id="{CBAD2007-BFB1-DFA6-3E81-896F6CEA9D3A}"/>
              </a:ext>
            </a:extLst>
          </p:cNvPr>
          <p:cNvSpPr txBox="1"/>
          <p:nvPr/>
        </p:nvSpPr>
        <p:spPr>
          <a:xfrm>
            <a:off x="322225" y="5225620"/>
            <a:ext cx="4572000" cy="646331"/>
          </a:xfrm>
          <a:prstGeom prst="rect">
            <a:avLst/>
          </a:prstGeom>
          <a:noFill/>
          <a:ln>
            <a:solidFill>
              <a:schemeClr val="tx1"/>
            </a:solidFill>
          </a:ln>
        </p:spPr>
        <p:txBody>
          <a:bodyPr wrap="square">
            <a:spAutoFit/>
          </a:bodyPr>
          <a:lstStyle/>
          <a:p>
            <a:r>
              <a:rPr lang="pt-BR" altLang="ja-JP" dirty="0"/>
              <a:t>#  num    reg     volume       all       r.err </a:t>
            </a:r>
          </a:p>
          <a:p>
            <a:r>
              <a:rPr lang="pt-BR" altLang="ja-JP" dirty="0"/>
              <a:t>    1      10   4.1888E+03   0.0000E+00  0.0000</a:t>
            </a:r>
          </a:p>
        </p:txBody>
      </p:sp>
      <p:sp>
        <p:nvSpPr>
          <p:cNvPr id="14" name="テキスト ボックス 13">
            <a:extLst>
              <a:ext uri="{FF2B5EF4-FFF2-40B4-BE49-F238E27FC236}">
                <a16:creationId xmlns:a16="http://schemas.microsoft.com/office/drawing/2014/main" id="{5F31E9C4-C589-A6C5-6CF1-DF2710B71BB3}"/>
              </a:ext>
            </a:extLst>
          </p:cNvPr>
          <p:cNvSpPr txBox="1"/>
          <p:nvPr/>
        </p:nvSpPr>
        <p:spPr>
          <a:xfrm>
            <a:off x="1856054" y="2060848"/>
            <a:ext cx="1506946" cy="523220"/>
          </a:xfrm>
          <a:prstGeom prst="rect">
            <a:avLst/>
          </a:prstGeom>
          <a:noFill/>
        </p:spPr>
        <p:txBody>
          <a:bodyPr wrap="square" rtlCol="0">
            <a:spAutoFit/>
          </a:bodyPr>
          <a:lstStyle/>
          <a:p>
            <a:r>
              <a:rPr kumimoji="1" lang="en-US" altLang="ja-JP" sz="2800" dirty="0" err="1"/>
              <a:t>track.eps</a:t>
            </a:r>
            <a:endParaRPr kumimoji="1" lang="ja-JP" altLang="en-US" sz="2800" dirty="0"/>
          </a:p>
        </p:txBody>
      </p:sp>
      <p:sp>
        <p:nvSpPr>
          <p:cNvPr id="15" name="テキスト ボックス 14">
            <a:extLst>
              <a:ext uri="{FF2B5EF4-FFF2-40B4-BE49-F238E27FC236}">
                <a16:creationId xmlns:a16="http://schemas.microsoft.com/office/drawing/2014/main" id="{0E809A50-B9F6-AE98-DBCA-B4ECF97C9EA3}"/>
              </a:ext>
            </a:extLst>
          </p:cNvPr>
          <p:cNvSpPr txBox="1"/>
          <p:nvPr/>
        </p:nvSpPr>
        <p:spPr>
          <a:xfrm>
            <a:off x="6252071" y="5854439"/>
            <a:ext cx="2592288" cy="523220"/>
          </a:xfrm>
          <a:prstGeom prst="rect">
            <a:avLst/>
          </a:prstGeom>
          <a:noFill/>
        </p:spPr>
        <p:txBody>
          <a:bodyPr wrap="square" rtlCol="0">
            <a:spAutoFit/>
          </a:bodyPr>
          <a:lstStyle/>
          <a:p>
            <a:r>
              <a:rPr kumimoji="1" lang="en-US" altLang="ja-JP" sz="2800" dirty="0" err="1"/>
              <a:t>track_inside.eps</a:t>
            </a:r>
            <a:endParaRPr kumimoji="1" lang="ja-JP" altLang="en-US" sz="2800" dirty="0"/>
          </a:p>
        </p:txBody>
      </p:sp>
      <p:sp>
        <p:nvSpPr>
          <p:cNvPr id="16" name="テキスト ボックス 15">
            <a:extLst>
              <a:ext uri="{FF2B5EF4-FFF2-40B4-BE49-F238E27FC236}">
                <a16:creationId xmlns:a16="http://schemas.microsoft.com/office/drawing/2014/main" id="{F3D1C13C-F33A-BDC1-6C4F-DD48EAB284D8}"/>
              </a:ext>
            </a:extLst>
          </p:cNvPr>
          <p:cNvSpPr txBox="1"/>
          <p:nvPr/>
        </p:nvSpPr>
        <p:spPr>
          <a:xfrm>
            <a:off x="1390130" y="5874941"/>
            <a:ext cx="2952328" cy="523220"/>
          </a:xfrm>
          <a:prstGeom prst="rect">
            <a:avLst/>
          </a:prstGeom>
          <a:noFill/>
        </p:spPr>
        <p:txBody>
          <a:bodyPr wrap="square" rtlCol="0">
            <a:spAutoFit/>
          </a:bodyPr>
          <a:lstStyle/>
          <a:p>
            <a:r>
              <a:rPr lang="en-US" altLang="ja-JP" sz="2800" dirty="0" err="1"/>
              <a:t>dose</a:t>
            </a:r>
            <a:r>
              <a:rPr kumimoji="1" lang="en-US" altLang="ja-JP" sz="2800" dirty="0" err="1"/>
              <a:t>.out</a:t>
            </a:r>
            <a:r>
              <a:rPr kumimoji="1" lang="en-US" altLang="ja-JP" sz="2800" dirty="0"/>
              <a:t>(38</a:t>
            </a:r>
            <a:r>
              <a:rPr kumimoji="1" lang="ja-JP" altLang="en-US" sz="2800" dirty="0"/>
              <a:t>行目</a:t>
            </a:r>
            <a:r>
              <a:rPr kumimoji="1" lang="en-US" altLang="ja-JP" sz="2800" dirty="0"/>
              <a:t>)</a:t>
            </a:r>
            <a:endParaRPr kumimoji="1" lang="ja-JP" altLang="en-US" sz="2800" dirty="0"/>
          </a:p>
        </p:txBody>
      </p:sp>
      <p:sp>
        <p:nvSpPr>
          <p:cNvPr id="17" name="テキスト ボックス 16">
            <a:extLst>
              <a:ext uri="{FF2B5EF4-FFF2-40B4-BE49-F238E27FC236}">
                <a16:creationId xmlns:a16="http://schemas.microsoft.com/office/drawing/2014/main" id="{41878341-B52C-5A31-1C5A-A4EC36EAA751}"/>
              </a:ext>
            </a:extLst>
          </p:cNvPr>
          <p:cNvSpPr txBox="1"/>
          <p:nvPr/>
        </p:nvSpPr>
        <p:spPr>
          <a:xfrm>
            <a:off x="3464207" y="868023"/>
            <a:ext cx="2961934" cy="584775"/>
          </a:xfrm>
          <a:prstGeom prst="rect">
            <a:avLst/>
          </a:prstGeom>
          <a:noFill/>
        </p:spPr>
        <p:txBody>
          <a:bodyPr wrap="square" rtlCol="0">
            <a:spAutoFit/>
          </a:bodyPr>
          <a:lstStyle/>
          <a:p>
            <a:r>
              <a:rPr kumimoji="1" lang="en-US" altLang="ja-JP" sz="3200" dirty="0" err="1">
                <a:solidFill>
                  <a:srgbClr val="FF0000"/>
                </a:solidFill>
              </a:rPr>
              <a:t>maxcas</a:t>
            </a:r>
            <a:r>
              <a:rPr kumimoji="1" lang="en-US" altLang="ja-JP" sz="3200" dirty="0">
                <a:solidFill>
                  <a:srgbClr val="FF0000"/>
                </a:solidFill>
              </a:rPr>
              <a:t>=100,000</a:t>
            </a:r>
            <a:endParaRPr kumimoji="1" lang="ja-JP" altLang="en-US" sz="3200" dirty="0">
              <a:solidFill>
                <a:srgbClr val="FF0000"/>
              </a:solidFill>
            </a:endParaRPr>
          </a:p>
        </p:txBody>
      </p:sp>
      <p:sp>
        <p:nvSpPr>
          <p:cNvPr id="18" name="テキスト ボックス 17">
            <a:extLst>
              <a:ext uri="{FF2B5EF4-FFF2-40B4-BE49-F238E27FC236}">
                <a16:creationId xmlns:a16="http://schemas.microsoft.com/office/drawing/2014/main" id="{D9A73686-073A-38E1-4407-BD971DCF1401}"/>
              </a:ext>
            </a:extLst>
          </p:cNvPr>
          <p:cNvSpPr txBox="1"/>
          <p:nvPr/>
        </p:nvSpPr>
        <p:spPr>
          <a:xfrm>
            <a:off x="1390130" y="6284690"/>
            <a:ext cx="7296669" cy="584775"/>
          </a:xfrm>
          <a:prstGeom prst="rect">
            <a:avLst/>
          </a:prstGeom>
          <a:noFill/>
        </p:spPr>
        <p:txBody>
          <a:bodyPr wrap="square" rtlCol="0">
            <a:spAutoFit/>
          </a:bodyPr>
          <a:lstStyle/>
          <a:p>
            <a:r>
              <a:rPr kumimoji="1" lang="ja-JP" altLang="en-US" sz="3200" dirty="0">
                <a:solidFill>
                  <a:srgbClr val="FF0000"/>
                </a:solidFill>
              </a:rPr>
              <a:t>評価点に一個もガンマ線が届いていない</a:t>
            </a:r>
          </a:p>
        </p:txBody>
      </p:sp>
      <p:sp>
        <p:nvSpPr>
          <p:cNvPr id="3" name="スライド番号プレースホルダー 2">
            <a:extLst>
              <a:ext uri="{FF2B5EF4-FFF2-40B4-BE49-F238E27FC236}">
                <a16:creationId xmlns:a16="http://schemas.microsoft.com/office/drawing/2014/main" id="{3F001708-F2EF-AB63-FDDB-0E3668C839FE}"/>
              </a:ext>
            </a:extLst>
          </p:cNvPr>
          <p:cNvSpPr>
            <a:spLocks noGrp="1"/>
          </p:cNvSpPr>
          <p:nvPr>
            <p:ph type="sldNum" sz="quarter" idx="12"/>
          </p:nvPr>
        </p:nvSpPr>
        <p:spPr/>
        <p:txBody>
          <a:bodyPr/>
          <a:lstStyle/>
          <a:p>
            <a:fld id="{D2D8002D-B5B0-4BAC-B1F6-782DDCCE6D9C}" type="slidenum">
              <a:rPr kumimoji="1" lang="ja-JP" altLang="en-US" smtClean="0"/>
              <a:t>7</a:t>
            </a:fld>
            <a:endParaRPr kumimoji="1" lang="ja-JP" altLang="en-US"/>
          </a:p>
        </p:txBody>
      </p:sp>
    </p:spTree>
    <p:extLst>
      <p:ext uri="{BB962C8B-B14F-4D97-AF65-F5344CB8AC3E}">
        <p14:creationId xmlns:p14="http://schemas.microsoft.com/office/powerpoint/2010/main" val="16421100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2C044-26D7-D104-612C-40023B19B75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60BB278-3D6B-18BC-822B-71A86F139ED0}"/>
              </a:ext>
            </a:extLst>
          </p:cNvPr>
          <p:cNvSpPr>
            <a:spLocks noGrp="1"/>
          </p:cNvSpPr>
          <p:nvPr>
            <p:ph type="title"/>
          </p:nvPr>
        </p:nvSpPr>
        <p:spPr>
          <a:xfrm>
            <a:off x="457200" y="53752"/>
            <a:ext cx="8229600" cy="1143000"/>
          </a:xfrm>
        </p:spPr>
        <p:txBody>
          <a:bodyPr>
            <a:normAutofit/>
          </a:bodyPr>
          <a:lstStyle/>
          <a:p>
            <a:r>
              <a:rPr lang="ja-JP" altLang="en-US" dirty="0">
                <a:latin typeface="Arial" pitchFamily="18"/>
              </a:rPr>
              <a:t>ステップ</a:t>
            </a:r>
            <a:r>
              <a:rPr lang="ja-JP" altLang="ja-JP" dirty="0">
                <a:latin typeface="Arial" pitchFamily="18"/>
              </a:rPr>
              <a:t> </a:t>
            </a:r>
            <a:r>
              <a:rPr lang="en-US" altLang="ja-JP" dirty="0">
                <a:latin typeface="Arial" pitchFamily="18"/>
              </a:rPr>
              <a:t>1</a:t>
            </a:r>
            <a:r>
              <a:rPr lang="ja-JP" altLang="en-US" dirty="0">
                <a:latin typeface="Arial" pitchFamily="18"/>
              </a:rPr>
              <a:t>（半無限平面）つづき</a:t>
            </a:r>
            <a:endParaRPr kumimoji="1" lang="ja-JP" altLang="en-US" dirty="0"/>
          </a:p>
        </p:txBody>
      </p:sp>
      <p:sp>
        <p:nvSpPr>
          <p:cNvPr id="3" name="テキスト ボックス 2">
            <a:extLst>
              <a:ext uri="{FF2B5EF4-FFF2-40B4-BE49-F238E27FC236}">
                <a16:creationId xmlns:a16="http://schemas.microsoft.com/office/drawing/2014/main" id="{7E3E6719-0C62-CDA3-55AC-95AC7453BB00}"/>
              </a:ext>
            </a:extLst>
          </p:cNvPr>
          <p:cNvSpPr txBox="1"/>
          <p:nvPr/>
        </p:nvSpPr>
        <p:spPr>
          <a:xfrm>
            <a:off x="445126" y="1597585"/>
            <a:ext cx="8229600" cy="523220"/>
          </a:xfrm>
          <a:prstGeom prst="rect">
            <a:avLst/>
          </a:prstGeom>
          <a:noFill/>
        </p:spPr>
        <p:txBody>
          <a:bodyPr wrap="square" rtlCol="0">
            <a:spAutoFit/>
          </a:bodyPr>
          <a:lstStyle/>
          <a:p>
            <a:r>
              <a:rPr kumimoji="1" lang="ja-JP" altLang="en-US" sz="2800" dirty="0">
                <a:solidFill>
                  <a:srgbClr val="FF0000"/>
                </a:solidFill>
              </a:rPr>
              <a:t>ヒストリ数を</a:t>
            </a:r>
            <a:r>
              <a:rPr kumimoji="1" lang="en-US" altLang="ja-JP" sz="2800" dirty="0">
                <a:solidFill>
                  <a:srgbClr val="FF0000"/>
                </a:solidFill>
              </a:rPr>
              <a:t>10</a:t>
            </a:r>
            <a:r>
              <a:rPr kumimoji="1" lang="ja-JP" altLang="en-US" sz="2800" dirty="0">
                <a:solidFill>
                  <a:srgbClr val="FF0000"/>
                </a:solidFill>
              </a:rPr>
              <a:t>倍増やして実行する</a:t>
            </a:r>
            <a:r>
              <a:rPr kumimoji="1" lang="en-US" altLang="ja-JP" sz="2800" dirty="0">
                <a:solidFill>
                  <a:srgbClr val="FF0000"/>
                </a:solidFill>
              </a:rPr>
              <a:t>(</a:t>
            </a:r>
            <a:r>
              <a:rPr kumimoji="1" lang="en-US" altLang="ja-JP" sz="2800" dirty="0" err="1">
                <a:solidFill>
                  <a:srgbClr val="FF0000"/>
                </a:solidFill>
              </a:rPr>
              <a:t>maxcas</a:t>
            </a:r>
            <a:r>
              <a:rPr kumimoji="1" lang="en-US" altLang="ja-JP" sz="2800" dirty="0">
                <a:solidFill>
                  <a:srgbClr val="FF0000"/>
                </a:solidFill>
              </a:rPr>
              <a:t>=1,000,000)</a:t>
            </a:r>
            <a:endParaRPr kumimoji="1" lang="ja-JP" altLang="en-US" sz="2800" dirty="0">
              <a:solidFill>
                <a:srgbClr val="FF0000"/>
              </a:solidFill>
            </a:endParaRPr>
          </a:p>
        </p:txBody>
      </p:sp>
      <p:sp>
        <p:nvSpPr>
          <p:cNvPr id="5" name="テキスト ボックス 4">
            <a:extLst>
              <a:ext uri="{FF2B5EF4-FFF2-40B4-BE49-F238E27FC236}">
                <a16:creationId xmlns:a16="http://schemas.microsoft.com/office/drawing/2014/main" id="{108C4874-2D97-2EFE-68E9-16600DAA40ED}"/>
              </a:ext>
            </a:extLst>
          </p:cNvPr>
          <p:cNvSpPr txBox="1"/>
          <p:nvPr/>
        </p:nvSpPr>
        <p:spPr>
          <a:xfrm>
            <a:off x="1359757" y="3044859"/>
            <a:ext cx="6408712" cy="1569660"/>
          </a:xfrm>
          <a:prstGeom prst="rect">
            <a:avLst/>
          </a:prstGeom>
          <a:noFill/>
        </p:spPr>
        <p:txBody>
          <a:bodyPr wrap="square" rtlCol="0">
            <a:spAutoFit/>
          </a:bodyPr>
          <a:lstStyle/>
          <a:p>
            <a:r>
              <a:rPr lang="ja-JP" altLang="en-US" sz="2400" dirty="0"/>
              <a:t>実行後、</a:t>
            </a:r>
            <a:endParaRPr lang="en-US" altLang="ja-JP" sz="2400" dirty="0"/>
          </a:p>
          <a:p>
            <a:r>
              <a:rPr lang="ja-JP" altLang="en-US" sz="2400" dirty="0"/>
              <a:t>　広い範囲のフラックス分布</a:t>
            </a:r>
            <a:r>
              <a:rPr lang="en-US" altLang="ja-JP" sz="2400" dirty="0"/>
              <a:t>(</a:t>
            </a:r>
            <a:r>
              <a:rPr lang="en-US" altLang="ja-JP" sz="2400" dirty="0" err="1"/>
              <a:t>track.eps</a:t>
            </a:r>
            <a:r>
              <a:rPr lang="en-US" altLang="ja-JP" sz="2400" dirty="0"/>
              <a:t>)</a:t>
            </a:r>
          </a:p>
          <a:p>
            <a:r>
              <a:rPr kumimoji="1" lang="en-US" altLang="ja-JP" sz="2400" dirty="0"/>
              <a:t>   </a:t>
            </a:r>
            <a:r>
              <a:rPr lang="ja-JP" altLang="en-US" sz="2400" dirty="0"/>
              <a:t>評価点周辺のフラックス分布</a:t>
            </a:r>
            <a:r>
              <a:rPr lang="en-US" altLang="ja-JP" sz="2400" dirty="0"/>
              <a:t>(</a:t>
            </a:r>
            <a:r>
              <a:rPr lang="en-US" altLang="ja-JP" sz="2400" dirty="0" err="1"/>
              <a:t>track_inside.eps</a:t>
            </a:r>
            <a:r>
              <a:rPr lang="en-US" altLang="ja-JP" sz="2400" dirty="0"/>
              <a:t>)</a:t>
            </a:r>
          </a:p>
          <a:p>
            <a:r>
              <a:rPr lang="ja-JP" altLang="en-US" sz="2400" dirty="0"/>
              <a:t>を確認する。</a:t>
            </a:r>
            <a:endParaRPr kumimoji="1" lang="ja-JP" altLang="en-US" sz="2400" dirty="0"/>
          </a:p>
        </p:txBody>
      </p:sp>
      <p:sp>
        <p:nvSpPr>
          <p:cNvPr id="6" name="テキスト ボックス 5">
            <a:extLst>
              <a:ext uri="{FF2B5EF4-FFF2-40B4-BE49-F238E27FC236}">
                <a16:creationId xmlns:a16="http://schemas.microsoft.com/office/drawing/2014/main" id="{C3100433-4E73-84F1-838E-ECBB1A7DEFA8}"/>
              </a:ext>
            </a:extLst>
          </p:cNvPr>
          <p:cNvSpPr txBox="1"/>
          <p:nvPr/>
        </p:nvSpPr>
        <p:spPr>
          <a:xfrm>
            <a:off x="1367644" y="4773051"/>
            <a:ext cx="6408712" cy="1200329"/>
          </a:xfrm>
          <a:prstGeom prst="rect">
            <a:avLst/>
          </a:prstGeom>
          <a:noFill/>
        </p:spPr>
        <p:txBody>
          <a:bodyPr wrap="square" rtlCol="0">
            <a:spAutoFit/>
          </a:bodyPr>
          <a:lstStyle/>
          <a:p>
            <a:r>
              <a:rPr lang="ja-JP" altLang="en-US" sz="2400" dirty="0"/>
              <a:t>また、</a:t>
            </a:r>
            <a:endParaRPr lang="en-US" altLang="ja-JP" sz="2400" dirty="0"/>
          </a:p>
          <a:p>
            <a:r>
              <a:rPr lang="ja-JP" altLang="en-US" sz="2400" dirty="0"/>
              <a:t>　評価点の線量値</a:t>
            </a:r>
            <a:r>
              <a:rPr lang="en-US" altLang="ja-JP" sz="2400" dirty="0"/>
              <a:t>(</a:t>
            </a:r>
            <a:r>
              <a:rPr lang="en-US" altLang="ja-JP" sz="2400" dirty="0" err="1"/>
              <a:t>dose.out</a:t>
            </a:r>
            <a:r>
              <a:rPr lang="en-US" altLang="ja-JP" sz="2400" dirty="0"/>
              <a:t>)</a:t>
            </a:r>
          </a:p>
          <a:p>
            <a:r>
              <a:rPr lang="ja-JP" altLang="en-US" sz="2400" dirty="0"/>
              <a:t>を確認する。</a:t>
            </a:r>
            <a:endParaRPr kumimoji="1" lang="ja-JP" altLang="en-US" sz="2400" dirty="0"/>
          </a:p>
        </p:txBody>
      </p:sp>
      <p:sp>
        <p:nvSpPr>
          <p:cNvPr id="4" name="スライド番号プレースホルダー 3">
            <a:extLst>
              <a:ext uri="{FF2B5EF4-FFF2-40B4-BE49-F238E27FC236}">
                <a16:creationId xmlns:a16="http://schemas.microsoft.com/office/drawing/2014/main" id="{973EE680-0B02-8FAA-D856-1A0D142E4AF1}"/>
              </a:ext>
            </a:extLst>
          </p:cNvPr>
          <p:cNvSpPr>
            <a:spLocks noGrp="1"/>
          </p:cNvSpPr>
          <p:nvPr>
            <p:ph type="sldNum" sz="quarter" idx="12"/>
          </p:nvPr>
        </p:nvSpPr>
        <p:spPr/>
        <p:txBody>
          <a:bodyPr/>
          <a:lstStyle/>
          <a:p>
            <a:fld id="{D2D8002D-B5B0-4BAC-B1F6-782DDCCE6D9C}" type="slidenum">
              <a:rPr kumimoji="1" lang="ja-JP" altLang="en-US" smtClean="0"/>
              <a:t>8</a:t>
            </a:fld>
            <a:endParaRPr kumimoji="1" lang="ja-JP" altLang="en-US"/>
          </a:p>
        </p:txBody>
      </p:sp>
    </p:spTree>
    <p:extLst>
      <p:ext uri="{BB962C8B-B14F-4D97-AF65-F5344CB8AC3E}">
        <p14:creationId xmlns:p14="http://schemas.microsoft.com/office/powerpoint/2010/main" val="22140670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27A88-8A2B-9F75-9526-E4178EA5F7D1}"/>
            </a:ext>
          </a:extLst>
        </p:cNvPr>
        <p:cNvGrpSpPr/>
        <p:nvPr/>
      </p:nvGrpSpPr>
      <p:grpSpPr>
        <a:xfrm>
          <a:off x="0" y="0"/>
          <a:ext cx="0" cy="0"/>
          <a:chOff x="0" y="0"/>
          <a:chExt cx="0" cy="0"/>
        </a:xfrm>
      </p:grpSpPr>
      <p:pic>
        <p:nvPicPr>
          <p:cNvPr id="5" name="図 4">
            <a:extLst>
              <a:ext uri="{FF2B5EF4-FFF2-40B4-BE49-F238E27FC236}">
                <a16:creationId xmlns:a16="http://schemas.microsoft.com/office/drawing/2014/main" id="{0092AC20-D9EF-6189-4D1F-62120CE45A84}"/>
              </a:ext>
            </a:extLst>
          </p:cNvPr>
          <p:cNvPicPr>
            <a:picLocks noChangeAspect="1"/>
          </p:cNvPicPr>
          <p:nvPr/>
        </p:nvPicPr>
        <p:blipFill>
          <a:blip r:embed="rId2"/>
          <a:srcRect l="1221" t="6706" r="1972" b="2751"/>
          <a:stretch/>
        </p:blipFill>
        <p:spPr>
          <a:xfrm>
            <a:off x="5525116" y="1278203"/>
            <a:ext cx="3618884" cy="4492800"/>
          </a:xfrm>
          <a:prstGeom prst="rect">
            <a:avLst/>
          </a:prstGeom>
        </p:spPr>
      </p:pic>
      <p:pic>
        <p:nvPicPr>
          <p:cNvPr id="4" name="図 3">
            <a:extLst>
              <a:ext uri="{FF2B5EF4-FFF2-40B4-BE49-F238E27FC236}">
                <a16:creationId xmlns:a16="http://schemas.microsoft.com/office/drawing/2014/main" id="{CF5E6251-616C-89C9-A5CD-5587FB021F83}"/>
              </a:ext>
            </a:extLst>
          </p:cNvPr>
          <p:cNvPicPr>
            <a:picLocks noChangeAspect="1"/>
          </p:cNvPicPr>
          <p:nvPr/>
        </p:nvPicPr>
        <p:blipFill>
          <a:blip r:embed="rId3"/>
          <a:srcRect l="3108" t="15274" r="6862" b="8508"/>
          <a:stretch/>
        </p:blipFill>
        <p:spPr>
          <a:xfrm>
            <a:off x="162599" y="1316126"/>
            <a:ext cx="5407390" cy="3816000"/>
          </a:xfrm>
          <a:prstGeom prst="rect">
            <a:avLst/>
          </a:prstGeom>
        </p:spPr>
      </p:pic>
      <p:sp>
        <p:nvSpPr>
          <p:cNvPr id="2" name="タイトル 1">
            <a:extLst>
              <a:ext uri="{FF2B5EF4-FFF2-40B4-BE49-F238E27FC236}">
                <a16:creationId xmlns:a16="http://schemas.microsoft.com/office/drawing/2014/main" id="{991A947A-FA22-B6AD-8597-CF1268D7F1DE}"/>
              </a:ext>
            </a:extLst>
          </p:cNvPr>
          <p:cNvSpPr>
            <a:spLocks noGrp="1"/>
          </p:cNvSpPr>
          <p:nvPr>
            <p:ph type="title"/>
          </p:nvPr>
        </p:nvSpPr>
        <p:spPr>
          <a:xfrm>
            <a:off x="457200" y="53752"/>
            <a:ext cx="8229600" cy="1143000"/>
          </a:xfrm>
        </p:spPr>
        <p:txBody>
          <a:bodyPr>
            <a:normAutofit/>
          </a:bodyPr>
          <a:lstStyle/>
          <a:p>
            <a:r>
              <a:rPr lang="ja-JP" altLang="en-US" dirty="0">
                <a:latin typeface="Arial" pitchFamily="18"/>
              </a:rPr>
              <a:t>ステップ</a:t>
            </a:r>
            <a:r>
              <a:rPr lang="ja-JP" altLang="ja-JP" dirty="0">
                <a:latin typeface="Arial" pitchFamily="18"/>
              </a:rPr>
              <a:t> 1</a:t>
            </a:r>
            <a:r>
              <a:rPr lang="ja-JP" altLang="en-US" dirty="0">
                <a:latin typeface="Arial" pitchFamily="18"/>
              </a:rPr>
              <a:t>（半無限平面）結果</a:t>
            </a:r>
            <a:endParaRPr kumimoji="1" lang="ja-JP" altLang="en-US" dirty="0"/>
          </a:p>
        </p:txBody>
      </p:sp>
      <p:sp>
        <p:nvSpPr>
          <p:cNvPr id="14" name="テキスト ボックス 13">
            <a:extLst>
              <a:ext uri="{FF2B5EF4-FFF2-40B4-BE49-F238E27FC236}">
                <a16:creationId xmlns:a16="http://schemas.microsoft.com/office/drawing/2014/main" id="{5276A245-449B-ECA5-A96B-0298B44BD80E}"/>
              </a:ext>
            </a:extLst>
          </p:cNvPr>
          <p:cNvSpPr txBox="1"/>
          <p:nvPr/>
        </p:nvSpPr>
        <p:spPr>
          <a:xfrm>
            <a:off x="1856054" y="2060848"/>
            <a:ext cx="1506946" cy="523220"/>
          </a:xfrm>
          <a:prstGeom prst="rect">
            <a:avLst/>
          </a:prstGeom>
          <a:noFill/>
        </p:spPr>
        <p:txBody>
          <a:bodyPr wrap="square" rtlCol="0">
            <a:spAutoFit/>
          </a:bodyPr>
          <a:lstStyle/>
          <a:p>
            <a:r>
              <a:rPr kumimoji="1" lang="en-US" altLang="ja-JP" sz="2800" dirty="0" err="1"/>
              <a:t>track.eps</a:t>
            </a:r>
            <a:endParaRPr kumimoji="1" lang="ja-JP" altLang="en-US" sz="2800" dirty="0"/>
          </a:p>
        </p:txBody>
      </p:sp>
      <p:sp>
        <p:nvSpPr>
          <p:cNvPr id="15" name="テキスト ボックス 14">
            <a:extLst>
              <a:ext uri="{FF2B5EF4-FFF2-40B4-BE49-F238E27FC236}">
                <a16:creationId xmlns:a16="http://schemas.microsoft.com/office/drawing/2014/main" id="{E00F5710-2990-CB24-EE07-C807D5DEE3EF}"/>
              </a:ext>
            </a:extLst>
          </p:cNvPr>
          <p:cNvSpPr txBox="1"/>
          <p:nvPr/>
        </p:nvSpPr>
        <p:spPr>
          <a:xfrm>
            <a:off x="5844743" y="5728367"/>
            <a:ext cx="2592288" cy="523220"/>
          </a:xfrm>
          <a:prstGeom prst="rect">
            <a:avLst/>
          </a:prstGeom>
          <a:noFill/>
        </p:spPr>
        <p:txBody>
          <a:bodyPr wrap="square" rtlCol="0">
            <a:spAutoFit/>
          </a:bodyPr>
          <a:lstStyle/>
          <a:p>
            <a:r>
              <a:rPr kumimoji="1" lang="en-US" altLang="ja-JP" sz="2800" dirty="0" err="1"/>
              <a:t>track_inside.eps</a:t>
            </a:r>
            <a:endParaRPr kumimoji="1" lang="ja-JP" altLang="en-US" sz="2800" dirty="0"/>
          </a:p>
        </p:txBody>
      </p:sp>
      <p:sp>
        <p:nvSpPr>
          <p:cNvPr id="16" name="テキスト ボックス 15">
            <a:extLst>
              <a:ext uri="{FF2B5EF4-FFF2-40B4-BE49-F238E27FC236}">
                <a16:creationId xmlns:a16="http://schemas.microsoft.com/office/drawing/2014/main" id="{E2882506-9C88-91E4-2D79-72AAD58550CA}"/>
              </a:ext>
            </a:extLst>
          </p:cNvPr>
          <p:cNvSpPr txBox="1"/>
          <p:nvPr/>
        </p:nvSpPr>
        <p:spPr>
          <a:xfrm>
            <a:off x="1390130" y="5874941"/>
            <a:ext cx="2952328" cy="523220"/>
          </a:xfrm>
          <a:prstGeom prst="rect">
            <a:avLst/>
          </a:prstGeom>
          <a:noFill/>
        </p:spPr>
        <p:txBody>
          <a:bodyPr wrap="square" rtlCol="0">
            <a:spAutoFit/>
          </a:bodyPr>
          <a:lstStyle/>
          <a:p>
            <a:r>
              <a:rPr lang="en-US" altLang="ja-JP" sz="2800" dirty="0" err="1"/>
              <a:t>dose</a:t>
            </a:r>
            <a:r>
              <a:rPr kumimoji="1" lang="en-US" altLang="ja-JP" sz="2800" dirty="0" err="1"/>
              <a:t>.out</a:t>
            </a:r>
            <a:r>
              <a:rPr kumimoji="1" lang="en-US" altLang="ja-JP" sz="2800" dirty="0"/>
              <a:t>(38</a:t>
            </a:r>
            <a:r>
              <a:rPr kumimoji="1" lang="ja-JP" altLang="en-US" sz="2800" dirty="0"/>
              <a:t>行目</a:t>
            </a:r>
            <a:r>
              <a:rPr kumimoji="1" lang="en-US" altLang="ja-JP" sz="2800" dirty="0"/>
              <a:t>)</a:t>
            </a:r>
            <a:endParaRPr kumimoji="1" lang="ja-JP" altLang="en-US" sz="2800" dirty="0"/>
          </a:p>
        </p:txBody>
      </p:sp>
      <p:sp>
        <p:nvSpPr>
          <p:cNvPr id="17" name="テキスト ボックス 16">
            <a:extLst>
              <a:ext uri="{FF2B5EF4-FFF2-40B4-BE49-F238E27FC236}">
                <a16:creationId xmlns:a16="http://schemas.microsoft.com/office/drawing/2014/main" id="{EA2BAE3C-BD67-B8E0-7573-084E55ECEDD2}"/>
              </a:ext>
            </a:extLst>
          </p:cNvPr>
          <p:cNvSpPr txBox="1"/>
          <p:nvPr/>
        </p:nvSpPr>
        <p:spPr>
          <a:xfrm>
            <a:off x="3131840" y="868023"/>
            <a:ext cx="3294301" cy="584775"/>
          </a:xfrm>
          <a:prstGeom prst="rect">
            <a:avLst/>
          </a:prstGeom>
          <a:noFill/>
        </p:spPr>
        <p:txBody>
          <a:bodyPr wrap="square" rtlCol="0">
            <a:spAutoFit/>
          </a:bodyPr>
          <a:lstStyle/>
          <a:p>
            <a:r>
              <a:rPr kumimoji="1" lang="en-US" altLang="ja-JP" sz="3200" dirty="0" err="1">
                <a:solidFill>
                  <a:srgbClr val="FF0000"/>
                </a:solidFill>
              </a:rPr>
              <a:t>maxcas</a:t>
            </a:r>
            <a:r>
              <a:rPr kumimoji="1" lang="en-US" altLang="ja-JP" sz="3200">
                <a:solidFill>
                  <a:srgbClr val="FF0000"/>
                </a:solidFill>
              </a:rPr>
              <a:t>=1,000,000</a:t>
            </a:r>
            <a:endParaRPr kumimoji="1" lang="ja-JP" altLang="en-US" sz="3200" dirty="0">
              <a:solidFill>
                <a:srgbClr val="FF0000"/>
              </a:solidFill>
            </a:endParaRPr>
          </a:p>
        </p:txBody>
      </p:sp>
      <p:sp>
        <p:nvSpPr>
          <p:cNvPr id="18" name="テキスト ボックス 17">
            <a:extLst>
              <a:ext uri="{FF2B5EF4-FFF2-40B4-BE49-F238E27FC236}">
                <a16:creationId xmlns:a16="http://schemas.microsoft.com/office/drawing/2014/main" id="{C7CAAC7F-B806-EFFE-4106-0AA2561774D4}"/>
              </a:ext>
            </a:extLst>
          </p:cNvPr>
          <p:cNvSpPr txBox="1"/>
          <p:nvPr/>
        </p:nvSpPr>
        <p:spPr>
          <a:xfrm>
            <a:off x="-93279" y="6301808"/>
            <a:ext cx="9330557" cy="584775"/>
          </a:xfrm>
          <a:prstGeom prst="rect">
            <a:avLst/>
          </a:prstGeom>
          <a:noFill/>
        </p:spPr>
        <p:txBody>
          <a:bodyPr wrap="square" rtlCol="0">
            <a:spAutoFit/>
          </a:bodyPr>
          <a:lstStyle/>
          <a:p>
            <a:r>
              <a:rPr kumimoji="1" lang="ja-JP" altLang="en-US" sz="3200" dirty="0">
                <a:solidFill>
                  <a:srgbClr val="FF0000"/>
                </a:solidFill>
              </a:rPr>
              <a:t>一個ガンマ線が届いた</a:t>
            </a:r>
            <a:r>
              <a:rPr lang="ja-JP" altLang="en-US" sz="3200" dirty="0">
                <a:solidFill>
                  <a:srgbClr val="FF0000"/>
                </a:solidFill>
              </a:rPr>
              <a:t>⇒統計精度を上げるのは大変</a:t>
            </a:r>
            <a:endParaRPr kumimoji="1" lang="ja-JP" altLang="en-US" sz="3200" dirty="0">
              <a:solidFill>
                <a:srgbClr val="FF0000"/>
              </a:solidFill>
            </a:endParaRPr>
          </a:p>
        </p:txBody>
      </p:sp>
      <p:sp>
        <p:nvSpPr>
          <p:cNvPr id="8" name="テキスト ボックス 7">
            <a:extLst>
              <a:ext uri="{FF2B5EF4-FFF2-40B4-BE49-F238E27FC236}">
                <a16:creationId xmlns:a16="http://schemas.microsoft.com/office/drawing/2014/main" id="{498497BF-5E2B-B6F5-CBF3-FCD2D6E7E5E8}"/>
              </a:ext>
            </a:extLst>
          </p:cNvPr>
          <p:cNvSpPr txBox="1"/>
          <p:nvPr/>
        </p:nvSpPr>
        <p:spPr>
          <a:xfrm>
            <a:off x="299641" y="5239211"/>
            <a:ext cx="4572000" cy="646331"/>
          </a:xfrm>
          <a:prstGeom prst="rect">
            <a:avLst/>
          </a:prstGeom>
          <a:noFill/>
          <a:ln>
            <a:solidFill>
              <a:schemeClr val="tx1"/>
            </a:solidFill>
          </a:ln>
        </p:spPr>
        <p:txBody>
          <a:bodyPr wrap="square">
            <a:spAutoFit/>
          </a:bodyPr>
          <a:lstStyle/>
          <a:p>
            <a:r>
              <a:rPr lang="pt-BR" altLang="ja-JP" dirty="0"/>
              <a:t>#  num    reg     volume       all       r.err </a:t>
            </a:r>
          </a:p>
          <a:p>
            <a:r>
              <a:rPr lang="pt-BR" altLang="ja-JP" dirty="0"/>
              <a:t>    1      10   4.1888E+03   6.2302E-02  1.0000</a:t>
            </a:r>
            <a:endParaRPr lang="ja-JP" altLang="en-US" dirty="0"/>
          </a:p>
        </p:txBody>
      </p:sp>
      <p:sp>
        <p:nvSpPr>
          <p:cNvPr id="3" name="スライド番号プレースホルダー 2">
            <a:extLst>
              <a:ext uri="{FF2B5EF4-FFF2-40B4-BE49-F238E27FC236}">
                <a16:creationId xmlns:a16="http://schemas.microsoft.com/office/drawing/2014/main" id="{4456CC13-E330-9554-E7DD-DEAA18409CD7}"/>
              </a:ext>
            </a:extLst>
          </p:cNvPr>
          <p:cNvSpPr>
            <a:spLocks noGrp="1"/>
          </p:cNvSpPr>
          <p:nvPr>
            <p:ph type="sldNum" sz="quarter" idx="12"/>
          </p:nvPr>
        </p:nvSpPr>
        <p:spPr/>
        <p:txBody>
          <a:bodyPr/>
          <a:lstStyle/>
          <a:p>
            <a:fld id="{D2D8002D-B5B0-4BAC-B1F6-782DDCCE6D9C}" type="slidenum">
              <a:rPr kumimoji="1" lang="ja-JP" altLang="en-US" smtClean="0"/>
              <a:t>9</a:t>
            </a:fld>
            <a:endParaRPr kumimoji="1" lang="ja-JP" altLang="en-US"/>
          </a:p>
        </p:txBody>
      </p:sp>
    </p:spTree>
    <p:extLst>
      <p:ext uri="{BB962C8B-B14F-4D97-AF65-F5344CB8AC3E}">
        <p14:creationId xmlns:p14="http://schemas.microsoft.com/office/powerpoint/2010/main" val="37507123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B2F8E-2B18-73A2-0CC6-2DFDDAC9D4A3}"/>
            </a:ext>
          </a:extLst>
        </p:cNvPr>
        <p:cNvGrpSpPr/>
        <p:nvPr/>
      </p:nvGrpSpPr>
      <p:grpSpPr>
        <a:xfrm>
          <a:off x="0" y="0"/>
          <a:ext cx="0" cy="0"/>
          <a:chOff x="0" y="0"/>
          <a:chExt cx="0" cy="0"/>
        </a:xfrm>
      </p:grpSpPr>
      <p:grpSp>
        <p:nvGrpSpPr>
          <p:cNvPr id="83" name="グループ化 82">
            <a:extLst>
              <a:ext uri="{FF2B5EF4-FFF2-40B4-BE49-F238E27FC236}">
                <a16:creationId xmlns:a16="http://schemas.microsoft.com/office/drawing/2014/main" id="{4572143F-E91F-C0C5-480C-9B022021BECD}"/>
              </a:ext>
            </a:extLst>
          </p:cNvPr>
          <p:cNvGrpSpPr/>
          <p:nvPr/>
        </p:nvGrpSpPr>
        <p:grpSpPr>
          <a:xfrm>
            <a:off x="287524" y="2696576"/>
            <a:ext cx="8568952" cy="2672415"/>
            <a:chOff x="287524" y="3015506"/>
            <a:chExt cx="8568952" cy="2672415"/>
          </a:xfrm>
        </p:grpSpPr>
        <p:sp>
          <p:nvSpPr>
            <p:cNvPr id="13" name="正方形/長方形 12">
              <a:extLst>
                <a:ext uri="{FF2B5EF4-FFF2-40B4-BE49-F238E27FC236}">
                  <a16:creationId xmlns:a16="http://schemas.microsoft.com/office/drawing/2014/main" id="{09DDBFF3-A271-7314-E373-77A2897AC511}"/>
                </a:ext>
              </a:extLst>
            </p:cNvPr>
            <p:cNvSpPr/>
            <p:nvPr/>
          </p:nvSpPr>
          <p:spPr>
            <a:xfrm>
              <a:off x="287524" y="4552004"/>
              <a:ext cx="8568952" cy="39588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テキスト ボックス 71">
              <a:extLst>
                <a:ext uri="{FF2B5EF4-FFF2-40B4-BE49-F238E27FC236}">
                  <a16:creationId xmlns:a16="http://schemas.microsoft.com/office/drawing/2014/main" id="{70AE0FBA-02FE-40F8-0CD4-31058B3981ED}"/>
                </a:ext>
              </a:extLst>
            </p:cNvPr>
            <p:cNvSpPr txBox="1"/>
            <p:nvPr/>
          </p:nvSpPr>
          <p:spPr>
            <a:xfrm>
              <a:off x="8285838" y="3015506"/>
              <a:ext cx="457200" cy="584775"/>
            </a:xfrm>
            <a:prstGeom prst="rect">
              <a:avLst/>
            </a:prstGeom>
            <a:noFill/>
          </p:spPr>
          <p:txBody>
            <a:bodyPr wrap="square" rtlCol="0">
              <a:spAutoFit/>
            </a:bodyPr>
            <a:lstStyle/>
            <a:p>
              <a:r>
                <a:rPr kumimoji="1" lang="en-US" altLang="ja-JP" sz="3200" dirty="0"/>
                <a:t>…</a:t>
              </a:r>
              <a:endParaRPr kumimoji="1" lang="ja-JP" altLang="en-US" sz="3200" dirty="0"/>
            </a:p>
          </p:txBody>
        </p:sp>
        <p:sp>
          <p:nvSpPr>
            <p:cNvPr id="73" name="テキスト ボックス 72">
              <a:extLst>
                <a:ext uri="{FF2B5EF4-FFF2-40B4-BE49-F238E27FC236}">
                  <a16:creationId xmlns:a16="http://schemas.microsoft.com/office/drawing/2014/main" id="{ACB6E909-D235-D9B1-E65D-AC7401A20F85}"/>
                </a:ext>
              </a:extLst>
            </p:cNvPr>
            <p:cNvSpPr txBox="1"/>
            <p:nvPr/>
          </p:nvSpPr>
          <p:spPr>
            <a:xfrm>
              <a:off x="350788" y="3025406"/>
              <a:ext cx="457200" cy="584775"/>
            </a:xfrm>
            <a:prstGeom prst="rect">
              <a:avLst/>
            </a:prstGeom>
            <a:noFill/>
          </p:spPr>
          <p:txBody>
            <a:bodyPr wrap="square" rtlCol="0">
              <a:spAutoFit/>
            </a:bodyPr>
            <a:lstStyle/>
            <a:p>
              <a:r>
                <a:rPr kumimoji="1" lang="en-US" altLang="ja-JP" sz="3200" dirty="0"/>
                <a:t>…</a:t>
              </a:r>
              <a:endParaRPr kumimoji="1" lang="ja-JP" altLang="en-US" sz="3200" dirty="0"/>
            </a:p>
          </p:txBody>
        </p:sp>
        <p:sp>
          <p:nvSpPr>
            <p:cNvPr id="82" name="テキスト ボックス 81">
              <a:extLst>
                <a:ext uri="{FF2B5EF4-FFF2-40B4-BE49-F238E27FC236}">
                  <a16:creationId xmlns:a16="http://schemas.microsoft.com/office/drawing/2014/main" id="{ED4DBD27-5F00-B81C-C516-15AEB5B2968E}"/>
                </a:ext>
              </a:extLst>
            </p:cNvPr>
            <p:cNvSpPr txBox="1"/>
            <p:nvPr/>
          </p:nvSpPr>
          <p:spPr>
            <a:xfrm>
              <a:off x="3872137" y="5226256"/>
              <a:ext cx="1429995" cy="461665"/>
            </a:xfrm>
            <a:prstGeom prst="rect">
              <a:avLst/>
            </a:prstGeom>
            <a:noFill/>
          </p:spPr>
          <p:txBody>
            <a:bodyPr wrap="square" rtlCol="0">
              <a:spAutoFit/>
            </a:bodyPr>
            <a:lstStyle/>
            <a:p>
              <a:r>
                <a:rPr kumimoji="1" lang="ja-JP" altLang="en-US" sz="2400" dirty="0">
                  <a:solidFill>
                    <a:srgbClr val="FF0000"/>
                  </a:solidFill>
                </a:rPr>
                <a:t>無限平面</a:t>
              </a:r>
            </a:p>
          </p:txBody>
        </p:sp>
      </p:grpSp>
      <p:grpSp>
        <p:nvGrpSpPr>
          <p:cNvPr id="81" name="グループ化 80">
            <a:extLst>
              <a:ext uri="{FF2B5EF4-FFF2-40B4-BE49-F238E27FC236}">
                <a16:creationId xmlns:a16="http://schemas.microsoft.com/office/drawing/2014/main" id="{3A7C2FF3-B0A1-4C50-E174-58139956EA2C}"/>
              </a:ext>
            </a:extLst>
          </p:cNvPr>
          <p:cNvGrpSpPr/>
          <p:nvPr/>
        </p:nvGrpSpPr>
        <p:grpSpPr>
          <a:xfrm>
            <a:off x="971600" y="1453886"/>
            <a:ext cx="7200800" cy="3384376"/>
            <a:chOff x="971600" y="1772816"/>
            <a:chExt cx="7200800" cy="3384376"/>
          </a:xfrm>
        </p:grpSpPr>
        <p:sp>
          <p:nvSpPr>
            <p:cNvPr id="64" name="正方形/長方形 63">
              <a:extLst>
                <a:ext uri="{FF2B5EF4-FFF2-40B4-BE49-F238E27FC236}">
                  <a16:creationId xmlns:a16="http://schemas.microsoft.com/office/drawing/2014/main" id="{E699F9D1-C58A-275B-46F1-ACCC5D21AE2F}"/>
                </a:ext>
              </a:extLst>
            </p:cNvPr>
            <p:cNvSpPr/>
            <p:nvPr/>
          </p:nvSpPr>
          <p:spPr>
            <a:xfrm>
              <a:off x="971600" y="4552004"/>
              <a:ext cx="7200799" cy="382996"/>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7" name="直線コネクタ 56">
              <a:extLst>
                <a:ext uri="{FF2B5EF4-FFF2-40B4-BE49-F238E27FC236}">
                  <a16:creationId xmlns:a16="http://schemas.microsoft.com/office/drawing/2014/main" id="{DFF62F67-1CAF-2594-A7AB-B3E2284E3C05}"/>
                </a:ext>
              </a:extLst>
            </p:cNvPr>
            <p:cNvCxnSpPr>
              <a:cxnSpLocks/>
            </p:cNvCxnSpPr>
            <p:nvPr/>
          </p:nvCxnSpPr>
          <p:spPr>
            <a:xfrm>
              <a:off x="8172400" y="1772816"/>
              <a:ext cx="0" cy="3384376"/>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8" name="直線コネクタ 57">
              <a:extLst>
                <a:ext uri="{FF2B5EF4-FFF2-40B4-BE49-F238E27FC236}">
                  <a16:creationId xmlns:a16="http://schemas.microsoft.com/office/drawing/2014/main" id="{4225FC0B-6E2A-02FE-5CA4-97DFB420131E}"/>
                </a:ext>
              </a:extLst>
            </p:cNvPr>
            <p:cNvCxnSpPr>
              <a:cxnSpLocks/>
            </p:cNvCxnSpPr>
            <p:nvPr/>
          </p:nvCxnSpPr>
          <p:spPr>
            <a:xfrm>
              <a:off x="971600" y="1772816"/>
              <a:ext cx="0" cy="3384376"/>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78" name="テキスト ボックス 77">
              <a:extLst>
                <a:ext uri="{FF2B5EF4-FFF2-40B4-BE49-F238E27FC236}">
                  <a16:creationId xmlns:a16="http://schemas.microsoft.com/office/drawing/2014/main" id="{750E9341-E20E-C4E0-4697-E683F6AE391B}"/>
                </a:ext>
              </a:extLst>
            </p:cNvPr>
            <p:cNvSpPr txBox="1"/>
            <p:nvPr/>
          </p:nvSpPr>
          <p:spPr>
            <a:xfrm>
              <a:off x="7062314" y="1787503"/>
              <a:ext cx="798063" cy="461665"/>
            </a:xfrm>
            <a:prstGeom prst="rect">
              <a:avLst/>
            </a:prstGeom>
            <a:noFill/>
          </p:spPr>
          <p:txBody>
            <a:bodyPr wrap="square" rtlCol="0">
              <a:spAutoFit/>
            </a:bodyPr>
            <a:lstStyle/>
            <a:p>
              <a:r>
                <a:rPr lang="ja-JP" altLang="en-US" sz="2400" dirty="0"/>
                <a:t>鏡像</a:t>
              </a:r>
              <a:endParaRPr kumimoji="1" lang="ja-JP" altLang="en-US" sz="2400" dirty="0"/>
            </a:p>
          </p:txBody>
        </p:sp>
        <p:sp>
          <p:nvSpPr>
            <p:cNvPr id="79" name="テキスト ボックス 78">
              <a:extLst>
                <a:ext uri="{FF2B5EF4-FFF2-40B4-BE49-F238E27FC236}">
                  <a16:creationId xmlns:a16="http://schemas.microsoft.com/office/drawing/2014/main" id="{AB891789-352A-3E65-CA06-FCEFED6E5145}"/>
                </a:ext>
              </a:extLst>
            </p:cNvPr>
            <p:cNvSpPr txBox="1"/>
            <p:nvPr/>
          </p:nvSpPr>
          <p:spPr>
            <a:xfrm>
              <a:off x="1294050" y="1781944"/>
              <a:ext cx="798063" cy="461665"/>
            </a:xfrm>
            <a:prstGeom prst="rect">
              <a:avLst/>
            </a:prstGeom>
            <a:noFill/>
          </p:spPr>
          <p:txBody>
            <a:bodyPr wrap="square" rtlCol="0">
              <a:spAutoFit/>
            </a:bodyPr>
            <a:lstStyle/>
            <a:p>
              <a:r>
                <a:rPr lang="ja-JP" altLang="en-US" sz="2400" dirty="0"/>
                <a:t>鏡像</a:t>
              </a:r>
              <a:endParaRPr kumimoji="1" lang="ja-JP" altLang="en-US" sz="2400" dirty="0"/>
            </a:p>
          </p:txBody>
        </p:sp>
      </p:grpSp>
      <p:grpSp>
        <p:nvGrpSpPr>
          <p:cNvPr id="80" name="グループ化 79">
            <a:extLst>
              <a:ext uri="{FF2B5EF4-FFF2-40B4-BE49-F238E27FC236}">
                <a16:creationId xmlns:a16="http://schemas.microsoft.com/office/drawing/2014/main" id="{E15A5140-8EF6-0F19-9A08-598A8A809260}"/>
              </a:ext>
            </a:extLst>
          </p:cNvPr>
          <p:cNvGrpSpPr/>
          <p:nvPr/>
        </p:nvGrpSpPr>
        <p:grpSpPr>
          <a:xfrm>
            <a:off x="2401603" y="1424762"/>
            <a:ext cx="4340799" cy="3384376"/>
            <a:chOff x="2401603" y="1743692"/>
            <a:chExt cx="4340799" cy="3384376"/>
          </a:xfrm>
        </p:grpSpPr>
        <p:sp>
          <p:nvSpPr>
            <p:cNvPr id="63" name="正方形/長方形 62">
              <a:extLst>
                <a:ext uri="{FF2B5EF4-FFF2-40B4-BE49-F238E27FC236}">
                  <a16:creationId xmlns:a16="http://schemas.microsoft.com/office/drawing/2014/main" id="{FC916259-5AC8-559B-EA6B-E1AD09913066}"/>
                </a:ext>
              </a:extLst>
            </p:cNvPr>
            <p:cNvSpPr/>
            <p:nvPr/>
          </p:nvSpPr>
          <p:spPr>
            <a:xfrm>
              <a:off x="2401603" y="4557127"/>
              <a:ext cx="4330638" cy="390759"/>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9" name="直線コネクタ 38">
              <a:extLst>
                <a:ext uri="{FF2B5EF4-FFF2-40B4-BE49-F238E27FC236}">
                  <a16:creationId xmlns:a16="http://schemas.microsoft.com/office/drawing/2014/main" id="{B4C9378D-3675-8028-CA68-33EFF4732E3E}"/>
                </a:ext>
              </a:extLst>
            </p:cNvPr>
            <p:cNvCxnSpPr>
              <a:cxnSpLocks/>
            </p:cNvCxnSpPr>
            <p:nvPr/>
          </p:nvCxnSpPr>
          <p:spPr>
            <a:xfrm>
              <a:off x="2411760" y="1743692"/>
              <a:ext cx="0" cy="3384376"/>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BF3C11F7-9E2E-49E1-2577-F5A140CFD912}"/>
                </a:ext>
              </a:extLst>
            </p:cNvPr>
            <p:cNvCxnSpPr>
              <a:cxnSpLocks/>
            </p:cNvCxnSpPr>
            <p:nvPr/>
          </p:nvCxnSpPr>
          <p:spPr>
            <a:xfrm>
              <a:off x="6742402" y="1743692"/>
              <a:ext cx="0" cy="3384376"/>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76" name="テキスト ボックス 75">
              <a:extLst>
                <a:ext uri="{FF2B5EF4-FFF2-40B4-BE49-F238E27FC236}">
                  <a16:creationId xmlns:a16="http://schemas.microsoft.com/office/drawing/2014/main" id="{27DC2B59-06F8-8644-E5AA-8BE5C546B464}"/>
                </a:ext>
              </a:extLst>
            </p:cNvPr>
            <p:cNvSpPr txBox="1"/>
            <p:nvPr/>
          </p:nvSpPr>
          <p:spPr>
            <a:xfrm>
              <a:off x="2737890" y="1768493"/>
              <a:ext cx="798063" cy="461665"/>
            </a:xfrm>
            <a:prstGeom prst="rect">
              <a:avLst/>
            </a:prstGeom>
            <a:noFill/>
          </p:spPr>
          <p:txBody>
            <a:bodyPr wrap="square" rtlCol="0">
              <a:spAutoFit/>
            </a:bodyPr>
            <a:lstStyle/>
            <a:p>
              <a:r>
                <a:rPr lang="ja-JP" altLang="en-US" sz="2400" dirty="0"/>
                <a:t>鏡像</a:t>
              </a:r>
              <a:endParaRPr kumimoji="1" lang="ja-JP" altLang="en-US" sz="2400" dirty="0"/>
            </a:p>
          </p:txBody>
        </p:sp>
        <p:sp>
          <p:nvSpPr>
            <p:cNvPr id="77" name="テキスト ボックス 76">
              <a:extLst>
                <a:ext uri="{FF2B5EF4-FFF2-40B4-BE49-F238E27FC236}">
                  <a16:creationId xmlns:a16="http://schemas.microsoft.com/office/drawing/2014/main" id="{E8314E3C-1197-00B4-DE8E-C19D8EA49929}"/>
                </a:ext>
              </a:extLst>
            </p:cNvPr>
            <p:cNvSpPr txBox="1"/>
            <p:nvPr/>
          </p:nvSpPr>
          <p:spPr>
            <a:xfrm>
              <a:off x="5608047" y="1787503"/>
              <a:ext cx="798063" cy="461665"/>
            </a:xfrm>
            <a:prstGeom prst="rect">
              <a:avLst/>
            </a:prstGeom>
            <a:noFill/>
          </p:spPr>
          <p:txBody>
            <a:bodyPr wrap="square" rtlCol="0">
              <a:spAutoFit/>
            </a:bodyPr>
            <a:lstStyle/>
            <a:p>
              <a:r>
                <a:rPr lang="ja-JP" altLang="en-US" sz="2400" dirty="0"/>
                <a:t>鏡像</a:t>
              </a:r>
              <a:endParaRPr kumimoji="1" lang="ja-JP" altLang="en-US" sz="2400" dirty="0"/>
            </a:p>
          </p:txBody>
        </p:sp>
      </p:grpSp>
      <p:sp>
        <p:nvSpPr>
          <p:cNvPr id="2" name="タイトル 1">
            <a:extLst>
              <a:ext uri="{FF2B5EF4-FFF2-40B4-BE49-F238E27FC236}">
                <a16:creationId xmlns:a16="http://schemas.microsoft.com/office/drawing/2014/main" id="{BFDD58C7-BE5B-097B-9C05-EAB65007476B}"/>
              </a:ext>
            </a:extLst>
          </p:cNvPr>
          <p:cNvSpPr>
            <a:spLocks noGrp="1"/>
          </p:cNvSpPr>
          <p:nvPr>
            <p:ph type="title"/>
          </p:nvPr>
        </p:nvSpPr>
        <p:spPr>
          <a:xfrm>
            <a:off x="457200" y="53752"/>
            <a:ext cx="8229600" cy="1143000"/>
          </a:xfrm>
        </p:spPr>
        <p:txBody>
          <a:bodyPr>
            <a:normAutofit/>
          </a:bodyPr>
          <a:lstStyle/>
          <a:p>
            <a:r>
              <a:rPr lang="ja-JP" altLang="en-US" dirty="0">
                <a:latin typeface="Arial" pitchFamily="18"/>
              </a:rPr>
              <a:t>反射境界を利用した計算</a:t>
            </a:r>
            <a:endParaRPr kumimoji="1" lang="ja-JP" altLang="en-US" dirty="0"/>
          </a:p>
        </p:txBody>
      </p:sp>
      <p:grpSp>
        <p:nvGrpSpPr>
          <p:cNvPr id="86" name="グループ化 85">
            <a:extLst>
              <a:ext uri="{FF2B5EF4-FFF2-40B4-BE49-F238E27FC236}">
                <a16:creationId xmlns:a16="http://schemas.microsoft.com/office/drawing/2014/main" id="{E840575D-816A-EA6A-2D5E-7D7196B50065}"/>
              </a:ext>
            </a:extLst>
          </p:cNvPr>
          <p:cNvGrpSpPr/>
          <p:nvPr/>
        </p:nvGrpSpPr>
        <p:grpSpPr>
          <a:xfrm>
            <a:off x="3851920" y="2432874"/>
            <a:ext cx="1440160" cy="1528081"/>
            <a:chOff x="3851920" y="2751804"/>
            <a:chExt cx="1440160" cy="1528081"/>
          </a:xfrm>
        </p:grpSpPr>
        <p:cxnSp>
          <p:nvCxnSpPr>
            <p:cNvPr id="10" name="直線矢印コネクタ 9">
              <a:extLst>
                <a:ext uri="{FF2B5EF4-FFF2-40B4-BE49-F238E27FC236}">
                  <a16:creationId xmlns:a16="http://schemas.microsoft.com/office/drawing/2014/main" id="{FAB1F708-E462-E952-31F3-0F25B660DC6F}"/>
                </a:ext>
              </a:extLst>
            </p:cNvPr>
            <p:cNvCxnSpPr>
              <a:cxnSpLocks/>
            </p:cNvCxnSpPr>
            <p:nvPr/>
          </p:nvCxnSpPr>
          <p:spPr>
            <a:xfrm flipV="1">
              <a:off x="3851920" y="3725229"/>
              <a:ext cx="1440160" cy="554656"/>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5F08DF8D-8259-E212-E58F-8BBC10C3C672}"/>
                </a:ext>
              </a:extLst>
            </p:cNvPr>
            <p:cNvCxnSpPr>
              <a:cxnSpLocks/>
            </p:cNvCxnSpPr>
            <p:nvPr/>
          </p:nvCxnSpPr>
          <p:spPr>
            <a:xfrm flipV="1">
              <a:off x="3855711" y="2751804"/>
              <a:ext cx="1391194" cy="473142"/>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70D04C0C-095F-C081-022E-9455F625B971}"/>
                </a:ext>
              </a:extLst>
            </p:cNvPr>
            <p:cNvCxnSpPr>
              <a:cxnSpLocks/>
            </p:cNvCxnSpPr>
            <p:nvPr/>
          </p:nvCxnSpPr>
          <p:spPr>
            <a:xfrm flipH="1" flipV="1">
              <a:off x="3886933" y="3204780"/>
              <a:ext cx="1405147" cy="520449"/>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grpSp>
      <p:sp>
        <p:nvSpPr>
          <p:cNvPr id="28" name="楕円 27">
            <a:extLst>
              <a:ext uri="{FF2B5EF4-FFF2-40B4-BE49-F238E27FC236}">
                <a16:creationId xmlns:a16="http://schemas.microsoft.com/office/drawing/2014/main" id="{3AD24003-1402-A6D6-EFEE-2ADB01F192EA}"/>
              </a:ext>
            </a:extLst>
          </p:cNvPr>
          <p:cNvSpPr/>
          <p:nvPr/>
        </p:nvSpPr>
        <p:spPr>
          <a:xfrm>
            <a:off x="4446482" y="3406299"/>
            <a:ext cx="216024" cy="216619"/>
          </a:xfrm>
          <a:prstGeom prst="ellipse">
            <a:avLst/>
          </a:prstGeom>
          <a:no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正方形/長方形 61">
            <a:extLst>
              <a:ext uri="{FF2B5EF4-FFF2-40B4-BE49-F238E27FC236}">
                <a16:creationId xmlns:a16="http://schemas.microsoft.com/office/drawing/2014/main" id="{7BC68DBB-75B4-5AFC-74E3-B2EB8D9490B8}"/>
              </a:ext>
            </a:extLst>
          </p:cNvPr>
          <p:cNvSpPr/>
          <p:nvPr/>
        </p:nvSpPr>
        <p:spPr>
          <a:xfrm>
            <a:off x="3841758" y="4239634"/>
            <a:ext cx="1475169" cy="389322"/>
          </a:xfrm>
          <a:prstGeom prst="rect">
            <a:avLst/>
          </a:prstGeom>
          <a:solidFill>
            <a:srgbClr val="808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コネクタ 6">
            <a:extLst>
              <a:ext uri="{FF2B5EF4-FFF2-40B4-BE49-F238E27FC236}">
                <a16:creationId xmlns:a16="http://schemas.microsoft.com/office/drawing/2014/main" id="{F131D1DD-ABAC-D983-8732-3974E126A39E}"/>
              </a:ext>
            </a:extLst>
          </p:cNvPr>
          <p:cNvCxnSpPr>
            <a:cxnSpLocks/>
          </p:cNvCxnSpPr>
          <p:nvPr/>
        </p:nvCxnSpPr>
        <p:spPr>
          <a:xfrm>
            <a:off x="3851920" y="1424762"/>
            <a:ext cx="0" cy="338437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1BC158AB-6349-ED1D-DB52-092E14EBA598}"/>
              </a:ext>
            </a:extLst>
          </p:cNvPr>
          <p:cNvCxnSpPr>
            <a:cxnSpLocks/>
          </p:cNvCxnSpPr>
          <p:nvPr/>
        </p:nvCxnSpPr>
        <p:spPr>
          <a:xfrm>
            <a:off x="5292080" y="1424762"/>
            <a:ext cx="0" cy="338437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7" name="テキスト ボックス 66">
            <a:extLst>
              <a:ext uri="{FF2B5EF4-FFF2-40B4-BE49-F238E27FC236}">
                <a16:creationId xmlns:a16="http://schemas.microsoft.com/office/drawing/2014/main" id="{6C3B4B40-7F4D-60D4-1ED8-231C55CF7BA2}"/>
              </a:ext>
            </a:extLst>
          </p:cNvPr>
          <p:cNvSpPr txBox="1"/>
          <p:nvPr/>
        </p:nvSpPr>
        <p:spPr>
          <a:xfrm>
            <a:off x="3265696" y="912427"/>
            <a:ext cx="1152123" cy="461665"/>
          </a:xfrm>
          <a:prstGeom prst="rect">
            <a:avLst/>
          </a:prstGeom>
          <a:noFill/>
        </p:spPr>
        <p:txBody>
          <a:bodyPr wrap="square" rtlCol="0">
            <a:spAutoFit/>
          </a:bodyPr>
          <a:lstStyle/>
          <a:p>
            <a:r>
              <a:rPr kumimoji="1" lang="ja-JP" altLang="en-US" sz="2400" dirty="0"/>
              <a:t>反射壁</a:t>
            </a:r>
          </a:p>
        </p:txBody>
      </p:sp>
      <p:sp>
        <p:nvSpPr>
          <p:cNvPr id="68" name="テキスト ボックス 67">
            <a:extLst>
              <a:ext uri="{FF2B5EF4-FFF2-40B4-BE49-F238E27FC236}">
                <a16:creationId xmlns:a16="http://schemas.microsoft.com/office/drawing/2014/main" id="{F034FB77-3BF8-BFB9-E81C-139CC3A74D03}"/>
              </a:ext>
            </a:extLst>
          </p:cNvPr>
          <p:cNvSpPr txBox="1"/>
          <p:nvPr/>
        </p:nvSpPr>
        <p:spPr>
          <a:xfrm>
            <a:off x="4788024" y="908720"/>
            <a:ext cx="1152123" cy="461665"/>
          </a:xfrm>
          <a:prstGeom prst="rect">
            <a:avLst/>
          </a:prstGeom>
          <a:noFill/>
        </p:spPr>
        <p:txBody>
          <a:bodyPr wrap="square" rtlCol="0">
            <a:spAutoFit/>
          </a:bodyPr>
          <a:lstStyle/>
          <a:p>
            <a:r>
              <a:rPr kumimoji="1" lang="ja-JP" altLang="en-US" sz="2400" dirty="0"/>
              <a:t>反射壁</a:t>
            </a:r>
          </a:p>
        </p:txBody>
      </p:sp>
      <p:sp>
        <p:nvSpPr>
          <p:cNvPr id="69" name="テキスト ボックス 68">
            <a:extLst>
              <a:ext uri="{FF2B5EF4-FFF2-40B4-BE49-F238E27FC236}">
                <a16:creationId xmlns:a16="http://schemas.microsoft.com/office/drawing/2014/main" id="{6600E794-0907-256F-1797-FE27FB345D6C}"/>
              </a:ext>
            </a:extLst>
          </p:cNvPr>
          <p:cNvSpPr txBox="1"/>
          <p:nvPr/>
        </p:nvSpPr>
        <p:spPr>
          <a:xfrm>
            <a:off x="4244133" y="4190648"/>
            <a:ext cx="645572" cy="461665"/>
          </a:xfrm>
          <a:prstGeom prst="rect">
            <a:avLst/>
          </a:prstGeom>
          <a:noFill/>
        </p:spPr>
        <p:txBody>
          <a:bodyPr wrap="square" rtlCol="0">
            <a:spAutoFit/>
          </a:bodyPr>
          <a:lstStyle/>
          <a:p>
            <a:r>
              <a:rPr lang="en-US" altLang="ja-JP" sz="2400" dirty="0">
                <a:solidFill>
                  <a:schemeClr val="bg1"/>
                </a:solidFill>
              </a:rPr>
              <a:t>Soil</a:t>
            </a:r>
            <a:endParaRPr kumimoji="1" lang="ja-JP" altLang="en-US" sz="2400" dirty="0">
              <a:solidFill>
                <a:schemeClr val="bg1"/>
              </a:solidFill>
            </a:endParaRPr>
          </a:p>
        </p:txBody>
      </p:sp>
      <p:sp>
        <p:nvSpPr>
          <p:cNvPr id="70" name="テキスト ボックス 69">
            <a:extLst>
              <a:ext uri="{FF2B5EF4-FFF2-40B4-BE49-F238E27FC236}">
                <a16:creationId xmlns:a16="http://schemas.microsoft.com/office/drawing/2014/main" id="{E017A52E-8109-B87F-C973-33BF68BA209C}"/>
              </a:ext>
            </a:extLst>
          </p:cNvPr>
          <p:cNvSpPr txBox="1"/>
          <p:nvPr/>
        </p:nvSpPr>
        <p:spPr>
          <a:xfrm>
            <a:off x="4289049" y="1575301"/>
            <a:ext cx="576064" cy="461665"/>
          </a:xfrm>
          <a:prstGeom prst="rect">
            <a:avLst/>
          </a:prstGeom>
          <a:noFill/>
        </p:spPr>
        <p:txBody>
          <a:bodyPr wrap="square" rtlCol="0">
            <a:spAutoFit/>
          </a:bodyPr>
          <a:lstStyle/>
          <a:p>
            <a:r>
              <a:rPr lang="en-US" altLang="ja-JP" sz="2400" dirty="0"/>
              <a:t>Air</a:t>
            </a:r>
          </a:p>
        </p:txBody>
      </p:sp>
      <p:grpSp>
        <p:nvGrpSpPr>
          <p:cNvPr id="85" name="グループ化 84">
            <a:extLst>
              <a:ext uri="{FF2B5EF4-FFF2-40B4-BE49-F238E27FC236}">
                <a16:creationId xmlns:a16="http://schemas.microsoft.com/office/drawing/2014/main" id="{99FD4C65-7592-8A55-D4C4-A9A6B222AD1A}"/>
              </a:ext>
            </a:extLst>
          </p:cNvPr>
          <p:cNvGrpSpPr/>
          <p:nvPr/>
        </p:nvGrpSpPr>
        <p:grpSpPr>
          <a:xfrm>
            <a:off x="3851920" y="3785402"/>
            <a:ext cx="1435077" cy="419773"/>
            <a:chOff x="3851920" y="3955687"/>
            <a:chExt cx="1435077" cy="419773"/>
          </a:xfrm>
        </p:grpSpPr>
        <p:cxnSp>
          <p:nvCxnSpPr>
            <p:cNvPr id="16" name="直線矢印コネクタ 15">
              <a:extLst>
                <a:ext uri="{FF2B5EF4-FFF2-40B4-BE49-F238E27FC236}">
                  <a16:creationId xmlns:a16="http://schemas.microsoft.com/office/drawing/2014/main" id="{4E2DAA59-E4D1-63C7-41B7-A16F1B16BBCD}"/>
                </a:ext>
              </a:extLst>
            </p:cNvPr>
            <p:cNvCxnSpPr>
              <a:cxnSpLocks/>
            </p:cNvCxnSpPr>
            <p:nvPr/>
          </p:nvCxnSpPr>
          <p:spPr>
            <a:xfrm flipH="1" flipV="1">
              <a:off x="3851920" y="4103341"/>
              <a:ext cx="720080" cy="272119"/>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84" name="テキスト ボックス 83">
              <a:extLst>
                <a:ext uri="{FF2B5EF4-FFF2-40B4-BE49-F238E27FC236}">
                  <a16:creationId xmlns:a16="http://schemas.microsoft.com/office/drawing/2014/main" id="{B9080043-296F-7064-CFB8-35012950B03C}"/>
                </a:ext>
              </a:extLst>
            </p:cNvPr>
            <p:cNvSpPr txBox="1"/>
            <p:nvPr/>
          </p:nvSpPr>
          <p:spPr>
            <a:xfrm>
              <a:off x="4135444" y="3955687"/>
              <a:ext cx="1151553" cy="369332"/>
            </a:xfrm>
            <a:prstGeom prst="rect">
              <a:avLst/>
            </a:prstGeom>
            <a:noFill/>
          </p:spPr>
          <p:txBody>
            <a:bodyPr wrap="square" rtlCol="0">
              <a:spAutoFit/>
            </a:bodyPr>
            <a:lstStyle/>
            <a:p>
              <a:r>
                <a:rPr kumimoji="1" lang="ja-JP" altLang="en-US" dirty="0"/>
                <a:t>粒子輸送</a:t>
              </a:r>
            </a:p>
          </p:txBody>
        </p:sp>
      </p:grpSp>
      <p:grpSp>
        <p:nvGrpSpPr>
          <p:cNvPr id="92" name="グループ化 91">
            <a:extLst>
              <a:ext uri="{FF2B5EF4-FFF2-40B4-BE49-F238E27FC236}">
                <a16:creationId xmlns:a16="http://schemas.microsoft.com/office/drawing/2014/main" id="{8C87B963-9205-9E23-5E75-D0299CB09255}"/>
              </a:ext>
            </a:extLst>
          </p:cNvPr>
          <p:cNvGrpSpPr/>
          <p:nvPr/>
        </p:nvGrpSpPr>
        <p:grpSpPr>
          <a:xfrm>
            <a:off x="287524" y="2936930"/>
            <a:ext cx="8222171" cy="2864696"/>
            <a:chOff x="287524" y="3084584"/>
            <a:chExt cx="8222171" cy="2864696"/>
          </a:xfrm>
        </p:grpSpPr>
        <p:cxnSp>
          <p:nvCxnSpPr>
            <p:cNvPr id="9" name="直線矢印コネクタ 8">
              <a:extLst>
                <a:ext uri="{FF2B5EF4-FFF2-40B4-BE49-F238E27FC236}">
                  <a16:creationId xmlns:a16="http://schemas.microsoft.com/office/drawing/2014/main" id="{DECA0775-CDFE-A5A7-65C2-B87B901BCF14}"/>
                </a:ext>
              </a:extLst>
            </p:cNvPr>
            <p:cNvCxnSpPr>
              <a:cxnSpLocks/>
            </p:cNvCxnSpPr>
            <p:nvPr/>
          </p:nvCxnSpPr>
          <p:spPr>
            <a:xfrm flipV="1">
              <a:off x="3124944" y="4117990"/>
              <a:ext cx="701509" cy="262738"/>
            </a:xfrm>
            <a:prstGeom prst="straightConnector1">
              <a:avLst/>
            </a:prstGeom>
            <a:ln w="38100">
              <a:solidFill>
                <a:srgbClr val="FFC00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直線矢印コネクタ 50">
              <a:extLst>
                <a:ext uri="{FF2B5EF4-FFF2-40B4-BE49-F238E27FC236}">
                  <a16:creationId xmlns:a16="http://schemas.microsoft.com/office/drawing/2014/main" id="{BAC1FB6E-16F8-FC8C-99F5-E4258B333D3B}"/>
                </a:ext>
              </a:extLst>
            </p:cNvPr>
            <p:cNvCxnSpPr>
              <a:cxnSpLocks/>
            </p:cNvCxnSpPr>
            <p:nvPr/>
          </p:nvCxnSpPr>
          <p:spPr>
            <a:xfrm>
              <a:off x="5292080" y="3553953"/>
              <a:ext cx="2161377" cy="826775"/>
            </a:xfrm>
            <a:prstGeom prst="straightConnector1">
              <a:avLst/>
            </a:prstGeom>
            <a:ln w="38100">
              <a:solidFill>
                <a:srgbClr val="FFC00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 name="直線矢印コネクタ 58">
              <a:extLst>
                <a:ext uri="{FF2B5EF4-FFF2-40B4-BE49-F238E27FC236}">
                  <a16:creationId xmlns:a16="http://schemas.microsoft.com/office/drawing/2014/main" id="{63AB6D1F-AF2B-3DFE-C2B5-2A20B711249B}"/>
                </a:ext>
              </a:extLst>
            </p:cNvPr>
            <p:cNvCxnSpPr>
              <a:cxnSpLocks/>
            </p:cNvCxnSpPr>
            <p:nvPr/>
          </p:nvCxnSpPr>
          <p:spPr>
            <a:xfrm flipH="1">
              <a:off x="287524" y="3084584"/>
              <a:ext cx="3529384" cy="1197956"/>
            </a:xfrm>
            <a:prstGeom prst="straightConnector1">
              <a:avLst/>
            </a:prstGeom>
            <a:ln w="38100">
              <a:solidFill>
                <a:srgbClr val="FFC00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9" name="テキスト ボックス 88">
              <a:extLst>
                <a:ext uri="{FF2B5EF4-FFF2-40B4-BE49-F238E27FC236}">
                  <a16:creationId xmlns:a16="http://schemas.microsoft.com/office/drawing/2014/main" id="{884C45AD-74DC-5835-0E52-B0C9EF4A51A8}"/>
                </a:ext>
              </a:extLst>
            </p:cNvPr>
            <p:cNvSpPr txBox="1"/>
            <p:nvPr/>
          </p:nvSpPr>
          <p:spPr>
            <a:xfrm>
              <a:off x="644466" y="5487615"/>
              <a:ext cx="7865229" cy="461665"/>
            </a:xfrm>
            <a:prstGeom prst="rect">
              <a:avLst/>
            </a:prstGeom>
            <a:noFill/>
          </p:spPr>
          <p:txBody>
            <a:bodyPr wrap="square" rtlCol="0">
              <a:spAutoFit/>
            </a:bodyPr>
            <a:lstStyle/>
            <a:p>
              <a:r>
                <a:rPr lang="ja-JP" altLang="en-US" sz="2400" dirty="0"/>
                <a:t>境界で反射された粒子＝</a:t>
              </a:r>
              <a:r>
                <a:rPr kumimoji="1" lang="ja-JP" altLang="en-US" sz="2400" dirty="0"/>
                <a:t>鏡像領域から入射される独立粒子</a:t>
              </a:r>
            </a:p>
          </p:txBody>
        </p:sp>
      </p:grpSp>
      <p:grpSp>
        <p:nvGrpSpPr>
          <p:cNvPr id="94" name="グループ化 93">
            <a:extLst>
              <a:ext uri="{FF2B5EF4-FFF2-40B4-BE49-F238E27FC236}">
                <a16:creationId xmlns:a16="http://schemas.microsoft.com/office/drawing/2014/main" id="{BDBBEE3D-D88A-BFD4-FEF9-10A7821A3897}"/>
              </a:ext>
            </a:extLst>
          </p:cNvPr>
          <p:cNvGrpSpPr/>
          <p:nvPr/>
        </p:nvGrpSpPr>
        <p:grpSpPr>
          <a:xfrm>
            <a:off x="555821" y="5805264"/>
            <a:ext cx="8022195" cy="1027170"/>
            <a:chOff x="555821" y="5805264"/>
            <a:chExt cx="8022195" cy="1027170"/>
          </a:xfrm>
        </p:grpSpPr>
        <p:sp>
          <p:nvSpPr>
            <p:cNvPr id="90" name="矢印: 下 89">
              <a:extLst>
                <a:ext uri="{FF2B5EF4-FFF2-40B4-BE49-F238E27FC236}">
                  <a16:creationId xmlns:a16="http://schemas.microsoft.com/office/drawing/2014/main" id="{D3D8BE68-67BB-18BF-C8E3-4F313B753A85}"/>
                </a:ext>
              </a:extLst>
            </p:cNvPr>
            <p:cNvSpPr/>
            <p:nvPr/>
          </p:nvSpPr>
          <p:spPr>
            <a:xfrm>
              <a:off x="4339901" y="5805264"/>
              <a:ext cx="520131" cy="2570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1" name="テキスト ボックス 90">
              <a:extLst>
                <a:ext uri="{FF2B5EF4-FFF2-40B4-BE49-F238E27FC236}">
                  <a16:creationId xmlns:a16="http://schemas.microsoft.com/office/drawing/2014/main" id="{047468DA-4C09-99C7-8725-F2A9165A68A4}"/>
                </a:ext>
              </a:extLst>
            </p:cNvPr>
            <p:cNvSpPr txBox="1"/>
            <p:nvPr/>
          </p:nvSpPr>
          <p:spPr>
            <a:xfrm>
              <a:off x="555821" y="6124548"/>
              <a:ext cx="8022195" cy="707886"/>
            </a:xfrm>
            <a:prstGeom prst="rect">
              <a:avLst/>
            </a:prstGeom>
            <a:noFill/>
          </p:spPr>
          <p:txBody>
            <a:bodyPr wrap="square" rtlCol="0">
              <a:spAutoFit/>
            </a:bodyPr>
            <a:lstStyle/>
            <a:p>
              <a:pPr algn="ctr"/>
              <a:r>
                <a:rPr kumimoji="1" lang="ja-JP" altLang="en-US" sz="2000" dirty="0">
                  <a:solidFill>
                    <a:srgbClr val="FF0000"/>
                  </a:solidFill>
                </a:rPr>
                <a:t>無限平面から対象領域に入射される粒子“だけ”を追ったシミュレーション</a:t>
              </a:r>
              <a:endParaRPr kumimoji="1" lang="en-US" altLang="ja-JP" sz="2000" dirty="0">
                <a:solidFill>
                  <a:srgbClr val="FF0000"/>
                </a:solidFill>
              </a:endParaRPr>
            </a:p>
            <a:p>
              <a:pPr algn="ctr"/>
              <a:r>
                <a:rPr lang="en-US" altLang="ja-JP" sz="2000" dirty="0">
                  <a:solidFill>
                    <a:srgbClr val="FF0000"/>
                  </a:solidFill>
                </a:rPr>
                <a:t>= </a:t>
              </a:r>
              <a:r>
                <a:rPr lang="ja-JP" altLang="en-US" sz="2000" dirty="0">
                  <a:solidFill>
                    <a:srgbClr val="FF0000"/>
                  </a:solidFill>
                </a:rPr>
                <a:t>非常に効率が良い</a:t>
              </a:r>
              <a:endParaRPr kumimoji="1" lang="ja-JP" altLang="en-US" sz="2000" dirty="0">
                <a:solidFill>
                  <a:srgbClr val="FF0000"/>
                </a:solidFill>
              </a:endParaRPr>
            </a:p>
          </p:txBody>
        </p:sp>
      </p:grpSp>
      <p:sp>
        <p:nvSpPr>
          <p:cNvPr id="3" name="スライド番号プレースホルダー 2">
            <a:extLst>
              <a:ext uri="{FF2B5EF4-FFF2-40B4-BE49-F238E27FC236}">
                <a16:creationId xmlns:a16="http://schemas.microsoft.com/office/drawing/2014/main" id="{E761DA67-7127-6951-103C-246EAB221422}"/>
              </a:ext>
            </a:extLst>
          </p:cNvPr>
          <p:cNvSpPr>
            <a:spLocks noGrp="1"/>
          </p:cNvSpPr>
          <p:nvPr>
            <p:ph type="sldNum" sz="quarter" idx="12"/>
          </p:nvPr>
        </p:nvSpPr>
        <p:spPr/>
        <p:txBody>
          <a:bodyPr/>
          <a:lstStyle/>
          <a:p>
            <a:fld id="{D2D8002D-B5B0-4BAC-B1F6-782DDCCE6D9C}" type="slidenum">
              <a:rPr kumimoji="1" lang="ja-JP" altLang="en-US" smtClean="0"/>
              <a:t>10</a:t>
            </a:fld>
            <a:endParaRPr kumimoji="1" lang="ja-JP" altLang="en-US"/>
          </a:p>
        </p:txBody>
      </p:sp>
    </p:spTree>
    <p:extLst>
      <p:ext uri="{BB962C8B-B14F-4D97-AF65-F5344CB8AC3E}">
        <p14:creationId xmlns:p14="http://schemas.microsoft.com/office/powerpoint/2010/main" val="3989312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B88B4-EC15-B839-E7FA-5C21026EA46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9BAAD4F-CE8B-8C7F-1B9E-D5111D42A921}"/>
              </a:ext>
            </a:extLst>
          </p:cNvPr>
          <p:cNvSpPr>
            <a:spLocks noGrp="1"/>
          </p:cNvSpPr>
          <p:nvPr>
            <p:ph type="title"/>
          </p:nvPr>
        </p:nvSpPr>
        <p:spPr>
          <a:xfrm>
            <a:off x="457200" y="53752"/>
            <a:ext cx="8229600" cy="1143000"/>
          </a:xfrm>
        </p:spPr>
        <p:txBody>
          <a:bodyPr>
            <a:normAutofit/>
          </a:bodyPr>
          <a:lstStyle/>
          <a:p>
            <a:r>
              <a:rPr lang="ja-JP" altLang="en-US" dirty="0">
                <a:latin typeface="Arial" pitchFamily="18"/>
              </a:rPr>
              <a:t>ステップ</a:t>
            </a:r>
            <a:r>
              <a:rPr lang="ja-JP" altLang="ja-JP" dirty="0">
                <a:latin typeface="Arial" pitchFamily="18"/>
              </a:rPr>
              <a:t> </a:t>
            </a:r>
            <a:r>
              <a:rPr lang="en-US" altLang="ja-JP" dirty="0">
                <a:latin typeface="Arial" pitchFamily="18"/>
              </a:rPr>
              <a:t>2</a:t>
            </a:r>
            <a:r>
              <a:rPr lang="ja-JP" altLang="en-US" dirty="0">
                <a:latin typeface="Arial" pitchFamily="18"/>
              </a:rPr>
              <a:t>（反射境界）</a:t>
            </a:r>
            <a:endParaRPr kumimoji="1" lang="ja-JP" altLang="en-US" dirty="0"/>
          </a:p>
        </p:txBody>
      </p:sp>
      <p:sp>
        <p:nvSpPr>
          <p:cNvPr id="13" name="正方形/長方形 12">
            <a:extLst>
              <a:ext uri="{FF2B5EF4-FFF2-40B4-BE49-F238E27FC236}">
                <a16:creationId xmlns:a16="http://schemas.microsoft.com/office/drawing/2014/main" id="{153BB485-A593-B16E-8766-30A19D6EA689}"/>
              </a:ext>
            </a:extLst>
          </p:cNvPr>
          <p:cNvSpPr/>
          <p:nvPr/>
        </p:nvSpPr>
        <p:spPr>
          <a:xfrm>
            <a:off x="323528" y="2742683"/>
            <a:ext cx="8568952" cy="395882"/>
          </a:xfrm>
          <a:prstGeom prst="rect">
            <a:avLst/>
          </a:prstGeom>
          <a:solidFill>
            <a:srgbClr val="808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楕円 27">
            <a:extLst>
              <a:ext uri="{FF2B5EF4-FFF2-40B4-BE49-F238E27FC236}">
                <a16:creationId xmlns:a16="http://schemas.microsoft.com/office/drawing/2014/main" id="{390786C7-2CA3-9CB0-4771-F7E2D4935821}"/>
              </a:ext>
            </a:extLst>
          </p:cNvPr>
          <p:cNvSpPr/>
          <p:nvPr/>
        </p:nvSpPr>
        <p:spPr>
          <a:xfrm>
            <a:off x="4482486" y="1915908"/>
            <a:ext cx="216024" cy="216619"/>
          </a:xfrm>
          <a:prstGeom prst="ellipse">
            <a:avLst/>
          </a:prstGeom>
          <a:no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Text Box 1031">
            <a:extLst>
              <a:ext uri="{FF2B5EF4-FFF2-40B4-BE49-F238E27FC236}">
                <a16:creationId xmlns:a16="http://schemas.microsoft.com/office/drawing/2014/main" id="{E148601D-848B-ADCA-4007-041FBDA52540}"/>
              </a:ext>
            </a:extLst>
          </p:cNvPr>
          <p:cNvSpPr txBox="1">
            <a:spLocks noChangeArrowheads="1"/>
          </p:cNvSpPr>
          <p:nvPr/>
        </p:nvSpPr>
        <p:spPr bwMode="auto">
          <a:xfrm>
            <a:off x="5724128" y="1124744"/>
            <a:ext cx="3168352" cy="1315004"/>
          </a:xfrm>
          <a:prstGeom prst="rect">
            <a:avLst/>
          </a:prstGeom>
          <a:solidFill>
            <a:schemeClr val="bg1"/>
          </a:solidFill>
          <a:ln w="19050">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400" dirty="0">
                <a:latin typeface="Tahoma" panose="020B0604030504040204" pitchFamily="34" charset="0"/>
              </a:rPr>
              <a:t>set:c3[1000] $ Reflection box size </a:t>
            </a:r>
            <a:r>
              <a:rPr lang="en-US" altLang="ja-JP" sz="1400" dirty="0" err="1">
                <a:latin typeface="Tahoma" panose="020B0604030504040204" pitchFamily="34" charset="0"/>
              </a:rPr>
              <a:t>xy</a:t>
            </a:r>
            <a:endParaRPr lang="en-US" altLang="ja-JP" sz="1400" dirty="0">
              <a:latin typeface="Tahoma" panose="020B0604030504040204" pitchFamily="34" charset="0"/>
            </a:endParaRPr>
          </a:p>
          <a:p>
            <a:pPr eaLnBrk="1" hangingPunct="1">
              <a:spcBef>
                <a:spcPct val="0"/>
              </a:spcBef>
              <a:buFontTx/>
              <a:buNone/>
            </a:pPr>
            <a:r>
              <a:rPr lang="en-US" altLang="ja-JP" sz="1400" dirty="0">
                <a:latin typeface="Tahoma" panose="020B0604030504040204" pitchFamily="34" charset="0"/>
              </a:rPr>
              <a:t>[ Surface ]</a:t>
            </a:r>
          </a:p>
          <a:p>
            <a:pPr eaLnBrk="1" hangingPunct="1">
              <a:spcBef>
                <a:spcPct val="0"/>
              </a:spcBef>
              <a:buFontTx/>
              <a:buNone/>
            </a:pPr>
            <a:r>
              <a:rPr lang="en-US" altLang="ja-JP" sz="1400" dirty="0">
                <a:latin typeface="Tahoma" panose="020B0604030504040204" pitchFamily="34" charset="0"/>
              </a:rPr>
              <a:t>*101  </a:t>
            </a:r>
            <a:r>
              <a:rPr lang="en-US" altLang="ja-JP" sz="1400" dirty="0" err="1">
                <a:latin typeface="Tahoma" panose="020B0604030504040204" pitchFamily="34" charset="0"/>
              </a:rPr>
              <a:t>px</a:t>
            </a:r>
            <a:r>
              <a:rPr lang="en-US" altLang="ja-JP" sz="1400" dirty="0">
                <a:latin typeface="Tahoma" panose="020B0604030504040204" pitchFamily="34" charset="0"/>
              </a:rPr>
              <a:t> -0.5*c3</a:t>
            </a:r>
          </a:p>
          <a:p>
            <a:pPr eaLnBrk="1" hangingPunct="1">
              <a:spcBef>
                <a:spcPct val="0"/>
              </a:spcBef>
              <a:buFontTx/>
              <a:buNone/>
            </a:pPr>
            <a:r>
              <a:rPr lang="en-US" altLang="ja-JP" sz="1400" dirty="0">
                <a:latin typeface="Tahoma" panose="020B0604030504040204" pitchFamily="34" charset="0"/>
              </a:rPr>
              <a:t>*102  </a:t>
            </a:r>
            <a:r>
              <a:rPr lang="en-US" altLang="ja-JP" sz="1400" dirty="0" err="1">
                <a:latin typeface="Tahoma" panose="020B0604030504040204" pitchFamily="34" charset="0"/>
              </a:rPr>
              <a:t>px</a:t>
            </a:r>
            <a:r>
              <a:rPr lang="en-US" altLang="ja-JP" sz="1400" dirty="0">
                <a:latin typeface="Tahoma" panose="020B0604030504040204" pitchFamily="34" charset="0"/>
              </a:rPr>
              <a:t>  0.5*c3</a:t>
            </a:r>
          </a:p>
          <a:p>
            <a:pPr eaLnBrk="1" hangingPunct="1">
              <a:spcBef>
                <a:spcPct val="0"/>
              </a:spcBef>
              <a:buFontTx/>
              <a:buNone/>
            </a:pPr>
            <a:r>
              <a:rPr lang="en-US" altLang="ja-JP" sz="1400" dirty="0">
                <a:latin typeface="Tahoma" panose="020B0604030504040204" pitchFamily="34" charset="0"/>
              </a:rPr>
              <a:t>*103  </a:t>
            </a:r>
            <a:r>
              <a:rPr lang="en-US" altLang="ja-JP" sz="1400" dirty="0" err="1">
                <a:latin typeface="Tahoma" panose="020B0604030504040204" pitchFamily="34" charset="0"/>
              </a:rPr>
              <a:t>py</a:t>
            </a:r>
            <a:r>
              <a:rPr lang="en-US" altLang="ja-JP" sz="1400" dirty="0">
                <a:latin typeface="Tahoma" panose="020B0604030504040204" pitchFamily="34" charset="0"/>
              </a:rPr>
              <a:t> -0.5*c3</a:t>
            </a:r>
          </a:p>
          <a:p>
            <a:pPr eaLnBrk="1" hangingPunct="1">
              <a:spcBef>
                <a:spcPct val="0"/>
              </a:spcBef>
              <a:buFontTx/>
              <a:buNone/>
            </a:pPr>
            <a:r>
              <a:rPr lang="en-US" altLang="ja-JP" sz="1400" dirty="0">
                <a:latin typeface="Tahoma" panose="020B0604030504040204" pitchFamily="34" charset="0"/>
              </a:rPr>
              <a:t>*104  </a:t>
            </a:r>
            <a:r>
              <a:rPr lang="en-US" altLang="ja-JP" sz="1400" dirty="0" err="1">
                <a:latin typeface="Tahoma" panose="020B0604030504040204" pitchFamily="34" charset="0"/>
              </a:rPr>
              <a:t>py</a:t>
            </a:r>
            <a:r>
              <a:rPr lang="en-US" altLang="ja-JP" sz="1400" dirty="0">
                <a:latin typeface="Tahoma" panose="020B0604030504040204" pitchFamily="34" charset="0"/>
              </a:rPr>
              <a:t>  0.5*c3</a:t>
            </a:r>
            <a:endParaRPr lang="pt-BR" altLang="ja-JP" sz="1400" dirty="0">
              <a:solidFill>
                <a:srgbClr val="000000"/>
              </a:solidFill>
              <a:latin typeface="Tahoma" panose="020B0604030504040204" pitchFamily="34" charset="0"/>
            </a:endParaRPr>
          </a:p>
        </p:txBody>
      </p:sp>
      <p:cxnSp>
        <p:nvCxnSpPr>
          <p:cNvPr id="4" name="直線コネクタ 3">
            <a:extLst>
              <a:ext uri="{FF2B5EF4-FFF2-40B4-BE49-F238E27FC236}">
                <a16:creationId xmlns:a16="http://schemas.microsoft.com/office/drawing/2014/main" id="{53A16DD1-557C-F196-82DE-7865EE8DB0ED}"/>
              </a:ext>
            </a:extLst>
          </p:cNvPr>
          <p:cNvCxnSpPr>
            <a:cxnSpLocks/>
          </p:cNvCxnSpPr>
          <p:nvPr/>
        </p:nvCxnSpPr>
        <p:spPr>
          <a:xfrm>
            <a:off x="3851920" y="1640786"/>
            <a:ext cx="0" cy="149777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D9A9E42A-F55A-1AE7-9D8F-8D4844CCE22C}"/>
              </a:ext>
            </a:extLst>
          </p:cNvPr>
          <p:cNvCxnSpPr>
            <a:cxnSpLocks/>
          </p:cNvCxnSpPr>
          <p:nvPr/>
        </p:nvCxnSpPr>
        <p:spPr>
          <a:xfrm>
            <a:off x="5292080" y="1640786"/>
            <a:ext cx="0" cy="149777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テキスト ボックス 22">
            <a:extLst>
              <a:ext uri="{FF2B5EF4-FFF2-40B4-BE49-F238E27FC236}">
                <a16:creationId xmlns:a16="http://schemas.microsoft.com/office/drawing/2014/main" id="{FE8467AB-B0C5-5DC3-FC4D-3C5DCCFCD7C6}"/>
              </a:ext>
            </a:extLst>
          </p:cNvPr>
          <p:cNvSpPr txBox="1"/>
          <p:nvPr/>
        </p:nvSpPr>
        <p:spPr>
          <a:xfrm>
            <a:off x="211385" y="3204348"/>
            <a:ext cx="929205" cy="523220"/>
          </a:xfrm>
          <a:prstGeom prst="rect">
            <a:avLst/>
          </a:prstGeom>
          <a:noFill/>
          <a:ln>
            <a:solidFill>
              <a:schemeClr val="tx1"/>
            </a:solidFill>
          </a:ln>
        </p:spPr>
        <p:txBody>
          <a:bodyPr wrap="square" rtlCol="0">
            <a:spAutoFit/>
          </a:bodyPr>
          <a:lstStyle/>
          <a:p>
            <a:r>
              <a:rPr kumimoji="1" lang="ja-JP" altLang="en-US" sz="2800" dirty="0"/>
              <a:t>体系</a:t>
            </a:r>
          </a:p>
        </p:txBody>
      </p:sp>
      <p:sp>
        <p:nvSpPr>
          <p:cNvPr id="24" name="テキスト ボックス 23">
            <a:extLst>
              <a:ext uri="{FF2B5EF4-FFF2-40B4-BE49-F238E27FC236}">
                <a16:creationId xmlns:a16="http://schemas.microsoft.com/office/drawing/2014/main" id="{A833AE00-04C5-DC02-CA52-19AF2D8E15A7}"/>
              </a:ext>
            </a:extLst>
          </p:cNvPr>
          <p:cNvSpPr txBox="1"/>
          <p:nvPr/>
        </p:nvSpPr>
        <p:spPr>
          <a:xfrm>
            <a:off x="4990085" y="3226843"/>
            <a:ext cx="929205" cy="523220"/>
          </a:xfrm>
          <a:prstGeom prst="rect">
            <a:avLst/>
          </a:prstGeom>
          <a:noFill/>
          <a:ln>
            <a:solidFill>
              <a:schemeClr val="tx1"/>
            </a:solidFill>
          </a:ln>
        </p:spPr>
        <p:txBody>
          <a:bodyPr wrap="square" rtlCol="0">
            <a:spAutoFit/>
          </a:bodyPr>
          <a:lstStyle/>
          <a:p>
            <a:r>
              <a:rPr lang="ja-JP" altLang="en-US" sz="2800" dirty="0"/>
              <a:t>線源</a:t>
            </a:r>
            <a:endParaRPr kumimoji="1" lang="ja-JP" altLang="en-US" sz="2800" dirty="0"/>
          </a:p>
        </p:txBody>
      </p:sp>
      <p:sp>
        <p:nvSpPr>
          <p:cNvPr id="25" name="Text Box 1031">
            <a:extLst>
              <a:ext uri="{FF2B5EF4-FFF2-40B4-BE49-F238E27FC236}">
                <a16:creationId xmlns:a16="http://schemas.microsoft.com/office/drawing/2014/main" id="{1FA61929-1623-9D34-E645-F33CBBB56E53}"/>
              </a:ext>
            </a:extLst>
          </p:cNvPr>
          <p:cNvSpPr txBox="1">
            <a:spLocks noChangeArrowheads="1"/>
          </p:cNvSpPr>
          <p:nvPr/>
        </p:nvSpPr>
        <p:spPr bwMode="auto">
          <a:xfrm>
            <a:off x="6084168" y="3825411"/>
            <a:ext cx="2286750" cy="2483909"/>
          </a:xfrm>
          <a:prstGeom prst="rect">
            <a:avLst/>
          </a:prstGeom>
          <a:solidFill>
            <a:schemeClr val="bg1"/>
          </a:solidFill>
          <a:ln w="19050">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fr-FR" altLang="ja-JP" sz="1400" dirty="0">
                <a:latin typeface="Tahoma" panose="020B0604030504040204" pitchFamily="34" charset="0"/>
              </a:rPr>
              <a:t>[ Source ] </a:t>
            </a:r>
            <a:r>
              <a:rPr lang="fr-FR" altLang="ja-JP" sz="1400" dirty="0">
                <a:solidFill>
                  <a:srgbClr val="FF0000"/>
                </a:solidFill>
                <a:latin typeface="Tahoma" panose="020B0604030504040204" pitchFamily="34" charset="0"/>
              </a:rPr>
              <a:t>off</a:t>
            </a:r>
          </a:p>
          <a:p>
            <a:pPr eaLnBrk="1" hangingPunct="1">
              <a:spcBef>
                <a:spcPct val="0"/>
              </a:spcBef>
              <a:buFontTx/>
              <a:buNone/>
            </a:pPr>
            <a:r>
              <a:rPr lang="fr-FR" altLang="ja-JP" sz="1400" dirty="0">
                <a:latin typeface="Tahoma" panose="020B0604030504040204" pitchFamily="34" charset="0"/>
              </a:rPr>
              <a:t>...</a:t>
            </a:r>
          </a:p>
          <a:p>
            <a:pPr eaLnBrk="1" hangingPunct="1">
              <a:spcBef>
                <a:spcPct val="0"/>
              </a:spcBef>
              <a:buFontTx/>
              <a:buNone/>
            </a:pPr>
            <a:endParaRPr lang="fr-FR" altLang="ja-JP" sz="1400" dirty="0">
              <a:latin typeface="Tahoma" panose="020B0604030504040204" pitchFamily="34" charset="0"/>
            </a:endParaRPr>
          </a:p>
          <a:p>
            <a:pPr eaLnBrk="1" hangingPunct="1">
              <a:spcBef>
                <a:spcPct val="0"/>
              </a:spcBef>
              <a:buFontTx/>
              <a:buNone/>
            </a:pPr>
            <a:r>
              <a:rPr lang="fr-FR" altLang="ja-JP" sz="1400" dirty="0">
                <a:latin typeface="Tahoma" panose="020B0604030504040204" pitchFamily="34" charset="0"/>
              </a:rPr>
              <a:t>[ Source ]  </a:t>
            </a:r>
          </a:p>
          <a:p>
            <a:pPr eaLnBrk="1" hangingPunct="1">
              <a:spcBef>
                <a:spcPct val="0"/>
              </a:spcBef>
              <a:buFontTx/>
              <a:buNone/>
            </a:pPr>
            <a:r>
              <a:rPr lang="fr-FR" altLang="ja-JP" sz="1400" dirty="0">
                <a:latin typeface="Tahoma" panose="020B0604030504040204" pitchFamily="34" charset="0"/>
              </a:rPr>
              <a:t>totfact =     c3*c3</a:t>
            </a:r>
          </a:p>
          <a:p>
            <a:pPr eaLnBrk="1" hangingPunct="1">
              <a:spcBef>
                <a:spcPct val="0"/>
              </a:spcBef>
              <a:buFontTx/>
              <a:buNone/>
            </a:pPr>
            <a:r>
              <a:rPr lang="fr-FR" altLang="ja-JP" sz="1400" dirty="0">
                <a:latin typeface="Tahoma" panose="020B0604030504040204" pitchFamily="34" charset="0"/>
              </a:rPr>
              <a:t>   s-type =     2</a:t>
            </a:r>
          </a:p>
          <a:p>
            <a:pPr eaLnBrk="1" hangingPunct="1">
              <a:spcBef>
                <a:spcPct val="0"/>
              </a:spcBef>
              <a:buFontTx/>
              <a:buNone/>
            </a:pPr>
            <a:r>
              <a:rPr lang="fr-FR" altLang="ja-JP" sz="1400" dirty="0">
                <a:latin typeface="Tahoma" panose="020B0604030504040204" pitchFamily="34" charset="0"/>
              </a:rPr>
              <a:t>     proj =   photon</a:t>
            </a:r>
          </a:p>
          <a:p>
            <a:pPr eaLnBrk="1" hangingPunct="1">
              <a:spcBef>
                <a:spcPct val="0"/>
              </a:spcBef>
              <a:buFontTx/>
              <a:buNone/>
            </a:pPr>
            <a:r>
              <a:rPr lang="fr-FR" altLang="ja-JP" sz="1400" dirty="0">
                <a:latin typeface="Tahoma" panose="020B0604030504040204" pitchFamily="34" charset="0"/>
              </a:rPr>
              <a:t>       x0 =    -0.5*c3</a:t>
            </a:r>
          </a:p>
          <a:p>
            <a:pPr eaLnBrk="1" hangingPunct="1">
              <a:spcBef>
                <a:spcPct val="0"/>
              </a:spcBef>
              <a:buFontTx/>
              <a:buNone/>
            </a:pPr>
            <a:r>
              <a:rPr lang="fr-FR" altLang="ja-JP" sz="1400" dirty="0">
                <a:latin typeface="Tahoma" panose="020B0604030504040204" pitchFamily="34" charset="0"/>
              </a:rPr>
              <a:t>       x1 =     0.5*c3</a:t>
            </a:r>
          </a:p>
          <a:p>
            <a:pPr eaLnBrk="1" hangingPunct="1">
              <a:spcBef>
                <a:spcPct val="0"/>
              </a:spcBef>
              <a:buFontTx/>
              <a:buNone/>
            </a:pPr>
            <a:r>
              <a:rPr lang="fr-FR" altLang="ja-JP" sz="1400" dirty="0">
                <a:latin typeface="Tahoma" panose="020B0604030504040204" pitchFamily="34" charset="0"/>
              </a:rPr>
              <a:t>       y0 =    -0.5*c3</a:t>
            </a:r>
          </a:p>
          <a:p>
            <a:pPr eaLnBrk="1" hangingPunct="1">
              <a:spcBef>
                <a:spcPct val="0"/>
              </a:spcBef>
              <a:buFontTx/>
              <a:buNone/>
            </a:pPr>
            <a:r>
              <a:rPr lang="fr-FR" altLang="ja-JP" sz="1400" dirty="0">
                <a:latin typeface="Tahoma" panose="020B0604030504040204" pitchFamily="34" charset="0"/>
              </a:rPr>
              <a:t>       y1 =     0.5*c3</a:t>
            </a:r>
            <a:endParaRPr lang="pt-BR" altLang="ja-JP" sz="1400" dirty="0">
              <a:solidFill>
                <a:srgbClr val="000000"/>
              </a:solidFill>
              <a:latin typeface="Tahoma" panose="020B0604030504040204" pitchFamily="34" charset="0"/>
            </a:endParaRPr>
          </a:p>
        </p:txBody>
      </p:sp>
      <p:sp>
        <p:nvSpPr>
          <p:cNvPr id="30" name="Text Box 1031">
            <a:extLst>
              <a:ext uri="{FF2B5EF4-FFF2-40B4-BE49-F238E27FC236}">
                <a16:creationId xmlns:a16="http://schemas.microsoft.com/office/drawing/2014/main" id="{8F850E5C-D43D-1407-1315-26E3893EC7A7}"/>
              </a:ext>
            </a:extLst>
          </p:cNvPr>
          <p:cNvSpPr txBox="1">
            <a:spLocks noChangeArrowheads="1"/>
          </p:cNvSpPr>
          <p:nvPr/>
        </p:nvSpPr>
        <p:spPr bwMode="auto">
          <a:xfrm>
            <a:off x="189683" y="3876772"/>
            <a:ext cx="4648646" cy="1549138"/>
          </a:xfrm>
          <a:prstGeom prst="rect">
            <a:avLst/>
          </a:prstGeom>
          <a:solidFill>
            <a:schemeClr val="bg1"/>
          </a:solidFill>
          <a:ln w="19050">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400" dirty="0">
                <a:latin typeface="Tahoma" panose="020B0604030504040204" pitchFamily="34" charset="0"/>
              </a:rPr>
              <a:t>[ Cell ]</a:t>
            </a:r>
          </a:p>
          <a:p>
            <a:pPr eaLnBrk="1" hangingPunct="1">
              <a:spcBef>
                <a:spcPct val="0"/>
              </a:spcBef>
              <a:buFontTx/>
              <a:buNone/>
            </a:pPr>
            <a:r>
              <a:rPr lang="en-US" altLang="ja-JP" sz="1400" dirty="0">
                <a:latin typeface="Tahoma" panose="020B0604030504040204" pitchFamily="34" charset="0"/>
              </a:rPr>
              <a:t>…</a:t>
            </a:r>
          </a:p>
          <a:p>
            <a:pPr eaLnBrk="1" hangingPunct="1">
              <a:spcBef>
                <a:spcPct val="0"/>
              </a:spcBef>
              <a:buFontTx/>
              <a:buNone/>
            </a:pPr>
            <a:r>
              <a:rPr lang="en-US" altLang="ja-JP" sz="1400" dirty="0">
                <a:latin typeface="Tahoma" panose="020B0604030504040204" pitchFamily="34" charset="0"/>
              </a:rPr>
              <a:t>100  1 -1.2e-3  -910 901 -902 10 </a:t>
            </a:r>
            <a:r>
              <a:rPr lang="en-US" altLang="ja-JP" sz="1400" dirty="0">
                <a:solidFill>
                  <a:srgbClr val="FF0000"/>
                </a:solidFill>
                <a:latin typeface="Tahoma" panose="020B0604030504040204" pitchFamily="34" charset="0"/>
              </a:rPr>
              <a:t>#(101 -102 103 -104)</a:t>
            </a:r>
          </a:p>
          <a:p>
            <a:pPr eaLnBrk="1" hangingPunct="1">
              <a:spcBef>
                <a:spcPct val="0"/>
              </a:spcBef>
              <a:buFontTx/>
              <a:buNone/>
            </a:pPr>
            <a:r>
              <a:rPr lang="en-US" altLang="ja-JP" sz="1400" dirty="0">
                <a:solidFill>
                  <a:srgbClr val="FF0000"/>
                </a:solidFill>
                <a:latin typeface="Tahoma" panose="020B0604030504040204" pitchFamily="34" charset="0"/>
              </a:rPr>
              <a:t>101  1 -1.2e-3   101 -102 103 -104 901 -902 10 </a:t>
            </a:r>
          </a:p>
          <a:p>
            <a:pPr eaLnBrk="1" hangingPunct="1">
              <a:spcBef>
                <a:spcPct val="0"/>
              </a:spcBef>
              <a:buFontTx/>
              <a:buNone/>
            </a:pPr>
            <a:r>
              <a:rPr lang="en-US" altLang="ja-JP" sz="1400" dirty="0">
                <a:latin typeface="Tahoma" panose="020B0604030504040204" pitchFamily="34" charset="0"/>
              </a:rPr>
              <a:t>…</a:t>
            </a:r>
          </a:p>
          <a:p>
            <a:pPr eaLnBrk="1" hangingPunct="1">
              <a:spcBef>
                <a:spcPct val="0"/>
              </a:spcBef>
              <a:buFontTx/>
              <a:buNone/>
            </a:pPr>
            <a:r>
              <a:rPr lang="en-US" altLang="ja-JP" sz="1400" dirty="0">
                <a:latin typeface="Tahoma" panose="020B0604030504040204" pitchFamily="34" charset="0"/>
              </a:rPr>
              <a:t>200  2 -c2     -910 900 -901 </a:t>
            </a:r>
            <a:r>
              <a:rPr lang="en-US" altLang="ja-JP" sz="1400" dirty="0">
                <a:solidFill>
                  <a:srgbClr val="FF0000"/>
                </a:solidFill>
                <a:latin typeface="Tahoma" panose="020B0604030504040204" pitchFamily="34" charset="0"/>
              </a:rPr>
              <a:t>#(101 -102 103 -104)</a:t>
            </a:r>
          </a:p>
          <a:p>
            <a:pPr eaLnBrk="1" hangingPunct="1">
              <a:spcBef>
                <a:spcPct val="0"/>
              </a:spcBef>
              <a:buFontTx/>
              <a:buNone/>
            </a:pPr>
            <a:r>
              <a:rPr lang="en-US" altLang="ja-JP" sz="1400" dirty="0">
                <a:solidFill>
                  <a:srgbClr val="FF0000"/>
                </a:solidFill>
                <a:latin typeface="Tahoma" panose="020B0604030504040204" pitchFamily="34" charset="0"/>
              </a:rPr>
              <a:t>201  2 -c2      101 -102 103 -104 900 -901 </a:t>
            </a:r>
            <a:endParaRPr lang="pt-BR" altLang="ja-JP" sz="1400" dirty="0">
              <a:solidFill>
                <a:srgbClr val="FF0000"/>
              </a:solidFill>
              <a:latin typeface="Tahoma" panose="020B0604030504040204" pitchFamily="34" charset="0"/>
            </a:endParaRPr>
          </a:p>
        </p:txBody>
      </p:sp>
      <p:sp>
        <p:nvSpPr>
          <p:cNvPr id="33" name="テキスト ボックス 32">
            <a:extLst>
              <a:ext uri="{FF2B5EF4-FFF2-40B4-BE49-F238E27FC236}">
                <a16:creationId xmlns:a16="http://schemas.microsoft.com/office/drawing/2014/main" id="{E901B43B-0977-50E4-4D86-563A074F5B84}"/>
              </a:ext>
            </a:extLst>
          </p:cNvPr>
          <p:cNvSpPr txBox="1"/>
          <p:nvPr/>
        </p:nvSpPr>
        <p:spPr>
          <a:xfrm>
            <a:off x="6948264" y="4427820"/>
            <a:ext cx="1422654" cy="369332"/>
          </a:xfrm>
          <a:prstGeom prst="rect">
            <a:avLst/>
          </a:prstGeom>
          <a:noFill/>
        </p:spPr>
        <p:txBody>
          <a:bodyPr wrap="square" rtlCol="0">
            <a:spAutoFit/>
          </a:bodyPr>
          <a:lstStyle/>
          <a:p>
            <a:r>
              <a:rPr kumimoji="1" lang="en-US" altLang="ja-JP" dirty="0">
                <a:solidFill>
                  <a:srgbClr val="FF0000"/>
                </a:solidFill>
              </a:rPr>
              <a:t>off</a:t>
            </a:r>
            <a:r>
              <a:rPr kumimoji="1" lang="ja-JP" altLang="en-US" dirty="0">
                <a:solidFill>
                  <a:srgbClr val="FF0000"/>
                </a:solidFill>
              </a:rPr>
              <a:t>を取り除く</a:t>
            </a:r>
          </a:p>
        </p:txBody>
      </p:sp>
      <p:sp>
        <p:nvSpPr>
          <p:cNvPr id="35" name="テキスト ボックス 34">
            <a:extLst>
              <a:ext uri="{FF2B5EF4-FFF2-40B4-BE49-F238E27FC236}">
                <a16:creationId xmlns:a16="http://schemas.microsoft.com/office/drawing/2014/main" id="{DC8BAFB5-94DD-6DEC-50DE-87CE76019771}"/>
              </a:ext>
            </a:extLst>
          </p:cNvPr>
          <p:cNvSpPr txBox="1"/>
          <p:nvPr/>
        </p:nvSpPr>
        <p:spPr>
          <a:xfrm>
            <a:off x="3859266" y="1070606"/>
            <a:ext cx="1432814" cy="461665"/>
          </a:xfrm>
          <a:prstGeom prst="rect">
            <a:avLst/>
          </a:prstGeom>
          <a:noFill/>
        </p:spPr>
        <p:txBody>
          <a:bodyPr wrap="square" rtlCol="0">
            <a:spAutoFit/>
          </a:bodyPr>
          <a:lstStyle/>
          <a:p>
            <a:r>
              <a:rPr kumimoji="1" lang="ja-JP" altLang="en-US" sz="2400" dirty="0">
                <a:solidFill>
                  <a:srgbClr val="FF0000"/>
                </a:solidFill>
              </a:rPr>
              <a:t>反射境界</a:t>
            </a:r>
          </a:p>
        </p:txBody>
      </p:sp>
      <p:cxnSp>
        <p:nvCxnSpPr>
          <p:cNvPr id="44" name="直線矢印コネクタ 43">
            <a:extLst>
              <a:ext uri="{FF2B5EF4-FFF2-40B4-BE49-F238E27FC236}">
                <a16:creationId xmlns:a16="http://schemas.microsoft.com/office/drawing/2014/main" id="{4D3D549E-3A92-0D6D-4C23-E327CED63033}"/>
              </a:ext>
            </a:extLst>
          </p:cNvPr>
          <p:cNvCxnSpPr>
            <a:cxnSpLocks/>
          </p:cNvCxnSpPr>
          <p:nvPr/>
        </p:nvCxnSpPr>
        <p:spPr>
          <a:xfrm flipH="1">
            <a:off x="3859266" y="1460578"/>
            <a:ext cx="212352" cy="24023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矢印コネクタ 46">
            <a:extLst>
              <a:ext uri="{FF2B5EF4-FFF2-40B4-BE49-F238E27FC236}">
                <a16:creationId xmlns:a16="http://schemas.microsoft.com/office/drawing/2014/main" id="{E361A5CA-51E8-973F-595D-79A80E4D2423}"/>
              </a:ext>
            </a:extLst>
          </p:cNvPr>
          <p:cNvCxnSpPr>
            <a:cxnSpLocks/>
          </p:cNvCxnSpPr>
          <p:nvPr/>
        </p:nvCxnSpPr>
        <p:spPr>
          <a:xfrm>
            <a:off x="5072383" y="1445048"/>
            <a:ext cx="219697" cy="18891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矢印コネクタ 49">
            <a:extLst>
              <a:ext uri="{FF2B5EF4-FFF2-40B4-BE49-F238E27FC236}">
                <a16:creationId xmlns:a16="http://schemas.microsoft.com/office/drawing/2014/main" id="{2C533F78-491F-1C2B-67D5-6A8583EA5134}"/>
              </a:ext>
            </a:extLst>
          </p:cNvPr>
          <p:cNvCxnSpPr>
            <a:cxnSpLocks/>
          </p:cNvCxnSpPr>
          <p:nvPr/>
        </p:nvCxnSpPr>
        <p:spPr>
          <a:xfrm>
            <a:off x="5174886" y="1305947"/>
            <a:ext cx="621250" cy="46166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3" name="四角形: 角を丸くする 52">
            <a:extLst>
              <a:ext uri="{FF2B5EF4-FFF2-40B4-BE49-F238E27FC236}">
                <a16:creationId xmlns:a16="http://schemas.microsoft.com/office/drawing/2014/main" id="{F7FE0E86-FCD6-3009-D3D1-B70C0C9EE1CF}"/>
              </a:ext>
            </a:extLst>
          </p:cNvPr>
          <p:cNvSpPr/>
          <p:nvPr/>
        </p:nvSpPr>
        <p:spPr>
          <a:xfrm>
            <a:off x="5796136" y="1571574"/>
            <a:ext cx="122824" cy="850372"/>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テキスト ボックス 54">
            <a:extLst>
              <a:ext uri="{FF2B5EF4-FFF2-40B4-BE49-F238E27FC236}">
                <a16:creationId xmlns:a16="http://schemas.microsoft.com/office/drawing/2014/main" id="{0D6B09FC-B7BE-09B3-33CC-B939843BEC2C}"/>
              </a:ext>
            </a:extLst>
          </p:cNvPr>
          <p:cNvSpPr txBox="1"/>
          <p:nvPr/>
        </p:nvSpPr>
        <p:spPr>
          <a:xfrm>
            <a:off x="5544616" y="2396037"/>
            <a:ext cx="3635896" cy="369332"/>
          </a:xfrm>
          <a:prstGeom prst="rect">
            <a:avLst/>
          </a:prstGeom>
          <a:noFill/>
        </p:spPr>
        <p:txBody>
          <a:bodyPr wrap="square" rtlCol="0">
            <a:spAutoFit/>
          </a:bodyPr>
          <a:lstStyle/>
          <a:p>
            <a:r>
              <a:rPr lang="ja-JP" altLang="en-US" dirty="0">
                <a:solidFill>
                  <a:srgbClr val="FF0000"/>
                </a:solidFill>
              </a:rPr>
              <a:t>面番号の前に</a:t>
            </a:r>
            <a:r>
              <a:rPr lang="en-US" altLang="ja-JP" dirty="0">
                <a:solidFill>
                  <a:srgbClr val="FF0000"/>
                </a:solidFill>
              </a:rPr>
              <a:t>*</a:t>
            </a:r>
            <a:r>
              <a:rPr lang="ja-JP" altLang="en-US" dirty="0">
                <a:solidFill>
                  <a:srgbClr val="FF0000"/>
                </a:solidFill>
              </a:rPr>
              <a:t>をつけると反射境界</a:t>
            </a:r>
            <a:endParaRPr kumimoji="1" lang="ja-JP" altLang="en-US" dirty="0">
              <a:solidFill>
                <a:srgbClr val="FF0000"/>
              </a:solidFill>
            </a:endParaRPr>
          </a:p>
        </p:txBody>
      </p:sp>
      <p:cxnSp>
        <p:nvCxnSpPr>
          <p:cNvPr id="56" name="直線矢印コネクタ 55">
            <a:extLst>
              <a:ext uri="{FF2B5EF4-FFF2-40B4-BE49-F238E27FC236}">
                <a16:creationId xmlns:a16="http://schemas.microsoft.com/office/drawing/2014/main" id="{7041231E-6A8D-CC91-BCF4-C5851B011183}"/>
              </a:ext>
            </a:extLst>
          </p:cNvPr>
          <p:cNvCxnSpPr>
            <a:cxnSpLocks/>
          </p:cNvCxnSpPr>
          <p:nvPr/>
        </p:nvCxnSpPr>
        <p:spPr>
          <a:xfrm flipH="1" flipV="1">
            <a:off x="4071618" y="2383078"/>
            <a:ext cx="212344" cy="369864"/>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59" name="直線矢印コネクタ 58">
            <a:extLst>
              <a:ext uri="{FF2B5EF4-FFF2-40B4-BE49-F238E27FC236}">
                <a16:creationId xmlns:a16="http://schemas.microsoft.com/office/drawing/2014/main" id="{2AC4CF13-8BCE-6329-F7ED-C420382B7A54}"/>
              </a:ext>
            </a:extLst>
          </p:cNvPr>
          <p:cNvCxnSpPr>
            <a:cxnSpLocks/>
          </p:cNvCxnSpPr>
          <p:nvPr/>
        </p:nvCxnSpPr>
        <p:spPr>
          <a:xfrm flipV="1">
            <a:off x="4650356" y="2435462"/>
            <a:ext cx="48154" cy="304709"/>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65" name="直線矢印コネクタ 64">
            <a:extLst>
              <a:ext uri="{FF2B5EF4-FFF2-40B4-BE49-F238E27FC236}">
                <a16:creationId xmlns:a16="http://schemas.microsoft.com/office/drawing/2014/main" id="{ED296B65-3AEA-BCA4-88A8-8D4B1EF2F198}"/>
              </a:ext>
            </a:extLst>
          </p:cNvPr>
          <p:cNvCxnSpPr>
            <a:cxnSpLocks/>
          </p:cNvCxnSpPr>
          <p:nvPr/>
        </p:nvCxnSpPr>
        <p:spPr>
          <a:xfrm flipV="1">
            <a:off x="4866379" y="2622495"/>
            <a:ext cx="315852" cy="136865"/>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67" name="直線矢印コネクタ 66">
            <a:extLst>
              <a:ext uri="{FF2B5EF4-FFF2-40B4-BE49-F238E27FC236}">
                <a16:creationId xmlns:a16="http://schemas.microsoft.com/office/drawing/2014/main" id="{1917881B-A555-154F-16F4-D1ED74BBB0E2}"/>
              </a:ext>
            </a:extLst>
          </p:cNvPr>
          <p:cNvCxnSpPr>
            <a:cxnSpLocks/>
          </p:cNvCxnSpPr>
          <p:nvPr/>
        </p:nvCxnSpPr>
        <p:spPr>
          <a:xfrm flipV="1">
            <a:off x="3943685" y="2507342"/>
            <a:ext cx="34882" cy="234085"/>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71" name="テキスト ボックス 70">
            <a:extLst>
              <a:ext uri="{FF2B5EF4-FFF2-40B4-BE49-F238E27FC236}">
                <a16:creationId xmlns:a16="http://schemas.microsoft.com/office/drawing/2014/main" id="{005C5D5E-4F15-F3CF-0562-3D099E065DA5}"/>
              </a:ext>
            </a:extLst>
          </p:cNvPr>
          <p:cNvSpPr txBox="1"/>
          <p:nvPr/>
        </p:nvSpPr>
        <p:spPr>
          <a:xfrm>
            <a:off x="358696" y="5748618"/>
            <a:ext cx="4816190" cy="830997"/>
          </a:xfrm>
          <a:prstGeom prst="rect">
            <a:avLst/>
          </a:prstGeom>
          <a:noFill/>
        </p:spPr>
        <p:txBody>
          <a:bodyPr wrap="square" rtlCol="0">
            <a:spAutoFit/>
          </a:bodyPr>
          <a:lstStyle/>
          <a:p>
            <a:pPr algn="ctr"/>
            <a:r>
              <a:rPr kumimoji="1" lang="ja-JP" altLang="en-US" sz="2400" dirty="0">
                <a:solidFill>
                  <a:srgbClr val="FF0000"/>
                </a:solidFill>
              </a:rPr>
              <a:t>輸送計算を実行し、</a:t>
            </a:r>
            <a:r>
              <a:rPr kumimoji="1" lang="en-US" altLang="ja-JP" sz="2400" dirty="0" err="1">
                <a:solidFill>
                  <a:srgbClr val="FF0000"/>
                </a:solidFill>
              </a:rPr>
              <a:t>track_inside.eps</a:t>
            </a:r>
            <a:r>
              <a:rPr kumimoji="1" lang="ja-JP" altLang="en-US" sz="2400" dirty="0">
                <a:solidFill>
                  <a:srgbClr val="FF0000"/>
                </a:solidFill>
              </a:rPr>
              <a:t>および</a:t>
            </a:r>
            <a:r>
              <a:rPr kumimoji="1" lang="en-US" altLang="ja-JP" sz="2400" dirty="0" err="1">
                <a:solidFill>
                  <a:srgbClr val="FF0000"/>
                </a:solidFill>
              </a:rPr>
              <a:t>dose.out</a:t>
            </a:r>
            <a:r>
              <a:rPr kumimoji="1" lang="ja-JP" altLang="en-US" sz="2400" dirty="0">
                <a:solidFill>
                  <a:srgbClr val="FF0000"/>
                </a:solidFill>
              </a:rPr>
              <a:t>を確認する</a:t>
            </a:r>
          </a:p>
        </p:txBody>
      </p:sp>
      <p:sp>
        <p:nvSpPr>
          <p:cNvPr id="6" name="スライド番号プレースホルダー 5">
            <a:extLst>
              <a:ext uri="{FF2B5EF4-FFF2-40B4-BE49-F238E27FC236}">
                <a16:creationId xmlns:a16="http://schemas.microsoft.com/office/drawing/2014/main" id="{6C5EC912-37C1-C4EA-331C-DF4BCF08399E}"/>
              </a:ext>
            </a:extLst>
          </p:cNvPr>
          <p:cNvSpPr>
            <a:spLocks noGrp="1"/>
          </p:cNvSpPr>
          <p:nvPr>
            <p:ph type="sldNum" sz="quarter" idx="12"/>
          </p:nvPr>
        </p:nvSpPr>
        <p:spPr/>
        <p:txBody>
          <a:bodyPr/>
          <a:lstStyle/>
          <a:p>
            <a:fld id="{D2D8002D-B5B0-4BAC-B1F6-782DDCCE6D9C}" type="slidenum">
              <a:rPr kumimoji="1" lang="ja-JP" altLang="en-US" smtClean="0"/>
              <a:t>11</a:t>
            </a:fld>
            <a:endParaRPr kumimoji="1" lang="ja-JP" altLang="en-US"/>
          </a:p>
        </p:txBody>
      </p:sp>
    </p:spTree>
    <p:extLst>
      <p:ext uri="{BB962C8B-B14F-4D97-AF65-F5344CB8AC3E}">
        <p14:creationId xmlns:p14="http://schemas.microsoft.com/office/powerpoint/2010/main" val="16460305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57C27-9599-ABF5-91E4-A68A803F403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24D9829-6855-20A8-E32A-0CBF8A1C103E}"/>
              </a:ext>
            </a:extLst>
          </p:cNvPr>
          <p:cNvSpPr>
            <a:spLocks noGrp="1"/>
          </p:cNvSpPr>
          <p:nvPr>
            <p:ph type="title"/>
          </p:nvPr>
        </p:nvSpPr>
        <p:spPr>
          <a:xfrm>
            <a:off x="457200" y="53752"/>
            <a:ext cx="8229600" cy="1143000"/>
          </a:xfrm>
        </p:spPr>
        <p:txBody>
          <a:bodyPr>
            <a:normAutofit/>
          </a:bodyPr>
          <a:lstStyle/>
          <a:p>
            <a:r>
              <a:rPr lang="ja-JP" altLang="en-US" dirty="0">
                <a:latin typeface="Arial" pitchFamily="18"/>
              </a:rPr>
              <a:t>ステップ</a:t>
            </a:r>
            <a:r>
              <a:rPr lang="ja-JP" altLang="ja-JP" dirty="0">
                <a:latin typeface="Arial" pitchFamily="18"/>
              </a:rPr>
              <a:t> </a:t>
            </a:r>
            <a:r>
              <a:rPr lang="en-US" altLang="ja-JP" dirty="0">
                <a:latin typeface="Arial" pitchFamily="18"/>
              </a:rPr>
              <a:t>2</a:t>
            </a:r>
            <a:r>
              <a:rPr lang="ja-JP" altLang="en-US" dirty="0">
                <a:latin typeface="Arial" pitchFamily="18"/>
              </a:rPr>
              <a:t>（反射境界）結果</a:t>
            </a:r>
            <a:endParaRPr kumimoji="1" lang="ja-JP" altLang="en-US" dirty="0"/>
          </a:p>
        </p:txBody>
      </p:sp>
      <p:sp>
        <p:nvSpPr>
          <p:cNvPr id="10" name="テキスト ボックス 9">
            <a:extLst>
              <a:ext uri="{FF2B5EF4-FFF2-40B4-BE49-F238E27FC236}">
                <a16:creationId xmlns:a16="http://schemas.microsoft.com/office/drawing/2014/main" id="{C405FFA8-91AE-AB05-A1E1-AF6654611116}"/>
              </a:ext>
            </a:extLst>
          </p:cNvPr>
          <p:cNvSpPr txBox="1"/>
          <p:nvPr/>
        </p:nvSpPr>
        <p:spPr>
          <a:xfrm>
            <a:off x="4283968" y="2204864"/>
            <a:ext cx="4572000" cy="646331"/>
          </a:xfrm>
          <a:prstGeom prst="rect">
            <a:avLst/>
          </a:prstGeom>
          <a:noFill/>
          <a:ln>
            <a:solidFill>
              <a:schemeClr val="tx1"/>
            </a:solidFill>
          </a:ln>
        </p:spPr>
        <p:txBody>
          <a:bodyPr wrap="square">
            <a:spAutoFit/>
          </a:bodyPr>
          <a:lstStyle/>
          <a:p>
            <a:r>
              <a:rPr lang="pt-BR" altLang="ja-JP" dirty="0"/>
              <a:t>#  num    reg     volume       all       r.err </a:t>
            </a:r>
          </a:p>
          <a:p>
            <a:r>
              <a:rPr lang="pt-BR" altLang="ja-JP" dirty="0"/>
              <a:t>    1      10   4.1888E+03   2.0340E-02  0.0648</a:t>
            </a:r>
            <a:endParaRPr lang="ja-JP" altLang="en-US" dirty="0"/>
          </a:p>
        </p:txBody>
      </p:sp>
      <p:sp>
        <p:nvSpPr>
          <p:cNvPr id="11" name="テキスト ボックス 10">
            <a:extLst>
              <a:ext uri="{FF2B5EF4-FFF2-40B4-BE49-F238E27FC236}">
                <a16:creationId xmlns:a16="http://schemas.microsoft.com/office/drawing/2014/main" id="{E68BBFCB-B4F0-EF45-E949-AD497F0B504B}"/>
              </a:ext>
            </a:extLst>
          </p:cNvPr>
          <p:cNvSpPr txBox="1"/>
          <p:nvPr/>
        </p:nvSpPr>
        <p:spPr>
          <a:xfrm>
            <a:off x="457200" y="5949280"/>
            <a:ext cx="2592288" cy="523220"/>
          </a:xfrm>
          <a:prstGeom prst="rect">
            <a:avLst/>
          </a:prstGeom>
          <a:noFill/>
        </p:spPr>
        <p:txBody>
          <a:bodyPr wrap="square" rtlCol="0">
            <a:spAutoFit/>
          </a:bodyPr>
          <a:lstStyle/>
          <a:p>
            <a:r>
              <a:rPr kumimoji="1" lang="en-US" altLang="ja-JP" sz="2800" dirty="0" err="1"/>
              <a:t>track_inside.eps</a:t>
            </a:r>
            <a:endParaRPr kumimoji="1" lang="ja-JP" altLang="en-US" sz="2800" dirty="0"/>
          </a:p>
        </p:txBody>
      </p:sp>
      <p:sp>
        <p:nvSpPr>
          <p:cNvPr id="12" name="テキスト ボックス 11">
            <a:extLst>
              <a:ext uri="{FF2B5EF4-FFF2-40B4-BE49-F238E27FC236}">
                <a16:creationId xmlns:a16="http://schemas.microsoft.com/office/drawing/2014/main" id="{7BD7A0A6-C208-3592-4A85-6502A8C82DFF}"/>
              </a:ext>
            </a:extLst>
          </p:cNvPr>
          <p:cNvSpPr txBox="1"/>
          <p:nvPr/>
        </p:nvSpPr>
        <p:spPr>
          <a:xfrm>
            <a:off x="5093804" y="2851195"/>
            <a:ext cx="2952328" cy="523220"/>
          </a:xfrm>
          <a:prstGeom prst="rect">
            <a:avLst/>
          </a:prstGeom>
          <a:noFill/>
        </p:spPr>
        <p:txBody>
          <a:bodyPr wrap="square" rtlCol="0">
            <a:spAutoFit/>
          </a:bodyPr>
          <a:lstStyle/>
          <a:p>
            <a:r>
              <a:rPr lang="en-US" altLang="ja-JP" sz="2800" dirty="0" err="1"/>
              <a:t>dose</a:t>
            </a:r>
            <a:r>
              <a:rPr kumimoji="1" lang="en-US" altLang="ja-JP" sz="2800" dirty="0" err="1"/>
              <a:t>.out</a:t>
            </a:r>
            <a:r>
              <a:rPr kumimoji="1" lang="en-US" altLang="ja-JP" sz="2800" dirty="0"/>
              <a:t>(38</a:t>
            </a:r>
            <a:r>
              <a:rPr kumimoji="1" lang="ja-JP" altLang="en-US" sz="2800" dirty="0"/>
              <a:t>行目</a:t>
            </a:r>
            <a:r>
              <a:rPr kumimoji="1" lang="en-US" altLang="ja-JP" sz="2800" dirty="0"/>
              <a:t>)</a:t>
            </a:r>
            <a:endParaRPr kumimoji="1" lang="ja-JP" altLang="en-US" sz="2800" dirty="0"/>
          </a:p>
        </p:txBody>
      </p:sp>
      <p:pic>
        <p:nvPicPr>
          <p:cNvPr id="20" name="図 19">
            <a:extLst>
              <a:ext uri="{FF2B5EF4-FFF2-40B4-BE49-F238E27FC236}">
                <a16:creationId xmlns:a16="http://schemas.microsoft.com/office/drawing/2014/main" id="{9A0574C2-740C-1A78-9666-8C2DB3F66942}"/>
              </a:ext>
            </a:extLst>
          </p:cNvPr>
          <p:cNvPicPr>
            <a:picLocks noChangeAspect="1"/>
          </p:cNvPicPr>
          <p:nvPr/>
        </p:nvPicPr>
        <p:blipFill>
          <a:blip r:embed="rId2"/>
          <a:srcRect l="2469" t="9051" r="3909" b="5621"/>
          <a:stretch/>
        </p:blipFill>
        <p:spPr>
          <a:xfrm>
            <a:off x="107504" y="1251002"/>
            <a:ext cx="3593526" cy="4492800"/>
          </a:xfrm>
          <a:prstGeom prst="rect">
            <a:avLst/>
          </a:prstGeom>
        </p:spPr>
      </p:pic>
      <p:sp>
        <p:nvSpPr>
          <p:cNvPr id="21" name="テキスト ボックス 20">
            <a:extLst>
              <a:ext uri="{FF2B5EF4-FFF2-40B4-BE49-F238E27FC236}">
                <a16:creationId xmlns:a16="http://schemas.microsoft.com/office/drawing/2014/main" id="{70442FEA-3246-9CD0-E9B0-CC8C2E064C11}"/>
              </a:ext>
            </a:extLst>
          </p:cNvPr>
          <p:cNvSpPr txBox="1"/>
          <p:nvPr/>
        </p:nvSpPr>
        <p:spPr>
          <a:xfrm>
            <a:off x="4689367" y="3616183"/>
            <a:ext cx="3600400" cy="954107"/>
          </a:xfrm>
          <a:prstGeom prst="rect">
            <a:avLst/>
          </a:prstGeom>
          <a:noFill/>
        </p:spPr>
        <p:txBody>
          <a:bodyPr wrap="square" rtlCol="0">
            <a:spAutoFit/>
          </a:bodyPr>
          <a:lstStyle/>
          <a:p>
            <a:r>
              <a:rPr lang="ja-JP" altLang="en-US" sz="2800" dirty="0">
                <a:solidFill>
                  <a:srgbClr val="FF0000"/>
                </a:solidFill>
              </a:rPr>
              <a:t>計算時間は伸びるが、</a:t>
            </a:r>
            <a:endParaRPr lang="en-US" altLang="ja-JP" sz="2800" dirty="0">
              <a:solidFill>
                <a:srgbClr val="FF0000"/>
              </a:solidFill>
            </a:endParaRPr>
          </a:p>
          <a:p>
            <a:r>
              <a:rPr lang="ja-JP" altLang="en-US" sz="2800" dirty="0">
                <a:solidFill>
                  <a:srgbClr val="FF0000"/>
                </a:solidFill>
              </a:rPr>
              <a:t>統計精度が大きく向上</a:t>
            </a:r>
            <a:endParaRPr kumimoji="1" lang="ja-JP" altLang="en-US" sz="2800" dirty="0">
              <a:solidFill>
                <a:srgbClr val="FF0000"/>
              </a:solidFill>
            </a:endParaRPr>
          </a:p>
        </p:txBody>
      </p:sp>
      <p:sp>
        <p:nvSpPr>
          <p:cNvPr id="22" name="テキスト ボックス 21">
            <a:extLst>
              <a:ext uri="{FF2B5EF4-FFF2-40B4-BE49-F238E27FC236}">
                <a16:creationId xmlns:a16="http://schemas.microsoft.com/office/drawing/2014/main" id="{FACE2BDF-D894-48BC-A6E3-8C3AD3D68F89}"/>
              </a:ext>
            </a:extLst>
          </p:cNvPr>
          <p:cNvSpPr txBox="1"/>
          <p:nvPr/>
        </p:nvSpPr>
        <p:spPr>
          <a:xfrm>
            <a:off x="4689367" y="4743435"/>
            <a:ext cx="3937536" cy="830997"/>
          </a:xfrm>
          <a:prstGeom prst="rect">
            <a:avLst/>
          </a:prstGeom>
          <a:noFill/>
        </p:spPr>
        <p:txBody>
          <a:bodyPr wrap="square" rtlCol="0">
            <a:spAutoFit/>
          </a:bodyPr>
          <a:lstStyle/>
          <a:p>
            <a:r>
              <a:rPr lang="ja-JP" altLang="en-US" sz="2400" dirty="0"/>
              <a:t>反射境界で狭い領域を指定したほうがより精度が向上</a:t>
            </a:r>
            <a:endParaRPr lang="en-US" altLang="ja-JP" sz="2400" dirty="0"/>
          </a:p>
        </p:txBody>
      </p:sp>
      <p:sp>
        <p:nvSpPr>
          <p:cNvPr id="3" name="スライド番号プレースホルダー 2">
            <a:extLst>
              <a:ext uri="{FF2B5EF4-FFF2-40B4-BE49-F238E27FC236}">
                <a16:creationId xmlns:a16="http://schemas.microsoft.com/office/drawing/2014/main" id="{3CE73C9B-F9B1-DCAE-68B0-E32F64B13EA3}"/>
              </a:ext>
            </a:extLst>
          </p:cNvPr>
          <p:cNvSpPr>
            <a:spLocks noGrp="1"/>
          </p:cNvSpPr>
          <p:nvPr>
            <p:ph type="sldNum" sz="quarter" idx="12"/>
          </p:nvPr>
        </p:nvSpPr>
        <p:spPr/>
        <p:txBody>
          <a:bodyPr/>
          <a:lstStyle/>
          <a:p>
            <a:fld id="{D2D8002D-B5B0-4BAC-B1F6-782DDCCE6D9C}" type="slidenum">
              <a:rPr kumimoji="1" lang="ja-JP" altLang="en-US" smtClean="0"/>
              <a:t>12</a:t>
            </a:fld>
            <a:endParaRPr kumimoji="1" lang="ja-JP" altLang="en-US"/>
          </a:p>
        </p:txBody>
      </p:sp>
    </p:spTree>
    <p:extLst>
      <p:ext uri="{BB962C8B-B14F-4D97-AF65-F5344CB8AC3E}">
        <p14:creationId xmlns:p14="http://schemas.microsoft.com/office/powerpoint/2010/main" val="17339847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64122-07C1-4168-31BA-1CAF9C0E39F3}"/>
            </a:ext>
          </a:extLst>
        </p:cNvPr>
        <p:cNvGrpSpPr/>
        <p:nvPr/>
      </p:nvGrpSpPr>
      <p:grpSpPr>
        <a:xfrm>
          <a:off x="0" y="0"/>
          <a:ext cx="0" cy="0"/>
          <a:chOff x="0" y="0"/>
          <a:chExt cx="0" cy="0"/>
        </a:xfrm>
      </p:grpSpPr>
      <p:sp>
        <p:nvSpPr>
          <p:cNvPr id="7" name="正方形/長方形 6">
            <a:extLst>
              <a:ext uri="{FF2B5EF4-FFF2-40B4-BE49-F238E27FC236}">
                <a16:creationId xmlns:a16="http://schemas.microsoft.com/office/drawing/2014/main" id="{A75D0BED-D2F9-7909-C350-6EFA5913A2A0}"/>
              </a:ext>
            </a:extLst>
          </p:cNvPr>
          <p:cNvSpPr/>
          <p:nvPr/>
        </p:nvSpPr>
        <p:spPr>
          <a:xfrm>
            <a:off x="208337" y="4886158"/>
            <a:ext cx="8684139" cy="216038"/>
          </a:xfrm>
          <a:prstGeom prst="rect">
            <a:avLst/>
          </a:prstGeom>
          <a:solidFill>
            <a:srgbClr val="808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 name="直線矢印コネクタ 7">
            <a:extLst>
              <a:ext uri="{FF2B5EF4-FFF2-40B4-BE49-F238E27FC236}">
                <a16:creationId xmlns:a16="http://schemas.microsoft.com/office/drawing/2014/main" id="{2DA47918-611F-421E-A524-26166312C8F7}"/>
              </a:ext>
            </a:extLst>
          </p:cNvPr>
          <p:cNvCxnSpPr/>
          <p:nvPr/>
        </p:nvCxnSpPr>
        <p:spPr>
          <a:xfrm flipV="1">
            <a:off x="6941368" y="1618745"/>
            <a:ext cx="366936" cy="814372"/>
          </a:xfrm>
          <a:prstGeom prst="straightConnector1">
            <a:avLst/>
          </a:prstGeom>
          <a:ln w="38100">
            <a:solidFill>
              <a:srgbClr val="FFC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直線矢印コネクタ 8">
            <a:extLst>
              <a:ext uri="{FF2B5EF4-FFF2-40B4-BE49-F238E27FC236}">
                <a16:creationId xmlns:a16="http://schemas.microsoft.com/office/drawing/2014/main" id="{D83C54A5-0D75-0E9F-CC72-FF865D2AA6EC}"/>
              </a:ext>
            </a:extLst>
          </p:cNvPr>
          <p:cNvCxnSpPr/>
          <p:nvPr/>
        </p:nvCxnSpPr>
        <p:spPr>
          <a:xfrm flipH="1" flipV="1">
            <a:off x="4997152" y="1929073"/>
            <a:ext cx="366936" cy="497613"/>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0" name="直線矢印コネクタ 9">
            <a:extLst>
              <a:ext uri="{FF2B5EF4-FFF2-40B4-BE49-F238E27FC236}">
                <a16:creationId xmlns:a16="http://schemas.microsoft.com/office/drawing/2014/main" id="{87AD5464-A67B-EA14-7507-26885D4C8805}"/>
              </a:ext>
            </a:extLst>
          </p:cNvPr>
          <p:cNvCxnSpPr/>
          <p:nvPr/>
        </p:nvCxnSpPr>
        <p:spPr>
          <a:xfrm flipH="1" flipV="1">
            <a:off x="3707904" y="1799729"/>
            <a:ext cx="216024" cy="633386"/>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C3E0BB14-84EC-D6C0-F412-75C25584DC41}"/>
              </a:ext>
            </a:extLst>
          </p:cNvPr>
          <p:cNvCxnSpPr/>
          <p:nvPr/>
        </p:nvCxnSpPr>
        <p:spPr>
          <a:xfrm flipV="1">
            <a:off x="4997152" y="1618745"/>
            <a:ext cx="546956" cy="814370"/>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12" name="正方形/長方形 11">
            <a:extLst>
              <a:ext uri="{FF2B5EF4-FFF2-40B4-BE49-F238E27FC236}">
                <a16:creationId xmlns:a16="http://schemas.microsoft.com/office/drawing/2014/main" id="{3DD65B25-6684-6F8E-2DED-1952B604F88D}"/>
              </a:ext>
            </a:extLst>
          </p:cNvPr>
          <p:cNvSpPr/>
          <p:nvPr/>
        </p:nvSpPr>
        <p:spPr>
          <a:xfrm>
            <a:off x="323528" y="2433115"/>
            <a:ext cx="8568952" cy="216038"/>
          </a:xfrm>
          <a:prstGeom prst="rect">
            <a:avLst/>
          </a:prstGeom>
          <a:solidFill>
            <a:srgbClr val="808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3" name="直線矢印コネクタ 12">
            <a:extLst>
              <a:ext uri="{FF2B5EF4-FFF2-40B4-BE49-F238E27FC236}">
                <a16:creationId xmlns:a16="http://schemas.microsoft.com/office/drawing/2014/main" id="{24F750AE-FAE3-B9F6-AF6F-9C8775B12DF6}"/>
              </a:ext>
            </a:extLst>
          </p:cNvPr>
          <p:cNvCxnSpPr/>
          <p:nvPr/>
        </p:nvCxnSpPr>
        <p:spPr>
          <a:xfrm flipV="1">
            <a:off x="1403648" y="1814415"/>
            <a:ext cx="504056" cy="618714"/>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9C245DC4-550E-B58A-D64F-FBF88CC3050A}"/>
              </a:ext>
            </a:extLst>
          </p:cNvPr>
          <p:cNvCxnSpPr/>
          <p:nvPr/>
        </p:nvCxnSpPr>
        <p:spPr>
          <a:xfrm flipH="1" flipV="1">
            <a:off x="323528" y="1382367"/>
            <a:ext cx="288032" cy="1050762"/>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77B154F0-611A-B7ED-BDF9-B75C30B764B8}"/>
              </a:ext>
            </a:extLst>
          </p:cNvPr>
          <p:cNvCxnSpPr/>
          <p:nvPr/>
        </p:nvCxnSpPr>
        <p:spPr>
          <a:xfrm flipH="1" flipV="1">
            <a:off x="7452320" y="2252148"/>
            <a:ext cx="929208" cy="180969"/>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6272E6CB-3E99-B479-3B01-F5E415321FDB}"/>
              </a:ext>
            </a:extLst>
          </p:cNvPr>
          <p:cNvCxnSpPr/>
          <p:nvPr/>
        </p:nvCxnSpPr>
        <p:spPr>
          <a:xfrm flipH="1" flipV="1">
            <a:off x="2411760" y="1929073"/>
            <a:ext cx="432048" cy="491201"/>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14142207-E55D-C0E1-04C6-9B964D7CD394}"/>
              </a:ext>
            </a:extLst>
          </p:cNvPr>
          <p:cNvCxnSpPr/>
          <p:nvPr/>
        </p:nvCxnSpPr>
        <p:spPr>
          <a:xfrm flipV="1">
            <a:off x="6228184" y="1425017"/>
            <a:ext cx="72008" cy="1001670"/>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B844D55A-99D5-8027-4EE7-8835A4C34F4E}"/>
              </a:ext>
            </a:extLst>
          </p:cNvPr>
          <p:cNvCxnSpPr/>
          <p:nvPr/>
        </p:nvCxnSpPr>
        <p:spPr>
          <a:xfrm flipH="1" flipV="1">
            <a:off x="6941368" y="1382367"/>
            <a:ext cx="366936" cy="236379"/>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2" name="タイトル 1">
            <a:extLst>
              <a:ext uri="{FF2B5EF4-FFF2-40B4-BE49-F238E27FC236}">
                <a16:creationId xmlns:a16="http://schemas.microsoft.com/office/drawing/2014/main" id="{D7A356E9-63ED-C72C-4D2D-1299F1D65772}"/>
              </a:ext>
            </a:extLst>
          </p:cNvPr>
          <p:cNvSpPr>
            <a:spLocks noGrp="1"/>
          </p:cNvSpPr>
          <p:nvPr>
            <p:ph type="title"/>
          </p:nvPr>
        </p:nvSpPr>
        <p:spPr>
          <a:xfrm>
            <a:off x="457200" y="53752"/>
            <a:ext cx="8229600" cy="1143000"/>
          </a:xfrm>
        </p:spPr>
        <p:txBody>
          <a:bodyPr>
            <a:normAutofit/>
          </a:bodyPr>
          <a:lstStyle/>
          <a:p>
            <a:r>
              <a:rPr lang="ja-JP" altLang="en-US" dirty="0">
                <a:latin typeface="Arial" pitchFamily="18"/>
              </a:rPr>
              <a:t>孤立した建物の計算</a:t>
            </a:r>
            <a:endParaRPr kumimoji="1" lang="ja-JP" altLang="en-US" dirty="0"/>
          </a:p>
        </p:txBody>
      </p:sp>
      <p:cxnSp>
        <p:nvCxnSpPr>
          <p:cNvPr id="4" name="直線矢印コネクタ 3">
            <a:extLst>
              <a:ext uri="{FF2B5EF4-FFF2-40B4-BE49-F238E27FC236}">
                <a16:creationId xmlns:a16="http://schemas.microsoft.com/office/drawing/2014/main" id="{200CE55B-E17D-3F07-5AB5-2B4FACFF9DFC}"/>
              </a:ext>
            </a:extLst>
          </p:cNvPr>
          <p:cNvCxnSpPr/>
          <p:nvPr/>
        </p:nvCxnSpPr>
        <p:spPr>
          <a:xfrm flipH="1" flipV="1">
            <a:off x="4001503" y="4015400"/>
            <a:ext cx="63006" cy="84667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00CEA828-8D4F-3E74-ED80-9DA4E7DD348E}"/>
              </a:ext>
            </a:extLst>
          </p:cNvPr>
          <p:cNvCxnSpPr/>
          <p:nvPr/>
        </p:nvCxnSpPr>
        <p:spPr>
          <a:xfrm flipH="1" flipV="1">
            <a:off x="5072386" y="4471291"/>
            <a:ext cx="125967" cy="39076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AF194A1B-65E9-9230-B8DF-9E945FCED631}"/>
              </a:ext>
            </a:extLst>
          </p:cNvPr>
          <p:cNvCxnSpPr/>
          <p:nvPr/>
        </p:nvCxnSpPr>
        <p:spPr>
          <a:xfrm flipH="1" flipV="1">
            <a:off x="3749571" y="4406149"/>
            <a:ext cx="188972" cy="45590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DE8966D3-664D-F5D2-DB7B-91421F0D00A9}"/>
              </a:ext>
            </a:extLst>
          </p:cNvPr>
          <p:cNvCxnSpPr/>
          <p:nvPr/>
        </p:nvCxnSpPr>
        <p:spPr>
          <a:xfrm flipV="1">
            <a:off x="5072386" y="4564919"/>
            <a:ext cx="254964" cy="29713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31" name="グループ化 30">
            <a:extLst>
              <a:ext uri="{FF2B5EF4-FFF2-40B4-BE49-F238E27FC236}">
                <a16:creationId xmlns:a16="http://schemas.microsoft.com/office/drawing/2014/main" id="{9EAC21F1-1C31-F686-2B8F-4D1B87A19D2B}"/>
              </a:ext>
            </a:extLst>
          </p:cNvPr>
          <p:cNvGrpSpPr/>
          <p:nvPr/>
        </p:nvGrpSpPr>
        <p:grpSpPr>
          <a:xfrm>
            <a:off x="3998533" y="3801377"/>
            <a:ext cx="1136845" cy="1060698"/>
            <a:chOff x="4064518" y="3799793"/>
            <a:chExt cx="1299592" cy="1172733"/>
          </a:xfrm>
        </p:grpSpPr>
        <p:sp>
          <p:nvSpPr>
            <p:cNvPr id="33" name="正方形/長方形 32">
              <a:extLst>
                <a:ext uri="{FF2B5EF4-FFF2-40B4-BE49-F238E27FC236}">
                  <a16:creationId xmlns:a16="http://schemas.microsoft.com/office/drawing/2014/main" id="{FB639188-79D4-C382-7929-625BF209C017}"/>
                </a:ext>
              </a:extLst>
            </p:cNvPr>
            <p:cNvSpPr/>
            <p:nvPr/>
          </p:nvSpPr>
          <p:spPr>
            <a:xfrm>
              <a:off x="4283960" y="4005093"/>
              <a:ext cx="846102" cy="872879"/>
            </a:xfrm>
            <a:prstGeom prst="rect">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二等辺三角形 33">
              <a:extLst>
                <a:ext uri="{FF2B5EF4-FFF2-40B4-BE49-F238E27FC236}">
                  <a16:creationId xmlns:a16="http://schemas.microsoft.com/office/drawing/2014/main" id="{ABE7AB32-1E18-02B3-F660-5FCD8B40239A}"/>
                </a:ext>
              </a:extLst>
            </p:cNvPr>
            <p:cNvSpPr/>
            <p:nvPr/>
          </p:nvSpPr>
          <p:spPr>
            <a:xfrm>
              <a:off x="4064518" y="3799793"/>
              <a:ext cx="1299592" cy="205287"/>
            </a:xfrm>
            <a:prstGeom prst="triangl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正方形/長方形 34">
              <a:extLst>
                <a:ext uri="{FF2B5EF4-FFF2-40B4-BE49-F238E27FC236}">
                  <a16:creationId xmlns:a16="http://schemas.microsoft.com/office/drawing/2014/main" id="{6FFC20BB-A90A-CC72-AE01-C29B9C4C785B}"/>
                </a:ext>
              </a:extLst>
            </p:cNvPr>
            <p:cNvSpPr/>
            <p:nvPr/>
          </p:nvSpPr>
          <p:spPr>
            <a:xfrm>
              <a:off x="4316526" y="4149100"/>
              <a:ext cx="327484" cy="216030"/>
            </a:xfrm>
            <a:prstGeom prst="rect">
              <a:avLst/>
            </a:prstGeom>
            <a:solidFill>
              <a:srgbClr val="00F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正方形/長方形 35">
              <a:extLst>
                <a:ext uri="{FF2B5EF4-FFF2-40B4-BE49-F238E27FC236}">
                  <a16:creationId xmlns:a16="http://schemas.microsoft.com/office/drawing/2014/main" id="{61AF0CAE-3C27-BF41-704E-DAFAAA2157DB}"/>
                </a:ext>
              </a:extLst>
            </p:cNvPr>
            <p:cNvSpPr/>
            <p:nvPr/>
          </p:nvSpPr>
          <p:spPr>
            <a:xfrm>
              <a:off x="4590018" y="4509150"/>
              <a:ext cx="486052" cy="368822"/>
            </a:xfrm>
            <a:prstGeom prst="rect">
              <a:avLst/>
            </a:prstGeom>
            <a:solidFill>
              <a:srgbClr val="00F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F78A7F39-2161-764F-73A0-540996B3E0F3}"/>
                </a:ext>
              </a:extLst>
            </p:cNvPr>
            <p:cNvSpPr/>
            <p:nvPr/>
          </p:nvSpPr>
          <p:spPr>
            <a:xfrm>
              <a:off x="4211950" y="4877972"/>
              <a:ext cx="990110" cy="94554"/>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6" name="グループ化 5">
            <a:extLst>
              <a:ext uri="{FF2B5EF4-FFF2-40B4-BE49-F238E27FC236}">
                <a16:creationId xmlns:a16="http://schemas.microsoft.com/office/drawing/2014/main" id="{0EF413C6-D765-8BD3-96A9-59FF9734DCBE}"/>
              </a:ext>
            </a:extLst>
          </p:cNvPr>
          <p:cNvGrpSpPr/>
          <p:nvPr/>
        </p:nvGrpSpPr>
        <p:grpSpPr>
          <a:xfrm>
            <a:off x="221179" y="3492668"/>
            <a:ext cx="8671301" cy="1385737"/>
            <a:chOff x="149171" y="5108662"/>
            <a:chExt cx="8671301" cy="1385737"/>
          </a:xfrm>
        </p:grpSpPr>
        <p:sp>
          <p:nvSpPr>
            <p:cNvPr id="39" name="正方形/長方形 38">
              <a:extLst>
                <a:ext uri="{FF2B5EF4-FFF2-40B4-BE49-F238E27FC236}">
                  <a16:creationId xmlns:a16="http://schemas.microsoft.com/office/drawing/2014/main" id="{8B23E051-0327-7AA4-A3C9-039540474FE0}"/>
                </a:ext>
              </a:extLst>
            </p:cNvPr>
            <p:cNvSpPr/>
            <p:nvPr/>
          </p:nvSpPr>
          <p:spPr>
            <a:xfrm>
              <a:off x="1908235" y="5114209"/>
              <a:ext cx="1759064" cy="1380159"/>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正方形/長方形 41">
              <a:extLst>
                <a:ext uri="{FF2B5EF4-FFF2-40B4-BE49-F238E27FC236}">
                  <a16:creationId xmlns:a16="http://schemas.microsoft.com/office/drawing/2014/main" id="{91584242-37A1-D56E-F29B-E260D6590A16}"/>
                </a:ext>
              </a:extLst>
            </p:cNvPr>
            <p:cNvSpPr/>
            <p:nvPr/>
          </p:nvSpPr>
          <p:spPr>
            <a:xfrm>
              <a:off x="149171" y="5108662"/>
              <a:ext cx="1759064" cy="1385706"/>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3" name="直線矢印コネクタ 42">
              <a:extLst>
                <a:ext uri="{FF2B5EF4-FFF2-40B4-BE49-F238E27FC236}">
                  <a16:creationId xmlns:a16="http://schemas.microsoft.com/office/drawing/2014/main" id="{89A0D828-6114-2AD0-97B8-AA43E93B819C}"/>
                </a:ext>
              </a:extLst>
            </p:cNvPr>
            <p:cNvCxnSpPr/>
            <p:nvPr/>
          </p:nvCxnSpPr>
          <p:spPr>
            <a:xfrm flipV="1">
              <a:off x="3329017" y="6065486"/>
              <a:ext cx="307693" cy="428913"/>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64" name="正方形/長方形 63">
              <a:extLst>
                <a:ext uri="{FF2B5EF4-FFF2-40B4-BE49-F238E27FC236}">
                  <a16:creationId xmlns:a16="http://schemas.microsoft.com/office/drawing/2014/main" id="{A26EBA4D-2E76-7FF0-F87D-BAEAFB2D7F3C}"/>
                </a:ext>
              </a:extLst>
            </p:cNvPr>
            <p:cNvSpPr/>
            <p:nvPr/>
          </p:nvSpPr>
          <p:spPr>
            <a:xfrm flipH="1">
              <a:off x="2398698" y="5607887"/>
              <a:ext cx="794969" cy="799867"/>
            </a:xfrm>
            <a:prstGeom prst="rect">
              <a:avLst/>
            </a:prstGeom>
            <a:solidFill>
              <a:schemeClr val="bg2">
                <a:lumMod val="90000"/>
              </a:schemeClr>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二等辺三角形 64">
              <a:extLst>
                <a:ext uri="{FF2B5EF4-FFF2-40B4-BE49-F238E27FC236}">
                  <a16:creationId xmlns:a16="http://schemas.microsoft.com/office/drawing/2014/main" id="{93AA9871-6A97-D19D-289D-FEDFA8CB6DCE}"/>
                </a:ext>
              </a:extLst>
            </p:cNvPr>
            <p:cNvSpPr/>
            <p:nvPr/>
          </p:nvSpPr>
          <p:spPr>
            <a:xfrm flipH="1">
              <a:off x="2178794" y="5419759"/>
              <a:ext cx="1221053" cy="188116"/>
            </a:xfrm>
            <a:prstGeom prst="triangle">
              <a:avLst/>
            </a:prstGeom>
            <a:solidFill>
              <a:srgbClr val="FFC000"/>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正方形/長方形 65">
              <a:extLst>
                <a:ext uri="{FF2B5EF4-FFF2-40B4-BE49-F238E27FC236}">
                  <a16:creationId xmlns:a16="http://schemas.microsoft.com/office/drawing/2014/main" id="{AC712A4F-F430-9E86-795B-C9F3386404DF}"/>
                </a:ext>
              </a:extLst>
            </p:cNvPr>
            <p:cNvSpPr/>
            <p:nvPr/>
          </p:nvSpPr>
          <p:spPr>
            <a:xfrm flipH="1">
              <a:off x="2855376" y="5739848"/>
              <a:ext cx="307693" cy="197960"/>
            </a:xfrm>
            <a:prstGeom prst="rect">
              <a:avLst/>
            </a:prstGeom>
            <a:solidFill>
              <a:srgbClr val="00FFCC"/>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正方形/長方形 66">
              <a:extLst>
                <a:ext uri="{FF2B5EF4-FFF2-40B4-BE49-F238E27FC236}">
                  <a16:creationId xmlns:a16="http://schemas.microsoft.com/office/drawing/2014/main" id="{512CE2BC-CAE8-FDA0-7622-BB00DF2CF7B4}"/>
                </a:ext>
              </a:extLst>
            </p:cNvPr>
            <p:cNvSpPr/>
            <p:nvPr/>
          </p:nvSpPr>
          <p:spPr>
            <a:xfrm flipH="1">
              <a:off x="2449427" y="6069782"/>
              <a:ext cx="456678" cy="337972"/>
            </a:xfrm>
            <a:prstGeom prst="rect">
              <a:avLst/>
            </a:prstGeom>
            <a:solidFill>
              <a:srgbClr val="00FFCC"/>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正方形/長方形 67">
              <a:extLst>
                <a:ext uri="{FF2B5EF4-FFF2-40B4-BE49-F238E27FC236}">
                  <a16:creationId xmlns:a16="http://schemas.microsoft.com/office/drawing/2014/main" id="{00390BE8-CC28-BDE0-984C-1BA062F10060}"/>
                </a:ext>
              </a:extLst>
            </p:cNvPr>
            <p:cNvSpPr/>
            <p:nvPr/>
          </p:nvSpPr>
          <p:spPr>
            <a:xfrm flipH="1">
              <a:off x="2331051" y="6407754"/>
              <a:ext cx="930274" cy="86645"/>
            </a:xfrm>
            <a:prstGeom prst="rect">
              <a:avLst/>
            </a:prstGeom>
            <a:solidFill>
              <a:schemeClr val="bg1">
                <a:lumMod val="85000"/>
              </a:schemeClr>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正方形/長方形 58">
              <a:extLst>
                <a:ext uri="{FF2B5EF4-FFF2-40B4-BE49-F238E27FC236}">
                  <a16:creationId xmlns:a16="http://schemas.microsoft.com/office/drawing/2014/main" id="{8EAFF0CD-CCA6-D926-A9FD-9C9CE05D47A3}"/>
                </a:ext>
              </a:extLst>
            </p:cNvPr>
            <p:cNvSpPr/>
            <p:nvPr/>
          </p:nvSpPr>
          <p:spPr>
            <a:xfrm>
              <a:off x="558203" y="5607887"/>
              <a:ext cx="794969" cy="799867"/>
            </a:xfrm>
            <a:prstGeom prst="rect">
              <a:avLst/>
            </a:prstGeom>
            <a:solidFill>
              <a:schemeClr val="bg2">
                <a:lumMod val="90000"/>
              </a:schemeClr>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二等辺三角形 59">
              <a:extLst>
                <a:ext uri="{FF2B5EF4-FFF2-40B4-BE49-F238E27FC236}">
                  <a16:creationId xmlns:a16="http://schemas.microsoft.com/office/drawing/2014/main" id="{60D4912F-80D0-18E7-1BB6-B643313C2B43}"/>
                </a:ext>
              </a:extLst>
            </p:cNvPr>
            <p:cNvSpPr/>
            <p:nvPr/>
          </p:nvSpPr>
          <p:spPr>
            <a:xfrm>
              <a:off x="352023" y="5419759"/>
              <a:ext cx="1221053" cy="188116"/>
            </a:xfrm>
            <a:prstGeom prst="triangle">
              <a:avLst/>
            </a:prstGeom>
            <a:solidFill>
              <a:srgbClr val="FFC000"/>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正方形/長方形 60">
              <a:extLst>
                <a:ext uri="{FF2B5EF4-FFF2-40B4-BE49-F238E27FC236}">
                  <a16:creationId xmlns:a16="http://schemas.microsoft.com/office/drawing/2014/main" id="{39F8B205-51DE-3AA0-16BF-011684FDB61B}"/>
                </a:ext>
              </a:extLst>
            </p:cNvPr>
            <p:cNvSpPr/>
            <p:nvPr/>
          </p:nvSpPr>
          <p:spPr>
            <a:xfrm>
              <a:off x="588801" y="5739848"/>
              <a:ext cx="307693" cy="197960"/>
            </a:xfrm>
            <a:prstGeom prst="rect">
              <a:avLst/>
            </a:prstGeom>
            <a:solidFill>
              <a:srgbClr val="00FFCC"/>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正方形/長方形 61">
              <a:extLst>
                <a:ext uri="{FF2B5EF4-FFF2-40B4-BE49-F238E27FC236}">
                  <a16:creationId xmlns:a16="http://schemas.microsoft.com/office/drawing/2014/main" id="{9EE2740B-76B3-2F90-2815-DC53D527C262}"/>
                </a:ext>
              </a:extLst>
            </p:cNvPr>
            <p:cNvSpPr/>
            <p:nvPr/>
          </p:nvSpPr>
          <p:spPr>
            <a:xfrm>
              <a:off x="845765" y="6069782"/>
              <a:ext cx="456678" cy="337972"/>
            </a:xfrm>
            <a:prstGeom prst="rect">
              <a:avLst/>
            </a:prstGeom>
            <a:solidFill>
              <a:srgbClr val="00FFCC"/>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正方形/長方形 62">
              <a:extLst>
                <a:ext uri="{FF2B5EF4-FFF2-40B4-BE49-F238E27FC236}">
                  <a16:creationId xmlns:a16="http://schemas.microsoft.com/office/drawing/2014/main" id="{298CAB7A-DA12-42D1-9E81-298A92FD7645}"/>
                </a:ext>
              </a:extLst>
            </p:cNvPr>
            <p:cNvSpPr/>
            <p:nvPr/>
          </p:nvSpPr>
          <p:spPr>
            <a:xfrm>
              <a:off x="490545" y="6407754"/>
              <a:ext cx="930274" cy="86645"/>
            </a:xfrm>
            <a:prstGeom prst="rect">
              <a:avLst/>
            </a:prstGeom>
            <a:solidFill>
              <a:schemeClr val="bg1">
                <a:lumMod val="85000"/>
              </a:schemeClr>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正方形/長方形 39">
              <a:extLst>
                <a:ext uri="{FF2B5EF4-FFF2-40B4-BE49-F238E27FC236}">
                  <a16:creationId xmlns:a16="http://schemas.microsoft.com/office/drawing/2014/main" id="{A6BF3FF7-2A85-9827-6172-BC74C4E596BE}"/>
                </a:ext>
              </a:extLst>
            </p:cNvPr>
            <p:cNvSpPr/>
            <p:nvPr/>
          </p:nvSpPr>
          <p:spPr>
            <a:xfrm>
              <a:off x="5302418" y="5108662"/>
              <a:ext cx="1759064" cy="1385706"/>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正方形/長方形 40">
              <a:extLst>
                <a:ext uri="{FF2B5EF4-FFF2-40B4-BE49-F238E27FC236}">
                  <a16:creationId xmlns:a16="http://schemas.microsoft.com/office/drawing/2014/main" id="{7E0C6745-B289-1EFD-06CC-BFE9EA0971A5}"/>
                </a:ext>
              </a:extLst>
            </p:cNvPr>
            <p:cNvSpPr/>
            <p:nvPr/>
          </p:nvSpPr>
          <p:spPr>
            <a:xfrm>
              <a:off x="7061408" y="5108662"/>
              <a:ext cx="1759064" cy="1385706"/>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ｚ</a:t>
              </a:r>
            </a:p>
          </p:txBody>
        </p:sp>
        <p:cxnSp>
          <p:nvCxnSpPr>
            <p:cNvPr id="44" name="直線矢印コネクタ 43">
              <a:extLst>
                <a:ext uri="{FF2B5EF4-FFF2-40B4-BE49-F238E27FC236}">
                  <a16:creationId xmlns:a16="http://schemas.microsoft.com/office/drawing/2014/main" id="{1A8E9705-18D1-277A-336A-F591B85BAFF6}"/>
                </a:ext>
              </a:extLst>
            </p:cNvPr>
            <p:cNvCxnSpPr/>
            <p:nvPr/>
          </p:nvCxnSpPr>
          <p:spPr>
            <a:xfrm flipH="1" flipV="1">
              <a:off x="5299116" y="6193338"/>
              <a:ext cx="206227" cy="301048"/>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grpSp>
          <p:nvGrpSpPr>
            <p:cNvPr id="47" name="グループ化 46">
              <a:extLst>
                <a:ext uri="{FF2B5EF4-FFF2-40B4-BE49-F238E27FC236}">
                  <a16:creationId xmlns:a16="http://schemas.microsoft.com/office/drawing/2014/main" id="{D682703F-ACB5-4BF5-8162-3FE1C2A6C46D}"/>
                </a:ext>
              </a:extLst>
            </p:cNvPr>
            <p:cNvGrpSpPr/>
            <p:nvPr/>
          </p:nvGrpSpPr>
          <p:grpSpPr>
            <a:xfrm>
              <a:off x="7332114" y="5419759"/>
              <a:ext cx="1221053" cy="1074640"/>
              <a:chOff x="4064518" y="3799793"/>
              <a:chExt cx="1299592" cy="1172733"/>
            </a:xfrm>
          </p:grpSpPr>
          <p:sp>
            <p:nvSpPr>
              <p:cNvPr id="54" name="正方形/長方形 53">
                <a:extLst>
                  <a:ext uri="{FF2B5EF4-FFF2-40B4-BE49-F238E27FC236}">
                    <a16:creationId xmlns:a16="http://schemas.microsoft.com/office/drawing/2014/main" id="{E6BA32D7-5043-DE0C-EC25-A90922666070}"/>
                  </a:ext>
                </a:extLst>
              </p:cNvPr>
              <p:cNvSpPr/>
              <p:nvPr/>
            </p:nvSpPr>
            <p:spPr>
              <a:xfrm>
                <a:off x="4283960" y="4005093"/>
                <a:ext cx="846102" cy="872879"/>
              </a:xfrm>
              <a:prstGeom prst="rect">
                <a:avLst/>
              </a:prstGeom>
              <a:solidFill>
                <a:schemeClr val="bg2">
                  <a:lumMod val="90000"/>
                </a:schemeClr>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二等辺三角形 54">
                <a:extLst>
                  <a:ext uri="{FF2B5EF4-FFF2-40B4-BE49-F238E27FC236}">
                    <a16:creationId xmlns:a16="http://schemas.microsoft.com/office/drawing/2014/main" id="{E47607B0-1630-B5BC-EE10-BDDB6F39D1C2}"/>
                  </a:ext>
                </a:extLst>
              </p:cNvPr>
              <p:cNvSpPr/>
              <p:nvPr/>
            </p:nvSpPr>
            <p:spPr>
              <a:xfrm>
                <a:off x="4064518" y="3799793"/>
                <a:ext cx="1299592" cy="205287"/>
              </a:xfrm>
              <a:prstGeom prst="triangle">
                <a:avLst/>
              </a:prstGeom>
              <a:solidFill>
                <a:srgbClr val="FFC000"/>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正方形/長方形 55">
                <a:extLst>
                  <a:ext uri="{FF2B5EF4-FFF2-40B4-BE49-F238E27FC236}">
                    <a16:creationId xmlns:a16="http://schemas.microsoft.com/office/drawing/2014/main" id="{E20446D6-F306-E962-382B-26BB5562DE55}"/>
                  </a:ext>
                </a:extLst>
              </p:cNvPr>
              <p:cNvSpPr/>
              <p:nvPr/>
            </p:nvSpPr>
            <p:spPr>
              <a:xfrm>
                <a:off x="4316526" y="4149100"/>
                <a:ext cx="327484" cy="216030"/>
              </a:xfrm>
              <a:prstGeom prst="rect">
                <a:avLst/>
              </a:prstGeom>
              <a:solidFill>
                <a:srgbClr val="00FFCC"/>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正方形/長方形 56">
                <a:extLst>
                  <a:ext uri="{FF2B5EF4-FFF2-40B4-BE49-F238E27FC236}">
                    <a16:creationId xmlns:a16="http://schemas.microsoft.com/office/drawing/2014/main" id="{A12C397E-E98D-1139-F94A-3571C67091B0}"/>
                  </a:ext>
                </a:extLst>
              </p:cNvPr>
              <p:cNvSpPr/>
              <p:nvPr/>
            </p:nvSpPr>
            <p:spPr>
              <a:xfrm>
                <a:off x="4590018" y="4509150"/>
                <a:ext cx="486052" cy="368822"/>
              </a:xfrm>
              <a:prstGeom prst="rect">
                <a:avLst/>
              </a:prstGeom>
              <a:solidFill>
                <a:srgbClr val="00FFCC"/>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正方形/長方形 57">
                <a:extLst>
                  <a:ext uri="{FF2B5EF4-FFF2-40B4-BE49-F238E27FC236}">
                    <a16:creationId xmlns:a16="http://schemas.microsoft.com/office/drawing/2014/main" id="{356832D1-68A2-C3D8-9923-BD4A730E8475}"/>
                  </a:ext>
                </a:extLst>
              </p:cNvPr>
              <p:cNvSpPr/>
              <p:nvPr/>
            </p:nvSpPr>
            <p:spPr>
              <a:xfrm>
                <a:off x="4211950" y="4877972"/>
                <a:ext cx="990110" cy="94554"/>
              </a:xfrm>
              <a:prstGeom prst="rect">
                <a:avLst/>
              </a:prstGeom>
              <a:solidFill>
                <a:schemeClr val="bg1">
                  <a:lumMod val="85000"/>
                </a:schemeClr>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8" name="グループ化 47">
              <a:extLst>
                <a:ext uri="{FF2B5EF4-FFF2-40B4-BE49-F238E27FC236}">
                  <a16:creationId xmlns:a16="http://schemas.microsoft.com/office/drawing/2014/main" id="{E2B7C63E-3193-7620-26B1-30075960CC17}"/>
                </a:ext>
              </a:extLst>
            </p:cNvPr>
            <p:cNvGrpSpPr/>
            <p:nvPr/>
          </p:nvGrpSpPr>
          <p:grpSpPr>
            <a:xfrm flipH="1">
              <a:off x="5505343" y="5419759"/>
              <a:ext cx="1221053" cy="1074640"/>
              <a:chOff x="4064518" y="3799793"/>
              <a:chExt cx="1299592" cy="1172733"/>
            </a:xfrm>
          </p:grpSpPr>
          <p:sp>
            <p:nvSpPr>
              <p:cNvPr id="49" name="正方形/長方形 48">
                <a:extLst>
                  <a:ext uri="{FF2B5EF4-FFF2-40B4-BE49-F238E27FC236}">
                    <a16:creationId xmlns:a16="http://schemas.microsoft.com/office/drawing/2014/main" id="{8864F1AE-3875-E94E-C91A-2EB3972C458F}"/>
                  </a:ext>
                </a:extLst>
              </p:cNvPr>
              <p:cNvSpPr/>
              <p:nvPr/>
            </p:nvSpPr>
            <p:spPr>
              <a:xfrm>
                <a:off x="4283960" y="4005093"/>
                <a:ext cx="846102" cy="872879"/>
              </a:xfrm>
              <a:prstGeom prst="rect">
                <a:avLst/>
              </a:prstGeom>
              <a:solidFill>
                <a:schemeClr val="bg2">
                  <a:lumMod val="90000"/>
                </a:schemeClr>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二等辺三角形 49">
                <a:extLst>
                  <a:ext uri="{FF2B5EF4-FFF2-40B4-BE49-F238E27FC236}">
                    <a16:creationId xmlns:a16="http://schemas.microsoft.com/office/drawing/2014/main" id="{FA21A5F8-C0BA-64B4-5131-8BC81A3C1ADE}"/>
                  </a:ext>
                </a:extLst>
              </p:cNvPr>
              <p:cNvSpPr/>
              <p:nvPr/>
            </p:nvSpPr>
            <p:spPr>
              <a:xfrm>
                <a:off x="4064518" y="3799793"/>
                <a:ext cx="1299592" cy="205287"/>
              </a:xfrm>
              <a:prstGeom prst="triangle">
                <a:avLst/>
              </a:prstGeom>
              <a:solidFill>
                <a:srgbClr val="FFC000"/>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正方形/長方形 50">
                <a:extLst>
                  <a:ext uri="{FF2B5EF4-FFF2-40B4-BE49-F238E27FC236}">
                    <a16:creationId xmlns:a16="http://schemas.microsoft.com/office/drawing/2014/main" id="{446B6D75-BDAA-C73E-701E-D4AB74830D38}"/>
                  </a:ext>
                </a:extLst>
              </p:cNvPr>
              <p:cNvSpPr/>
              <p:nvPr/>
            </p:nvSpPr>
            <p:spPr>
              <a:xfrm>
                <a:off x="4316526" y="4149100"/>
                <a:ext cx="327484" cy="216030"/>
              </a:xfrm>
              <a:prstGeom prst="rect">
                <a:avLst/>
              </a:prstGeom>
              <a:solidFill>
                <a:srgbClr val="00FFCC"/>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正方形/長方形 51">
                <a:extLst>
                  <a:ext uri="{FF2B5EF4-FFF2-40B4-BE49-F238E27FC236}">
                    <a16:creationId xmlns:a16="http://schemas.microsoft.com/office/drawing/2014/main" id="{55274A62-E2C0-D2DE-7C8B-DFBCC90C2F6A}"/>
                  </a:ext>
                </a:extLst>
              </p:cNvPr>
              <p:cNvSpPr/>
              <p:nvPr/>
            </p:nvSpPr>
            <p:spPr>
              <a:xfrm>
                <a:off x="4590018" y="4509150"/>
                <a:ext cx="486052" cy="368822"/>
              </a:xfrm>
              <a:prstGeom prst="rect">
                <a:avLst/>
              </a:prstGeom>
              <a:solidFill>
                <a:srgbClr val="00FFCC"/>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正方形/長方形 52">
                <a:extLst>
                  <a:ext uri="{FF2B5EF4-FFF2-40B4-BE49-F238E27FC236}">
                    <a16:creationId xmlns:a16="http://schemas.microsoft.com/office/drawing/2014/main" id="{705CE507-E673-8F83-7506-07911B6D1C09}"/>
                  </a:ext>
                </a:extLst>
              </p:cNvPr>
              <p:cNvSpPr/>
              <p:nvPr/>
            </p:nvSpPr>
            <p:spPr>
              <a:xfrm>
                <a:off x="4211950" y="4877972"/>
                <a:ext cx="990110" cy="94554"/>
              </a:xfrm>
              <a:prstGeom prst="rect">
                <a:avLst/>
              </a:prstGeom>
              <a:solidFill>
                <a:schemeClr val="bg1">
                  <a:lumMod val="85000"/>
                </a:schemeClr>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grpSp>
        <p:nvGrpSpPr>
          <p:cNvPr id="69" name="グループ化 5">
            <a:extLst>
              <a:ext uri="{FF2B5EF4-FFF2-40B4-BE49-F238E27FC236}">
                <a16:creationId xmlns:a16="http://schemas.microsoft.com/office/drawing/2014/main" id="{CEDECB52-D5F9-AA7D-DDD2-19902E2EC846}"/>
              </a:ext>
            </a:extLst>
          </p:cNvPr>
          <p:cNvGrpSpPr/>
          <p:nvPr/>
        </p:nvGrpSpPr>
        <p:grpSpPr>
          <a:xfrm>
            <a:off x="3121379" y="3024370"/>
            <a:ext cx="2993062" cy="1849037"/>
            <a:chOff x="2993194" y="4676307"/>
            <a:chExt cx="2993062" cy="1849037"/>
          </a:xfrm>
        </p:grpSpPr>
        <p:cxnSp>
          <p:nvCxnSpPr>
            <p:cNvPr id="70" name="直線コネクタ 69">
              <a:extLst>
                <a:ext uri="{FF2B5EF4-FFF2-40B4-BE49-F238E27FC236}">
                  <a16:creationId xmlns:a16="http://schemas.microsoft.com/office/drawing/2014/main" id="{CDF33F82-0246-A402-3F3B-191CB885BC59}"/>
                </a:ext>
              </a:extLst>
            </p:cNvPr>
            <p:cNvCxnSpPr/>
            <p:nvPr/>
          </p:nvCxnSpPr>
          <p:spPr>
            <a:xfrm>
              <a:off x="3621342" y="5013176"/>
              <a:ext cx="0" cy="151216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1" name="直線コネクタ 70">
              <a:extLst>
                <a:ext uri="{FF2B5EF4-FFF2-40B4-BE49-F238E27FC236}">
                  <a16:creationId xmlns:a16="http://schemas.microsoft.com/office/drawing/2014/main" id="{781CC6E1-0C4F-A05C-1B69-65049427579E}"/>
                </a:ext>
              </a:extLst>
            </p:cNvPr>
            <p:cNvCxnSpPr/>
            <p:nvPr/>
          </p:nvCxnSpPr>
          <p:spPr>
            <a:xfrm>
              <a:off x="5260516" y="5013176"/>
              <a:ext cx="0" cy="151216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72" name="テキスト ボックス 71">
              <a:extLst>
                <a:ext uri="{FF2B5EF4-FFF2-40B4-BE49-F238E27FC236}">
                  <a16:creationId xmlns:a16="http://schemas.microsoft.com/office/drawing/2014/main" id="{A45749C7-F43A-D113-4157-0994AADDEB96}"/>
                </a:ext>
              </a:extLst>
            </p:cNvPr>
            <p:cNvSpPr txBox="1"/>
            <p:nvPr/>
          </p:nvSpPr>
          <p:spPr>
            <a:xfrm>
              <a:off x="2993194" y="4676307"/>
              <a:ext cx="1231032" cy="400110"/>
            </a:xfrm>
            <a:prstGeom prst="rect">
              <a:avLst/>
            </a:prstGeom>
            <a:noFill/>
          </p:spPr>
          <p:txBody>
            <a:bodyPr wrap="square" rtlCol="0">
              <a:spAutoFit/>
            </a:bodyPr>
            <a:lstStyle/>
            <a:p>
              <a:r>
                <a:rPr lang="ja-JP" altLang="en-US" sz="2000" dirty="0">
                  <a:solidFill>
                    <a:srgbClr val="FF0000"/>
                  </a:solidFill>
                </a:rPr>
                <a:t>反射境界</a:t>
              </a:r>
              <a:endParaRPr kumimoji="1" lang="ja-JP" altLang="en-US" sz="2000" dirty="0">
                <a:solidFill>
                  <a:srgbClr val="FF0000"/>
                </a:solidFill>
              </a:endParaRPr>
            </a:p>
          </p:txBody>
        </p:sp>
        <p:sp>
          <p:nvSpPr>
            <p:cNvPr id="73" name="テキスト ボックス 72">
              <a:extLst>
                <a:ext uri="{FF2B5EF4-FFF2-40B4-BE49-F238E27FC236}">
                  <a16:creationId xmlns:a16="http://schemas.microsoft.com/office/drawing/2014/main" id="{D27813C5-EDE3-E34D-7F35-9514FBABCD8A}"/>
                </a:ext>
              </a:extLst>
            </p:cNvPr>
            <p:cNvSpPr txBox="1"/>
            <p:nvPr/>
          </p:nvSpPr>
          <p:spPr>
            <a:xfrm>
              <a:off x="4755224" y="4676307"/>
              <a:ext cx="1231032" cy="400110"/>
            </a:xfrm>
            <a:prstGeom prst="rect">
              <a:avLst/>
            </a:prstGeom>
            <a:noFill/>
          </p:spPr>
          <p:txBody>
            <a:bodyPr wrap="square" rtlCol="0">
              <a:spAutoFit/>
            </a:bodyPr>
            <a:lstStyle/>
            <a:p>
              <a:r>
                <a:rPr lang="ja-JP" altLang="en-US" sz="2000" dirty="0">
                  <a:solidFill>
                    <a:srgbClr val="FF0000"/>
                  </a:solidFill>
                </a:rPr>
                <a:t>反射境界</a:t>
              </a:r>
              <a:endParaRPr kumimoji="1" lang="ja-JP" altLang="en-US" sz="2000" dirty="0">
                <a:solidFill>
                  <a:srgbClr val="FF0000"/>
                </a:solidFill>
              </a:endParaRPr>
            </a:p>
          </p:txBody>
        </p:sp>
        <p:cxnSp>
          <p:nvCxnSpPr>
            <p:cNvPr id="74" name="直線矢印コネクタ 73">
              <a:extLst>
                <a:ext uri="{FF2B5EF4-FFF2-40B4-BE49-F238E27FC236}">
                  <a16:creationId xmlns:a16="http://schemas.microsoft.com/office/drawing/2014/main" id="{C4E83767-EE6F-EEDF-E3CD-FB9C23A2D1B2}"/>
                </a:ext>
              </a:extLst>
            </p:cNvPr>
            <p:cNvCxnSpPr/>
            <p:nvPr/>
          </p:nvCxnSpPr>
          <p:spPr>
            <a:xfrm flipV="1">
              <a:off x="3621342" y="5367996"/>
              <a:ext cx="302568" cy="65326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5" name="直線矢印コネクタ 74">
              <a:extLst>
                <a:ext uri="{FF2B5EF4-FFF2-40B4-BE49-F238E27FC236}">
                  <a16:creationId xmlns:a16="http://schemas.microsoft.com/office/drawing/2014/main" id="{113E62EB-F3D7-76CC-662B-90AC347DDFDD}"/>
                </a:ext>
              </a:extLst>
            </p:cNvPr>
            <p:cNvCxnSpPr/>
            <p:nvPr/>
          </p:nvCxnSpPr>
          <p:spPr>
            <a:xfrm flipH="1" flipV="1">
              <a:off x="4917530" y="5661212"/>
              <a:ext cx="309482" cy="46805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grpSp>
        <p:nvGrpSpPr>
          <p:cNvPr id="131" name="グループ化 130">
            <a:extLst>
              <a:ext uri="{FF2B5EF4-FFF2-40B4-BE49-F238E27FC236}">
                <a16:creationId xmlns:a16="http://schemas.microsoft.com/office/drawing/2014/main" id="{01659875-9CA2-F471-A74C-2AE6FFE78B2C}"/>
              </a:ext>
            </a:extLst>
          </p:cNvPr>
          <p:cNvGrpSpPr/>
          <p:nvPr/>
        </p:nvGrpSpPr>
        <p:grpSpPr>
          <a:xfrm>
            <a:off x="3995920" y="1370126"/>
            <a:ext cx="1139458" cy="1050762"/>
            <a:chOff x="4064518" y="3799793"/>
            <a:chExt cx="1299592" cy="1172733"/>
          </a:xfrm>
        </p:grpSpPr>
        <p:sp>
          <p:nvSpPr>
            <p:cNvPr id="133" name="正方形/長方形 132">
              <a:extLst>
                <a:ext uri="{FF2B5EF4-FFF2-40B4-BE49-F238E27FC236}">
                  <a16:creationId xmlns:a16="http://schemas.microsoft.com/office/drawing/2014/main" id="{81AAE77C-9BC9-3C50-C755-2D2BFEC0CDB8}"/>
                </a:ext>
              </a:extLst>
            </p:cNvPr>
            <p:cNvSpPr/>
            <p:nvPr/>
          </p:nvSpPr>
          <p:spPr>
            <a:xfrm>
              <a:off x="4283960" y="4005093"/>
              <a:ext cx="846102" cy="872879"/>
            </a:xfrm>
            <a:prstGeom prst="rect">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4" name="二等辺三角形 133">
              <a:extLst>
                <a:ext uri="{FF2B5EF4-FFF2-40B4-BE49-F238E27FC236}">
                  <a16:creationId xmlns:a16="http://schemas.microsoft.com/office/drawing/2014/main" id="{FB6DD6F2-D4B9-0A4C-F595-9CE89D130C3E}"/>
                </a:ext>
              </a:extLst>
            </p:cNvPr>
            <p:cNvSpPr/>
            <p:nvPr/>
          </p:nvSpPr>
          <p:spPr>
            <a:xfrm>
              <a:off x="4064518" y="3799793"/>
              <a:ext cx="1299592" cy="205287"/>
            </a:xfrm>
            <a:prstGeom prst="triangl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5" name="正方形/長方形 134">
              <a:extLst>
                <a:ext uri="{FF2B5EF4-FFF2-40B4-BE49-F238E27FC236}">
                  <a16:creationId xmlns:a16="http://schemas.microsoft.com/office/drawing/2014/main" id="{6236FCA2-1BB6-745C-14AF-F341D738D497}"/>
                </a:ext>
              </a:extLst>
            </p:cNvPr>
            <p:cNvSpPr/>
            <p:nvPr/>
          </p:nvSpPr>
          <p:spPr>
            <a:xfrm>
              <a:off x="4316526" y="4149100"/>
              <a:ext cx="327484" cy="216030"/>
            </a:xfrm>
            <a:prstGeom prst="rect">
              <a:avLst/>
            </a:prstGeom>
            <a:solidFill>
              <a:srgbClr val="00F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6" name="正方形/長方形 135">
              <a:extLst>
                <a:ext uri="{FF2B5EF4-FFF2-40B4-BE49-F238E27FC236}">
                  <a16:creationId xmlns:a16="http://schemas.microsoft.com/office/drawing/2014/main" id="{6CBEDF98-D61F-3983-F411-A6840F62C618}"/>
                </a:ext>
              </a:extLst>
            </p:cNvPr>
            <p:cNvSpPr/>
            <p:nvPr/>
          </p:nvSpPr>
          <p:spPr>
            <a:xfrm>
              <a:off x="4590018" y="4509150"/>
              <a:ext cx="486052" cy="368822"/>
            </a:xfrm>
            <a:prstGeom prst="rect">
              <a:avLst/>
            </a:prstGeom>
            <a:solidFill>
              <a:srgbClr val="00F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7" name="正方形/長方形 136">
              <a:extLst>
                <a:ext uri="{FF2B5EF4-FFF2-40B4-BE49-F238E27FC236}">
                  <a16:creationId xmlns:a16="http://schemas.microsoft.com/office/drawing/2014/main" id="{633ACD14-D3D8-50E0-CF8F-2D81A950D2CA}"/>
                </a:ext>
              </a:extLst>
            </p:cNvPr>
            <p:cNvSpPr/>
            <p:nvPr/>
          </p:nvSpPr>
          <p:spPr>
            <a:xfrm>
              <a:off x="4211950" y="4877972"/>
              <a:ext cx="990110" cy="94554"/>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8" name="テキスト ボックス 17">
            <a:extLst>
              <a:ext uri="{FF2B5EF4-FFF2-40B4-BE49-F238E27FC236}">
                <a16:creationId xmlns:a16="http://schemas.microsoft.com/office/drawing/2014/main" id="{6355DBD1-54AC-16E7-5954-2C0ECA0A11AE}"/>
              </a:ext>
            </a:extLst>
          </p:cNvPr>
          <p:cNvSpPr txBox="1"/>
          <p:nvPr/>
        </p:nvSpPr>
        <p:spPr>
          <a:xfrm>
            <a:off x="1403648" y="5271591"/>
            <a:ext cx="6264165" cy="461665"/>
          </a:xfrm>
          <a:prstGeom prst="rect">
            <a:avLst/>
          </a:prstGeom>
          <a:noFill/>
        </p:spPr>
        <p:txBody>
          <a:bodyPr wrap="square" rtlCol="0">
            <a:spAutoFit/>
          </a:bodyPr>
          <a:lstStyle/>
          <a:p>
            <a:r>
              <a:rPr lang="ja-JP" altLang="en-US" sz="2400" dirty="0"/>
              <a:t>住宅地の家屋が立ち並ぶ環境 </a:t>
            </a:r>
            <a:r>
              <a:rPr lang="ja-JP" altLang="en-US" sz="2400" dirty="0">
                <a:sym typeface="Symbol" panose="05050102010706020507" pitchFamily="18" charset="2"/>
              </a:rPr>
              <a:t> 孤立した建物 </a:t>
            </a:r>
            <a:endParaRPr lang="en-US" altLang="ja-JP" sz="2400" dirty="0"/>
          </a:p>
        </p:txBody>
      </p:sp>
      <p:sp>
        <p:nvSpPr>
          <p:cNvPr id="19" name="テキスト ボックス 18">
            <a:extLst>
              <a:ext uri="{FF2B5EF4-FFF2-40B4-BE49-F238E27FC236}">
                <a16:creationId xmlns:a16="http://schemas.microsoft.com/office/drawing/2014/main" id="{6B4ACDFC-C7C9-38AC-B951-8AE1D7760B3E}"/>
              </a:ext>
            </a:extLst>
          </p:cNvPr>
          <p:cNvSpPr txBox="1"/>
          <p:nvPr/>
        </p:nvSpPr>
        <p:spPr>
          <a:xfrm>
            <a:off x="795922" y="5943224"/>
            <a:ext cx="7508967" cy="461665"/>
          </a:xfrm>
          <a:prstGeom prst="rect">
            <a:avLst/>
          </a:prstGeom>
          <a:noFill/>
        </p:spPr>
        <p:txBody>
          <a:bodyPr wrap="square" rtlCol="0">
            <a:spAutoFit/>
          </a:bodyPr>
          <a:lstStyle/>
          <a:p>
            <a:pPr algn="ctr"/>
            <a:r>
              <a:rPr lang="ja-JP" altLang="en-US" sz="2400" dirty="0">
                <a:solidFill>
                  <a:srgbClr val="FF0000"/>
                </a:solidFill>
              </a:rPr>
              <a:t>どうすれば無限平面上に孤立した建物の計算ができる？</a:t>
            </a:r>
            <a:endParaRPr kumimoji="1" lang="ja-JP" altLang="en-US" sz="2400" dirty="0">
              <a:solidFill>
                <a:srgbClr val="FF0000"/>
              </a:solidFill>
            </a:endParaRPr>
          </a:p>
        </p:txBody>
      </p:sp>
      <p:sp>
        <p:nvSpPr>
          <p:cNvPr id="21" name="四角形: 角を丸くする 20">
            <a:extLst>
              <a:ext uri="{FF2B5EF4-FFF2-40B4-BE49-F238E27FC236}">
                <a16:creationId xmlns:a16="http://schemas.microsoft.com/office/drawing/2014/main" id="{4CAF59D5-CDF5-4D2B-63C2-2A019FD05CF8}"/>
              </a:ext>
            </a:extLst>
          </p:cNvPr>
          <p:cNvSpPr/>
          <p:nvPr/>
        </p:nvSpPr>
        <p:spPr>
          <a:xfrm>
            <a:off x="107504" y="2941956"/>
            <a:ext cx="8928992" cy="27913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スライド番号プレースホルダー 2">
            <a:extLst>
              <a:ext uri="{FF2B5EF4-FFF2-40B4-BE49-F238E27FC236}">
                <a16:creationId xmlns:a16="http://schemas.microsoft.com/office/drawing/2014/main" id="{EEA8B259-7894-9E62-6D51-9B2CED40CF57}"/>
              </a:ext>
            </a:extLst>
          </p:cNvPr>
          <p:cNvSpPr>
            <a:spLocks noGrp="1"/>
          </p:cNvSpPr>
          <p:nvPr>
            <p:ph type="sldNum" sz="quarter" idx="12"/>
          </p:nvPr>
        </p:nvSpPr>
        <p:spPr/>
        <p:txBody>
          <a:bodyPr/>
          <a:lstStyle/>
          <a:p>
            <a:fld id="{D2D8002D-B5B0-4BAC-B1F6-782DDCCE6D9C}" type="slidenum">
              <a:rPr kumimoji="1" lang="ja-JP" altLang="en-US" smtClean="0"/>
              <a:t>13</a:t>
            </a:fld>
            <a:endParaRPr kumimoji="1" lang="ja-JP" altLang="en-US"/>
          </a:p>
        </p:txBody>
      </p:sp>
    </p:spTree>
    <p:extLst>
      <p:ext uri="{BB962C8B-B14F-4D97-AF65-F5344CB8AC3E}">
        <p14:creationId xmlns:p14="http://schemas.microsoft.com/office/powerpoint/2010/main" val="3754454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78169-5982-D21C-9136-AC9670AC7A9B}"/>
            </a:ext>
          </a:extLst>
        </p:cNvPr>
        <p:cNvGrpSpPr/>
        <p:nvPr/>
      </p:nvGrpSpPr>
      <p:grpSpPr>
        <a:xfrm>
          <a:off x="0" y="0"/>
          <a:ext cx="0" cy="0"/>
          <a:chOff x="0" y="0"/>
          <a:chExt cx="0" cy="0"/>
        </a:xfrm>
      </p:grpSpPr>
      <p:sp>
        <p:nvSpPr>
          <p:cNvPr id="129" name="正方形/長方形 128">
            <a:extLst>
              <a:ext uri="{FF2B5EF4-FFF2-40B4-BE49-F238E27FC236}">
                <a16:creationId xmlns:a16="http://schemas.microsoft.com/office/drawing/2014/main" id="{90BD83CC-48A3-04E8-2168-367B71C65A60}"/>
              </a:ext>
            </a:extLst>
          </p:cNvPr>
          <p:cNvSpPr/>
          <p:nvPr/>
        </p:nvSpPr>
        <p:spPr>
          <a:xfrm>
            <a:off x="1218623" y="2994761"/>
            <a:ext cx="2016220" cy="1349325"/>
          </a:xfrm>
          <a:prstGeom prst="rect">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 name="直線矢印コネクタ 8">
            <a:extLst>
              <a:ext uri="{FF2B5EF4-FFF2-40B4-BE49-F238E27FC236}">
                <a16:creationId xmlns:a16="http://schemas.microsoft.com/office/drawing/2014/main" id="{2A80BA83-3267-77C5-538F-EF0B3666BBE8}"/>
              </a:ext>
            </a:extLst>
          </p:cNvPr>
          <p:cNvCxnSpPr>
            <a:cxnSpLocks/>
          </p:cNvCxnSpPr>
          <p:nvPr/>
        </p:nvCxnSpPr>
        <p:spPr>
          <a:xfrm flipH="1" flipV="1">
            <a:off x="3060262" y="3111761"/>
            <a:ext cx="501088" cy="202242"/>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0" name="直線矢印コネクタ 9">
            <a:extLst>
              <a:ext uri="{FF2B5EF4-FFF2-40B4-BE49-F238E27FC236}">
                <a16:creationId xmlns:a16="http://schemas.microsoft.com/office/drawing/2014/main" id="{B1C2FF07-CEB5-6A6B-11CA-E524C8E77375}"/>
              </a:ext>
            </a:extLst>
          </p:cNvPr>
          <p:cNvCxnSpPr>
            <a:cxnSpLocks/>
          </p:cNvCxnSpPr>
          <p:nvPr/>
        </p:nvCxnSpPr>
        <p:spPr>
          <a:xfrm flipV="1">
            <a:off x="874546" y="3182484"/>
            <a:ext cx="1012859" cy="261337"/>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12" name="正方形/長方形 11">
            <a:extLst>
              <a:ext uri="{FF2B5EF4-FFF2-40B4-BE49-F238E27FC236}">
                <a16:creationId xmlns:a16="http://schemas.microsoft.com/office/drawing/2014/main" id="{F3FE9E11-F094-3EEF-FBCC-DE2E22589122}"/>
              </a:ext>
            </a:extLst>
          </p:cNvPr>
          <p:cNvSpPr/>
          <p:nvPr/>
        </p:nvSpPr>
        <p:spPr>
          <a:xfrm>
            <a:off x="531515" y="4337536"/>
            <a:ext cx="3528546" cy="239221"/>
          </a:xfrm>
          <a:prstGeom prst="rect">
            <a:avLst/>
          </a:prstGeom>
          <a:solidFill>
            <a:srgbClr val="808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4A6F1886-4409-83CF-BD9A-99FF59467313}"/>
              </a:ext>
            </a:extLst>
          </p:cNvPr>
          <p:cNvSpPr>
            <a:spLocks noGrp="1"/>
          </p:cNvSpPr>
          <p:nvPr>
            <p:ph type="title"/>
          </p:nvPr>
        </p:nvSpPr>
        <p:spPr>
          <a:xfrm>
            <a:off x="457200" y="53752"/>
            <a:ext cx="8229600" cy="1143000"/>
          </a:xfrm>
        </p:spPr>
        <p:txBody>
          <a:bodyPr>
            <a:normAutofit/>
          </a:bodyPr>
          <a:lstStyle/>
          <a:p>
            <a:r>
              <a:rPr lang="ja-JP" altLang="en-US" dirty="0">
                <a:latin typeface="Arial" pitchFamily="18"/>
              </a:rPr>
              <a:t>孤立した建物の計算つづき</a:t>
            </a:r>
            <a:endParaRPr kumimoji="1" lang="ja-JP" altLang="en-US" dirty="0"/>
          </a:p>
        </p:txBody>
      </p:sp>
      <p:cxnSp>
        <p:nvCxnSpPr>
          <p:cNvPr id="3" name="直線コネクタ 2">
            <a:extLst>
              <a:ext uri="{FF2B5EF4-FFF2-40B4-BE49-F238E27FC236}">
                <a16:creationId xmlns:a16="http://schemas.microsoft.com/office/drawing/2014/main" id="{57905149-AC18-8595-E056-1044469A1116}"/>
              </a:ext>
            </a:extLst>
          </p:cNvPr>
          <p:cNvCxnSpPr/>
          <p:nvPr/>
        </p:nvCxnSpPr>
        <p:spPr>
          <a:xfrm>
            <a:off x="864703" y="2814784"/>
            <a:ext cx="0" cy="151216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73E45847-C052-10FB-5072-C596F146E781}"/>
              </a:ext>
            </a:extLst>
          </p:cNvPr>
          <p:cNvCxnSpPr/>
          <p:nvPr/>
        </p:nvCxnSpPr>
        <p:spPr>
          <a:xfrm>
            <a:off x="3601007" y="2814784"/>
            <a:ext cx="0" cy="151216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8C4BA123-F5AD-397A-D89A-BB0BEADC0C4E}"/>
              </a:ext>
            </a:extLst>
          </p:cNvPr>
          <p:cNvCxnSpPr>
            <a:cxnSpLocks/>
          </p:cNvCxnSpPr>
          <p:nvPr/>
        </p:nvCxnSpPr>
        <p:spPr>
          <a:xfrm flipV="1">
            <a:off x="1684987" y="3977797"/>
            <a:ext cx="1916020" cy="359733"/>
          </a:xfrm>
          <a:prstGeom prst="straightConnector1">
            <a:avLst/>
          </a:prstGeom>
          <a:ln w="38100">
            <a:solidFill>
              <a:srgbClr val="FFC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F8092C87-B356-D267-26E1-F74CB0475B58}"/>
              </a:ext>
            </a:extLst>
          </p:cNvPr>
          <p:cNvCxnSpPr>
            <a:cxnSpLocks/>
          </p:cNvCxnSpPr>
          <p:nvPr/>
        </p:nvCxnSpPr>
        <p:spPr>
          <a:xfrm>
            <a:off x="854860" y="3441580"/>
            <a:ext cx="2721522" cy="551239"/>
          </a:xfrm>
          <a:prstGeom prst="straightConnector1">
            <a:avLst/>
          </a:prstGeom>
          <a:ln w="38100">
            <a:solidFill>
              <a:srgbClr val="FFC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 name="直線矢印コネクタ 44">
            <a:extLst>
              <a:ext uri="{FF2B5EF4-FFF2-40B4-BE49-F238E27FC236}">
                <a16:creationId xmlns:a16="http://schemas.microsoft.com/office/drawing/2014/main" id="{24AE8A99-7B61-BABB-0694-959AD8BF98A8}"/>
              </a:ext>
            </a:extLst>
          </p:cNvPr>
          <p:cNvCxnSpPr>
            <a:cxnSpLocks/>
          </p:cNvCxnSpPr>
          <p:nvPr/>
        </p:nvCxnSpPr>
        <p:spPr>
          <a:xfrm>
            <a:off x="854861" y="3904923"/>
            <a:ext cx="1706477" cy="432613"/>
          </a:xfrm>
          <a:prstGeom prst="straightConnector1">
            <a:avLst/>
          </a:prstGeom>
          <a:ln w="38100">
            <a:solidFill>
              <a:srgbClr val="FFC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0970DE46-47A0-4F29-053A-DA7B31D76A56}"/>
              </a:ext>
            </a:extLst>
          </p:cNvPr>
          <p:cNvCxnSpPr>
            <a:cxnSpLocks/>
          </p:cNvCxnSpPr>
          <p:nvPr/>
        </p:nvCxnSpPr>
        <p:spPr>
          <a:xfrm flipV="1">
            <a:off x="864703" y="3348760"/>
            <a:ext cx="2696647" cy="553322"/>
          </a:xfrm>
          <a:prstGeom prst="straightConnector1">
            <a:avLst/>
          </a:prstGeom>
          <a:ln w="38100">
            <a:solidFill>
              <a:srgbClr val="FFC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直線矢印コネクタ 83">
            <a:extLst>
              <a:ext uri="{FF2B5EF4-FFF2-40B4-BE49-F238E27FC236}">
                <a16:creationId xmlns:a16="http://schemas.microsoft.com/office/drawing/2014/main" id="{6DC6384D-AF86-C84E-2867-0092D6651C96}"/>
              </a:ext>
            </a:extLst>
          </p:cNvPr>
          <p:cNvCxnSpPr>
            <a:cxnSpLocks/>
          </p:cNvCxnSpPr>
          <p:nvPr/>
        </p:nvCxnSpPr>
        <p:spPr>
          <a:xfrm flipV="1">
            <a:off x="272871" y="3464027"/>
            <a:ext cx="630289" cy="185871"/>
          </a:xfrm>
          <a:prstGeom prst="straightConnector1">
            <a:avLst/>
          </a:prstGeom>
          <a:ln w="38100">
            <a:solidFill>
              <a:srgbClr val="FFC00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55A8FCF9-F702-F59D-4AC2-7C842569EEE9}"/>
              </a:ext>
            </a:extLst>
          </p:cNvPr>
          <p:cNvCxnSpPr>
            <a:cxnSpLocks/>
          </p:cNvCxnSpPr>
          <p:nvPr/>
        </p:nvCxnSpPr>
        <p:spPr>
          <a:xfrm flipV="1">
            <a:off x="338737" y="3897954"/>
            <a:ext cx="623553" cy="129407"/>
          </a:xfrm>
          <a:prstGeom prst="straightConnector1">
            <a:avLst/>
          </a:prstGeom>
          <a:ln w="38100">
            <a:solidFill>
              <a:srgbClr val="FFC00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9" name="直線矢印コネクタ 88">
            <a:extLst>
              <a:ext uri="{FF2B5EF4-FFF2-40B4-BE49-F238E27FC236}">
                <a16:creationId xmlns:a16="http://schemas.microsoft.com/office/drawing/2014/main" id="{2A8E9186-D137-EB47-9212-ECCBC3BB220F}"/>
              </a:ext>
            </a:extLst>
          </p:cNvPr>
          <p:cNvCxnSpPr>
            <a:cxnSpLocks/>
          </p:cNvCxnSpPr>
          <p:nvPr/>
        </p:nvCxnSpPr>
        <p:spPr>
          <a:xfrm>
            <a:off x="3593428" y="3975218"/>
            <a:ext cx="668405" cy="156241"/>
          </a:xfrm>
          <a:prstGeom prst="straightConnector1">
            <a:avLst/>
          </a:prstGeom>
          <a:ln w="38100">
            <a:solidFill>
              <a:srgbClr val="FFC00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2" name="直線矢印コネクタ 91">
            <a:extLst>
              <a:ext uri="{FF2B5EF4-FFF2-40B4-BE49-F238E27FC236}">
                <a16:creationId xmlns:a16="http://schemas.microsoft.com/office/drawing/2014/main" id="{87FAA142-7A1E-829C-0033-0A0E68936005}"/>
              </a:ext>
            </a:extLst>
          </p:cNvPr>
          <p:cNvCxnSpPr>
            <a:cxnSpLocks/>
          </p:cNvCxnSpPr>
          <p:nvPr/>
        </p:nvCxnSpPr>
        <p:spPr>
          <a:xfrm>
            <a:off x="3582006" y="3331680"/>
            <a:ext cx="666452" cy="301400"/>
          </a:xfrm>
          <a:prstGeom prst="straightConnector1">
            <a:avLst/>
          </a:prstGeom>
          <a:ln w="38100">
            <a:solidFill>
              <a:srgbClr val="FFC00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6" name="楕円 95">
            <a:extLst>
              <a:ext uri="{FF2B5EF4-FFF2-40B4-BE49-F238E27FC236}">
                <a16:creationId xmlns:a16="http://schemas.microsoft.com/office/drawing/2014/main" id="{24A0F56F-912B-5D89-4655-A746142B52C8}"/>
              </a:ext>
            </a:extLst>
          </p:cNvPr>
          <p:cNvSpPr/>
          <p:nvPr/>
        </p:nvSpPr>
        <p:spPr>
          <a:xfrm>
            <a:off x="3168959" y="3108920"/>
            <a:ext cx="133429" cy="122438"/>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7" name="楕円 96">
            <a:extLst>
              <a:ext uri="{FF2B5EF4-FFF2-40B4-BE49-F238E27FC236}">
                <a16:creationId xmlns:a16="http://schemas.microsoft.com/office/drawing/2014/main" id="{D9C3A787-D2AA-1AA6-97F2-BDAED3BC9864}"/>
              </a:ext>
            </a:extLst>
          </p:cNvPr>
          <p:cNvSpPr/>
          <p:nvPr/>
        </p:nvSpPr>
        <p:spPr>
          <a:xfrm>
            <a:off x="1152735" y="3272732"/>
            <a:ext cx="133429" cy="122438"/>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8" name="楕円 97">
            <a:extLst>
              <a:ext uri="{FF2B5EF4-FFF2-40B4-BE49-F238E27FC236}">
                <a16:creationId xmlns:a16="http://schemas.microsoft.com/office/drawing/2014/main" id="{4BAEB849-AA2D-5B40-A015-07A7CC781D78}"/>
              </a:ext>
            </a:extLst>
          </p:cNvPr>
          <p:cNvSpPr/>
          <p:nvPr/>
        </p:nvSpPr>
        <p:spPr>
          <a:xfrm>
            <a:off x="3168959" y="3858134"/>
            <a:ext cx="133429" cy="122438"/>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9" name="楕円 98">
            <a:extLst>
              <a:ext uri="{FF2B5EF4-FFF2-40B4-BE49-F238E27FC236}">
                <a16:creationId xmlns:a16="http://schemas.microsoft.com/office/drawing/2014/main" id="{6BCC77A1-2AB9-C6BD-B12F-4128F80DF155}"/>
              </a:ext>
            </a:extLst>
          </p:cNvPr>
          <p:cNvSpPr/>
          <p:nvPr/>
        </p:nvSpPr>
        <p:spPr>
          <a:xfrm>
            <a:off x="1163322" y="3769950"/>
            <a:ext cx="133429" cy="122438"/>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0" name="テキスト ボックス 99">
            <a:extLst>
              <a:ext uri="{FF2B5EF4-FFF2-40B4-BE49-F238E27FC236}">
                <a16:creationId xmlns:a16="http://schemas.microsoft.com/office/drawing/2014/main" id="{DB54AAC2-F6D6-A2A3-96EF-B62FCCFDA575}"/>
              </a:ext>
            </a:extLst>
          </p:cNvPr>
          <p:cNvSpPr txBox="1"/>
          <p:nvPr/>
        </p:nvSpPr>
        <p:spPr>
          <a:xfrm>
            <a:off x="256824" y="2387663"/>
            <a:ext cx="1215758" cy="400110"/>
          </a:xfrm>
          <a:prstGeom prst="rect">
            <a:avLst/>
          </a:prstGeom>
          <a:noFill/>
        </p:spPr>
        <p:txBody>
          <a:bodyPr wrap="square" rtlCol="0">
            <a:spAutoFit/>
          </a:bodyPr>
          <a:lstStyle/>
          <a:p>
            <a:r>
              <a:rPr kumimoji="1" lang="ja-JP" altLang="en-US" sz="2000" dirty="0">
                <a:solidFill>
                  <a:srgbClr val="FF0000"/>
                </a:solidFill>
              </a:rPr>
              <a:t>反射境界</a:t>
            </a:r>
          </a:p>
        </p:txBody>
      </p:sp>
      <p:sp>
        <p:nvSpPr>
          <p:cNvPr id="102" name="正方形/長方形 101">
            <a:extLst>
              <a:ext uri="{FF2B5EF4-FFF2-40B4-BE49-F238E27FC236}">
                <a16:creationId xmlns:a16="http://schemas.microsoft.com/office/drawing/2014/main" id="{3D59D9F6-E304-699D-177C-1B6E93EDC6BA}"/>
              </a:ext>
            </a:extLst>
          </p:cNvPr>
          <p:cNvSpPr/>
          <p:nvPr/>
        </p:nvSpPr>
        <p:spPr>
          <a:xfrm>
            <a:off x="4925955" y="3837851"/>
            <a:ext cx="3528546" cy="239221"/>
          </a:xfrm>
          <a:prstGeom prst="rect">
            <a:avLst/>
          </a:prstGeom>
          <a:solidFill>
            <a:srgbClr val="808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 name="正方形/長方形 102">
            <a:extLst>
              <a:ext uri="{FF2B5EF4-FFF2-40B4-BE49-F238E27FC236}">
                <a16:creationId xmlns:a16="http://schemas.microsoft.com/office/drawing/2014/main" id="{9AC945EF-4182-C21C-D38C-3DED1BAE2257}"/>
              </a:ext>
            </a:extLst>
          </p:cNvPr>
          <p:cNvSpPr/>
          <p:nvPr/>
        </p:nvSpPr>
        <p:spPr>
          <a:xfrm>
            <a:off x="5695935" y="2488525"/>
            <a:ext cx="2016220" cy="1349325"/>
          </a:xfrm>
          <a:prstGeom prst="rect">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04" name="グループ化 103">
            <a:extLst>
              <a:ext uri="{FF2B5EF4-FFF2-40B4-BE49-F238E27FC236}">
                <a16:creationId xmlns:a16="http://schemas.microsoft.com/office/drawing/2014/main" id="{205BD1AD-D7B3-309B-0BEA-0794BE31347A}"/>
              </a:ext>
            </a:extLst>
          </p:cNvPr>
          <p:cNvGrpSpPr/>
          <p:nvPr/>
        </p:nvGrpSpPr>
        <p:grpSpPr>
          <a:xfrm>
            <a:off x="6156176" y="3038143"/>
            <a:ext cx="1010839" cy="770319"/>
            <a:chOff x="4064518" y="3799793"/>
            <a:chExt cx="1299592" cy="1172733"/>
          </a:xfrm>
        </p:grpSpPr>
        <p:sp>
          <p:nvSpPr>
            <p:cNvPr id="105" name="正方形/長方形 104">
              <a:extLst>
                <a:ext uri="{FF2B5EF4-FFF2-40B4-BE49-F238E27FC236}">
                  <a16:creationId xmlns:a16="http://schemas.microsoft.com/office/drawing/2014/main" id="{61E651D5-AE2E-89E5-6082-101FF9DE97A7}"/>
                </a:ext>
              </a:extLst>
            </p:cNvPr>
            <p:cNvSpPr/>
            <p:nvPr/>
          </p:nvSpPr>
          <p:spPr>
            <a:xfrm>
              <a:off x="4283960" y="4005093"/>
              <a:ext cx="846102" cy="872879"/>
            </a:xfrm>
            <a:prstGeom prst="rect">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6" name="二等辺三角形 105">
              <a:extLst>
                <a:ext uri="{FF2B5EF4-FFF2-40B4-BE49-F238E27FC236}">
                  <a16:creationId xmlns:a16="http://schemas.microsoft.com/office/drawing/2014/main" id="{4EF3E934-4319-D841-C9AF-CD520B4A5AA5}"/>
                </a:ext>
              </a:extLst>
            </p:cNvPr>
            <p:cNvSpPr/>
            <p:nvPr/>
          </p:nvSpPr>
          <p:spPr>
            <a:xfrm>
              <a:off x="4064518" y="3799793"/>
              <a:ext cx="1299592" cy="205287"/>
            </a:xfrm>
            <a:prstGeom prst="triangl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7" name="正方形/長方形 106">
              <a:extLst>
                <a:ext uri="{FF2B5EF4-FFF2-40B4-BE49-F238E27FC236}">
                  <a16:creationId xmlns:a16="http://schemas.microsoft.com/office/drawing/2014/main" id="{655CD0DF-3454-8362-F74C-41249163E5F3}"/>
                </a:ext>
              </a:extLst>
            </p:cNvPr>
            <p:cNvSpPr/>
            <p:nvPr/>
          </p:nvSpPr>
          <p:spPr>
            <a:xfrm>
              <a:off x="4316526" y="4149100"/>
              <a:ext cx="327484" cy="216030"/>
            </a:xfrm>
            <a:prstGeom prst="rect">
              <a:avLst/>
            </a:prstGeom>
            <a:solidFill>
              <a:srgbClr val="00F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8" name="正方形/長方形 107">
              <a:extLst>
                <a:ext uri="{FF2B5EF4-FFF2-40B4-BE49-F238E27FC236}">
                  <a16:creationId xmlns:a16="http://schemas.microsoft.com/office/drawing/2014/main" id="{B981F6DD-A687-4172-B82D-2F2872CFA2A7}"/>
                </a:ext>
              </a:extLst>
            </p:cNvPr>
            <p:cNvSpPr/>
            <p:nvPr/>
          </p:nvSpPr>
          <p:spPr>
            <a:xfrm>
              <a:off x="4590018" y="4509150"/>
              <a:ext cx="486052" cy="368822"/>
            </a:xfrm>
            <a:prstGeom prst="rect">
              <a:avLst/>
            </a:prstGeom>
            <a:solidFill>
              <a:srgbClr val="00F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9" name="正方形/長方形 108">
              <a:extLst>
                <a:ext uri="{FF2B5EF4-FFF2-40B4-BE49-F238E27FC236}">
                  <a16:creationId xmlns:a16="http://schemas.microsoft.com/office/drawing/2014/main" id="{1A91D3DB-8F08-A1B8-B81A-2ECAFAFC2204}"/>
                </a:ext>
              </a:extLst>
            </p:cNvPr>
            <p:cNvSpPr/>
            <p:nvPr/>
          </p:nvSpPr>
          <p:spPr>
            <a:xfrm>
              <a:off x="4211950" y="4877972"/>
              <a:ext cx="990110" cy="94554"/>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114" name="直線矢印コネクタ 113">
            <a:extLst>
              <a:ext uri="{FF2B5EF4-FFF2-40B4-BE49-F238E27FC236}">
                <a16:creationId xmlns:a16="http://schemas.microsoft.com/office/drawing/2014/main" id="{5A3F4EBE-2ACC-26D1-3B89-0CD03313B1D9}"/>
              </a:ext>
            </a:extLst>
          </p:cNvPr>
          <p:cNvCxnSpPr>
            <a:cxnSpLocks/>
          </p:cNvCxnSpPr>
          <p:nvPr/>
        </p:nvCxnSpPr>
        <p:spPr>
          <a:xfrm flipV="1">
            <a:off x="5673542" y="3277963"/>
            <a:ext cx="309854" cy="67090"/>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17" name="直線矢印コネクタ 116">
            <a:extLst>
              <a:ext uri="{FF2B5EF4-FFF2-40B4-BE49-F238E27FC236}">
                <a16:creationId xmlns:a16="http://schemas.microsoft.com/office/drawing/2014/main" id="{C25F65C1-6E4B-CF5F-C917-793F328E66C1}"/>
              </a:ext>
            </a:extLst>
          </p:cNvPr>
          <p:cNvCxnSpPr>
            <a:cxnSpLocks/>
          </p:cNvCxnSpPr>
          <p:nvPr/>
        </p:nvCxnSpPr>
        <p:spPr>
          <a:xfrm flipV="1">
            <a:off x="5954734" y="6201002"/>
            <a:ext cx="214590" cy="407815"/>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19" name="直線矢印コネクタ 118">
            <a:extLst>
              <a:ext uri="{FF2B5EF4-FFF2-40B4-BE49-F238E27FC236}">
                <a16:creationId xmlns:a16="http://schemas.microsoft.com/office/drawing/2014/main" id="{A8636479-ED3B-2D8A-670C-5AA1513E2133}"/>
              </a:ext>
            </a:extLst>
          </p:cNvPr>
          <p:cNvCxnSpPr>
            <a:cxnSpLocks/>
          </p:cNvCxnSpPr>
          <p:nvPr/>
        </p:nvCxnSpPr>
        <p:spPr>
          <a:xfrm flipV="1">
            <a:off x="5711754" y="2745117"/>
            <a:ext cx="279667" cy="101267"/>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22" name="直線矢印コネクタ 121">
            <a:extLst>
              <a:ext uri="{FF2B5EF4-FFF2-40B4-BE49-F238E27FC236}">
                <a16:creationId xmlns:a16="http://schemas.microsoft.com/office/drawing/2014/main" id="{C15B92FF-D63F-FA93-6174-F63D66D74D2A}"/>
              </a:ext>
            </a:extLst>
          </p:cNvPr>
          <p:cNvCxnSpPr>
            <a:cxnSpLocks/>
          </p:cNvCxnSpPr>
          <p:nvPr/>
        </p:nvCxnSpPr>
        <p:spPr>
          <a:xfrm flipH="1" flipV="1">
            <a:off x="7483646" y="2569993"/>
            <a:ext cx="278612" cy="119538"/>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24" name="直線矢印コネクタ 123">
            <a:extLst>
              <a:ext uri="{FF2B5EF4-FFF2-40B4-BE49-F238E27FC236}">
                <a16:creationId xmlns:a16="http://schemas.microsoft.com/office/drawing/2014/main" id="{FDD81DBD-E3D2-3DA6-0160-1CF213E77772}"/>
              </a:ext>
            </a:extLst>
          </p:cNvPr>
          <p:cNvCxnSpPr>
            <a:cxnSpLocks/>
          </p:cNvCxnSpPr>
          <p:nvPr/>
        </p:nvCxnSpPr>
        <p:spPr>
          <a:xfrm flipH="1" flipV="1">
            <a:off x="7452320" y="3350440"/>
            <a:ext cx="330996" cy="67176"/>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27" name="直線矢印コネクタ 126">
            <a:extLst>
              <a:ext uri="{FF2B5EF4-FFF2-40B4-BE49-F238E27FC236}">
                <a16:creationId xmlns:a16="http://schemas.microsoft.com/office/drawing/2014/main" id="{D6AA6DDE-6D42-8A70-76B9-DCDA06540A1B}"/>
              </a:ext>
            </a:extLst>
          </p:cNvPr>
          <p:cNvCxnSpPr>
            <a:cxnSpLocks/>
          </p:cNvCxnSpPr>
          <p:nvPr/>
        </p:nvCxnSpPr>
        <p:spPr>
          <a:xfrm flipH="1" flipV="1">
            <a:off x="7177209" y="6176278"/>
            <a:ext cx="103993" cy="433875"/>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146" name="楕円 145">
            <a:extLst>
              <a:ext uri="{FF2B5EF4-FFF2-40B4-BE49-F238E27FC236}">
                <a16:creationId xmlns:a16="http://schemas.microsoft.com/office/drawing/2014/main" id="{C6BFECB6-8BD3-D0CE-21DA-643B31E2F1DA}"/>
              </a:ext>
            </a:extLst>
          </p:cNvPr>
          <p:cNvSpPr/>
          <p:nvPr/>
        </p:nvSpPr>
        <p:spPr>
          <a:xfrm>
            <a:off x="7678931" y="2622804"/>
            <a:ext cx="133429" cy="122438"/>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7" name="楕円 146">
            <a:extLst>
              <a:ext uri="{FF2B5EF4-FFF2-40B4-BE49-F238E27FC236}">
                <a16:creationId xmlns:a16="http://schemas.microsoft.com/office/drawing/2014/main" id="{2C9F31C7-E957-32FC-6E50-7F76D4162D81}"/>
              </a:ext>
            </a:extLst>
          </p:cNvPr>
          <p:cNvSpPr/>
          <p:nvPr/>
        </p:nvSpPr>
        <p:spPr>
          <a:xfrm>
            <a:off x="5662707" y="2786616"/>
            <a:ext cx="133429" cy="122438"/>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8" name="楕円 147">
            <a:extLst>
              <a:ext uri="{FF2B5EF4-FFF2-40B4-BE49-F238E27FC236}">
                <a16:creationId xmlns:a16="http://schemas.microsoft.com/office/drawing/2014/main" id="{3AD77303-5E65-E816-2AA6-08768A5D5EEA}"/>
              </a:ext>
            </a:extLst>
          </p:cNvPr>
          <p:cNvSpPr/>
          <p:nvPr/>
        </p:nvSpPr>
        <p:spPr>
          <a:xfrm>
            <a:off x="7657757" y="3372018"/>
            <a:ext cx="133429" cy="122438"/>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9" name="楕円 148">
            <a:extLst>
              <a:ext uri="{FF2B5EF4-FFF2-40B4-BE49-F238E27FC236}">
                <a16:creationId xmlns:a16="http://schemas.microsoft.com/office/drawing/2014/main" id="{D174314D-A157-08DA-61AC-35A889347FE3}"/>
              </a:ext>
            </a:extLst>
          </p:cNvPr>
          <p:cNvSpPr/>
          <p:nvPr/>
        </p:nvSpPr>
        <p:spPr>
          <a:xfrm>
            <a:off x="5652120" y="3283834"/>
            <a:ext cx="133429" cy="122438"/>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4" name="正方形/長方形 153">
            <a:extLst>
              <a:ext uri="{FF2B5EF4-FFF2-40B4-BE49-F238E27FC236}">
                <a16:creationId xmlns:a16="http://schemas.microsoft.com/office/drawing/2014/main" id="{0CD41EB9-15C7-DE37-4253-65073C791466}"/>
              </a:ext>
            </a:extLst>
          </p:cNvPr>
          <p:cNvSpPr/>
          <p:nvPr/>
        </p:nvSpPr>
        <p:spPr>
          <a:xfrm>
            <a:off x="4931886" y="6574155"/>
            <a:ext cx="3528546" cy="239221"/>
          </a:xfrm>
          <a:prstGeom prst="rect">
            <a:avLst/>
          </a:prstGeom>
          <a:solidFill>
            <a:srgbClr val="808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5" name="正方形/長方形 154">
            <a:extLst>
              <a:ext uri="{FF2B5EF4-FFF2-40B4-BE49-F238E27FC236}">
                <a16:creationId xmlns:a16="http://schemas.microsoft.com/office/drawing/2014/main" id="{3A73F043-BF4B-A2E4-832D-9062E2E8F6B4}"/>
              </a:ext>
            </a:extLst>
          </p:cNvPr>
          <p:cNvSpPr/>
          <p:nvPr/>
        </p:nvSpPr>
        <p:spPr>
          <a:xfrm>
            <a:off x="5701866" y="5224829"/>
            <a:ext cx="2016220" cy="1349325"/>
          </a:xfrm>
          <a:prstGeom prst="rect">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56" name="グループ化 155">
            <a:extLst>
              <a:ext uri="{FF2B5EF4-FFF2-40B4-BE49-F238E27FC236}">
                <a16:creationId xmlns:a16="http://schemas.microsoft.com/office/drawing/2014/main" id="{9E093A37-D1FF-076C-88A6-39F19CC2A20F}"/>
              </a:ext>
            </a:extLst>
          </p:cNvPr>
          <p:cNvGrpSpPr/>
          <p:nvPr/>
        </p:nvGrpSpPr>
        <p:grpSpPr>
          <a:xfrm>
            <a:off x="6162107" y="5829656"/>
            <a:ext cx="1010839" cy="770319"/>
            <a:chOff x="4064518" y="3799793"/>
            <a:chExt cx="1299592" cy="1172733"/>
          </a:xfrm>
        </p:grpSpPr>
        <p:sp>
          <p:nvSpPr>
            <p:cNvPr id="157" name="正方形/長方形 156">
              <a:extLst>
                <a:ext uri="{FF2B5EF4-FFF2-40B4-BE49-F238E27FC236}">
                  <a16:creationId xmlns:a16="http://schemas.microsoft.com/office/drawing/2014/main" id="{F9457032-E11B-E22D-E1B7-40BEB4DA0924}"/>
                </a:ext>
              </a:extLst>
            </p:cNvPr>
            <p:cNvSpPr/>
            <p:nvPr/>
          </p:nvSpPr>
          <p:spPr>
            <a:xfrm>
              <a:off x="4283960" y="4005093"/>
              <a:ext cx="846102" cy="872879"/>
            </a:xfrm>
            <a:prstGeom prst="rect">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8" name="二等辺三角形 157">
              <a:extLst>
                <a:ext uri="{FF2B5EF4-FFF2-40B4-BE49-F238E27FC236}">
                  <a16:creationId xmlns:a16="http://schemas.microsoft.com/office/drawing/2014/main" id="{FBD820C0-24BA-EFB6-3F30-E4C1D25C9375}"/>
                </a:ext>
              </a:extLst>
            </p:cNvPr>
            <p:cNvSpPr/>
            <p:nvPr/>
          </p:nvSpPr>
          <p:spPr>
            <a:xfrm>
              <a:off x="4064518" y="3799793"/>
              <a:ext cx="1299592" cy="205287"/>
            </a:xfrm>
            <a:prstGeom prst="triangl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9" name="正方形/長方形 158">
              <a:extLst>
                <a:ext uri="{FF2B5EF4-FFF2-40B4-BE49-F238E27FC236}">
                  <a16:creationId xmlns:a16="http://schemas.microsoft.com/office/drawing/2014/main" id="{2B6A0776-E54D-1C9A-0C3A-9225E8C35F3C}"/>
                </a:ext>
              </a:extLst>
            </p:cNvPr>
            <p:cNvSpPr/>
            <p:nvPr/>
          </p:nvSpPr>
          <p:spPr>
            <a:xfrm>
              <a:off x="4316526" y="4149100"/>
              <a:ext cx="327484" cy="216030"/>
            </a:xfrm>
            <a:prstGeom prst="rect">
              <a:avLst/>
            </a:prstGeom>
            <a:solidFill>
              <a:srgbClr val="00F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0" name="正方形/長方形 159">
              <a:extLst>
                <a:ext uri="{FF2B5EF4-FFF2-40B4-BE49-F238E27FC236}">
                  <a16:creationId xmlns:a16="http://schemas.microsoft.com/office/drawing/2014/main" id="{F690B798-434C-8D11-9559-994CB5355FCA}"/>
                </a:ext>
              </a:extLst>
            </p:cNvPr>
            <p:cNvSpPr/>
            <p:nvPr/>
          </p:nvSpPr>
          <p:spPr>
            <a:xfrm>
              <a:off x="4590018" y="4509150"/>
              <a:ext cx="486052" cy="368822"/>
            </a:xfrm>
            <a:prstGeom prst="rect">
              <a:avLst/>
            </a:prstGeom>
            <a:solidFill>
              <a:srgbClr val="00FF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1" name="正方形/長方形 160">
              <a:extLst>
                <a:ext uri="{FF2B5EF4-FFF2-40B4-BE49-F238E27FC236}">
                  <a16:creationId xmlns:a16="http://schemas.microsoft.com/office/drawing/2014/main" id="{C7AC0A26-AF24-ACD3-DEC5-F34C4AD402F5}"/>
                </a:ext>
              </a:extLst>
            </p:cNvPr>
            <p:cNvSpPr/>
            <p:nvPr/>
          </p:nvSpPr>
          <p:spPr>
            <a:xfrm>
              <a:off x="4211950" y="4877972"/>
              <a:ext cx="990110" cy="94554"/>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cxnSp>
        <p:nvCxnSpPr>
          <p:cNvPr id="172" name="直線矢印コネクタ 171">
            <a:extLst>
              <a:ext uri="{FF2B5EF4-FFF2-40B4-BE49-F238E27FC236}">
                <a16:creationId xmlns:a16="http://schemas.microsoft.com/office/drawing/2014/main" id="{F155677E-4EE7-4DFD-9E2C-774B1F2029F8}"/>
              </a:ext>
            </a:extLst>
          </p:cNvPr>
          <p:cNvCxnSpPr>
            <a:cxnSpLocks/>
          </p:cNvCxnSpPr>
          <p:nvPr/>
        </p:nvCxnSpPr>
        <p:spPr>
          <a:xfrm flipV="1">
            <a:off x="7511796" y="6223578"/>
            <a:ext cx="84876" cy="339274"/>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F95C911A-312F-CD9C-3007-5957777BD573}"/>
              </a:ext>
            </a:extLst>
          </p:cNvPr>
          <p:cNvSpPr txBox="1"/>
          <p:nvPr/>
        </p:nvSpPr>
        <p:spPr>
          <a:xfrm>
            <a:off x="560774" y="4883297"/>
            <a:ext cx="3431650" cy="830997"/>
          </a:xfrm>
          <a:prstGeom prst="rect">
            <a:avLst/>
          </a:prstGeom>
          <a:noFill/>
          <a:ln>
            <a:solidFill>
              <a:schemeClr val="tx1"/>
            </a:solidFill>
          </a:ln>
        </p:spPr>
        <p:txBody>
          <a:bodyPr wrap="square" rtlCol="0">
            <a:spAutoFit/>
          </a:bodyPr>
          <a:lstStyle/>
          <a:p>
            <a:pPr algn="ctr"/>
            <a:r>
              <a:rPr kumimoji="1" lang="ja-JP" altLang="en-US" sz="2400" dirty="0"/>
              <a:t>スコアリングボックス面を</a:t>
            </a:r>
            <a:endParaRPr kumimoji="1" lang="en-US" altLang="ja-JP" sz="2400" dirty="0"/>
          </a:p>
          <a:p>
            <a:pPr algn="ctr"/>
            <a:r>
              <a:rPr kumimoji="1" lang="ja-JP" altLang="en-US" sz="2400" dirty="0"/>
              <a:t>通過する粒子をダンプ</a:t>
            </a:r>
            <a:endParaRPr kumimoji="1" lang="en-US" altLang="ja-JP" sz="2400" dirty="0"/>
          </a:p>
        </p:txBody>
      </p:sp>
      <p:sp>
        <p:nvSpPr>
          <p:cNvPr id="14" name="テキスト ボックス 13">
            <a:extLst>
              <a:ext uri="{FF2B5EF4-FFF2-40B4-BE49-F238E27FC236}">
                <a16:creationId xmlns:a16="http://schemas.microsoft.com/office/drawing/2014/main" id="{4CBBAFBF-2F2D-D95B-38EC-D1C7ECCEDF3A}"/>
              </a:ext>
            </a:extLst>
          </p:cNvPr>
          <p:cNvSpPr txBox="1"/>
          <p:nvPr/>
        </p:nvSpPr>
        <p:spPr>
          <a:xfrm>
            <a:off x="3068210" y="2376660"/>
            <a:ext cx="1215758" cy="400110"/>
          </a:xfrm>
          <a:prstGeom prst="rect">
            <a:avLst/>
          </a:prstGeom>
          <a:noFill/>
        </p:spPr>
        <p:txBody>
          <a:bodyPr wrap="square" rtlCol="0">
            <a:spAutoFit/>
          </a:bodyPr>
          <a:lstStyle/>
          <a:p>
            <a:r>
              <a:rPr kumimoji="1" lang="ja-JP" altLang="en-US" sz="2000" dirty="0">
                <a:solidFill>
                  <a:srgbClr val="FF0000"/>
                </a:solidFill>
              </a:rPr>
              <a:t>反射境界</a:t>
            </a:r>
          </a:p>
        </p:txBody>
      </p:sp>
      <p:sp>
        <p:nvSpPr>
          <p:cNvPr id="15" name="テキスト ボックス 14">
            <a:extLst>
              <a:ext uri="{FF2B5EF4-FFF2-40B4-BE49-F238E27FC236}">
                <a16:creationId xmlns:a16="http://schemas.microsoft.com/office/drawing/2014/main" id="{813189F8-737C-E2DF-A822-7E2BB1398FEC}"/>
              </a:ext>
            </a:extLst>
          </p:cNvPr>
          <p:cNvSpPr txBox="1"/>
          <p:nvPr/>
        </p:nvSpPr>
        <p:spPr>
          <a:xfrm>
            <a:off x="1381822" y="2302240"/>
            <a:ext cx="1787137" cy="707886"/>
          </a:xfrm>
          <a:prstGeom prst="rect">
            <a:avLst/>
          </a:prstGeom>
          <a:noFill/>
        </p:spPr>
        <p:txBody>
          <a:bodyPr wrap="square" rtlCol="0">
            <a:spAutoFit/>
          </a:bodyPr>
          <a:lstStyle/>
          <a:p>
            <a:pPr algn="ctr"/>
            <a:r>
              <a:rPr lang="ja-JP" altLang="en-US" sz="2000" dirty="0"/>
              <a:t>スコアリングボックス</a:t>
            </a:r>
            <a:endParaRPr kumimoji="1" lang="ja-JP" altLang="en-US" sz="2000" dirty="0"/>
          </a:p>
        </p:txBody>
      </p:sp>
      <p:sp>
        <p:nvSpPr>
          <p:cNvPr id="17" name="テキスト ボックス 16">
            <a:extLst>
              <a:ext uri="{FF2B5EF4-FFF2-40B4-BE49-F238E27FC236}">
                <a16:creationId xmlns:a16="http://schemas.microsoft.com/office/drawing/2014/main" id="{5BF9FA3E-84F7-C1A1-6312-105F182E9AEF}"/>
              </a:ext>
            </a:extLst>
          </p:cNvPr>
          <p:cNvSpPr txBox="1"/>
          <p:nvPr/>
        </p:nvSpPr>
        <p:spPr>
          <a:xfrm>
            <a:off x="708302" y="6018658"/>
            <a:ext cx="3431650" cy="646331"/>
          </a:xfrm>
          <a:prstGeom prst="rect">
            <a:avLst/>
          </a:prstGeom>
          <a:noFill/>
        </p:spPr>
        <p:txBody>
          <a:bodyPr wrap="square">
            <a:spAutoFit/>
          </a:bodyPr>
          <a:lstStyle/>
          <a:p>
            <a:r>
              <a:rPr kumimoji="1" lang="ja-JP" altLang="en-US" sz="1800" dirty="0">
                <a:solidFill>
                  <a:srgbClr val="FF0000"/>
                </a:solidFill>
              </a:rPr>
              <a:t>ダンプデータ</a:t>
            </a:r>
            <a:endParaRPr kumimoji="1" lang="en-US" altLang="ja-JP" sz="1800" dirty="0">
              <a:solidFill>
                <a:srgbClr val="FF0000"/>
              </a:solidFill>
            </a:endParaRPr>
          </a:p>
          <a:p>
            <a:r>
              <a:rPr kumimoji="1" lang="ja-JP" altLang="en-US" sz="1800" dirty="0">
                <a:solidFill>
                  <a:srgbClr val="FF0000"/>
                </a:solidFill>
              </a:rPr>
              <a:t>＝無限平面から入射される粒子</a:t>
            </a:r>
            <a:endParaRPr kumimoji="1" lang="en-US" altLang="ja-JP" sz="1800" dirty="0">
              <a:solidFill>
                <a:srgbClr val="FF0000"/>
              </a:solidFill>
            </a:endParaRPr>
          </a:p>
        </p:txBody>
      </p:sp>
      <p:sp>
        <p:nvSpPr>
          <p:cNvPr id="18" name="テキスト ボックス 17">
            <a:extLst>
              <a:ext uri="{FF2B5EF4-FFF2-40B4-BE49-F238E27FC236}">
                <a16:creationId xmlns:a16="http://schemas.microsoft.com/office/drawing/2014/main" id="{20D49CEA-BF43-EFF0-BFD0-4B445B1465C9}"/>
              </a:ext>
            </a:extLst>
          </p:cNvPr>
          <p:cNvSpPr txBox="1"/>
          <p:nvPr/>
        </p:nvSpPr>
        <p:spPr>
          <a:xfrm>
            <a:off x="1472582" y="1589997"/>
            <a:ext cx="1215759" cy="461665"/>
          </a:xfrm>
          <a:prstGeom prst="rect">
            <a:avLst/>
          </a:prstGeom>
          <a:solidFill>
            <a:schemeClr val="accent1">
              <a:lumMod val="40000"/>
              <a:lumOff val="60000"/>
            </a:schemeClr>
          </a:solidFill>
        </p:spPr>
        <p:txBody>
          <a:bodyPr wrap="square" rtlCol="0">
            <a:spAutoFit/>
          </a:bodyPr>
          <a:lstStyle/>
          <a:p>
            <a:pPr algn="ctr"/>
            <a:r>
              <a:rPr kumimoji="1" lang="en-US" altLang="ja-JP" sz="2400" dirty="0"/>
              <a:t>1</a:t>
            </a:r>
            <a:r>
              <a:rPr kumimoji="1" lang="en-US" altLang="ja-JP" sz="2400" baseline="30000" dirty="0"/>
              <a:t>st</a:t>
            </a:r>
            <a:r>
              <a:rPr kumimoji="1" lang="ja-JP" altLang="en-US" sz="2400" dirty="0"/>
              <a:t> </a:t>
            </a:r>
            <a:r>
              <a:rPr lang="en-US" altLang="ja-JP" sz="2400" dirty="0"/>
              <a:t>s</a:t>
            </a:r>
            <a:r>
              <a:rPr kumimoji="1" lang="en-US" altLang="ja-JP" sz="2400" dirty="0"/>
              <a:t>tep</a:t>
            </a:r>
            <a:endParaRPr kumimoji="1" lang="ja-JP" altLang="en-US" sz="2400" dirty="0"/>
          </a:p>
        </p:txBody>
      </p:sp>
      <p:sp>
        <p:nvSpPr>
          <p:cNvPr id="19" name="テキスト ボックス 18">
            <a:extLst>
              <a:ext uri="{FF2B5EF4-FFF2-40B4-BE49-F238E27FC236}">
                <a16:creationId xmlns:a16="http://schemas.microsoft.com/office/drawing/2014/main" id="{2F950379-A917-CBC7-0116-3ADC625D3A3F}"/>
              </a:ext>
            </a:extLst>
          </p:cNvPr>
          <p:cNvSpPr txBox="1"/>
          <p:nvPr/>
        </p:nvSpPr>
        <p:spPr>
          <a:xfrm>
            <a:off x="5932462" y="1589996"/>
            <a:ext cx="1348740" cy="461665"/>
          </a:xfrm>
          <a:prstGeom prst="rect">
            <a:avLst/>
          </a:prstGeom>
          <a:solidFill>
            <a:schemeClr val="accent1">
              <a:lumMod val="40000"/>
              <a:lumOff val="60000"/>
            </a:schemeClr>
          </a:solidFill>
        </p:spPr>
        <p:txBody>
          <a:bodyPr wrap="square" rtlCol="0">
            <a:spAutoFit/>
          </a:bodyPr>
          <a:lstStyle/>
          <a:p>
            <a:pPr algn="ctr"/>
            <a:r>
              <a:rPr lang="en-US" altLang="ja-JP" sz="2400" dirty="0"/>
              <a:t>2</a:t>
            </a:r>
            <a:r>
              <a:rPr lang="en-US" altLang="ja-JP" sz="2400" baseline="30000" dirty="0"/>
              <a:t>nd</a:t>
            </a:r>
            <a:r>
              <a:rPr kumimoji="1" lang="ja-JP" altLang="en-US" sz="2400" dirty="0"/>
              <a:t> </a:t>
            </a:r>
            <a:r>
              <a:rPr lang="en-US" altLang="ja-JP" sz="2400" dirty="0"/>
              <a:t>s</a:t>
            </a:r>
            <a:r>
              <a:rPr kumimoji="1" lang="en-US" altLang="ja-JP" sz="2400" dirty="0"/>
              <a:t>tep</a:t>
            </a:r>
            <a:endParaRPr kumimoji="1" lang="ja-JP" altLang="en-US" sz="2400" dirty="0"/>
          </a:p>
        </p:txBody>
      </p:sp>
      <p:sp>
        <p:nvSpPr>
          <p:cNvPr id="20" name="テキスト ボックス 19">
            <a:extLst>
              <a:ext uri="{FF2B5EF4-FFF2-40B4-BE49-F238E27FC236}">
                <a16:creationId xmlns:a16="http://schemas.microsoft.com/office/drawing/2014/main" id="{7A4833FC-E526-51B5-E3B2-B3D9076A7FE8}"/>
              </a:ext>
            </a:extLst>
          </p:cNvPr>
          <p:cNvSpPr txBox="1"/>
          <p:nvPr/>
        </p:nvSpPr>
        <p:spPr>
          <a:xfrm>
            <a:off x="6538599" y="4218458"/>
            <a:ext cx="459053" cy="646331"/>
          </a:xfrm>
          <a:prstGeom prst="rect">
            <a:avLst/>
          </a:prstGeom>
          <a:noFill/>
        </p:spPr>
        <p:txBody>
          <a:bodyPr wrap="square" rtlCol="0">
            <a:spAutoFit/>
          </a:bodyPr>
          <a:lstStyle/>
          <a:p>
            <a:r>
              <a:rPr kumimoji="1" lang="en-US" altLang="ja-JP" sz="3600" dirty="0"/>
              <a:t>+</a:t>
            </a:r>
            <a:endParaRPr kumimoji="1" lang="ja-JP" altLang="en-US" sz="3600" dirty="0"/>
          </a:p>
        </p:txBody>
      </p:sp>
      <p:sp>
        <p:nvSpPr>
          <p:cNvPr id="21" name="テキスト ボックス 20">
            <a:extLst>
              <a:ext uri="{FF2B5EF4-FFF2-40B4-BE49-F238E27FC236}">
                <a16:creationId xmlns:a16="http://schemas.microsoft.com/office/drawing/2014/main" id="{FB029DA0-804C-2202-93DC-4E162844E8D9}"/>
              </a:ext>
            </a:extLst>
          </p:cNvPr>
          <p:cNvSpPr txBox="1"/>
          <p:nvPr/>
        </p:nvSpPr>
        <p:spPr>
          <a:xfrm>
            <a:off x="5447456" y="2113908"/>
            <a:ext cx="2508920" cy="369332"/>
          </a:xfrm>
          <a:prstGeom prst="rect">
            <a:avLst/>
          </a:prstGeom>
          <a:noFill/>
        </p:spPr>
        <p:txBody>
          <a:bodyPr wrap="square" rtlCol="0">
            <a:spAutoFit/>
          </a:bodyPr>
          <a:lstStyle/>
          <a:p>
            <a:r>
              <a:rPr lang="ja-JP" altLang="en-US" dirty="0"/>
              <a:t>外部線源</a:t>
            </a:r>
            <a:r>
              <a:rPr lang="en-US" altLang="ja-JP" dirty="0"/>
              <a:t>(</a:t>
            </a:r>
            <a:r>
              <a:rPr lang="ja-JP" altLang="en-US" dirty="0">
                <a:solidFill>
                  <a:srgbClr val="FF0000"/>
                </a:solidFill>
              </a:rPr>
              <a:t>ダンプデータ</a:t>
            </a:r>
            <a:r>
              <a:rPr lang="en-US" altLang="ja-JP" dirty="0"/>
              <a:t>)</a:t>
            </a:r>
            <a:endParaRPr kumimoji="1" lang="ja-JP" altLang="en-US" dirty="0"/>
          </a:p>
        </p:txBody>
      </p:sp>
      <p:sp>
        <p:nvSpPr>
          <p:cNvPr id="22" name="テキスト ボックス 21">
            <a:extLst>
              <a:ext uri="{FF2B5EF4-FFF2-40B4-BE49-F238E27FC236}">
                <a16:creationId xmlns:a16="http://schemas.microsoft.com/office/drawing/2014/main" id="{C0D1E0AC-A6B3-C3CC-65F5-70DD2C659215}"/>
              </a:ext>
            </a:extLst>
          </p:cNvPr>
          <p:cNvSpPr txBox="1"/>
          <p:nvPr/>
        </p:nvSpPr>
        <p:spPr>
          <a:xfrm>
            <a:off x="5377828" y="4865802"/>
            <a:ext cx="2664296" cy="369332"/>
          </a:xfrm>
          <a:prstGeom prst="rect">
            <a:avLst/>
          </a:prstGeom>
          <a:noFill/>
        </p:spPr>
        <p:txBody>
          <a:bodyPr wrap="square" rtlCol="0">
            <a:spAutoFit/>
          </a:bodyPr>
          <a:lstStyle/>
          <a:p>
            <a:r>
              <a:rPr lang="ja-JP" altLang="en-US" dirty="0"/>
              <a:t>内部線源</a:t>
            </a:r>
            <a:r>
              <a:rPr lang="en-US" altLang="ja-JP" dirty="0"/>
              <a:t>(</a:t>
            </a:r>
            <a:r>
              <a:rPr lang="ja-JP" altLang="en-US" dirty="0"/>
              <a:t>内部地表線源</a:t>
            </a:r>
            <a:r>
              <a:rPr lang="en-US" altLang="ja-JP" dirty="0"/>
              <a:t>)</a:t>
            </a:r>
            <a:endParaRPr kumimoji="1" lang="ja-JP" altLang="en-US" dirty="0"/>
          </a:p>
        </p:txBody>
      </p:sp>
      <p:sp>
        <p:nvSpPr>
          <p:cNvPr id="4" name="テキスト ボックス 3">
            <a:extLst>
              <a:ext uri="{FF2B5EF4-FFF2-40B4-BE49-F238E27FC236}">
                <a16:creationId xmlns:a16="http://schemas.microsoft.com/office/drawing/2014/main" id="{4A0BC27E-8604-A30D-0CE9-4DA183424F1D}"/>
              </a:ext>
            </a:extLst>
          </p:cNvPr>
          <p:cNvSpPr txBox="1"/>
          <p:nvPr/>
        </p:nvSpPr>
        <p:spPr>
          <a:xfrm>
            <a:off x="3269284" y="990214"/>
            <a:ext cx="2482168" cy="646331"/>
          </a:xfrm>
          <a:prstGeom prst="rect">
            <a:avLst/>
          </a:prstGeom>
          <a:noFill/>
        </p:spPr>
        <p:txBody>
          <a:bodyPr wrap="square">
            <a:spAutoFit/>
          </a:bodyPr>
          <a:lstStyle/>
          <a:p>
            <a:r>
              <a:rPr lang="ja-JP" altLang="en-US" sz="3600" dirty="0">
                <a:solidFill>
                  <a:srgbClr val="FF0000"/>
                </a:solidFill>
              </a:rPr>
              <a:t>二段階計算</a:t>
            </a:r>
            <a:endParaRPr kumimoji="1" lang="en-US" altLang="ja-JP" sz="3600" dirty="0">
              <a:solidFill>
                <a:srgbClr val="FF0000"/>
              </a:solidFill>
            </a:endParaRPr>
          </a:p>
        </p:txBody>
      </p:sp>
      <p:sp>
        <p:nvSpPr>
          <p:cNvPr id="6" name="テキスト ボックス 5">
            <a:extLst>
              <a:ext uri="{FF2B5EF4-FFF2-40B4-BE49-F238E27FC236}">
                <a16:creationId xmlns:a16="http://schemas.microsoft.com/office/drawing/2014/main" id="{9DA22BBA-7085-607C-DB10-D2854D28EC31}"/>
              </a:ext>
            </a:extLst>
          </p:cNvPr>
          <p:cNvSpPr txBox="1"/>
          <p:nvPr/>
        </p:nvSpPr>
        <p:spPr>
          <a:xfrm>
            <a:off x="5796136" y="1091942"/>
            <a:ext cx="3284347" cy="369332"/>
          </a:xfrm>
          <a:prstGeom prst="rect">
            <a:avLst/>
          </a:prstGeom>
          <a:noFill/>
        </p:spPr>
        <p:txBody>
          <a:bodyPr wrap="square" rtlCol="0">
            <a:spAutoFit/>
          </a:bodyPr>
          <a:lstStyle/>
          <a:p>
            <a:r>
              <a:rPr kumimoji="1" lang="en-US" altLang="ja-JP" dirty="0"/>
              <a:t>T. Furuta, RPD167(2015)392-398</a:t>
            </a:r>
            <a:endParaRPr kumimoji="1" lang="ja-JP" altLang="en-US" dirty="0"/>
          </a:p>
        </p:txBody>
      </p:sp>
      <p:sp>
        <p:nvSpPr>
          <p:cNvPr id="7" name="スライド番号プレースホルダー 6">
            <a:extLst>
              <a:ext uri="{FF2B5EF4-FFF2-40B4-BE49-F238E27FC236}">
                <a16:creationId xmlns:a16="http://schemas.microsoft.com/office/drawing/2014/main" id="{CCBF92BB-97E7-34B1-F582-166A35657281}"/>
              </a:ext>
            </a:extLst>
          </p:cNvPr>
          <p:cNvSpPr>
            <a:spLocks noGrp="1"/>
          </p:cNvSpPr>
          <p:nvPr>
            <p:ph type="sldNum" sz="quarter" idx="12"/>
          </p:nvPr>
        </p:nvSpPr>
        <p:spPr/>
        <p:txBody>
          <a:bodyPr/>
          <a:lstStyle/>
          <a:p>
            <a:fld id="{D2D8002D-B5B0-4BAC-B1F6-782DDCCE6D9C}" type="slidenum">
              <a:rPr kumimoji="1" lang="ja-JP" altLang="en-US" smtClean="0"/>
              <a:t>14</a:t>
            </a:fld>
            <a:endParaRPr kumimoji="1" lang="ja-JP" altLang="en-US"/>
          </a:p>
        </p:txBody>
      </p:sp>
    </p:spTree>
    <p:extLst>
      <p:ext uri="{BB962C8B-B14F-4D97-AF65-F5344CB8AC3E}">
        <p14:creationId xmlns:p14="http://schemas.microsoft.com/office/powerpoint/2010/main" val="13083851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78247-88CB-D6CA-31BA-084743C6AA6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BAB11D3-3405-198C-8366-878B12819BD6}"/>
              </a:ext>
            </a:extLst>
          </p:cNvPr>
          <p:cNvSpPr>
            <a:spLocks noGrp="1"/>
          </p:cNvSpPr>
          <p:nvPr>
            <p:ph type="title"/>
          </p:nvPr>
        </p:nvSpPr>
        <p:spPr>
          <a:xfrm>
            <a:off x="457200" y="53752"/>
            <a:ext cx="8229600" cy="1143000"/>
          </a:xfrm>
        </p:spPr>
        <p:txBody>
          <a:bodyPr>
            <a:normAutofit/>
          </a:bodyPr>
          <a:lstStyle/>
          <a:p>
            <a:r>
              <a:rPr lang="ja-JP" altLang="en-US" dirty="0">
                <a:latin typeface="Arial" pitchFamily="18"/>
              </a:rPr>
              <a:t>ステップ</a:t>
            </a:r>
            <a:r>
              <a:rPr lang="ja-JP" altLang="ja-JP" dirty="0">
                <a:latin typeface="Arial" pitchFamily="18"/>
              </a:rPr>
              <a:t> </a:t>
            </a:r>
            <a:r>
              <a:rPr lang="en-US" altLang="ja-JP" dirty="0">
                <a:latin typeface="Arial" pitchFamily="18"/>
              </a:rPr>
              <a:t>3</a:t>
            </a:r>
            <a:r>
              <a:rPr lang="ja-JP" altLang="en-US" dirty="0">
                <a:latin typeface="Arial" pitchFamily="18"/>
              </a:rPr>
              <a:t>（ダンプデータの取得）</a:t>
            </a:r>
            <a:endParaRPr kumimoji="1" lang="ja-JP" altLang="en-US" dirty="0"/>
          </a:p>
        </p:txBody>
      </p:sp>
      <p:grpSp>
        <p:nvGrpSpPr>
          <p:cNvPr id="15" name="グループ化 14">
            <a:extLst>
              <a:ext uri="{FF2B5EF4-FFF2-40B4-BE49-F238E27FC236}">
                <a16:creationId xmlns:a16="http://schemas.microsoft.com/office/drawing/2014/main" id="{27410F2A-69DE-0F7D-A843-EC528453A787}"/>
              </a:ext>
            </a:extLst>
          </p:cNvPr>
          <p:cNvGrpSpPr/>
          <p:nvPr/>
        </p:nvGrpSpPr>
        <p:grpSpPr>
          <a:xfrm>
            <a:off x="2555776" y="961656"/>
            <a:ext cx="4027144" cy="2274517"/>
            <a:chOff x="2533036" y="961656"/>
            <a:chExt cx="4027144" cy="2274517"/>
          </a:xfrm>
        </p:grpSpPr>
        <p:sp>
          <p:nvSpPr>
            <p:cNvPr id="3" name="正方形/長方形 2">
              <a:extLst>
                <a:ext uri="{FF2B5EF4-FFF2-40B4-BE49-F238E27FC236}">
                  <a16:creationId xmlns:a16="http://schemas.microsoft.com/office/drawing/2014/main" id="{76738A48-E661-EAE5-36E9-F6F09D8A83BE}"/>
                </a:ext>
              </a:extLst>
            </p:cNvPr>
            <p:cNvSpPr/>
            <p:nvPr/>
          </p:nvSpPr>
          <p:spPr>
            <a:xfrm>
              <a:off x="3494835" y="1654177"/>
              <a:ext cx="2016220" cy="1349325"/>
            </a:xfrm>
            <a:prstGeom prst="rect">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 name="直線矢印コネクタ 3">
              <a:extLst>
                <a:ext uri="{FF2B5EF4-FFF2-40B4-BE49-F238E27FC236}">
                  <a16:creationId xmlns:a16="http://schemas.microsoft.com/office/drawing/2014/main" id="{6B0C26EE-4132-BE78-29E5-A440C4667A54}"/>
                </a:ext>
              </a:extLst>
            </p:cNvPr>
            <p:cNvCxnSpPr>
              <a:cxnSpLocks/>
            </p:cNvCxnSpPr>
            <p:nvPr/>
          </p:nvCxnSpPr>
          <p:spPr>
            <a:xfrm flipH="1" flipV="1">
              <a:off x="5336474" y="1771177"/>
              <a:ext cx="501088" cy="202242"/>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5" name="直線矢印コネクタ 4">
              <a:extLst>
                <a:ext uri="{FF2B5EF4-FFF2-40B4-BE49-F238E27FC236}">
                  <a16:creationId xmlns:a16="http://schemas.microsoft.com/office/drawing/2014/main" id="{52E4F094-C8B0-AFDF-D276-6BCC330DD880}"/>
                </a:ext>
              </a:extLst>
            </p:cNvPr>
            <p:cNvCxnSpPr>
              <a:cxnSpLocks/>
            </p:cNvCxnSpPr>
            <p:nvPr/>
          </p:nvCxnSpPr>
          <p:spPr>
            <a:xfrm flipV="1">
              <a:off x="3150758" y="1841900"/>
              <a:ext cx="1012859" cy="261337"/>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6" name="正方形/長方形 5">
              <a:extLst>
                <a:ext uri="{FF2B5EF4-FFF2-40B4-BE49-F238E27FC236}">
                  <a16:creationId xmlns:a16="http://schemas.microsoft.com/office/drawing/2014/main" id="{D5977774-1B2E-4A65-0BD8-CA0AEB0BB3EB}"/>
                </a:ext>
              </a:extLst>
            </p:cNvPr>
            <p:cNvSpPr/>
            <p:nvPr/>
          </p:nvSpPr>
          <p:spPr>
            <a:xfrm>
              <a:off x="2807727" y="2996952"/>
              <a:ext cx="3528546" cy="239221"/>
            </a:xfrm>
            <a:prstGeom prst="rect">
              <a:avLst/>
            </a:prstGeom>
            <a:solidFill>
              <a:srgbClr val="808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コネクタ 6">
              <a:extLst>
                <a:ext uri="{FF2B5EF4-FFF2-40B4-BE49-F238E27FC236}">
                  <a16:creationId xmlns:a16="http://schemas.microsoft.com/office/drawing/2014/main" id="{B20B9D7F-05DD-5A1E-32CD-94AE4D63D32B}"/>
                </a:ext>
              </a:extLst>
            </p:cNvPr>
            <p:cNvCxnSpPr/>
            <p:nvPr/>
          </p:nvCxnSpPr>
          <p:spPr>
            <a:xfrm>
              <a:off x="3140915" y="1474200"/>
              <a:ext cx="0" cy="151216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DEBC9136-CE30-35CF-85E6-8F63B25605C0}"/>
                </a:ext>
              </a:extLst>
            </p:cNvPr>
            <p:cNvCxnSpPr/>
            <p:nvPr/>
          </p:nvCxnSpPr>
          <p:spPr>
            <a:xfrm>
              <a:off x="5877219" y="1474200"/>
              <a:ext cx="0" cy="151216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直線矢印コネクタ 18">
              <a:extLst>
                <a:ext uri="{FF2B5EF4-FFF2-40B4-BE49-F238E27FC236}">
                  <a16:creationId xmlns:a16="http://schemas.microsoft.com/office/drawing/2014/main" id="{5BA89A8D-2024-07EE-EFD9-461346915CF5}"/>
                </a:ext>
              </a:extLst>
            </p:cNvPr>
            <p:cNvCxnSpPr>
              <a:cxnSpLocks/>
            </p:cNvCxnSpPr>
            <p:nvPr/>
          </p:nvCxnSpPr>
          <p:spPr>
            <a:xfrm flipV="1">
              <a:off x="3961199" y="2637213"/>
              <a:ext cx="1916020" cy="359733"/>
            </a:xfrm>
            <a:prstGeom prst="straightConnector1">
              <a:avLst/>
            </a:prstGeom>
            <a:ln w="38100">
              <a:solidFill>
                <a:srgbClr val="FFC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直線矢印コネクタ 20">
              <a:extLst>
                <a:ext uri="{FF2B5EF4-FFF2-40B4-BE49-F238E27FC236}">
                  <a16:creationId xmlns:a16="http://schemas.microsoft.com/office/drawing/2014/main" id="{67609EF5-B943-5F04-51C7-5DF42D6FCB98}"/>
                </a:ext>
              </a:extLst>
            </p:cNvPr>
            <p:cNvCxnSpPr>
              <a:cxnSpLocks/>
            </p:cNvCxnSpPr>
            <p:nvPr/>
          </p:nvCxnSpPr>
          <p:spPr>
            <a:xfrm>
              <a:off x="3131072" y="2100996"/>
              <a:ext cx="2721522" cy="551239"/>
            </a:xfrm>
            <a:prstGeom prst="straightConnector1">
              <a:avLst/>
            </a:prstGeom>
            <a:ln w="38100">
              <a:solidFill>
                <a:srgbClr val="FFC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直線矢印コネクタ 21">
              <a:extLst>
                <a:ext uri="{FF2B5EF4-FFF2-40B4-BE49-F238E27FC236}">
                  <a16:creationId xmlns:a16="http://schemas.microsoft.com/office/drawing/2014/main" id="{A10914EB-C570-A3E7-CC52-6AAFC3E74EA2}"/>
                </a:ext>
              </a:extLst>
            </p:cNvPr>
            <p:cNvCxnSpPr>
              <a:cxnSpLocks/>
            </p:cNvCxnSpPr>
            <p:nvPr/>
          </p:nvCxnSpPr>
          <p:spPr>
            <a:xfrm>
              <a:off x="3131073" y="2564339"/>
              <a:ext cx="1706477" cy="432613"/>
            </a:xfrm>
            <a:prstGeom prst="straightConnector1">
              <a:avLst/>
            </a:prstGeom>
            <a:ln w="38100">
              <a:solidFill>
                <a:srgbClr val="FFC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08685C30-551D-AF91-964A-E20CEDFB58CA}"/>
                </a:ext>
              </a:extLst>
            </p:cNvPr>
            <p:cNvCxnSpPr>
              <a:cxnSpLocks/>
            </p:cNvCxnSpPr>
            <p:nvPr/>
          </p:nvCxnSpPr>
          <p:spPr>
            <a:xfrm flipV="1">
              <a:off x="3140915" y="2008176"/>
              <a:ext cx="2696647" cy="553322"/>
            </a:xfrm>
            <a:prstGeom prst="straightConnector1">
              <a:avLst/>
            </a:prstGeom>
            <a:ln w="38100">
              <a:solidFill>
                <a:srgbClr val="FFC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E3E42293-269C-4D93-44DB-7DF80353C28C}"/>
                </a:ext>
              </a:extLst>
            </p:cNvPr>
            <p:cNvCxnSpPr>
              <a:cxnSpLocks/>
            </p:cNvCxnSpPr>
            <p:nvPr/>
          </p:nvCxnSpPr>
          <p:spPr>
            <a:xfrm flipV="1">
              <a:off x="2549083" y="2123443"/>
              <a:ext cx="630289" cy="185871"/>
            </a:xfrm>
            <a:prstGeom prst="straightConnector1">
              <a:avLst/>
            </a:prstGeom>
            <a:ln w="38100">
              <a:solidFill>
                <a:srgbClr val="FFC00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B09C99CF-3DEE-6B6B-30E9-695408907C5F}"/>
                </a:ext>
              </a:extLst>
            </p:cNvPr>
            <p:cNvCxnSpPr>
              <a:cxnSpLocks/>
            </p:cNvCxnSpPr>
            <p:nvPr/>
          </p:nvCxnSpPr>
          <p:spPr>
            <a:xfrm flipV="1">
              <a:off x="2614949" y="2557370"/>
              <a:ext cx="623553" cy="129407"/>
            </a:xfrm>
            <a:prstGeom prst="straightConnector1">
              <a:avLst/>
            </a:prstGeom>
            <a:ln w="38100">
              <a:solidFill>
                <a:srgbClr val="FFC00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45111803-FF51-9BA7-ABE7-7124DADCDC98}"/>
                </a:ext>
              </a:extLst>
            </p:cNvPr>
            <p:cNvCxnSpPr>
              <a:cxnSpLocks/>
            </p:cNvCxnSpPr>
            <p:nvPr/>
          </p:nvCxnSpPr>
          <p:spPr>
            <a:xfrm>
              <a:off x="5869640" y="2634634"/>
              <a:ext cx="668405" cy="156241"/>
            </a:xfrm>
            <a:prstGeom prst="straightConnector1">
              <a:avLst/>
            </a:prstGeom>
            <a:ln w="38100">
              <a:solidFill>
                <a:srgbClr val="FFC00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4F2FC158-4C73-DE3C-3757-5F626E7F8C85}"/>
                </a:ext>
              </a:extLst>
            </p:cNvPr>
            <p:cNvCxnSpPr>
              <a:cxnSpLocks/>
            </p:cNvCxnSpPr>
            <p:nvPr/>
          </p:nvCxnSpPr>
          <p:spPr>
            <a:xfrm>
              <a:off x="5858218" y="1991096"/>
              <a:ext cx="666452" cy="301400"/>
            </a:xfrm>
            <a:prstGeom prst="straightConnector1">
              <a:avLst/>
            </a:prstGeom>
            <a:ln w="38100">
              <a:solidFill>
                <a:srgbClr val="FFC00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8" name="楕円 27">
              <a:extLst>
                <a:ext uri="{FF2B5EF4-FFF2-40B4-BE49-F238E27FC236}">
                  <a16:creationId xmlns:a16="http://schemas.microsoft.com/office/drawing/2014/main" id="{0973E0A6-EF2B-A6B7-0C97-CADA71F73F22}"/>
                </a:ext>
              </a:extLst>
            </p:cNvPr>
            <p:cNvSpPr/>
            <p:nvPr/>
          </p:nvSpPr>
          <p:spPr>
            <a:xfrm>
              <a:off x="5445171" y="1768336"/>
              <a:ext cx="133429" cy="122438"/>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楕円 28">
              <a:extLst>
                <a:ext uri="{FF2B5EF4-FFF2-40B4-BE49-F238E27FC236}">
                  <a16:creationId xmlns:a16="http://schemas.microsoft.com/office/drawing/2014/main" id="{8598B4A4-01BC-D4DC-E3F3-506AF6A02C6A}"/>
                </a:ext>
              </a:extLst>
            </p:cNvPr>
            <p:cNvSpPr/>
            <p:nvPr/>
          </p:nvSpPr>
          <p:spPr>
            <a:xfrm>
              <a:off x="3428947" y="1932148"/>
              <a:ext cx="133429" cy="122438"/>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楕円 29">
              <a:extLst>
                <a:ext uri="{FF2B5EF4-FFF2-40B4-BE49-F238E27FC236}">
                  <a16:creationId xmlns:a16="http://schemas.microsoft.com/office/drawing/2014/main" id="{0D083E48-145D-4934-8B27-C0ECFBA97D64}"/>
                </a:ext>
              </a:extLst>
            </p:cNvPr>
            <p:cNvSpPr/>
            <p:nvPr/>
          </p:nvSpPr>
          <p:spPr>
            <a:xfrm>
              <a:off x="5445171" y="2517550"/>
              <a:ext cx="133429" cy="122438"/>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楕円 30">
              <a:extLst>
                <a:ext uri="{FF2B5EF4-FFF2-40B4-BE49-F238E27FC236}">
                  <a16:creationId xmlns:a16="http://schemas.microsoft.com/office/drawing/2014/main" id="{5BE5EF50-346C-55F2-5755-1A43FEBCFE71}"/>
                </a:ext>
              </a:extLst>
            </p:cNvPr>
            <p:cNvSpPr/>
            <p:nvPr/>
          </p:nvSpPr>
          <p:spPr>
            <a:xfrm>
              <a:off x="3439534" y="2429366"/>
              <a:ext cx="133429" cy="122438"/>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CA97D493-220E-FC90-F0BD-CA629F525C6B}"/>
                </a:ext>
              </a:extLst>
            </p:cNvPr>
            <p:cNvSpPr txBox="1"/>
            <p:nvPr/>
          </p:nvSpPr>
          <p:spPr>
            <a:xfrm>
              <a:off x="2533036" y="1047079"/>
              <a:ext cx="1215758" cy="400110"/>
            </a:xfrm>
            <a:prstGeom prst="rect">
              <a:avLst/>
            </a:prstGeom>
            <a:noFill/>
          </p:spPr>
          <p:txBody>
            <a:bodyPr wrap="square" rtlCol="0">
              <a:spAutoFit/>
            </a:bodyPr>
            <a:lstStyle/>
            <a:p>
              <a:r>
                <a:rPr kumimoji="1" lang="ja-JP" altLang="en-US" sz="2000" dirty="0">
                  <a:solidFill>
                    <a:srgbClr val="FF0000"/>
                  </a:solidFill>
                </a:rPr>
                <a:t>反射境界</a:t>
              </a:r>
            </a:p>
          </p:txBody>
        </p:sp>
        <p:sp>
          <p:nvSpPr>
            <p:cNvPr id="33" name="テキスト ボックス 32">
              <a:extLst>
                <a:ext uri="{FF2B5EF4-FFF2-40B4-BE49-F238E27FC236}">
                  <a16:creationId xmlns:a16="http://schemas.microsoft.com/office/drawing/2014/main" id="{5D4711D1-33B4-3A34-EA0B-BE4EDF9B4566}"/>
                </a:ext>
              </a:extLst>
            </p:cNvPr>
            <p:cNvSpPr txBox="1"/>
            <p:nvPr/>
          </p:nvSpPr>
          <p:spPr>
            <a:xfrm>
              <a:off x="5344422" y="1036076"/>
              <a:ext cx="1215758" cy="400110"/>
            </a:xfrm>
            <a:prstGeom prst="rect">
              <a:avLst/>
            </a:prstGeom>
            <a:noFill/>
          </p:spPr>
          <p:txBody>
            <a:bodyPr wrap="square" rtlCol="0">
              <a:spAutoFit/>
            </a:bodyPr>
            <a:lstStyle/>
            <a:p>
              <a:r>
                <a:rPr kumimoji="1" lang="ja-JP" altLang="en-US" sz="2000" dirty="0">
                  <a:solidFill>
                    <a:srgbClr val="FF0000"/>
                  </a:solidFill>
                </a:rPr>
                <a:t>反射境界</a:t>
              </a:r>
            </a:p>
          </p:txBody>
        </p:sp>
        <p:sp>
          <p:nvSpPr>
            <p:cNvPr id="34" name="テキスト ボックス 33">
              <a:extLst>
                <a:ext uri="{FF2B5EF4-FFF2-40B4-BE49-F238E27FC236}">
                  <a16:creationId xmlns:a16="http://schemas.microsoft.com/office/drawing/2014/main" id="{D13C5FE8-6D33-60AC-16EE-5D2BE9DB5E58}"/>
                </a:ext>
              </a:extLst>
            </p:cNvPr>
            <p:cNvSpPr txBox="1"/>
            <p:nvPr/>
          </p:nvSpPr>
          <p:spPr>
            <a:xfrm>
              <a:off x="3658034" y="961656"/>
              <a:ext cx="1787137" cy="707886"/>
            </a:xfrm>
            <a:prstGeom prst="rect">
              <a:avLst/>
            </a:prstGeom>
            <a:noFill/>
          </p:spPr>
          <p:txBody>
            <a:bodyPr wrap="square" rtlCol="0">
              <a:spAutoFit/>
            </a:bodyPr>
            <a:lstStyle/>
            <a:p>
              <a:pPr algn="ctr"/>
              <a:r>
                <a:rPr lang="ja-JP" altLang="en-US" sz="2000" dirty="0"/>
                <a:t>スコアリングボックス</a:t>
              </a:r>
              <a:endParaRPr kumimoji="1" lang="ja-JP" altLang="en-US" sz="2000" dirty="0"/>
            </a:p>
          </p:txBody>
        </p:sp>
      </p:grpSp>
      <p:sp>
        <p:nvSpPr>
          <p:cNvPr id="8" name="Text Box 1031">
            <a:extLst>
              <a:ext uri="{FF2B5EF4-FFF2-40B4-BE49-F238E27FC236}">
                <a16:creationId xmlns:a16="http://schemas.microsoft.com/office/drawing/2014/main" id="{D0DB216E-B591-0492-2A03-5D73306A40B2}"/>
              </a:ext>
            </a:extLst>
          </p:cNvPr>
          <p:cNvSpPr txBox="1">
            <a:spLocks noChangeArrowheads="1"/>
          </p:cNvSpPr>
          <p:nvPr/>
        </p:nvSpPr>
        <p:spPr bwMode="auto">
          <a:xfrm>
            <a:off x="5952301" y="3321355"/>
            <a:ext cx="2286750" cy="2483909"/>
          </a:xfrm>
          <a:prstGeom prst="rect">
            <a:avLst/>
          </a:prstGeom>
          <a:solidFill>
            <a:schemeClr val="bg1"/>
          </a:solidFill>
          <a:ln w="19050">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400" dirty="0">
                <a:latin typeface="Tahoma" panose="020B0604030504040204" pitchFamily="34" charset="0"/>
              </a:rPr>
              <a:t>[ T-cross ]</a:t>
            </a:r>
          </a:p>
          <a:p>
            <a:pPr eaLnBrk="1" hangingPunct="1">
              <a:spcBef>
                <a:spcPct val="0"/>
              </a:spcBef>
              <a:buFontTx/>
              <a:buNone/>
            </a:pPr>
            <a:r>
              <a:rPr lang="en-US" altLang="ja-JP" sz="1400" dirty="0">
                <a:latin typeface="Tahoma" panose="020B0604030504040204" pitchFamily="34" charset="0"/>
              </a:rPr>
              <a:t> file = </a:t>
            </a:r>
            <a:r>
              <a:rPr lang="en-US" altLang="ja-JP" sz="1400" dirty="0" err="1">
                <a:latin typeface="Tahoma" panose="020B0604030504040204" pitchFamily="34" charset="0"/>
              </a:rPr>
              <a:t>cross.out</a:t>
            </a:r>
            <a:endParaRPr lang="en-US" altLang="ja-JP" sz="1400" dirty="0">
              <a:latin typeface="Tahoma" panose="020B0604030504040204" pitchFamily="34" charset="0"/>
            </a:endParaRPr>
          </a:p>
          <a:p>
            <a:pPr eaLnBrk="1" hangingPunct="1">
              <a:spcBef>
                <a:spcPct val="0"/>
              </a:spcBef>
              <a:buFontTx/>
              <a:buNone/>
            </a:pPr>
            <a:r>
              <a:rPr lang="en-US" altLang="ja-JP" sz="1400" dirty="0">
                <a:latin typeface="Tahoma" panose="020B0604030504040204" pitchFamily="34" charset="0"/>
              </a:rPr>
              <a:t> mesh = reg</a:t>
            </a:r>
          </a:p>
          <a:p>
            <a:pPr eaLnBrk="1" hangingPunct="1">
              <a:spcBef>
                <a:spcPct val="0"/>
              </a:spcBef>
              <a:buFontTx/>
              <a:buNone/>
            </a:pPr>
            <a:r>
              <a:rPr lang="en-US" altLang="ja-JP" sz="1400" dirty="0">
                <a:latin typeface="Tahoma" panose="020B0604030504040204" pitchFamily="34" charset="0"/>
              </a:rPr>
              <a:t> reg = 1</a:t>
            </a:r>
          </a:p>
          <a:p>
            <a:pPr eaLnBrk="1" hangingPunct="1">
              <a:spcBef>
                <a:spcPct val="0"/>
              </a:spcBef>
              <a:buFontTx/>
              <a:buNone/>
            </a:pPr>
            <a:r>
              <a:rPr lang="en-US" altLang="ja-JP" sz="1400" dirty="0">
                <a:latin typeface="Tahoma" panose="020B0604030504040204" pitchFamily="34" charset="0"/>
              </a:rPr>
              <a:t> r-from  r-to      area</a:t>
            </a:r>
          </a:p>
          <a:p>
            <a:pPr eaLnBrk="1" hangingPunct="1">
              <a:spcBef>
                <a:spcPct val="0"/>
              </a:spcBef>
              <a:buFontTx/>
              <a:buNone/>
            </a:pPr>
            <a:r>
              <a:rPr lang="en-US" altLang="ja-JP" sz="1400" dirty="0">
                <a:latin typeface="Tahoma" panose="020B0604030504040204" pitchFamily="34" charset="0"/>
              </a:rPr>
              <a:t> (101 201) (102 202) 1.0</a:t>
            </a:r>
          </a:p>
          <a:p>
            <a:pPr eaLnBrk="1" hangingPunct="1">
              <a:spcBef>
                <a:spcPct val="0"/>
              </a:spcBef>
              <a:buFontTx/>
              <a:buNone/>
            </a:pPr>
            <a:r>
              <a:rPr lang="en-US" altLang="ja-JP" sz="1400" dirty="0">
                <a:latin typeface="Tahoma" panose="020B0604030504040204" pitchFamily="34" charset="0"/>
              </a:rPr>
              <a:t> output = current</a:t>
            </a:r>
          </a:p>
          <a:p>
            <a:pPr eaLnBrk="1" hangingPunct="1">
              <a:spcBef>
                <a:spcPct val="0"/>
              </a:spcBef>
              <a:buFontTx/>
              <a:buNone/>
            </a:pPr>
            <a:r>
              <a:rPr lang="en-US" altLang="ja-JP" sz="1400" dirty="0">
                <a:latin typeface="Tahoma" panose="020B0604030504040204" pitchFamily="34" charset="0"/>
              </a:rPr>
              <a:t> unit =  1</a:t>
            </a:r>
          </a:p>
          <a:p>
            <a:pPr eaLnBrk="1" hangingPunct="1">
              <a:spcBef>
                <a:spcPct val="0"/>
              </a:spcBef>
              <a:buFontTx/>
              <a:buNone/>
            </a:pPr>
            <a:r>
              <a:rPr lang="en-US" altLang="ja-JP" sz="1400" dirty="0">
                <a:latin typeface="Tahoma" panose="020B0604030504040204" pitchFamily="34" charset="0"/>
              </a:rPr>
              <a:t> axis = reg</a:t>
            </a:r>
          </a:p>
          <a:p>
            <a:pPr eaLnBrk="1" hangingPunct="1">
              <a:spcBef>
                <a:spcPct val="0"/>
              </a:spcBef>
              <a:buFontTx/>
              <a:buNone/>
            </a:pPr>
            <a:r>
              <a:rPr lang="en-US" altLang="ja-JP" sz="1400" dirty="0">
                <a:latin typeface="Tahoma" panose="020B0604030504040204" pitchFamily="34" charset="0"/>
              </a:rPr>
              <a:t> dump = -8</a:t>
            </a:r>
          </a:p>
          <a:p>
            <a:pPr eaLnBrk="1" hangingPunct="1">
              <a:spcBef>
                <a:spcPct val="0"/>
              </a:spcBef>
              <a:buFontTx/>
              <a:buNone/>
            </a:pPr>
            <a:r>
              <a:rPr lang="en-US" altLang="ja-JP" sz="1400" dirty="0">
                <a:latin typeface="Tahoma" panose="020B0604030504040204" pitchFamily="34" charset="0"/>
              </a:rPr>
              <a:t>      1 2 3 4 5 6 7 8 </a:t>
            </a:r>
            <a:endParaRPr lang="pt-BR" altLang="ja-JP" sz="1400" dirty="0">
              <a:solidFill>
                <a:srgbClr val="000000"/>
              </a:solidFill>
              <a:latin typeface="Tahoma" panose="020B0604030504040204" pitchFamily="34" charset="0"/>
            </a:endParaRPr>
          </a:p>
        </p:txBody>
      </p:sp>
      <p:sp>
        <p:nvSpPr>
          <p:cNvPr id="9" name="テキスト ボックス 8">
            <a:extLst>
              <a:ext uri="{FF2B5EF4-FFF2-40B4-BE49-F238E27FC236}">
                <a16:creationId xmlns:a16="http://schemas.microsoft.com/office/drawing/2014/main" id="{41785DBF-FD25-AEBE-0190-F6A168D08E26}"/>
              </a:ext>
            </a:extLst>
          </p:cNvPr>
          <p:cNvSpPr txBox="1"/>
          <p:nvPr/>
        </p:nvSpPr>
        <p:spPr>
          <a:xfrm>
            <a:off x="6816397" y="3310310"/>
            <a:ext cx="1422654" cy="369332"/>
          </a:xfrm>
          <a:prstGeom prst="rect">
            <a:avLst/>
          </a:prstGeom>
          <a:noFill/>
        </p:spPr>
        <p:txBody>
          <a:bodyPr wrap="square" rtlCol="0">
            <a:spAutoFit/>
          </a:bodyPr>
          <a:lstStyle/>
          <a:p>
            <a:r>
              <a:rPr kumimoji="1" lang="en-US" altLang="ja-JP" dirty="0">
                <a:solidFill>
                  <a:srgbClr val="FF0000"/>
                </a:solidFill>
              </a:rPr>
              <a:t>off</a:t>
            </a:r>
            <a:r>
              <a:rPr kumimoji="1" lang="ja-JP" altLang="en-US" dirty="0">
                <a:solidFill>
                  <a:srgbClr val="FF0000"/>
                </a:solidFill>
              </a:rPr>
              <a:t>を取り除く</a:t>
            </a:r>
          </a:p>
        </p:txBody>
      </p:sp>
      <p:sp>
        <p:nvSpPr>
          <p:cNvPr id="10" name="Text Box 1031">
            <a:extLst>
              <a:ext uri="{FF2B5EF4-FFF2-40B4-BE49-F238E27FC236}">
                <a16:creationId xmlns:a16="http://schemas.microsoft.com/office/drawing/2014/main" id="{5C69094F-7E9A-694F-5CB9-F787DA825316}"/>
              </a:ext>
            </a:extLst>
          </p:cNvPr>
          <p:cNvSpPr txBox="1">
            <a:spLocks noChangeArrowheads="1"/>
          </p:cNvSpPr>
          <p:nvPr/>
        </p:nvSpPr>
        <p:spPr bwMode="auto">
          <a:xfrm>
            <a:off x="244642" y="3317193"/>
            <a:ext cx="4740614" cy="2903517"/>
          </a:xfrm>
          <a:prstGeom prst="rect">
            <a:avLst/>
          </a:prstGeom>
          <a:solidFill>
            <a:schemeClr val="bg1"/>
          </a:solidFill>
          <a:ln w="19050">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400" dirty="0">
                <a:latin typeface="Tahoma" panose="020B0604030504040204" pitchFamily="34" charset="0"/>
              </a:rPr>
              <a:t>set:c4[800]   $ Scoring box size </a:t>
            </a:r>
            <a:r>
              <a:rPr lang="en-US" altLang="ja-JP" sz="1400" dirty="0" err="1">
                <a:latin typeface="Tahoma" panose="020B0604030504040204" pitchFamily="34" charset="0"/>
              </a:rPr>
              <a:t>xy</a:t>
            </a:r>
            <a:endParaRPr lang="fr-FR" altLang="ja-JP" sz="1400" dirty="0">
              <a:latin typeface="Tahoma" panose="020B0604030504040204" pitchFamily="34" charset="0"/>
            </a:endParaRPr>
          </a:p>
          <a:p>
            <a:pPr eaLnBrk="1" hangingPunct="1">
              <a:spcBef>
                <a:spcPct val="0"/>
              </a:spcBef>
              <a:buFontTx/>
              <a:buNone/>
            </a:pPr>
            <a:r>
              <a:rPr lang="en-US" altLang="ja-JP" sz="1400" dirty="0">
                <a:latin typeface="Tahoma" panose="020B0604030504040204" pitchFamily="34" charset="0"/>
              </a:rPr>
              <a:t>set:c5[1000]  $ Scoring box height</a:t>
            </a:r>
            <a:endParaRPr lang="fr-FR" altLang="ja-JP" sz="1400" dirty="0">
              <a:latin typeface="Tahoma" panose="020B0604030504040204" pitchFamily="34" charset="0"/>
            </a:endParaRPr>
          </a:p>
          <a:p>
            <a:pPr eaLnBrk="1" hangingPunct="1">
              <a:spcBef>
                <a:spcPct val="0"/>
              </a:spcBef>
              <a:buFontTx/>
              <a:buNone/>
            </a:pPr>
            <a:r>
              <a:rPr lang="fr-FR" altLang="ja-JP" sz="1400" dirty="0">
                <a:latin typeface="Tahoma" panose="020B0604030504040204" pitchFamily="34" charset="0"/>
              </a:rPr>
              <a:t>[ Surface ]</a:t>
            </a:r>
          </a:p>
          <a:p>
            <a:pPr eaLnBrk="1" hangingPunct="1">
              <a:spcBef>
                <a:spcPct val="0"/>
              </a:spcBef>
              <a:buFontTx/>
              <a:buNone/>
            </a:pPr>
            <a:r>
              <a:rPr lang="fr-FR" altLang="ja-JP" sz="1400" dirty="0">
                <a:latin typeface="Tahoma" panose="020B0604030504040204" pitchFamily="34" charset="0"/>
              </a:rPr>
              <a:t> 100  rpp -0.5*c4 0.5*c4 -0.5*c4 0.5*c4 -50 c5</a:t>
            </a:r>
          </a:p>
          <a:p>
            <a:pPr eaLnBrk="1" hangingPunct="1">
              <a:spcBef>
                <a:spcPct val="0"/>
              </a:spcBef>
              <a:buFontTx/>
              <a:buNone/>
            </a:pPr>
            <a:r>
              <a:rPr lang="fr-FR" altLang="ja-JP" sz="1400" dirty="0">
                <a:solidFill>
                  <a:srgbClr val="000000"/>
                </a:solidFill>
                <a:latin typeface="Tahoma" panose="020B0604030504040204" pitchFamily="34" charset="0"/>
              </a:rPr>
              <a:t>...</a:t>
            </a:r>
          </a:p>
          <a:p>
            <a:pPr eaLnBrk="1" hangingPunct="1">
              <a:spcBef>
                <a:spcPct val="0"/>
              </a:spcBef>
              <a:buFontTx/>
              <a:buNone/>
            </a:pPr>
            <a:r>
              <a:rPr lang="pt-BR" altLang="ja-JP" sz="1400" dirty="0">
                <a:solidFill>
                  <a:srgbClr val="000000"/>
                </a:solidFill>
                <a:latin typeface="Tahoma" panose="020B0604030504040204" pitchFamily="34" charset="0"/>
              </a:rPr>
              <a:t>[ Cell ]</a:t>
            </a:r>
          </a:p>
          <a:p>
            <a:pPr eaLnBrk="1" hangingPunct="1">
              <a:spcBef>
                <a:spcPct val="0"/>
              </a:spcBef>
              <a:buFontTx/>
              <a:buNone/>
            </a:pPr>
            <a:r>
              <a:rPr lang="pt-BR" altLang="ja-JP" sz="1400" dirty="0">
                <a:solidFill>
                  <a:srgbClr val="000000"/>
                </a:solidFill>
                <a:latin typeface="Tahoma" panose="020B0604030504040204" pitchFamily="34" charset="0"/>
              </a:rPr>
              <a:t>...</a:t>
            </a:r>
          </a:p>
          <a:p>
            <a:pPr eaLnBrk="1" hangingPunct="1">
              <a:spcBef>
                <a:spcPct val="0"/>
              </a:spcBef>
              <a:buFontTx/>
              <a:buNone/>
            </a:pPr>
            <a:r>
              <a:rPr lang="en-US" altLang="ja-JP" sz="1400" dirty="0">
                <a:solidFill>
                  <a:srgbClr val="000000"/>
                </a:solidFill>
                <a:latin typeface="Tahoma" panose="020B0604030504040204" pitchFamily="34" charset="0"/>
              </a:rPr>
              <a:t>100  1 -1.2e-3  -910 901 -902 10 #(101 -102 103 -104)</a:t>
            </a:r>
          </a:p>
          <a:p>
            <a:pPr eaLnBrk="1" hangingPunct="1">
              <a:spcBef>
                <a:spcPct val="0"/>
              </a:spcBef>
              <a:buFontTx/>
              <a:buNone/>
            </a:pPr>
            <a:r>
              <a:rPr lang="en-US" altLang="ja-JP" sz="1400" dirty="0">
                <a:solidFill>
                  <a:srgbClr val="000000"/>
                </a:solidFill>
                <a:latin typeface="Tahoma" panose="020B0604030504040204" pitchFamily="34" charset="0"/>
              </a:rPr>
              <a:t>101  1 -1.2e-3   101 -102 103 -104 901 -902 10 </a:t>
            </a:r>
            <a:r>
              <a:rPr lang="en-US" altLang="ja-JP" sz="1400" dirty="0">
                <a:solidFill>
                  <a:srgbClr val="FF0000"/>
                </a:solidFill>
                <a:latin typeface="Tahoma" panose="020B0604030504040204" pitchFamily="34" charset="0"/>
              </a:rPr>
              <a:t>100</a:t>
            </a:r>
          </a:p>
          <a:p>
            <a:pPr eaLnBrk="1" hangingPunct="1">
              <a:spcBef>
                <a:spcPct val="0"/>
              </a:spcBef>
              <a:buFontTx/>
              <a:buNone/>
            </a:pPr>
            <a:r>
              <a:rPr lang="en-US" altLang="ja-JP" sz="1400" dirty="0">
                <a:solidFill>
                  <a:srgbClr val="FF0000"/>
                </a:solidFill>
                <a:latin typeface="Tahoma" panose="020B0604030504040204" pitchFamily="34" charset="0"/>
              </a:rPr>
              <a:t>102  1 -1.2e-3  -100  901 10</a:t>
            </a:r>
          </a:p>
          <a:p>
            <a:pPr eaLnBrk="1" hangingPunct="1">
              <a:spcBef>
                <a:spcPct val="0"/>
              </a:spcBef>
              <a:buFontTx/>
              <a:buNone/>
            </a:pPr>
            <a:r>
              <a:rPr lang="en-US" altLang="ja-JP" sz="1400" dirty="0">
                <a:solidFill>
                  <a:srgbClr val="000000"/>
                </a:solidFill>
                <a:latin typeface="Tahoma" panose="020B0604030504040204" pitchFamily="34" charset="0"/>
              </a:rPr>
              <a:t>200  2 -c2     -910 900 -901 #(101 -102 103 -104)</a:t>
            </a:r>
          </a:p>
          <a:p>
            <a:pPr eaLnBrk="1" hangingPunct="1">
              <a:spcBef>
                <a:spcPct val="0"/>
              </a:spcBef>
              <a:buFontTx/>
              <a:buNone/>
            </a:pPr>
            <a:r>
              <a:rPr lang="en-US" altLang="ja-JP" sz="1400" dirty="0">
                <a:solidFill>
                  <a:srgbClr val="000000"/>
                </a:solidFill>
                <a:latin typeface="Tahoma" panose="020B0604030504040204" pitchFamily="34" charset="0"/>
              </a:rPr>
              <a:t>201  2 -c2      101 -102 103 -104 900 -901</a:t>
            </a:r>
            <a:r>
              <a:rPr lang="en-US" altLang="ja-JP" sz="1400" dirty="0">
                <a:solidFill>
                  <a:srgbClr val="FF0000"/>
                </a:solidFill>
                <a:latin typeface="Tahoma" panose="020B0604030504040204" pitchFamily="34" charset="0"/>
              </a:rPr>
              <a:t> 100  </a:t>
            </a:r>
          </a:p>
          <a:p>
            <a:pPr eaLnBrk="1" hangingPunct="1">
              <a:spcBef>
                <a:spcPct val="0"/>
              </a:spcBef>
              <a:buFontTx/>
              <a:buNone/>
            </a:pPr>
            <a:r>
              <a:rPr lang="en-US" altLang="ja-JP" sz="1400" dirty="0">
                <a:solidFill>
                  <a:srgbClr val="FF0000"/>
                </a:solidFill>
                <a:latin typeface="Tahoma" panose="020B0604030504040204" pitchFamily="34" charset="0"/>
              </a:rPr>
              <a:t>202  2 -c2      -100 -901 </a:t>
            </a:r>
          </a:p>
          <a:p>
            <a:pPr eaLnBrk="1" hangingPunct="1">
              <a:spcBef>
                <a:spcPct val="0"/>
              </a:spcBef>
              <a:buFontTx/>
              <a:buNone/>
            </a:pPr>
            <a:endParaRPr lang="pt-BR" altLang="ja-JP" sz="1400" dirty="0">
              <a:solidFill>
                <a:srgbClr val="000000"/>
              </a:solidFill>
              <a:latin typeface="Tahoma" panose="020B0604030504040204" pitchFamily="34" charset="0"/>
            </a:endParaRPr>
          </a:p>
        </p:txBody>
      </p:sp>
      <p:sp>
        <p:nvSpPr>
          <p:cNvPr id="11" name="テキスト ボックス 10">
            <a:extLst>
              <a:ext uri="{FF2B5EF4-FFF2-40B4-BE49-F238E27FC236}">
                <a16:creationId xmlns:a16="http://schemas.microsoft.com/office/drawing/2014/main" id="{091AB4B3-D69B-8BFA-204B-934B12D84950}"/>
              </a:ext>
            </a:extLst>
          </p:cNvPr>
          <p:cNvSpPr txBox="1"/>
          <p:nvPr/>
        </p:nvSpPr>
        <p:spPr>
          <a:xfrm>
            <a:off x="2860033" y="5232308"/>
            <a:ext cx="1404685" cy="369332"/>
          </a:xfrm>
          <a:prstGeom prst="rect">
            <a:avLst/>
          </a:prstGeom>
          <a:noFill/>
        </p:spPr>
        <p:txBody>
          <a:bodyPr wrap="square" rtlCol="0">
            <a:spAutoFit/>
          </a:bodyPr>
          <a:lstStyle/>
          <a:p>
            <a:r>
              <a:rPr kumimoji="1" lang="en-US" altLang="ja-JP" b="1" dirty="0">
                <a:solidFill>
                  <a:srgbClr val="FF0000"/>
                </a:solidFill>
              </a:rPr>
              <a:t>Sc</a:t>
            </a:r>
            <a:r>
              <a:rPr lang="en-US" altLang="ja-JP" b="1" dirty="0">
                <a:solidFill>
                  <a:srgbClr val="FF0000"/>
                </a:solidFill>
              </a:rPr>
              <a:t>oring box</a:t>
            </a:r>
            <a:endParaRPr kumimoji="1" lang="ja-JP" altLang="en-US" b="1" dirty="0">
              <a:solidFill>
                <a:srgbClr val="FF0000"/>
              </a:solidFill>
            </a:endParaRPr>
          </a:p>
        </p:txBody>
      </p:sp>
      <p:sp>
        <p:nvSpPr>
          <p:cNvPr id="12" name="テキスト ボックス 11">
            <a:extLst>
              <a:ext uri="{FF2B5EF4-FFF2-40B4-BE49-F238E27FC236}">
                <a16:creationId xmlns:a16="http://schemas.microsoft.com/office/drawing/2014/main" id="{C45E268B-E009-45FD-AAF2-2951C8160D6B}"/>
              </a:ext>
            </a:extLst>
          </p:cNvPr>
          <p:cNvSpPr txBox="1"/>
          <p:nvPr/>
        </p:nvSpPr>
        <p:spPr>
          <a:xfrm>
            <a:off x="2848243" y="5867980"/>
            <a:ext cx="1293183" cy="369332"/>
          </a:xfrm>
          <a:prstGeom prst="rect">
            <a:avLst/>
          </a:prstGeom>
          <a:noFill/>
        </p:spPr>
        <p:txBody>
          <a:bodyPr wrap="square" rtlCol="0">
            <a:spAutoFit/>
          </a:bodyPr>
          <a:lstStyle/>
          <a:p>
            <a:r>
              <a:rPr kumimoji="1" lang="en-US" altLang="ja-JP" b="1" dirty="0">
                <a:solidFill>
                  <a:srgbClr val="FF0000"/>
                </a:solidFill>
              </a:rPr>
              <a:t>Scoring</a:t>
            </a:r>
            <a:r>
              <a:rPr kumimoji="1" lang="ja-JP" altLang="en-US" b="1" dirty="0">
                <a:solidFill>
                  <a:srgbClr val="FF0000"/>
                </a:solidFill>
              </a:rPr>
              <a:t> </a:t>
            </a:r>
            <a:r>
              <a:rPr kumimoji="1" lang="en-US" altLang="ja-JP" b="1" dirty="0">
                <a:solidFill>
                  <a:srgbClr val="FF0000"/>
                </a:solidFill>
              </a:rPr>
              <a:t>box</a:t>
            </a:r>
            <a:endParaRPr kumimoji="1" lang="ja-JP" altLang="en-US" b="1" dirty="0">
              <a:solidFill>
                <a:srgbClr val="FF0000"/>
              </a:solidFill>
            </a:endParaRPr>
          </a:p>
        </p:txBody>
      </p:sp>
      <p:sp>
        <p:nvSpPr>
          <p:cNvPr id="13" name="テキスト ボックス 12">
            <a:extLst>
              <a:ext uri="{FF2B5EF4-FFF2-40B4-BE49-F238E27FC236}">
                <a16:creationId xmlns:a16="http://schemas.microsoft.com/office/drawing/2014/main" id="{26497DFC-CE02-1F57-E5A5-E434FDAD9375}"/>
              </a:ext>
            </a:extLst>
          </p:cNvPr>
          <p:cNvSpPr txBox="1"/>
          <p:nvPr/>
        </p:nvSpPr>
        <p:spPr>
          <a:xfrm>
            <a:off x="1143575" y="6352812"/>
            <a:ext cx="6764219" cy="461665"/>
          </a:xfrm>
          <a:prstGeom prst="rect">
            <a:avLst/>
          </a:prstGeom>
          <a:noFill/>
        </p:spPr>
        <p:txBody>
          <a:bodyPr wrap="square" rtlCol="0">
            <a:spAutoFit/>
          </a:bodyPr>
          <a:lstStyle/>
          <a:p>
            <a:pPr algn="ctr"/>
            <a:r>
              <a:rPr kumimoji="1" lang="ja-JP" altLang="en-US" sz="2400" dirty="0">
                <a:solidFill>
                  <a:srgbClr val="FF0000"/>
                </a:solidFill>
              </a:rPr>
              <a:t>輸送計算を実行し、</a:t>
            </a:r>
            <a:r>
              <a:rPr kumimoji="1" lang="en-US" altLang="ja-JP" sz="2400" dirty="0" err="1">
                <a:solidFill>
                  <a:srgbClr val="FF0000"/>
                </a:solidFill>
              </a:rPr>
              <a:t>cross.out</a:t>
            </a:r>
            <a:r>
              <a:rPr lang="ja-JP" altLang="en-US" sz="2400" dirty="0">
                <a:solidFill>
                  <a:srgbClr val="FF0000"/>
                </a:solidFill>
              </a:rPr>
              <a:t>、</a:t>
            </a:r>
            <a:r>
              <a:rPr lang="en-US" altLang="ja-JP" sz="2400" dirty="0" err="1">
                <a:solidFill>
                  <a:srgbClr val="FF0000"/>
                </a:solidFill>
              </a:rPr>
              <a:t>cross_dmp.out</a:t>
            </a:r>
            <a:r>
              <a:rPr kumimoji="1" lang="ja-JP" altLang="en-US" sz="2400" dirty="0">
                <a:solidFill>
                  <a:srgbClr val="FF0000"/>
                </a:solidFill>
              </a:rPr>
              <a:t>を確認</a:t>
            </a:r>
          </a:p>
        </p:txBody>
      </p:sp>
      <p:sp>
        <p:nvSpPr>
          <p:cNvPr id="14" name="スライド番号プレースホルダー 13">
            <a:extLst>
              <a:ext uri="{FF2B5EF4-FFF2-40B4-BE49-F238E27FC236}">
                <a16:creationId xmlns:a16="http://schemas.microsoft.com/office/drawing/2014/main" id="{2D557BB3-8306-C4AC-3B41-E52EE1D6D593}"/>
              </a:ext>
            </a:extLst>
          </p:cNvPr>
          <p:cNvSpPr>
            <a:spLocks noGrp="1"/>
          </p:cNvSpPr>
          <p:nvPr>
            <p:ph type="sldNum" sz="quarter" idx="12"/>
          </p:nvPr>
        </p:nvSpPr>
        <p:spPr/>
        <p:txBody>
          <a:bodyPr/>
          <a:lstStyle/>
          <a:p>
            <a:fld id="{D2D8002D-B5B0-4BAC-B1F6-782DDCCE6D9C}" type="slidenum">
              <a:rPr kumimoji="1" lang="ja-JP" altLang="en-US" smtClean="0"/>
              <a:t>15</a:t>
            </a:fld>
            <a:endParaRPr kumimoji="1" lang="ja-JP" altLang="en-US"/>
          </a:p>
        </p:txBody>
      </p:sp>
    </p:spTree>
    <p:extLst>
      <p:ext uri="{BB962C8B-B14F-4D97-AF65-F5344CB8AC3E}">
        <p14:creationId xmlns:p14="http://schemas.microsoft.com/office/powerpoint/2010/main" val="9934211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78247-88CB-D6CA-31BA-084743C6AA6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BAB11D3-3405-198C-8366-878B12819BD6}"/>
              </a:ext>
            </a:extLst>
          </p:cNvPr>
          <p:cNvSpPr>
            <a:spLocks noGrp="1"/>
          </p:cNvSpPr>
          <p:nvPr>
            <p:ph type="title"/>
          </p:nvPr>
        </p:nvSpPr>
        <p:spPr>
          <a:xfrm>
            <a:off x="457200" y="53752"/>
            <a:ext cx="8229600" cy="1143000"/>
          </a:xfrm>
        </p:spPr>
        <p:txBody>
          <a:bodyPr>
            <a:normAutofit fontScale="90000"/>
          </a:bodyPr>
          <a:lstStyle/>
          <a:p>
            <a:r>
              <a:rPr lang="ja-JP" altLang="en-US" dirty="0">
                <a:latin typeface="Arial" pitchFamily="18"/>
              </a:rPr>
              <a:t>ステップ</a:t>
            </a:r>
            <a:r>
              <a:rPr lang="ja-JP" altLang="ja-JP" dirty="0">
                <a:latin typeface="Arial" pitchFamily="18"/>
              </a:rPr>
              <a:t> </a:t>
            </a:r>
            <a:r>
              <a:rPr lang="en-US" altLang="ja-JP" dirty="0">
                <a:latin typeface="Arial" pitchFamily="18"/>
              </a:rPr>
              <a:t>3</a:t>
            </a:r>
            <a:r>
              <a:rPr lang="ja-JP" altLang="en-US" dirty="0">
                <a:latin typeface="Arial" pitchFamily="18"/>
              </a:rPr>
              <a:t>（ダンプデータの取得）結果</a:t>
            </a:r>
            <a:endParaRPr kumimoji="1" lang="ja-JP" altLang="en-US" dirty="0"/>
          </a:p>
        </p:txBody>
      </p:sp>
      <p:sp>
        <p:nvSpPr>
          <p:cNvPr id="9" name="テキスト ボックス 8">
            <a:extLst>
              <a:ext uri="{FF2B5EF4-FFF2-40B4-BE49-F238E27FC236}">
                <a16:creationId xmlns:a16="http://schemas.microsoft.com/office/drawing/2014/main" id="{6DD1F53C-B0FB-A197-34A4-3901F9854654}"/>
              </a:ext>
            </a:extLst>
          </p:cNvPr>
          <p:cNvSpPr txBox="1"/>
          <p:nvPr/>
        </p:nvSpPr>
        <p:spPr>
          <a:xfrm>
            <a:off x="457200" y="3565266"/>
            <a:ext cx="8229600" cy="923330"/>
          </a:xfrm>
          <a:prstGeom prst="rect">
            <a:avLst/>
          </a:prstGeom>
          <a:noFill/>
          <a:ln>
            <a:solidFill>
              <a:schemeClr val="tx1"/>
            </a:solidFill>
          </a:ln>
        </p:spPr>
        <p:txBody>
          <a:bodyPr wrap="square">
            <a:spAutoFit/>
          </a:bodyPr>
          <a:lstStyle/>
          <a:p>
            <a:r>
              <a:rPr lang="en-US" altLang="ja-JP" dirty="0"/>
              <a:t>2.200000000000000D+01   4.349391048283195D+01   3.999999999997351D+02 … 2.200000000000000D+01   3.999999999990466D+02   2.453495348295788D+02 …</a:t>
            </a:r>
          </a:p>
          <a:p>
            <a:r>
              <a:rPr lang="en-US" altLang="ja-JP" dirty="0"/>
              <a:t>…</a:t>
            </a:r>
            <a:endParaRPr lang="ja-JP" altLang="en-US" dirty="0"/>
          </a:p>
        </p:txBody>
      </p:sp>
      <p:sp>
        <p:nvSpPr>
          <p:cNvPr id="10" name="テキスト ボックス 9">
            <a:extLst>
              <a:ext uri="{FF2B5EF4-FFF2-40B4-BE49-F238E27FC236}">
                <a16:creationId xmlns:a16="http://schemas.microsoft.com/office/drawing/2014/main" id="{E4DBA0C4-778A-87FA-DA0E-E51E79BB5AA0}"/>
              </a:ext>
            </a:extLst>
          </p:cNvPr>
          <p:cNvSpPr txBox="1"/>
          <p:nvPr/>
        </p:nvSpPr>
        <p:spPr>
          <a:xfrm>
            <a:off x="969970" y="4546909"/>
            <a:ext cx="7199170" cy="369332"/>
          </a:xfrm>
          <a:prstGeom prst="rect">
            <a:avLst/>
          </a:prstGeom>
          <a:noFill/>
        </p:spPr>
        <p:txBody>
          <a:bodyPr wrap="square" rtlCol="0">
            <a:spAutoFit/>
          </a:bodyPr>
          <a:lstStyle/>
          <a:p>
            <a:r>
              <a:rPr kumimoji="1" lang="en-US" altLang="ja-JP" dirty="0">
                <a:solidFill>
                  <a:srgbClr val="FF0000"/>
                </a:solidFill>
              </a:rPr>
              <a:t>1,022,972</a:t>
            </a:r>
            <a:r>
              <a:rPr kumimoji="1" lang="ja-JP" altLang="en-US" dirty="0">
                <a:solidFill>
                  <a:srgbClr val="FF0000"/>
                </a:solidFill>
              </a:rPr>
              <a:t>個のガンマ線のデータ </a:t>
            </a:r>
            <a:r>
              <a:rPr kumimoji="1" lang="en-US" altLang="ja-JP" dirty="0">
                <a:solidFill>
                  <a:srgbClr val="FF0000"/>
                </a:solidFill>
              </a:rPr>
              <a:t>= 1,000,000</a:t>
            </a:r>
            <a:r>
              <a:rPr kumimoji="1" lang="ja-JP" altLang="en-US" dirty="0">
                <a:solidFill>
                  <a:srgbClr val="FF0000"/>
                </a:solidFill>
              </a:rPr>
              <a:t>ヒストリで</a:t>
            </a:r>
            <a:r>
              <a:rPr kumimoji="1" lang="en-US" altLang="ja-JP" dirty="0">
                <a:solidFill>
                  <a:srgbClr val="FF0000"/>
                </a:solidFill>
              </a:rPr>
              <a:t>score</a:t>
            </a:r>
            <a:r>
              <a:rPr kumimoji="1" lang="ja-JP" altLang="en-US" dirty="0">
                <a:solidFill>
                  <a:srgbClr val="FF0000"/>
                </a:solidFill>
              </a:rPr>
              <a:t>された粒子数</a:t>
            </a:r>
          </a:p>
        </p:txBody>
      </p:sp>
      <p:sp>
        <p:nvSpPr>
          <p:cNvPr id="11" name="テキスト ボックス 10">
            <a:extLst>
              <a:ext uri="{FF2B5EF4-FFF2-40B4-BE49-F238E27FC236}">
                <a16:creationId xmlns:a16="http://schemas.microsoft.com/office/drawing/2014/main" id="{27DB3786-8875-87F3-ECAD-BA8AE1F448B1}"/>
              </a:ext>
            </a:extLst>
          </p:cNvPr>
          <p:cNvSpPr txBox="1"/>
          <p:nvPr/>
        </p:nvSpPr>
        <p:spPr>
          <a:xfrm>
            <a:off x="1439263" y="4102499"/>
            <a:ext cx="5137236" cy="369332"/>
          </a:xfrm>
          <a:prstGeom prst="rect">
            <a:avLst/>
          </a:prstGeom>
          <a:noFill/>
        </p:spPr>
        <p:txBody>
          <a:bodyPr wrap="square" rtlCol="0">
            <a:spAutoFit/>
          </a:bodyPr>
          <a:lstStyle/>
          <a:p>
            <a:r>
              <a:rPr lang="en-US" altLang="ja-JP" dirty="0" err="1">
                <a:solidFill>
                  <a:srgbClr val="FF0000"/>
                </a:solidFill>
              </a:rPr>
              <a:t>kf</a:t>
            </a:r>
            <a:r>
              <a:rPr lang="en-US" altLang="ja-JP" dirty="0">
                <a:solidFill>
                  <a:srgbClr val="FF0000"/>
                </a:solidFill>
              </a:rPr>
              <a:t>-code                           x                                              y</a:t>
            </a:r>
            <a:endParaRPr kumimoji="1" lang="ja-JP" altLang="en-US" dirty="0">
              <a:solidFill>
                <a:srgbClr val="FF0000"/>
              </a:solidFill>
            </a:endParaRPr>
          </a:p>
        </p:txBody>
      </p:sp>
      <p:sp>
        <p:nvSpPr>
          <p:cNvPr id="12" name="テキスト ボックス 11">
            <a:extLst>
              <a:ext uri="{FF2B5EF4-FFF2-40B4-BE49-F238E27FC236}">
                <a16:creationId xmlns:a16="http://schemas.microsoft.com/office/drawing/2014/main" id="{6546A0A6-F3EA-CD6B-D00A-6E05D0EE4E32}"/>
              </a:ext>
            </a:extLst>
          </p:cNvPr>
          <p:cNvSpPr txBox="1"/>
          <p:nvPr/>
        </p:nvSpPr>
        <p:spPr>
          <a:xfrm>
            <a:off x="3275856" y="3068960"/>
            <a:ext cx="2592288" cy="523220"/>
          </a:xfrm>
          <a:prstGeom prst="rect">
            <a:avLst/>
          </a:prstGeom>
          <a:noFill/>
        </p:spPr>
        <p:txBody>
          <a:bodyPr wrap="square" rtlCol="0">
            <a:spAutoFit/>
          </a:bodyPr>
          <a:lstStyle/>
          <a:p>
            <a:r>
              <a:rPr lang="en-US" altLang="ja-JP" sz="2800" dirty="0" err="1"/>
              <a:t>cross</a:t>
            </a:r>
            <a:r>
              <a:rPr kumimoji="1" lang="en-US" altLang="ja-JP" sz="2800" dirty="0" err="1"/>
              <a:t>_dmp.out</a:t>
            </a:r>
            <a:endParaRPr kumimoji="1" lang="ja-JP" altLang="en-US" sz="2800" dirty="0"/>
          </a:p>
        </p:txBody>
      </p:sp>
      <p:sp>
        <p:nvSpPr>
          <p:cNvPr id="13" name="テキスト ボックス 12">
            <a:extLst>
              <a:ext uri="{FF2B5EF4-FFF2-40B4-BE49-F238E27FC236}">
                <a16:creationId xmlns:a16="http://schemas.microsoft.com/office/drawing/2014/main" id="{B1A6DBF1-FC93-2989-94EB-FEB287BDC631}"/>
              </a:ext>
            </a:extLst>
          </p:cNvPr>
          <p:cNvSpPr txBox="1"/>
          <p:nvPr/>
        </p:nvSpPr>
        <p:spPr>
          <a:xfrm>
            <a:off x="3079406" y="1185247"/>
            <a:ext cx="2858948" cy="523220"/>
          </a:xfrm>
          <a:prstGeom prst="rect">
            <a:avLst/>
          </a:prstGeom>
          <a:noFill/>
        </p:spPr>
        <p:txBody>
          <a:bodyPr wrap="square" rtlCol="0">
            <a:spAutoFit/>
          </a:bodyPr>
          <a:lstStyle/>
          <a:p>
            <a:r>
              <a:rPr lang="en-US" altLang="ja-JP" sz="2800" dirty="0" err="1"/>
              <a:t>cross</a:t>
            </a:r>
            <a:r>
              <a:rPr kumimoji="1" lang="en-US" altLang="ja-JP" sz="2800" dirty="0" err="1"/>
              <a:t>.out</a:t>
            </a:r>
            <a:r>
              <a:rPr kumimoji="1" lang="en-US" altLang="ja-JP" sz="2800" dirty="0"/>
              <a:t>(29</a:t>
            </a:r>
            <a:r>
              <a:rPr kumimoji="1" lang="ja-JP" altLang="en-US" sz="2800" dirty="0"/>
              <a:t>行目</a:t>
            </a:r>
            <a:r>
              <a:rPr kumimoji="1" lang="en-US" altLang="ja-JP" sz="2800" dirty="0"/>
              <a:t>)</a:t>
            </a:r>
            <a:endParaRPr kumimoji="1" lang="ja-JP" altLang="en-US" sz="2800" dirty="0"/>
          </a:p>
        </p:txBody>
      </p:sp>
      <p:sp>
        <p:nvSpPr>
          <p:cNvPr id="15" name="テキスト ボックス 14">
            <a:extLst>
              <a:ext uri="{FF2B5EF4-FFF2-40B4-BE49-F238E27FC236}">
                <a16:creationId xmlns:a16="http://schemas.microsoft.com/office/drawing/2014/main" id="{02CE1BF3-1E55-2FB9-3C2C-BF181871AD41}"/>
              </a:ext>
            </a:extLst>
          </p:cNvPr>
          <p:cNvSpPr txBox="1"/>
          <p:nvPr/>
        </p:nvSpPr>
        <p:spPr>
          <a:xfrm>
            <a:off x="1943009" y="1766780"/>
            <a:ext cx="4572000" cy="646331"/>
          </a:xfrm>
          <a:prstGeom prst="rect">
            <a:avLst/>
          </a:prstGeom>
          <a:noFill/>
          <a:ln>
            <a:solidFill>
              <a:schemeClr val="tx1"/>
            </a:solidFill>
          </a:ln>
        </p:spPr>
        <p:txBody>
          <a:bodyPr wrap="square">
            <a:spAutoFit/>
          </a:bodyPr>
          <a:lstStyle/>
          <a:p>
            <a:r>
              <a:rPr lang="pt-BR" altLang="ja-JP" dirty="0"/>
              <a:t>#  num     area         all     </a:t>
            </a:r>
          </a:p>
          <a:p>
            <a:r>
              <a:rPr lang="pt-BR" altLang="ja-JP" dirty="0"/>
              <a:t>     1     1.0000E+00   2.2713E+06  0.0027</a:t>
            </a:r>
            <a:endParaRPr lang="ja-JP" altLang="en-US" dirty="0"/>
          </a:p>
        </p:txBody>
      </p:sp>
      <p:sp>
        <p:nvSpPr>
          <p:cNvPr id="16" name="テキスト ボックス 15">
            <a:extLst>
              <a:ext uri="{FF2B5EF4-FFF2-40B4-BE49-F238E27FC236}">
                <a16:creationId xmlns:a16="http://schemas.microsoft.com/office/drawing/2014/main" id="{A325C5EF-6EDA-4FF6-19CB-324E351F8830}"/>
              </a:ext>
            </a:extLst>
          </p:cNvPr>
          <p:cNvSpPr txBox="1"/>
          <p:nvPr/>
        </p:nvSpPr>
        <p:spPr>
          <a:xfrm>
            <a:off x="394080" y="2483604"/>
            <a:ext cx="8426392" cy="369332"/>
          </a:xfrm>
          <a:prstGeom prst="rect">
            <a:avLst/>
          </a:prstGeom>
          <a:noFill/>
        </p:spPr>
        <p:txBody>
          <a:bodyPr wrap="square" rtlCol="0">
            <a:spAutoFit/>
          </a:bodyPr>
          <a:lstStyle/>
          <a:p>
            <a:r>
              <a:rPr kumimoji="1" lang="en-US" altLang="ja-JP" dirty="0">
                <a:solidFill>
                  <a:srgbClr val="FF0000"/>
                </a:solidFill>
              </a:rPr>
              <a:t>1 </a:t>
            </a:r>
            <a:r>
              <a:rPr kumimoji="1" lang="en-US" altLang="ja-JP" dirty="0" err="1">
                <a:solidFill>
                  <a:srgbClr val="FF0000"/>
                </a:solidFill>
              </a:rPr>
              <a:t>Bq</a:t>
            </a:r>
            <a:r>
              <a:rPr kumimoji="1" lang="en-US" altLang="ja-JP" dirty="0">
                <a:solidFill>
                  <a:srgbClr val="FF0000"/>
                </a:solidFill>
              </a:rPr>
              <a:t>/cm2</a:t>
            </a:r>
            <a:r>
              <a:rPr kumimoji="1" lang="ja-JP" altLang="en-US" dirty="0">
                <a:solidFill>
                  <a:srgbClr val="FF0000"/>
                </a:solidFill>
              </a:rPr>
              <a:t>の</a:t>
            </a:r>
            <a:r>
              <a:rPr kumimoji="1" lang="en-US" altLang="ja-JP" dirty="0">
                <a:solidFill>
                  <a:srgbClr val="FF0000"/>
                </a:solidFill>
              </a:rPr>
              <a:t>Cs-137</a:t>
            </a:r>
            <a:r>
              <a:rPr kumimoji="1" lang="ja-JP" altLang="en-US" dirty="0">
                <a:solidFill>
                  <a:srgbClr val="FF0000"/>
                </a:solidFill>
              </a:rPr>
              <a:t>で汚染された無限平面から</a:t>
            </a:r>
            <a:r>
              <a:rPr kumimoji="1" lang="en-US" altLang="ja-JP" dirty="0">
                <a:solidFill>
                  <a:srgbClr val="FF0000"/>
                </a:solidFill>
              </a:rPr>
              <a:t>1</a:t>
            </a:r>
            <a:r>
              <a:rPr kumimoji="1" lang="ja-JP" altLang="en-US" dirty="0">
                <a:solidFill>
                  <a:srgbClr val="FF0000"/>
                </a:solidFill>
              </a:rPr>
              <a:t>秒間に</a:t>
            </a:r>
            <a:r>
              <a:rPr kumimoji="1" lang="en-US" altLang="ja-JP" dirty="0">
                <a:solidFill>
                  <a:srgbClr val="FF0000"/>
                </a:solidFill>
              </a:rPr>
              <a:t>scoring box</a:t>
            </a:r>
            <a:r>
              <a:rPr kumimoji="1" lang="ja-JP" altLang="en-US" dirty="0">
                <a:solidFill>
                  <a:srgbClr val="FF0000"/>
                </a:solidFill>
              </a:rPr>
              <a:t>に入射される粒子数</a:t>
            </a:r>
          </a:p>
        </p:txBody>
      </p:sp>
      <p:sp>
        <p:nvSpPr>
          <p:cNvPr id="3" name="スライド番号プレースホルダー 2">
            <a:extLst>
              <a:ext uri="{FF2B5EF4-FFF2-40B4-BE49-F238E27FC236}">
                <a16:creationId xmlns:a16="http://schemas.microsoft.com/office/drawing/2014/main" id="{5FB42717-1E3C-6A2E-B8B4-B1242A9A2EB5}"/>
              </a:ext>
            </a:extLst>
          </p:cNvPr>
          <p:cNvSpPr>
            <a:spLocks noGrp="1"/>
          </p:cNvSpPr>
          <p:nvPr>
            <p:ph type="sldNum" sz="quarter" idx="12"/>
          </p:nvPr>
        </p:nvSpPr>
        <p:spPr/>
        <p:txBody>
          <a:bodyPr/>
          <a:lstStyle/>
          <a:p>
            <a:fld id="{D2D8002D-B5B0-4BAC-B1F6-782DDCCE6D9C}" type="slidenum">
              <a:rPr kumimoji="1" lang="ja-JP" altLang="en-US" smtClean="0"/>
              <a:t>16</a:t>
            </a:fld>
            <a:endParaRPr kumimoji="1" lang="ja-JP" altLang="en-US"/>
          </a:p>
        </p:txBody>
      </p:sp>
    </p:spTree>
    <p:extLst>
      <p:ext uri="{BB962C8B-B14F-4D97-AF65-F5344CB8AC3E}">
        <p14:creationId xmlns:p14="http://schemas.microsoft.com/office/powerpoint/2010/main" val="22371421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78247-88CB-D6CA-31BA-084743C6AA6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BAB11D3-3405-198C-8366-878B12819BD6}"/>
              </a:ext>
            </a:extLst>
          </p:cNvPr>
          <p:cNvSpPr>
            <a:spLocks noGrp="1"/>
          </p:cNvSpPr>
          <p:nvPr>
            <p:ph type="title"/>
          </p:nvPr>
        </p:nvSpPr>
        <p:spPr>
          <a:xfrm>
            <a:off x="457200" y="53752"/>
            <a:ext cx="8229600" cy="1143000"/>
          </a:xfrm>
        </p:spPr>
        <p:txBody>
          <a:bodyPr>
            <a:normAutofit/>
          </a:bodyPr>
          <a:lstStyle/>
          <a:p>
            <a:r>
              <a:rPr lang="ja-JP" altLang="en-US" dirty="0">
                <a:latin typeface="Arial" pitchFamily="18"/>
              </a:rPr>
              <a:t>ステップ</a:t>
            </a:r>
            <a:r>
              <a:rPr lang="ja-JP" altLang="ja-JP" dirty="0">
                <a:latin typeface="Arial" pitchFamily="18"/>
              </a:rPr>
              <a:t> </a:t>
            </a:r>
            <a:r>
              <a:rPr lang="en-US" altLang="ja-JP" dirty="0">
                <a:latin typeface="Arial" pitchFamily="18"/>
              </a:rPr>
              <a:t>4</a:t>
            </a:r>
            <a:r>
              <a:rPr lang="ja-JP" altLang="en-US" dirty="0">
                <a:latin typeface="Arial" pitchFamily="18"/>
              </a:rPr>
              <a:t>（ダンプデータ線源）</a:t>
            </a:r>
            <a:endParaRPr kumimoji="1" lang="ja-JP" altLang="en-US" dirty="0"/>
          </a:p>
        </p:txBody>
      </p:sp>
      <p:sp>
        <p:nvSpPr>
          <p:cNvPr id="3" name="正方形/長方形 2">
            <a:extLst>
              <a:ext uri="{FF2B5EF4-FFF2-40B4-BE49-F238E27FC236}">
                <a16:creationId xmlns:a16="http://schemas.microsoft.com/office/drawing/2014/main" id="{76738A48-E661-EAE5-36E9-F6F09D8A83BE}"/>
              </a:ext>
            </a:extLst>
          </p:cNvPr>
          <p:cNvSpPr/>
          <p:nvPr/>
        </p:nvSpPr>
        <p:spPr>
          <a:xfrm>
            <a:off x="3494835" y="1654177"/>
            <a:ext cx="2016220" cy="1349325"/>
          </a:xfrm>
          <a:prstGeom prst="rect">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 name="直線矢印コネクタ 3">
            <a:extLst>
              <a:ext uri="{FF2B5EF4-FFF2-40B4-BE49-F238E27FC236}">
                <a16:creationId xmlns:a16="http://schemas.microsoft.com/office/drawing/2014/main" id="{6B0C26EE-4132-BE78-29E5-A440C4667A54}"/>
              </a:ext>
            </a:extLst>
          </p:cNvPr>
          <p:cNvCxnSpPr>
            <a:cxnSpLocks/>
          </p:cNvCxnSpPr>
          <p:nvPr/>
        </p:nvCxnSpPr>
        <p:spPr>
          <a:xfrm flipH="1" flipV="1">
            <a:off x="5042909" y="1667215"/>
            <a:ext cx="501088" cy="202242"/>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5" name="直線矢印コネクタ 4">
            <a:extLst>
              <a:ext uri="{FF2B5EF4-FFF2-40B4-BE49-F238E27FC236}">
                <a16:creationId xmlns:a16="http://schemas.microsoft.com/office/drawing/2014/main" id="{52E4F094-C8B0-AFDF-D276-6BCC330DD880}"/>
              </a:ext>
            </a:extLst>
          </p:cNvPr>
          <p:cNvCxnSpPr>
            <a:cxnSpLocks/>
            <a:stCxn id="29" idx="3"/>
          </p:cNvCxnSpPr>
          <p:nvPr/>
        </p:nvCxnSpPr>
        <p:spPr>
          <a:xfrm flipV="1">
            <a:off x="3448487" y="1882116"/>
            <a:ext cx="494509" cy="154539"/>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6" name="正方形/長方形 5">
            <a:extLst>
              <a:ext uri="{FF2B5EF4-FFF2-40B4-BE49-F238E27FC236}">
                <a16:creationId xmlns:a16="http://schemas.microsoft.com/office/drawing/2014/main" id="{D5977774-1B2E-4A65-0BD8-CA0AEB0BB3EB}"/>
              </a:ext>
            </a:extLst>
          </p:cNvPr>
          <p:cNvSpPr/>
          <p:nvPr/>
        </p:nvSpPr>
        <p:spPr>
          <a:xfrm>
            <a:off x="2807727" y="2996952"/>
            <a:ext cx="3528546" cy="239221"/>
          </a:xfrm>
          <a:prstGeom prst="rect">
            <a:avLst/>
          </a:prstGeom>
          <a:solidFill>
            <a:srgbClr val="808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コネクタ 6">
            <a:extLst>
              <a:ext uri="{FF2B5EF4-FFF2-40B4-BE49-F238E27FC236}">
                <a16:creationId xmlns:a16="http://schemas.microsoft.com/office/drawing/2014/main" id="{B20B9D7F-05DD-5A1E-32CD-94AE4D63D32B}"/>
              </a:ext>
            </a:extLst>
          </p:cNvPr>
          <p:cNvCxnSpPr/>
          <p:nvPr/>
        </p:nvCxnSpPr>
        <p:spPr>
          <a:xfrm>
            <a:off x="3140915" y="1474200"/>
            <a:ext cx="0" cy="1512168"/>
          </a:xfrm>
          <a:prstGeom prst="line">
            <a:avLst/>
          </a:prstGeom>
          <a:ln w="571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DEBC9136-CE30-35CF-85E6-8F63B25605C0}"/>
              </a:ext>
            </a:extLst>
          </p:cNvPr>
          <p:cNvCxnSpPr/>
          <p:nvPr/>
        </p:nvCxnSpPr>
        <p:spPr>
          <a:xfrm>
            <a:off x="5877219" y="1474200"/>
            <a:ext cx="0" cy="1512168"/>
          </a:xfrm>
          <a:prstGeom prst="line">
            <a:avLst/>
          </a:prstGeom>
          <a:ln w="571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8" name="楕円 27">
            <a:extLst>
              <a:ext uri="{FF2B5EF4-FFF2-40B4-BE49-F238E27FC236}">
                <a16:creationId xmlns:a16="http://schemas.microsoft.com/office/drawing/2014/main" id="{0973E0A6-EF2B-A6B7-0C97-CADA71F73F22}"/>
              </a:ext>
            </a:extLst>
          </p:cNvPr>
          <p:cNvSpPr/>
          <p:nvPr/>
        </p:nvSpPr>
        <p:spPr>
          <a:xfrm>
            <a:off x="5445171" y="1768336"/>
            <a:ext cx="133429" cy="122438"/>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楕円 28">
            <a:extLst>
              <a:ext uri="{FF2B5EF4-FFF2-40B4-BE49-F238E27FC236}">
                <a16:creationId xmlns:a16="http://schemas.microsoft.com/office/drawing/2014/main" id="{8598B4A4-01BC-D4DC-E3F3-506AF6A02C6A}"/>
              </a:ext>
            </a:extLst>
          </p:cNvPr>
          <p:cNvSpPr/>
          <p:nvPr/>
        </p:nvSpPr>
        <p:spPr>
          <a:xfrm>
            <a:off x="3428947" y="1932148"/>
            <a:ext cx="133429" cy="122438"/>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楕円 29">
            <a:extLst>
              <a:ext uri="{FF2B5EF4-FFF2-40B4-BE49-F238E27FC236}">
                <a16:creationId xmlns:a16="http://schemas.microsoft.com/office/drawing/2014/main" id="{0D083E48-145D-4934-8B27-C0ECFBA97D64}"/>
              </a:ext>
            </a:extLst>
          </p:cNvPr>
          <p:cNvSpPr/>
          <p:nvPr/>
        </p:nvSpPr>
        <p:spPr>
          <a:xfrm>
            <a:off x="5445171" y="2517550"/>
            <a:ext cx="133429" cy="122438"/>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楕円 30">
            <a:extLst>
              <a:ext uri="{FF2B5EF4-FFF2-40B4-BE49-F238E27FC236}">
                <a16:creationId xmlns:a16="http://schemas.microsoft.com/office/drawing/2014/main" id="{5BE5EF50-346C-55F2-5755-1A43FEBCFE71}"/>
              </a:ext>
            </a:extLst>
          </p:cNvPr>
          <p:cNvSpPr/>
          <p:nvPr/>
        </p:nvSpPr>
        <p:spPr>
          <a:xfrm>
            <a:off x="3439534" y="2429366"/>
            <a:ext cx="133429" cy="122438"/>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D13C5FE8-6D33-60AC-16EE-5D2BE9DB5E58}"/>
              </a:ext>
            </a:extLst>
          </p:cNvPr>
          <p:cNvSpPr txBox="1"/>
          <p:nvPr/>
        </p:nvSpPr>
        <p:spPr>
          <a:xfrm>
            <a:off x="3658034" y="961656"/>
            <a:ext cx="1787137" cy="707886"/>
          </a:xfrm>
          <a:prstGeom prst="rect">
            <a:avLst/>
          </a:prstGeom>
          <a:noFill/>
        </p:spPr>
        <p:txBody>
          <a:bodyPr wrap="square" rtlCol="0">
            <a:spAutoFit/>
          </a:bodyPr>
          <a:lstStyle/>
          <a:p>
            <a:pPr algn="ctr"/>
            <a:r>
              <a:rPr lang="ja-JP" altLang="en-US" sz="2000" dirty="0"/>
              <a:t>スコアリングボックス</a:t>
            </a:r>
            <a:endParaRPr kumimoji="1" lang="ja-JP" altLang="en-US" sz="2000" dirty="0"/>
          </a:p>
        </p:txBody>
      </p:sp>
      <p:sp>
        <p:nvSpPr>
          <p:cNvPr id="8" name="Text Box 1031">
            <a:extLst>
              <a:ext uri="{FF2B5EF4-FFF2-40B4-BE49-F238E27FC236}">
                <a16:creationId xmlns:a16="http://schemas.microsoft.com/office/drawing/2014/main" id="{070DD947-7A50-8B00-3EAB-C18EAD53CE66}"/>
              </a:ext>
            </a:extLst>
          </p:cNvPr>
          <p:cNvSpPr txBox="1">
            <a:spLocks noChangeArrowheads="1"/>
          </p:cNvSpPr>
          <p:nvPr/>
        </p:nvSpPr>
        <p:spPr bwMode="auto">
          <a:xfrm>
            <a:off x="279980" y="3947983"/>
            <a:ext cx="2286750" cy="1967411"/>
          </a:xfrm>
          <a:prstGeom prst="rect">
            <a:avLst/>
          </a:prstGeom>
          <a:solidFill>
            <a:schemeClr val="bg1"/>
          </a:solidFill>
          <a:ln w="19050">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400" dirty="0">
                <a:latin typeface="Tahoma" panose="020B0604030504040204" pitchFamily="34" charset="0"/>
              </a:rPr>
              <a:t>[ Source ] </a:t>
            </a:r>
            <a:r>
              <a:rPr lang="en-US" altLang="ja-JP" sz="1400" dirty="0">
                <a:solidFill>
                  <a:srgbClr val="FF0000"/>
                </a:solidFill>
                <a:latin typeface="Tahoma" panose="020B0604030504040204" pitchFamily="34" charset="0"/>
              </a:rPr>
              <a:t>off</a:t>
            </a:r>
          </a:p>
          <a:p>
            <a:pPr eaLnBrk="1" hangingPunct="1">
              <a:spcBef>
                <a:spcPct val="0"/>
              </a:spcBef>
              <a:buFontTx/>
              <a:buNone/>
            </a:pPr>
            <a:r>
              <a:rPr lang="en-US" altLang="ja-JP" sz="1400" dirty="0">
                <a:latin typeface="Tahoma" panose="020B0604030504040204" pitchFamily="34" charset="0"/>
              </a:rPr>
              <a:t>…</a:t>
            </a:r>
          </a:p>
          <a:p>
            <a:pPr eaLnBrk="1" hangingPunct="1">
              <a:spcBef>
                <a:spcPct val="0"/>
              </a:spcBef>
              <a:buFontTx/>
              <a:buNone/>
            </a:pPr>
            <a:r>
              <a:rPr lang="en-US" altLang="ja-JP" sz="1400" dirty="0">
                <a:latin typeface="Tahoma" panose="020B0604030504040204" pitchFamily="34" charset="0"/>
              </a:rPr>
              <a:t>[ Source ]</a:t>
            </a:r>
          </a:p>
          <a:p>
            <a:pPr eaLnBrk="1" hangingPunct="1">
              <a:spcBef>
                <a:spcPct val="0"/>
              </a:spcBef>
              <a:buFontTx/>
              <a:buNone/>
            </a:pPr>
            <a:r>
              <a:rPr lang="en-US" altLang="ja-JP" sz="1400" dirty="0">
                <a:latin typeface="Tahoma" panose="020B0604030504040204" pitchFamily="34" charset="0"/>
              </a:rPr>
              <a:t>  </a:t>
            </a:r>
            <a:r>
              <a:rPr lang="en-US" altLang="ja-JP" sz="1400" dirty="0" err="1">
                <a:latin typeface="Tahoma" panose="020B0604030504040204" pitchFamily="34" charset="0"/>
              </a:rPr>
              <a:t>totfact</a:t>
            </a:r>
            <a:r>
              <a:rPr lang="en-US" altLang="ja-JP" sz="1400" dirty="0">
                <a:latin typeface="Tahoma" panose="020B0604030504040204" pitchFamily="34" charset="0"/>
              </a:rPr>
              <a:t> =   </a:t>
            </a:r>
            <a:r>
              <a:rPr lang="en-US" altLang="ja-JP" sz="1400" dirty="0">
                <a:solidFill>
                  <a:srgbClr val="FF0000"/>
                </a:solidFill>
                <a:latin typeface="Tahoma" panose="020B0604030504040204" pitchFamily="34" charset="0"/>
              </a:rPr>
              <a:t>2.2713E+06</a:t>
            </a:r>
          </a:p>
          <a:p>
            <a:pPr eaLnBrk="1" hangingPunct="1">
              <a:spcBef>
                <a:spcPct val="0"/>
              </a:spcBef>
              <a:buFontTx/>
              <a:buNone/>
            </a:pPr>
            <a:r>
              <a:rPr lang="en-US" altLang="ja-JP" sz="1400" dirty="0">
                <a:latin typeface="Tahoma" panose="020B0604030504040204" pitchFamily="34" charset="0"/>
              </a:rPr>
              <a:t>   s-type =     17</a:t>
            </a:r>
          </a:p>
          <a:p>
            <a:pPr eaLnBrk="1" hangingPunct="1">
              <a:spcBef>
                <a:spcPct val="0"/>
              </a:spcBef>
              <a:buFontTx/>
              <a:buNone/>
            </a:pPr>
            <a:r>
              <a:rPr lang="en-US" altLang="ja-JP" sz="1400" dirty="0">
                <a:latin typeface="Tahoma" panose="020B0604030504040204" pitchFamily="34" charset="0"/>
              </a:rPr>
              <a:t>     file = </a:t>
            </a:r>
            <a:r>
              <a:rPr lang="en-US" altLang="ja-JP" sz="1400" dirty="0" err="1">
                <a:latin typeface="Tahoma" panose="020B0604030504040204" pitchFamily="34" charset="0"/>
              </a:rPr>
              <a:t>cross_dmp.out</a:t>
            </a:r>
            <a:r>
              <a:rPr lang="en-US" altLang="ja-JP" sz="1400" dirty="0">
                <a:latin typeface="Tahoma" panose="020B0604030504040204" pitchFamily="34" charset="0"/>
              </a:rPr>
              <a:t> </a:t>
            </a:r>
          </a:p>
          <a:p>
            <a:pPr eaLnBrk="1" hangingPunct="1">
              <a:spcBef>
                <a:spcPct val="0"/>
              </a:spcBef>
              <a:buFontTx/>
              <a:buNone/>
            </a:pPr>
            <a:r>
              <a:rPr lang="en-US" altLang="ja-JP" sz="1400" dirty="0">
                <a:latin typeface="Tahoma" panose="020B0604030504040204" pitchFamily="34" charset="0"/>
              </a:rPr>
              <a:t>    </a:t>
            </a:r>
            <a:r>
              <a:rPr lang="en-US" altLang="ja-JP" sz="1400" dirty="0" err="1">
                <a:latin typeface="Tahoma" panose="020B0604030504040204" pitchFamily="34" charset="0"/>
              </a:rPr>
              <a:t>proj</a:t>
            </a:r>
            <a:r>
              <a:rPr lang="en-US" altLang="ja-JP" sz="1400" dirty="0">
                <a:latin typeface="Tahoma" panose="020B0604030504040204" pitchFamily="34" charset="0"/>
              </a:rPr>
              <a:t> =   photon</a:t>
            </a:r>
          </a:p>
          <a:p>
            <a:pPr eaLnBrk="1" hangingPunct="1">
              <a:spcBef>
                <a:spcPct val="0"/>
              </a:spcBef>
              <a:buFontTx/>
              <a:buNone/>
            </a:pPr>
            <a:r>
              <a:rPr lang="en-US" altLang="ja-JP" sz="1400" dirty="0">
                <a:latin typeface="Tahoma" panose="020B0604030504040204" pitchFamily="34" charset="0"/>
              </a:rPr>
              <a:t>     dump = -8</a:t>
            </a:r>
          </a:p>
          <a:p>
            <a:pPr eaLnBrk="1" hangingPunct="1">
              <a:spcBef>
                <a:spcPct val="0"/>
              </a:spcBef>
              <a:buFontTx/>
              <a:buNone/>
            </a:pPr>
            <a:r>
              <a:rPr lang="en-US" altLang="ja-JP" sz="1400" dirty="0">
                <a:latin typeface="Tahoma" panose="020B0604030504040204" pitchFamily="34" charset="0"/>
              </a:rPr>
              <a:t>             1 2 3 4 5 6 7 8</a:t>
            </a:r>
            <a:endParaRPr lang="pt-BR" altLang="ja-JP" sz="1400" dirty="0">
              <a:solidFill>
                <a:srgbClr val="000000"/>
              </a:solidFill>
              <a:latin typeface="Tahoma" panose="020B0604030504040204" pitchFamily="34" charset="0"/>
            </a:endParaRPr>
          </a:p>
        </p:txBody>
      </p:sp>
      <p:sp>
        <p:nvSpPr>
          <p:cNvPr id="9" name="テキスト ボックス 8">
            <a:extLst>
              <a:ext uri="{FF2B5EF4-FFF2-40B4-BE49-F238E27FC236}">
                <a16:creationId xmlns:a16="http://schemas.microsoft.com/office/drawing/2014/main" id="{30E2B62F-0851-01F7-684E-4C1A394FBA9E}"/>
              </a:ext>
            </a:extLst>
          </p:cNvPr>
          <p:cNvSpPr txBox="1"/>
          <p:nvPr/>
        </p:nvSpPr>
        <p:spPr>
          <a:xfrm>
            <a:off x="1112362" y="4331219"/>
            <a:ext cx="1422654" cy="369332"/>
          </a:xfrm>
          <a:prstGeom prst="rect">
            <a:avLst/>
          </a:prstGeom>
          <a:noFill/>
        </p:spPr>
        <p:txBody>
          <a:bodyPr wrap="square" rtlCol="0">
            <a:spAutoFit/>
          </a:bodyPr>
          <a:lstStyle/>
          <a:p>
            <a:r>
              <a:rPr kumimoji="1" lang="en-US" altLang="ja-JP" dirty="0">
                <a:solidFill>
                  <a:srgbClr val="FF0000"/>
                </a:solidFill>
              </a:rPr>
              <a:t>off</a:t>
            </a:r>
            <a:r>
              <a:rPr kumimoji="1" lang="ja-JP" altLang="en-US" dirty="0">
                <a:solidFill>
                  <a:srgbClr val="FF0000"/>
                </a:solidFill>
              </a:rPr>
              <a:t>を取り除く</a:t>
            </a:r>
          </a:p>
        </p:txBody>
      </p:sp>
      <p:sp>
        <p:nvSpPr>
          <p:cNvPr id="10" name="Text Box 1031">
            <a:extLst>
              <a:ext uri="{FF2B5EF4-FFF2-40B4-BE49-F238E27FC236}">
                <a16:creationId xmlns:a16="http://schemas.microsoft.com/office/drawing/2014/main" id="{81F9A865-60BB-3396-5015-B8AE47B1C860}"/>
              </a:ext>
            </a:extLst>
          </p:cNvPr>
          <p:cNvSpPr txBox="1">
            <a:spLocks noChangeArrowheads="1"/>
          </p:cNvSpPr>
          <p:nvPr/>
        </p:nvSpPr>
        <p:spPr bwMode="auto">
          <a:xfrm>
            <a:off x="3610806" y="3458596"/>
            <a:ext cx="1842264" cy="2483909"/>
          </a:xfrm>
          <a:prstGeom prst="rect">
            <a:avLst/>
          </a:prstGeom>
          <a:solidFill>
            <a:schemeClr val="bg1"/>
          </a:solidFill>
          <a:ln w="19050">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400" dirty="0">
                <a:latin typeface="Tahoma" panose="020B0604030504040204" pitchFamily="34" charset="0"/>
              </a:rPr>
              <a:t>[ T-cross ] </a:t>
            </a:r>
            <a:r>
              <a:rPr lang="en-US" altLang="ja-JP" sz="1400" dirty="0">
                <a:solidFill>
                  <a:srgbClr val="FF0000"/>
                </a:solidFill>
                <a:latin typeface="Tahoma" panose="020B0604030504040204" pitchFamily="34" charset="0"/>
              </a:rPr>
              <a:t>off</a:t>
            </a:r>
          </a:p>
          <a:p>
            <a:pPr eaLnBrk="1" hangingPunct="1">
              <a:spcBef>
                <a:spcPct val="0"/>
              </a:spcBef>
              <a:buFontTx/>
              <a:buNone/>
            </a:pPr>
            <a:r>
              <a:rPr lang="en-US" altLang="ja-JP" sz="1400" dirty="0">
                <a:latin typeface="Tahoma" panose="020B0604030504040204" pitchFamily="34" charset="0"/>
              </a:rPr>
              <a:t> file = </a:t>
            </a:r>
            <a:r>
              <a:rPr lang="en-US" altLang="ja-JP" sz="1400" dirty="0" err="1">
                <a:latin typeface="Tahoma" panose="020B0604030504040204" pitchFamily="34" charset="0"/>
              </a:rPr>
              <a:t>cross.out</a:t>
            </a:r>
            <a:endParaRPr lang="en-US" altLang="ja-JP" sz="1400" dirty="0">
              <a:latin typeface="Tahoma" panose="020B0604030504040204" pitchFamily="34" charset="0"/>
            </a:endParaRPr>
          </a:p>
          <a:p>
            <a:pPr eaLnBrk="1" hangingPunct="1">
              <a:spcBef>
                <a:spcPct val="0"/>
              </a:spcBef>
              <a:buFontTx/>
              <a:buNone/>
            </a:pPr>
            <a:r>
              <a:rPr lang="en-US" altLang="ja-JP" sz="1400" dirty="0">
                <a:latin typeface="Tahoma" panose="020B0604030504040204" pitchFamily="34" charset="0"/>
              </a:rPr>
              <a:t>…</a:t>
            </a:r>
          </a:p>
          <a:p>
            <a:pPr eaLnBrk="1" hangingPunct="1">
              <a:spcBef>
                <a:spcPct val="0"/>
              </a:spcBef>
              <a:buFontTx/>
              <a:buNone/>
            </a:pPr>
            <a:endParaRPr lang="en-US" altLang="ja-JP" sz="1400" dirty="0">
              <a:latin typeface="Tahoma" panose="020B0604030504040204" pitchFamily="34" charset="0"/>
            </a:endParaRPr>
          </a:p>
          <a:p>
            <a:pPr eaLnBrk="1" hangingPunct="1">
              <a:spcBef>
                <a:spcPct val="0"/>
              </a:spcBef>
              <a:buFontTx/>
              <a:buNone/>
            </a:pPr>
            <a:r>
              <a:rPr lang="fr-FR" altLang="ja-JP" sz="1400" dirty="0">
                <a:solidFill>
                  <a:srgbClr val="FF0000"/>
                </a:solidFill>
                <a:latin typeface="Tahoma" panose="020B0604030504040204" pitchFamily="34" charset="0"/>
              </a:rPr>
              <a:t>[ T-product ]</a:t>
            </a:r>
          </a:p>
          <a:p>
            <a:pPr eaLnBrk="1" hangingPunct="1">
              <a:spcBef>
                <a:spcPct val="0"/>
              </a:spcBef>
              <a:buFontTx/>
              <a:buNone/>
            </a:pPr>
            <a:r>
              <a:rPr lang="fr-FR" altLang="ja-JP" sz="1400" dirty="0">
                <a:solidFill>
                  <a:srgbClr val="FF0000"/>
                </a:solidFill>
                <a:latin typeface="Tahoma" panose="020B0604030504040204" pitchFamily="34" charset="0"/>
              </a:rPr>
              <a:t> file = source.out</a:t>
            </a:r>
          </a:p>
          <a:p>
            <a:pPr eaLnBrk="1" hangingPunct="1">
              <a:spcBef>
                <a:spcPct val="0"/>
              </a:spcBef>
              <a:buFontTx/>
              <a:buNone/>
            </a:pPr>
            <a:r>
              <a:rPr lang="fr-FR" altLang="ja-JP" sz="1400" dirty="0">
                <a:solidFill>
                  <a:srgbClr val="FF0000"/>
                </a:solidFill>
                <a:latin typeface="Tahoma" panose="020B0604030504040204" pitchFamily="34" charset="0"/>
              </a:rPr>
              <a:t> output = source</a:t>
            </a:r>
          </a:p>
          <a:p>
            <a:pPr eaLnBrk="1" hangingPunct="1">
              <a:spcBef>
                <a:spcPct val="0"/>
              </a:spcBef>
              <a:buFontTx/>
              <a:buNone/>
            </a:pPr>
            <a:r>
              <a:rPr lang="pt-BR" altLang="ja-JP" sz="1400" dirty="0">
                <a:solidFill>
                  <a:srgbClr val="FF0000"/>
                </a:solidFill>
                <a:latin typeface="Tahoma" panose="020B0604030504040204" pitchFamily="34" charset="0"/>
              </a:rPr>
              <a:t> mesh = xyz</a:t>
            </a:r>
          </a:p>
          <a:p>
            <a:pPr eaLnBrk="1" hangingPunct="1">
              <a:spcBef>
                <a:spcPct val="0"/>
              </a:spcBef>
              <a:buFontTx/>
              <a:buNone/>
            </a:pPr>
            <a:r>
              <a:rPr lang="pt-BR" altLang="ja-JP" sz="1400" dirty="0">
                <a:solidFill>
                  <a:srgbClr val="FF0000"/>
                </a:solidFill>
                <a:latin typeface="Tahoma" panose="020B0604030504040204" pitchFamily="34" charset="0"/>
              </a:rPr>
              <a:t> x-type = 2</a:t>
            </a:r>
          </a:p>
          <a:p>
            <a:pPr eaLnBrk="1" hangingPunct="1">
              <a:spcBef>
                <a:spcPct val="0"/>
              </a:spcBef>
              <a:buFontTx/>
              <a:buNone/>
            </a:pPr>
            <a:r>
              <a:rPr lang="pt-BR" altLang="ja-JP" sz="1400" dirty="0">
                <a:solidFill>
                  <a:srgbClr val="FF0000"/>
                </a:solidFill>
                <a:latin typeface="Tahoma" panose="020B0604030504040204" pitchFamily="34" charset="0"/>
              </a:rPr>
              <a:t> nx     =  100</a:t>
            </a:r>
          </a:p>
          <a:p>
            <a:pPr eaLnBrk="1" hangingPunct="1">
              <a:spcBef>
                <a:spcPct val="0"/>
              </a:spcBef>
              <a:buFontTx/>
              <a:buNone/>
            </a:pPr>
            <a:r>
              <a:rPr lang="pt-BR" altLang="ja-JP" sz="1400" dirty="0">
                <a:solidFill>
                  <a:srgbClr val="FF0000"/>
                </a:solidFill>
                <a:latin typeface="Tahoma" panose="020B0604030504040204" pitchFamily="34" charset="0"/>
              </a:rPr>
              <a:t>...</a:t>
            </a:r>
          </a:p>
        </p:txBody>
      </p:sp>
      <p:sp>
        <p:nvSpPr>
          <p:cNvPr id="11" name="Text Box 1031">
            <a:extLst>
              <a:ext uri="{FF2B5EF4-FFF2-40B4-BE49-F238E27FC236}">
                <a16:creationId xmlns:a16="http://schemas.microsoft.com/office/drawing/2014/main" id="{45479C12-95E1-AF56-9101-192DBA12E510}"/>
              </a:ext>
            </a:extLst>
          </p:cNvPr>
          <p:cNvSpPr txBox="1">
            <a:spLocks noChangeArrowheads="1"/>
          </p:cNvSpPr>
          <p:nvPr/>
        </p:nvSpPr>
        <p:spPr bwMode="auto">
          <a:xfrm>
            <a:off x="322568" y="1936773"/>
            <a:ext cx="1667830" cy="1328252"/>
          </a:xfrm>
          <a:prstGeom prst="rect">
            <a:avLst/>
          </a:prstGeom>
          <a:solidFill>
            <a:schemeClr val="bg1"/>
          </a:solidFill>
          <a:ln w="19050">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400" dirty="0">
                <a:latin typeface="Tahoma" panose="020B0604030504040204" pitchFamily="34" charset="0"/>
              </a:rPr>
              <a:t>[ Surface ]</a:t>
            </a:r>
          </a:p>
          <a:p>
            <a:pPr eaLnBrk="1" hangingPunct="1">
              <a:spcBef>
                <a:spcPct val="0"/>
              </a:spcBef>
              <a:buFontTx/>
              <a:buNone/>
            </a:pPr>
            <a:r>
              <a:rPr lang="en-US" altLang="ja-JP" sz="1400" dirty="0">
                <a:latin typeface="Tahoma" panose="020B0604030504040204" pitchFamily="34" charset="0"/>
              </a:rPr>
              <a:t>…</a:t>
            </a:r>
          </a:p>
          <a:p>
            <a:pPr eaLnBrk="1" hangingPunct="1">
              <a:spcBef>
                <a:spcPct val="0"/>
              </a:spcBef>
              <a:buFontTx/>
              <a:buNone/>
            </a:pPr>
            <a:r>
              <a:rPr lang="en-US" altLang="ja-JP" sz="1400" dirty="0">
                <a:latin typeface="Tahoma" panose="020B0604030504040204" pitchFamily="34" charset="0"/>
              </a:rPr>
              <a:t> 101  </a:t>
            </a:r>
            <a:r>
              <a:rPr lang="en-US" altLang="ja-JP" sz="1400" dirty="0" err="1">
                <a:latin typeface="Tahoma" panose="020B0604030504040204" pitchFamily="34" charset="0"/>
              </a:rPr>
              <a:t>px</a:t>
            </a:r>
            <a:r>
              <a:rPr lang="en-US" altLang="ja-JP" sz="1400" dirty="0">
                <a:latin typeface="Tahoma" panose="020B0604030504040204" pitchFamily="34" charset="0"/>
              </a:rPr>
              <a:t> -0.5*c3</a:t>
            </a:r>
          </a:p>
          <a:p>
            <a:pPr eaLnBrk="1" hangingPunct="1">
              <a:spcBef>
                <a:spcPct val="0"/>
              </a:spcBef>
              <a:buFontTx/>
              <a:buNone/>
            </a:pPr>
            <a:r>
              <a:rPr lang="en-US" altLang="ja-JP" sz="1400" dirty="0">
                <a:latin typeface="Tahoma" panose="020B0604030504040204" pitchFamily="34" charset="0"/>
              </a:rPr>
              <a:t> 102  </a:t>
            </a:r>
            <a:r>
              <a:rPr lang="en-US" altLang="ja-JP" sz="1400" dirty="0" err="1">
                <a:latin typeface="Tahoma" panose="020B0604030504040204" pitchFamily="34" charset="0"/>
              </a:rPr>
              <a:t>px</a:t>
            </a:r>
            <a:r>
              <a:rPr lang="en-US" altLang="ja-JP" sz="1400" dirty="0">
                <a:latin typeface="Tahoma" panose="020B0604030504040204" pitchFamily="34" charset="0"/>
              </a:rPr>
              <a:t>  0.5*c3</a:t>
            </a:r>
          </a:p>
          <a:p>
            <a:pPr eaLnBrk="1" hangingPunct="1">
              <a:spcBef>
                <a:spcPct val="0"/>
              </a:spcBef>
              <a:buFontTx/>
              <a:buNone/>
            </a:pPr>
            <a:r>
              <a:rPr lang="en-US" altLang="ja-JP" sz="1400" dirty="0">
                <a:latin typeface="Tahoma" panose="020B0604030504040204" pitchFamily="34" charset="0"/>
              </a:rPr>
              <a:t> 103  </a:t>
            </a:r>
            <a:r>
              <a:rPr lang="en-US" altLang="ja-JP" sz="1400" dirty="0" err="1">
                <a:latin typeface="Tahoma" panose="020B0604030504040204" pitchFamily="34" charset="0"/>
              </a:rPr>
              <a:t>py</a:t>
            </a:r>
            <a:r>
              <a:rPr lang="en-US" altLang="ja-JP" sz="1400" dirty="0">
                <a:latin typeface="Tahoma" panose="020B0604030504040204" pitchFamily="34" charset="0"/>
              </a:rPr>
              <a:t> -0.5*c3</a:t>
            </a:r>
          </a:p>
          <a:p>
            <a:pPr eaLnBrk="1" hangingPunct="1">
              <a:spcBef>
                <a:spcPct val="0"/>
              </a:spcBef>
              <a:buFontTx/>
              <a:buNone/>
            </a:pPr>
            <a:r>
              <a:rPr lang="en-US" altLang="ja-JP" sz="1400" dirty="0">
                <a:latin typeface="Tahoma" panose="020B0604030504040204" pitchFamily="34" charset="0"/>
              </a:rPr>
              <a:t> 104  </a:t>
            </a:r>
            <a:r>
              <a:rPr lang="en-US" altLang="ja-JP" sz="1400" dirty="0" err="1">
                <a:latin typeface="Tahoma" panose="020B0604030504040204" pitchFamily="34" charset="0"/>
              </a:rPr>
              <a:t>py</a:t>
            </a:r>
            <a:r>
              <a:rPr lang="en-US" altLang="ja-JP" sz="1400" dirty="0">
                <a:latin typeface="Tahoma" panose="020B0604030504040204" pitchFamily="34" charset="0"/>
              </a:rPr>
              <a:t>  0.5*c3</a:t>
            </a:r>
            <a:endParaRPr lang="pt-BR" altLang="ja-JP" sz="1400" dirty="0">
              <a:solidFill>
                <a:srgbClr val="000000"/>
              </a:solidFill>
              <a:latin typeface="Tahoma" panose="020B0604030504040204" pitchFamily="34" charset="0"/>
            </a:endParaRPr>
          </a:p>
        </p:txBody>
      </p:sp>
      <p:sp>
        <p:nvSpPr>
          <p:cNvPr id="12" name="四角形: 角を丸くする 11">
            <a:extLst>
              <a:ext uri="{FF2B5EF4-FFF2-40B4-BE49-F238E27FC236}">
                <a16:creationId xmlns:a16="http://schemas.microsoft.com/office/drawing/2014/main" id="{3E45B0AE-697E-BE55-0EC1-E846CD069A48}"/>
              </a:ext>
            </a:extLst>
          </p:cNvPr>
          <p:cNvSpPr/>
          <p:nvPr/>
        </p:nvSpPr>
        <p:spPr>
          <a:xfrm>
            <a:off x="334213" y="2426305"/>
            <a:ext cx="133429" cy="782796"/>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C98039D0-1574-C968-2FDB-D38E30C8E155}"/>
              </a:ext>
            </a:extLst>
          </p:cNvPr>
          <p:cNvSpPr txBox="1"/>
          <p:nvPr/>
        </p:nvSpPr>
        <p:spPr>
          <a:xfrm>
            <a:off x="179512" y="3356018"/>
            <a:ext cx="2796981" cy="400110"/>
          </a:xfrm>
          <a:prstGeom prst="rect">
            <a:avLst/>
          </a:prstGeom>
          <a:noFill/>
        </p:spPr>
        <p:txBody>
          <a:bodyPr wrap="square" rtlCol="0">
            <a:spAutoFit/>
          </a:bodyPr>
          <a:lstStyle/>
          <a:p>
            <a:r>
              <a:rPr kumimoji="1" lang="en-US" altLang="ja-JP" sz="2000" dirty="0">
                <a:solidFill>
                  <a:srgbClr val="FF0000"/>
                </a:solidFill>
              </a:rPr>
              <a:t>*</a:t>
            </a:r>
            <a:r>
              <a:rPr kumimoji="1" lang="ja-JP" altLang="en-US" sz="2000" dirty="0">
                <a:solidFill>
                  <a:srgbClr val="FF0000"/>
                </a:solidFill>
              </a:rPr>
              <a:t>を消して、</a:t>
            </a:r>
            <a:r>
              <a:rPr lang="ja-JP" altLang="en-US" sz="2000" dirty="0">
                <a:solidFill>
                  <a:srgbClr val="FF0000"/>
                </a:solidFill>
              </a:rPr>
              <a:t>通常の境界</a:t>
            </a:r>
            <a:endParaRPr kumimoji="1" lang="ja-JP" altLang="en-US" sz="2000" dirty="0">
              <a:solidFill>
                <a:srgbClr val="FF0000"/>
              </a:solidFill>
            </a:endParaRPr>
          </a:p>
        </p:txBody>
      </p:sp>
      <p:cxnSp>
        <p:nvCxnSpPr>
          <p:cNvPr id="14" name="直線矢印コネクタ 13">
            <a:extLst>
              <a:ext uri="{FF2B5EF4-FFF2-40B4-BE49-F238E27FC236}">
                <a16:creationId xmlns:a16="http://schemas.microsoft.com/office/drawing/2014/main" id="{71D1937D-1B0E-8E8B-D640-D3D3A9D6389C}"/>
              </a:ext>
            </a:extLst>
          </p:cNvPr>
          <p:cNvCxnSpPr>
            <a:cxnSpLocks/>
          </p:cNvCxnSpPr>
          <p:nvPr/>
        </p:nvCxnSpPr>
        <p:spPr>
          <a:xfrm flipV="1">
            <a:off x="3457207" y="2380715"/>
            <a:ext cx="545430" cy="117638"/>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00856ED9-8390-C3B1-E856-51716EC011B9}"/>
              </a:ext>
            </a:extLst>
          </p:cNvPr>
          <p:cNvCxnSpPr>
            <a:cxnSpLocks/>
          </p:cNvCxnSpPr>
          <p:nvPr/>
        </p:nvCxnSpPr>
        <p:spPr>
          <a:xfrm flipH="1" flipV="1">
            <a:off x="5028016" y="2462358"/>
            <a:ext cx="456345" cy="94843"/>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36" name="四角形: 角を丸くする 35">
            <a:extLst>
              <a:ext uri="{FF2B5EF4-FFF2-40B4-BE49-F238E27FC236}">
                <a16:creationId xmlns:a16="http://schemas.microsoft.com/office/drawing/2014/main" id="{F9CDDA22-1A89-D6DB-704E-489C7ACC6F6B}"/>
              </a:ext>
            </a:extLst>
          </p:cNvPr>
          <p:cNvSpPr/>
          <p:nvPr/>
        </p:nvSpPr>
        <p:spPr>
          <a:xfrm>
            <a:off x="3724878" y="4591284"/>
            <a:ext cx="1440160" cy="447912"/>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テキスト ボックス 36">
            <a:extLst>
              <a:ext uri="{FF2B5EF4-FFF2-40B4-BE49-F238E27FC236}">
                <a16:creationId xmlns:a16="http://schemas.microsoft.com/office/drawing/2014/main" id="{99C2138E-65BD-4A1B-901A-2D6785A2F2EB}"/>
              </a:ext>
            </a:extLst>
          </p:cNvPr>
          <p:cNvSpPr txBox="1"/>
          <p:nvPr/>
        </p:nvSpPr>
        <p:spPr>
          <a:xfrm>
            <a:off x="5715775" y="3874513"/>
            <a:ext cx="2971025" cy="1631216"/>
          </a:xfrm>
          <a:prstGeom prst="rect">
            <a:avLst/>
          </a:prstGeom>
          <a:noFill/>
        </p:spPr>
        <p:txBody>
          <a:bodyPr wrap="square" rtlCol="0">
            <a:spAutoFit/>
          </a:bodyPr>
          <a:lstStyle/>
          <a:p>
            <a:pPr algn="ctr"/>
            <a:r>
              <a:rPr kumimoji="1" lang="en-US" altLang="ja-JP" sz="2000" dirty="0">
                <a:solidFill>
                  <a:srgbClr val="FF0000"/>
                </a:solidFill>
              </a:rPr>
              <a:t>file=</a:t>
            </a:r>
            <a:r>
              <a:rPr kumimoji="1" lang="en-US" altLang="ja-JP" sz="2000" dirty="0" err="1">
                <a:solidFill>
                  <a:srgbClr val="FF0000"/>
                </a:solidFill>
              </a:rPr>
              <a:t>track_inside.out</a:t>
            </a:r>
            <a:r>
              <a:rPr kumimoji="1" lang="ja-JP" altLang="en-US" sz="2000" dirty="0">
                <a:solidFill>
                  <a:srgbClr val="FF0000"/>
                </a:solidFill>
              </a:rPr>
              <a:t>の</a:t>
            </a:r>
            <a:endParaRPr kumimoji="1" lang="en-US" altLang="ja-JP" sz="2000" dirty="0">
              <a:solidFill>
                <a:srgbClr val="FF0000"/>
              </a:solidFill>
            </a:endParaRPr>
          </a:p>
          <a:p>
            <a:pPr algn="ctr"/>
            <a:r>
              <a:rPr lang="en-US" altLang="ja-JP" sz="2000" dirty="0">
                <a:solidFill>
                  <a:srgbClr val="FF0000"/>
                </a:solidFill>
              </a:rPr>
              <a:t>[T-track]</a:t>
            </a:r>
            <a:r>
              <a:rPr lang="ja-JP" altLang="en-US" sz="2000" dirty="0">
                <a:solidFill>
                  <a:srgbClr val="FF0000"/>
                </a:solidFill>
              </a:rPr>
              <a:t>タリーをコピー</a:t>
            </a:r>
            <a:endParaRPr lang="en-US" altLang="ja-JP" sz="2000" dirty="0">
              <a:solidFill>
                <a:srgbClr val="FF0000"/>
              </a:solidFill>
            </a:endParaRPr>
          </a:p>
          <a:p>
            <a:pPr algn="ctr"/>
            <a:r>
              <a:rPr lang="en-US" altLang="ja-JP" sz="2000" dirty="0">
                <a:solidFill>
                  <a:srgbClr val="FF0000"/>
                </a:solidFill>
              </a:rPr>
              <a:t>+</a:t>
            </a:r>
            <a:r>
              <a:rPr lang="ja-JP" altLang="en-US" sz="2000" dirty="0">
                <a:solidFill>
                  <a:srgbClr val="FF0000"/>
                </a:solidFill>
              </a:rPr>
              <a:t>赤枠内を修正</a:t>
            </a:r>
            <a:endParaRPr lang="en-US" altLang="ja-JP" sz="2000" dirty="0">
              <a:solidFill>
                <a:srgbClr val="FF0000"/>
              </a:solidFill>
            </a:endParaRPr>
          </a:p>
          <a:p>
            <a:pPr algn="ctr"/>
            <a:r>
              <a:rPr lang="en-US" altLang="ja-JP" sz="2000" dirty="0">
                <a:solidFill>
                  <a:srgbClr val="FF0000"/>
                </a:solidFill>
              </a:rPr>
              <a:t>output=source</a:t>
            </a:r>
            <a:r>
              <a:rPr lang="ja-JP" altLang="en-US" sz="2000" dirty="0">
                <a:solidFill>
                  <a:srgbClr val="FF0000"/>
                </a:solidFill>
              </a:rPr>
              <a:t>で線源発生位置を表示</a:t>
            </a:r>
            <a:endParaRPr lang="en-US" altLang="ja-JP" sz="2000" dirty="0">
              <a:solidFill>
                <a:srgbClr val="FF0000"/>
              </a:solidFill>
            </a:endParaRPr>
          </a:p>
        </p:txBody>
      </p:sp>
      <p:sp>
        <p:nvSpPr>
          <p:cNvPr id="38" name="テキスト ボックス 37">
            <a:extLst>
              <a:ext uri="{FF2B5EF4-FFF2-40B4-BE49-F238E27FC236}">
                <a16:creationId xmlns:a16="http://schemas.microsoft.com/office/drawing/2014/main" id="{39F5A411-D388-9D15-949B-2224E1E7C4F7}"/>
              </a:ext>
            </a:extLst>
          </p:cNvPr>
          <p:cNvSpPr txBox="1"/>
          <p:nvPr/>
        </p:nvSpPr>
        <p:spPr>
          <a:xfrm>
            <a:off x="2101703" y="6291983"/>
            <a:ext cx="4940593" cy="461665"/>
          </a:xfrm>
          <a:prstGeom prst="rect">
            <a:avLst/>
          </a:prstGeom>
          <a:noFill/>
        </p:spPr>
        <p:txBody>
          <a:bodyPr wrap="square" rtlCol="0">
            <a:spAutoFit/>
          </a:bodyPr>
          <a:lstStyle/>
          <a:p>
            <a:pPr algn="ctr"/>
            <a:r>
              <a:rPr kumimoji="1" lang="ja-JP" altLang="en-US" sz="2400" dirty="0">
                <a:solidFill>
                  <a:srgbClr val="FF0000"/>
                </a:solidFill>
              </a:rPr>
              <a:t>輸送計算を実行し、</a:t>
            </a:r>
            <a:r>
              <a:rPr lang="en-US" altLang="ja-JP" sz="2400" dirty="0" err="1">
                <a:solidFill>
                  <a:srgbClr val="FF0000"/>
                </a:solidFill>
              </a:rPr>
              <a:t>source.eps</a:t>
            </a:r>
            <a:r>
              <a:rPr kumimoji="1" lang="ja-JP" altLang="en-US" sz="2400" dirty="0">
                <a:solidFill>
                  <a:srgbClr val="FF0000"/>
                </a:solidFill>
              </a:rPr>
              <a:t>を確認</a:t>
            </a:r>
          </a:p>
        </p:txBody>
      </p:sp>
      <p:sp>
        <p:nvSpPr>
          <p:cNvPr id="15" name="スライド番号プレースホルダー 14">
            <a:extLst>
              <a:ext uri="{FF2B5EF4-FFF2-40B4-BE49-F238E27FC236}">
                <a16:creationId xmlns:a16="http://schemas.microsoft.com/office/drawing/2014/main" id="{378FC8DC-9B05-D4CF-F079-6FC986299194}"/>
              </a:ext>
            </a:extLst>
          </p:cNvPr>
          <p:cNvSpPr>
            <a:spLocks noGrp="1"/>
          </p:cNvSpPr>
          <p:nvPr>
            <p:ph type="sldNum" sz="quarter" idx="12"/>
          </p:nvPr>
        </p:nvSpPr>
        <p:spPr/>
        <p:txBody>
          <a:bodyPr/>
          <a:lstStyle/>
          <a:p>
            <a:fld id="{D2D8002D-B5B0-4BAC-B1F6-782DDCCE6D9C}" type="slidenum">
              <a:rPr kumimoji="1" lang="ja-JP" altLang="en-US" smtClean="0"/>
              <a:t>17</a:t>
            </a:fld>
            <a:endParaRPr kumimoji="1" lang="ja-JP" altLang="en-US"/>
          </a:p>
        </p:txBody>
      </p:sp>
    </p:spTree>
    <p:extLst>
      <p:ext uri="{BB962C8B-B14F-4D97-AF65-F5344CB8AC3E}">
        <p14:creationId xmlns:p14="http://schemas.microsoft.com/office/powerpoint/2010/main" val="3142573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78247-88CB-D6CA-31BA-084743C6AA6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BAB11D3-3405-198C-8366-878B12819BD6}"/>
              </a:ext>
            </a:extLst>
          </p:cNvPr>
          <p:cNvSpPr>
            <a:spLocks noGrp="1"/>
          </p:cNvSpPr>
          <p:nvPr>
            <p:ph type="title"/>
          </p:nvPr>
        </p:nvSpPr>
        <p:spPr>
          <a:xfrm>
            <a:off x="457200" y="53752"/>
            <a:ext cx="8229600" cy="1143000"/>
          </a:xfrm>
        </p:spPr>
        <p:txBody>
          <a:bodyPr>
            <a:normAutofit fontScale="90000"/>
          </a:bodyPr>
          <a:lstStyle/>
          <a:p>
            <a:r>
              <a:rPr lang="ja-JP" altLang="en-US" dirty="0">
                <a:latin typeface="Arial" pitchFamily="18"/>
              </a:rPr>
              <a:t>ステップ</a:t>
            </a:r>
            <a:r>
              <a:rPr lang="ja-JP" altLang="ja-JP" dirty="0">
                <a:latin typeface="Arial" pitchFamily="18"/>
              </a:rPr>
              <a:t> </a:t>
            </a:r>
            <a:r>
              <a:rPr lang="en-US" altLang="ja-JP" dirty="0">
                <a:latin typeface="Arial" pitchFamily="18"/>
              </a:rPr>
              <a:t>4</a:t>
            </a:r>
            <a:r>
              <a:rPr lang="ja-JP" altLang="en-US" dirty="0">
                <a:latin typeface="Arial" pitchFamily="18"/>
              </a:rPr>
              <a:t>（ダンプデータ線源）結果</a:t>
            </a:r>
            <a:endParaRPr kumimoji="1" lang="ja-JP" altLang="en-US" dirty="0"/>
          </a:p>
        </p:txBody>
      </p:sp>
      <p:pic>
        <p:nvPicPr>
          <p:cNvPr id="9" name="図 8">
            <a:extLst>
              <a:ext uri="{FF2B5EF4-FFF2-40B4-BE49-F238E27FC236}">
                <a16:creationId xmlns:a16="http://schemas.microsoft.com/office/drawing/2014/main" id="{A1158D26-4EBC-7234-FED6-0CCFE0E3AC10}"/>
              </a:ext>
            </a:extLst>
          </p:cNvPr>
          <p:cNvPicPr>
            <a:picLocks noChangeAspect="1"/>
          </p:cNvPicPr>
          <p:nvPr/>
        </p:nvPicPr>
        <p:blipFill>
          <a:blip r:embed="rId2"/>
          <a:srcRect l="-1" t="9051" r="4743" b="3801"/>
          <a:stretch/>
        </p:blipFill>
        <p:spPr>
          <a:xfrm>
            <a:off x="2691746" y="908720"/>
            <a:ext cx="3760508" cy="4634115"/>
          </a:xfrm>
          <a:prstGeom prst="rect">
            <a:avLst/>
          </a:prstGeom>
        </p:spPr>
      </p:pic>
      <p:sp>
        <p:nvSpPr>
          <p:cNvPr id="10" name="テキスト ボックス 9">
            <a:extLst>
              <a:ext uri="{FF2B5EF4-FFF2-40B4-BE49-F238E27FC236}">
                <a16:creationId xmlns:a16="http://schemas.microsoft.com/office/drawing/2014/main" id="{B8546968-18F2-1725-9D7D-EC5CC5DBC75D}"/>
              </a:ext>
            </a:extLst>
          </p:cNvPr>
          <p:cNvSpPr txBox="1"/>
          <p:nvPr/>
        </p:nvSpPr>
        <p:spPr>
          <a:xfrm>
            <a:off x="3606249" y="5454619"/>
            <a:ext cx="1931502" cy="523220"/>
          </a:xfrm>
          <a:prstGeom prst="rect">
            <a:avLst/>
          </a:prstGeom>
          <a:noFill/>
        </p:spPr>
        <p:txBody>
          <a:bodyPr wrap="square" rtlCol="0">
            <a:spAutoFit/>
          </a:bodyPr>
          <a:lstStyle/>
          <a:p>
            <a:r>
              <a:rPr kumimoji="1" lang="en-US" altLang="ja-JP" sz="2800" dirty="0" err="1"/>
              <a:t>source.eps</a:t>
            </a:r>
            <a:endParaRPr kumimoji="1" lang="ja-JP" altLang="en-US" sz="2800" dirty="0"/>
          </a:p>
        </p:txBody>
      </p:sp>
      <p:sp>
        <p:nvSpPr>
          <p:cNvPr id="11" name="テキスト ボックス 10">
            <a:extLst>
              <a:ext uri="{FF2B5EF4-FFF2-40B4-BE49-F238E27FC236}">
                <a16:creationId xmlns:a16="http://schemas.microsoft.com/office/drawing/2014/main" id="{DB577D4C-E4CA-85EC-9A1D-254E85AFB125}"/>
              </a:ext>
            </a:extLst>
          </p:cNvPr>
          <p:cNvSpPr txBox="1"/>
          <p:nvPr/>
        </p:nvSpPr>
        <p:spPr>
          <a:xfrm>
            <a:off x="1403648" y="5949280"/>
            <a:ext cx="6336704" cy="954107"/>
          </a:xfrm>
          <a:prstGeom prst="rect">
            <a:avLst/>
          </a:prstGeom>
          <a:noFill/>
        </p:spPr>
        <p:txBody>
          <a:bodyPr wrap="square" rtlCol="0">
            <a:spAutoFit/>
          </a:bodyPr>
          <a:lstStyle/>
          <a:p>
            <a:pPr algn="ctr"/>
            <a:r>
              <a:rPr lang="en-US" altLang="ja-JP" sz="2800" dirty="0">
                <a:solidFill>
                  <a:srgbClr val="FF0000"/>
                </a:solidFill>
              </a:rPr>
              <a:t>Scoring</a:t>
            </a:r>
            <a:r>
              <a:rPr lang="ja-JP" altLang="en-US" sz="2800" dirty="0">
                <a:solidFill>
                  <a:srgbClr val="FF0000"/>
                </a:solidFill>
              </a:rPr>
              <a:t> </a:t>
            </a:r>
            <a:r>
              <a:rPr lang="en-US" altLang="ja-JP" sz="2800" dirty="0">
                <a:solidFill>
                  <a:srgbClr val="FF0000"/>
                </a:solidFill>
              </a:rPr>
              <a:t>box</a:t>
            </a:r>
            <a:r>
              <a:rPr lang="ja-JP" altLang="en-US" sz="2800" dirty="0">
                <a:solidFill>
                  <a:srgbClr val="FF0000"/>
                </a:solidFill>
              </a:rPr>
              <a:t>に沿って線源（ダンプデータ）が発生していることを確認</a:t>
            </a:r>
            <a:endParaRPr lang="en-US" altLang="ja-JP" sz="2800" dirty="0">
              <a:solidFill>
                <a:srgbClr val="FF0000"/>
              </a:solidFill>
            </a:endParaRPr>
          </a:p>
        </p:txBody>
      </p:sp>
      <p:sp>
        <p:nvSpPr>
          <p:cNvPr id="3" name="スライド番号プレースホルダー 2">
            <a:extLst>
              <a:ext uri="{FF2B5EF4-FFF2-40B4-BE49-F238E27FC236}">
                <a16:creationId xmlns:a16="http://schemas.microsoft.com/office/drawing/2014/main" id="{A06D5CC6-836E-D70D-E299-E67C486BA405}"/>
              </a:ext>
            </a:extLst>
          </p:cNvPr>
          <p:cNvSpPr>
            <a:spLocks noGrp="1"/>
          </p:cNvSpPr>
          <p:nvPr>
            <p:ph type="sldNum" sz="quarter" idx="12"/>
          </p:nvPr>
        </p:nvSpPr>
        <p:spPr/>
        <p:txBody>
          <a:bodyPr/>
          <a:lstStyle/>
          <a:p>
            <a:fld id="{D2D8002D-B5B0-4BAC-B1F6-782DDCCE6D9C}" type="slidenum">
              <a:rPr kumimoji="1" lang="ja-JP" altLang="en-US" smtClean="0"/>
              <a:t>18</a:t>
            </a:fld>
            <a:endParaRPr kumimoji="1" lang="ja-JP" altLang="en-US"/>
          </a:p>
        </p:txBody>
      </p:sp>
    </p:spTree>
    <p:extLst>
      <p:ext uri="{BB962C8B-B14F-4D97-AF65-F5344CB8AC3E}">
        <p14:creationId xmlns:p14="http://schemas.microsoft.com/office/powerpoint/2010/main" val="28052037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78247-88CB-D6CA-31BA-084743C6AA6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BAB11D3-3405-198C-8366-878B12819BD6}"/>
              </a:ext>
            </a:extLst>
          </p:cNvPr>
          <p:cNvSpPr>
            <a:spLocks noGrp="1"/>
          </p:cNvSpPr>
          <p:nvPr>
            <p:ph type="title"/>
          </p:nvPr>
        </p:nvSpPr>
        <p:spPr>
          <a:xfrm>
            <a:off x="457200" y="53752"/>
            <a:ext cx="8229600" cy="1143000"/>
          </a:xfrm>
        </p:spPr>
        <p:txBody>
          <a:bodyPr>
            <a:normAutofit/>
          </a:bodyPr>
          <a:lstStyle/>
          <a:p>
            <a:r>
              <a:rPr lang="ja-JP" altLang="en-US" dirty="0">
                <a:latin typeface="Arial" pitchFamily="18"/>
              </a:rPr>
              <a:t>ステップ</a:t>
            </a:r>
            <a:r>
              <a:rPr lang="ja-JP" altLang="ja-JP" dirty="0">
                <a:latin typeface="Arial" pitchFamily="18"/>
              </a:rPr>
              <a:t> </a:t>
            </a:r>
            <a:r>
              <a:rPr lang="en-US" altLang="ja-JP" dirty="0">
                <a:latin typeface="Arial" pitchFamily="18"/>
              </a:rPr>
              <a:t>5</a:t>
            </a:r>
            <a:r>
              <a:rPr lang="ja-JP" altLang="en-US" dirty="0">
                <a:latin typeface="Arial" pitchFamily="18"/>
              </a:rPr>
              <a:t>（外部線源）</a:t>
            </a:r>
            <a:endParaRPr kumimoji="1" lang="ja-JP" altLang="en-US" dirty="0"/>
          </a:p>
        </p:txBody>
      </p:sp>
      <p:grpSp>
        <p:nvGrpSpPr>
          <p:cNvPr id="6" name="グループ化 5">
            <a:extLst>
              <a:ext uri="{FF2B5EF4-FFF2-40B4-BE49-F238E27FC236}">
                <a16:creationId xmlns:a16="http://schemas.microsoft.com/office/drawing/2014/main" id="{C421AC81-3A61-C11F-5737-8798159F5172}"/>
              </a:ext>
            </a:extLst>
          </p:cNvPr>
          <p:cNvGrpSpPr/>
          <p:nvPr/>
        </p:nvGrpSpPr>
        <p:grpSpPr>
          <a:xfrm>
            <a:off x="2807727" y="1443543"/>
            <a:ext cx="3528546" cy="1963164"/>
            <a:chOff x="2807727" y="912969"/>
            <a:chExt cx="3528546" cy="1963164"/>
          </a:xfrm>
        </p:grpSpPr>
        <p:sp>
          <p:nvSpPr>
            <p:cNvPr id="8" name="正方形/長方形 7">
              <a:extLst>
                <a:ext uri="{FF2B5EF4-FFF2-40B4-BE49-F238E27FC236}">
                  <a16:creationId xmlns:a16="http://schemas.microsoft.com/office/drawing/2014/main" id="{7D8BB5EE-08E2-EF48-858A-BEA2EEFA2A9C}"/>
                </a:ext>
              </a:extLst>
            </p:cNvPr>
            <p:cNvSpPr/>
            <p:nvPr/>
          </p:nvSpPr>
          <p:spPr>
            <a:xfrm>
              <a:off x="2807727" y="2636912"/>
              <a:ext cx="3528546" cy="239221"/>
            </a:xfrm>
            <a:prstGeom prst="rect">
              <a:avLst/>
            </a:prstGeom>
            <a:solidFill>
              <a:srgbClr val="808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798DEF17-96D3-20F7-C52C-EA91D11567FD}"/>
                </a:ext>
              </a:extLst>
            </p:cNvPr>
            <p:cNvSpPr/>
            <p:nvPr/>
          </p:nvSpPr>
          <p:spPr>
            <a:xfrm>
              <a:off x="3577707" y="1287586"/>
              <a:ext cx="2016220" cy="1349325"/>
            </a:xfrm>
            <a:prstGeom prst="rect">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AFDAF2DD-C138-37FC-AD0C-752D199D867D}"/>
                </a:ext>
              </a:extLst>
            </p:cNvPr>
            <p:cNvSpPr/>
            <p:nvPr/>
          </p:nvSpPr>
          <p:spPr>
            <a:xfrm>
              <a:off x="4208632" y="1916833"/>
              <a:ext cx="723408" cy="720080"/>
            </a:xfrm>
            <a:prstGeom prst="rect">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 name="直線矢印コネクタ 15">
              <a:extLst>
                <a:ext uri="{FF2B5EF4-FFF2-40B4-BE49-F238E27FC236}">
                  <a16:creationId xmlns:a16="http://schemas.microsoft.com/office/drawing/2014/main" id="{E06CE2F7-E5FB-B4AB-F46C-C345C9452500}"/>
                </a:ext>
              </a:extLst>
            </p:cNvPr>
            <p:cNvCxnSpPr>
              <a:cxnSpLocks/>
            </p:cNvCxnSpPr>
            <p:nvPr/>
          </p:nvCxnSpPr>
          <p:spPr>
            <a:xfrm flipV="1">
              <a:off x="3555314" y="2077024"/>
              <a:ext cx="309854" cy="67090"/>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0E4B4FB8-4999-A7BC-5435-53206D21A9CD}"/>
                </a:ext>
              </a:extLst>
            </p:cNvPr>
            <p:cNvCxnSpPr>
              <a:cxnSpLocks/>
            </p:cNvCxnSpPr>
            <p:nvPr/>
          </p:nvCxnSpPr>
          <p:spPr>
            <a:xfrm flipV="1">
              <a:off x="3593526" y="1544178"/>
              <a:ext cx="279667" cy="101267"/>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30A88072-DAC5-FE8A-9ED6-032975A41888}"/>
                </a:ext>
              </a:extLst>
            </p:cNvPr>
            <p:cNvCxnSpPr>
              <a:cxnSpLocks/>
            </p:cNvCxnSpPr>
            <p:nvPr/>
          </p:nvCxnSpPr>
          <p:spPr>
            <a:xfrm flipH="1" flipV="1">
              <a:off x="5365418" y="1369054"/>
              <a:ext cx="278612" cy="119538"/>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35" name="直線矢印コネクタ 34">
              <a:extLst>
                <a:ext uri="{FF2B5EF4-FFF2-40B4-BE49-F238E27FC236}">
                  <a16:creationId xmlns:a16="http://schemas.microsoft.com/office/drawing/2014/main" id="{CE73A57A-EEC3-5D7C-644F-A2FCCFBF6BC6}"/>
                </a:ext>
              </a:extLst>
            </p:cNvPr>
            <p:cNvCxnSpPr>
              <a:cxnSpLocks/>
            </p:cNvCxnSpPr>
            <p:nvPr/>
          </p:nvCxnSpPr>
          <p:spPr>
            <a:xfrm flipH="1" flipV="1">
              <a:off x="5334092" y="2149501"/>
              <a:ext cx="330996" cy="67176"/>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36" name="楕円 35">
              <a:extLst>
                <a:ext uri="{FF2B5EF4-FFF2-40B4-BE49-F238E27FC236}">
                  <a16:creationId xmlns:a16="http://schemas.microsoft.com/office/drawing/2014/main" id="{51E2A503-445F-8688-DC79-CB2EDC93ECC0}"/>
                </a:ext>
              </a:extLst>
            </p:cNvPr>
            <p:cNvSpPr/>
            <p:nvPr/>
          </p:nvSpPr>
          <p:spPr>
            <a:xfrm>
              <a:off x="5560703" y="1421865"/>
              <a:ext cx="133429" cy="122438"/>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楕円 36">
              <a:extLst>
                <a:ext uri="{FF2B5EF4-FFF2-40B4-BE49-F238E27FC236}">
                  <a16:creationId xmlns:a16="http://schemas.microsoft.com/office/drawing/2014/main" id="{9DA64FA4-38B8-1B7C-1DFA-1FC3E29D193E}"/>
                </a:ext>
              </a:extLst>
            </p:cNvPr>
            <p:cNvSpPr/>
            <p:nvPr/>
          </p:nvSpPr>
          <p:spPr>
            <a:xfrm>
              <a:off x="3544479" y="1585677"/>
              <a:ext cx="133429" cy="122438"/>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楕円 37">
              <a:extLst>
                <a:ext uri="{FF2B5EF4-FFF2-40B4-BE49-F238E27FC236}">
                  <a16:creationId xmlns:a16="http://schemas.microsoft.com/office/drawing/2014/main" id="{4BDBB2DB-5D7C-BA80-5001-E1A2D6275E45}"/>
                </a:ext>
              </a:extLst>
            </p:cNvPr>
            <p:cNvSpPr/>
            <p:nvPr/>
          </p:nvSpPr>
          <p:spPr>
            <a:xfrm>
              <a:off x="5539529" y="2171079"/>
              <a:ext cx="133429" cy="122438"/>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楕円 38">
              <a:extLst>
                <a:ext uri="{FF2B5EF4-FFF2-40B4-BE49-F238E27FC236}">
                  <a16:creationId xmlns:a16="http://schemas.microsoft.com/office/drawing/2014/main" id="{E428236E-6C6A-E3BB-4DC3-D6C854A407BD}"/>
                </a:ext>
              </a:extLst>
            </p:cNvPr>
            <p:cNvSpPr/>
            <p:nvPr/>
          </p:nvSpPr>
          <p:spPr>
            <a:xfrm>
              <a:off x="3533892" y="2082895"/>
              <a:ext cx="133429" cy="122438"/>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テキスト ボックス 39">
              <a:extLst>
                <a:ext uri="{FF2B5EF4-FFF2-40B4-BE49-F238E27FC236}">
                  <a16:creationId xmlns:a16="http://schemas.microsoft.com/office/drawing/2014/main" id="{BB7023CD-F06E-FF92-270F-62DEE6F84EFE}"/>
                </a:ext>
              </a:extLst>
            </p:cNvPr>
            <p:cNvSpPr txBox="1"/>
            <p:nvPr/>
          </p:nvSpPr>
          <p:spPr>
            <a:xfrm>
              <a:off x="3329228" y="912969"/>
              <a:ext cx="2508920" cy="369332"/>
            </a:xfrm>
            <a:prstGeom prst="rect">
              <a:avLst/>
            </a:prstGeom>
            <a:noFill/>
          </p:spPr>
          <p:txBody>
            <a:bodyPr wrap="square" rtlCol="0">
              <a:spAutoFit/>
            </a:bodyPr>
            <a:lstStyle/>
            <a:p>
              <a:r>
                <a:rPr lang="ja-JP" altLang="en-US" dirty="0"/>
                <a:t>外部線源</a:t>
              </a:r>
              <a:r>
                <a:rPr lang="en-US" altLang="ja-JP" dirty="0"/>
                <a:t>(</a:t>
              </a:r>
              <a:r>
                <a:rPr lang="ja-JP" altLang="en-US" dirty="0">
                  <a:solidFill>
                    <a:srgbClr val="FF0000"/>
                  </a:solidFill>
                </a:rPr>
                <a:t>ダンプデータ</a:t>
              </a:r>
              <a:r>
                <a:rPr lang="en-US" altLang="ja-JP" dirty="0"/>
                <a:t>)</a:t>
              </a:r>
              <a:endParaRPr kumimoji="1" lang="ja-JP" altLang="en-US" dirty="0"/>
            </a:p>
          </p:txBody>
        </p:sp>
      </p:grpSp>
      <p:sp>
        <p:nvSpPr>
          <p:cNvPr id="3" name="Text Box 1031">
            <a:extLst>
              <a:ext uri="{FF2B5EF4-FFF2-40B4-BE49-F238E27FC236}">
                <a16:creationId xmlns:a16="http://schemas.microsoft.com/office/drawing/2014/main" id="{36DFE66D-9184-45B1-21D7-7DEB53D03BEB}"/>
              </a:ext>
            </a:extLst>
          </p:cNvPr>
          <p:cNvSpPr txBox="1">
            <a:spLocks noChangeArrowheads="1"/>
          </p:cNvSpPr>
          <p:nvPr/>
        </p:nvSpPr>
        <p:spPr bwMode="auto">
          <a:xfrm>
            <a:off x="279980" y="3525063"/>
            <a:ext cx="3928652" cy="2856265"/>
          </a:xfrm>
          <a:prstGeom prst="rect">
            <a:avLst/>
          </a:prstGeom>
          <a:solidFill>
            <a:schemeClr val="bg1"/>
          </a:solidFill>
          <a:ln w="19050">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400" dirty="0">
                <a:latin typeface="Tahoma" panose="020B0604030504040204" pitchFamily="34" charset="0"/>
              </a:rPr>
              <a:t>[ Surface ]</a:t>
            </a:r>
          </a:p>
          <a:p>
            <a:pPr eaLnBrk="1" hangingPunct="1">
              <a:spcBef>
                <a:spcPct val="0"/>
              </a:spcBef>
              <a:buFontTx/>
              <a:buNone/>
            </a:pPr>
            <a:r>
              <a:rPr lang="en-US" altLang="ja-JP" sz="1400" dirty="0">
                <a:latin typeface="Tahoma" panose="020B0604030504040204" pitchFamily="34" charset="0"/>
              </a:rPr>
              <a:t>  50  </a:t>
            </a:r>
            <a:r>
              <a:rPr lang="en-US" altLang="ja-JP" sz="1400" dirty="0" err="1">
                <a:latin typeface="Tahoma" panose="020B0604030504040204" pitchFamily="34" charset="0"/>
              </a:rPr>
              <a:t>rpp</a:t>
            </a:r>
            <a:r>
              <a:rPr lang="en-US" altLang="ja-JP" sz="1400" dirty="0">
                <a:latin typeface="Tahoma" panose="020B0604030504040204" pitchFamily="34" charset="0"/>
              </a:rPr>
              <a:t> -248.0 248.0 -248.0 248.0  2.0 498.0 </a:t>
            </a:r>
          </a:p>
          <a:p>
            <a:pPr eaLnBrk="1" hangingPunct="1">
              <a:spcBef>
                <a:spcPct val="0"/>
              </a:spcBef>
              <a:buFontTx/>
              <a:buNone/>
            </a:pPr>
            <a:r>
              <a:rPr lang="en-US" altLang="ja-JP" sz="1400" dirty="0">
                <a:latin typeface="Tahoma" panose="020B0604030504040204" pitchFamily="34" charset="0"/>
              </a:rPr>
              <a:t>  51  </a:t>
            </a:r>
            <a:r>
              <a:rPr lang="en-US" altLang="ja-JP" sz="1400" dirty="0" err="1">
                <a:latin typeface="Tahoma" panose="020B0604030504040204" pitchFamily="34" charset="0"/>
              </a:rPr>
              <a:t>rpp</a:t>
            </a:r>
            <a:r>
              <a:rPr lang="en-US" altLang="ja-JP" sz="1400" dirty="0">
                <a:latin typeface="Tahoma" panose="020B0604030504040204" pitchFamily="34" charset="0"/>
              </a:rPr>
              <a:t> -250.0 250.0 -250.0 250.0  0.0 500.0 </a:t>
            </a:r>
          </a:p>
          <a:p>
            <a:pPr eaLnBrk="1" hangingPunct="1">
              <a:spcBef>
                <a:spcPct val="0"/>
              </a:spcBef>
              <a:buFontTx/>
              <a:buNone/>
            </a:pPr>
            <a:r>
              <a:rPr lang="en-US" altLang="ja-JP" sz="1400" dirty="0">
                <a:latin typeface="Tahoma" panose="020B0604030504040204" pitchFamily="34" charset="0"/>
              </a:rPr>
              <a:t>  52  </a:t>
            </a:r>
            <a:r>
              <a:rPr lang="en-US" altLang="ja-JP" sz="1400" dirty="0" err="1">
                <a:latin typeface="Tahoma" panose="020B0604030504040204" pitchFamily="34" charset="0"/>
              </a:rPr>
              <a:t>rpp</a:t>
            </a:r>
            <a:r>
              <a:rPr lang="en-US" altLang="ja-JP" sz="1400" dirty="0">
                <a:latin typeface="Tahoma" panose="020B0604030504040204" pitchFamily="34" charset="0"/>
              </a:rPr>
              <a:t> -250.0 250.0 -250.0 250.0 -50.0  0.0 </a:t>
            </a:r>
            <a:endParaRPr lang="pt-BR" altLang="ja-JP" sz="1400" dirty="0">
              <a:solidFill>
                <a:srgbClr val="000000"/>
              </a:solidFill>
              <a:latin typeface="Tahoma" panose="020B0604030504040204" pitchFamily="34" charset="0"/>
            </a:endParaRPr>
          </a:p>
          <a:p>
            <a:pPr eaLnBrk="1" hangingPunct="1">
              <a:spcBef>
                <a:spcPct val="0"/>
              </a:spcBef>
              <a:buFontTx/>
              <a:buNone/>
            </a:pPr>
            <a:r>
              <a:rPr lang="pt-BR" altLang="ja-JP" sz="1400" dirty="0">
                <a:solidFill>
                  <a:srgbClr val="000000"/>
                </a:solidFill>
                <a:latin typeface="Tahoma" panose="020B0604030504040204" pitchFamily="34" charset="0"/>
              </a:rPr>
              <a:t>...</a:t>
            </a:r>
          </a:p>
          <a:p>
            <a:pPr eaLnBrk="1" hangingPunct="1">
              <a:spcBef>
                <a:spcPct val="0"/>
              </a:spcBef>
              <a:buFontTx/>
              <a:buNone/>
            </a:pPr>
            <a:r>
              <a:rPr lang="en-US" altLang="ja-JP" sz="1400" dirty="0">
                <a:latin typeface="Tahoma" panose="020B0604030504040204" pitchFamily="34" charset="0"/>
              </a:rPr>
              <a:t>[ Cell ]</a:t>
            </a:r>
          </a:p>
          <a:p>
            <a:pPr eaLnBrk="1" hangingPunct="1">
              <a:spcBef>
                <a:spcPct val="0"/>
              </a:spcBef>
              <a:buFontTx/>
              <a:buNone/>
            </a:pPr>
            <a:r>
              <a:rPr lang="en-US" altLang="ja-JP" sz="1400" dirty="0">
                <a:latin typeface="Tahoma" panose="020B0604030504040204" pitchFamily="34" charset="0"/>
              </a:rPr>
              <a:t> 10  1 -1.2e-3  -10</a:t>
            </a:r>
          </a:p>
          <a:p>
            <a:pPr eaLnBrk="1" hangingPunct="1">
              <a:spcBef>
                <a:spcPct val="0"/>
              </a:spcBef>
              <a:buFontTx/>
              <a:buNone/>
            </a:pPr>
            <a:r>
              <a:rPr lang="en-US" altLang="ja-JP" sz="1400" dirty="0">
                <a:latin typeface="Tahoma" panose="020B0604030504040204" pitchFamily="34" charset="0"/>
              </a:rPr>
              <a:t> 11  1 -1.2e-3   10 -50</a:t>
            </a:r>
          </a:p>
          <a:p>
            <a:pPr eaLnBrk="1" hangingPunct="1">
              <a:spcBef>
                <a:spcPct val="0"/>
              </a:spcBef>
              <a:buFontTx/>
              <a:buNone/>
            </a:pPr>
            <a:r>
              <a:rPr lang="en-US" altLang="ja-JP" sz="1400" dirty="0">
                <a:latin typeface="Tahoma" panose="020B0604030504040204" pitchFamily="34" charset="0"/>
              </a:rPr>
              <a:t> 50  3 -0.64     50 -51</a:t>
            </a:r>
          </a:p>
          <a:p>
            <a:pPr eaLnBrk="1" hangingPunct="1">
              <a:spcBef>
                <a:spcPct val="0"/>
              </a:spcBef>
              <a:buFontTx/>
              <a:buNone/>
            </a:pPr>
            <a:r>
              <a:rPr lang="en-US" altLang="ja-JP" sz="1400" dirty="0">
                <a:latin typeface="Tahoma" panose="020B0604030504040204" pitchFamily="34" charset="0"/>
              </a:rPr>
              <a:t> 20  2 -c2     -910 900 -901 -52</a:t>
            </a:r>
          </a:p>
          <a:p>
            <a:pPr eaLnBrk="1" hangingPunct="1">
              <a:spcBef>
                <a:spcPct val="0"/>
              </a:spcBef>
              <a:buFontTx/>
              <a:buNone/>
            </a:pPr>
            <a:r>
              <a:rPr lang="en-US" altLang="ja-JP" sz="1400" dirty="0">
                <a:latin typeface="Tahoma" panose="020B0604030504040204" pitchFamily="34" charset="0"/>
              </a:rPr>
              <a:t>100  1 -1.2e-3  -910 901 -902 51</a:t>
            </a:r>
          </a:p>
          <a:p>
            <a:pPr eaLnBrk="1" hangingPunct="1">
              <a:spcBef>
                <a:spcPct val="0"/>
              </a:spcBef>
              <a:buFontTx/>
              <a:buNone/>
            </a:pPr>
            <a:r>
              <a:rPr lang="en-US" altLang="ja-JP" sz="1400" dirty="0">
                <a:latin typeface="Tahoma" panose="020B0604030504040204" pitchFamily="34" charset="0"/>
              </a:rPr>
              <a:t>200  2 -c2     -910 900 -901  52</a:t>
            </a:r>
          </a:p>
          <a:p>
            <a:pPr eaLnBrk="1" hangingPunct="1">
              <a:spcBef>
                <a:spcPct val="0"/>
              </a:spcBef>
              <a:buFontTx/>
              <a:buNone/>
            </a:pPr>
            <a:r>
              <a:rPr lang="en-US" altLang="ja-JP" sz="1400" dirty="0">
                <a:latin typeface="Tahoma" panose="020B0604030504040204" pitchFamily="34" charset="0"/>
              </a:rPr>
              <a:t>900 -1           910:-900:902  </a:t>
            </a:r>
          </a:p>
          <a:p>
            <a:pPr eaLnBrk="1" hangingPunct="1">
              <a:spcBef>
                <a:spcPct val="0"/>
              </a:spcBef>
              <a:buFontTx/>
              <a:buNone/>
            </a:pPr>
            <a:endParaRPr lang="en-US" altLang="ja-JP" sz="1400" dirty="0">
              <a:latin typeface="Tahoma" panose="020B0604030504040204" pitchFamily="34" charset="0"/>
            </a:endParaRPr>
          </a:p>
        </p:txBody>
      </p:sp>
      <p:sp>
        <p:nvSpPr>
          <p:cNvPr id="4" name="Text Box 1031">
            <a:extLst>
              <a:ext uri="{FF2B5EF4-FFF2-40B4-BE49-F238E27FC236}">
                <a16:creationId xmlns:a16="http://schemas.microsoft.com/office/drawing/2014/main" id="{82D1F0F4-AF76-8F7B-B8C4-F140D48BF365}"/>
              </a:ext>
            </a:extLst>
          </p:cNvPr>
          <p:cNvSpPr txBox="1">
            <a:spLocks noChangeArrowheads="1"/>
          </p:cNvSpPr>
          <p:nvPr/>
        </p:nvSpPr>
        <p:spPr bwMode="auto">
          <a:xfrm>
            <a:off x="4707088" y="3522937"/>
            <a:ext cx="3928652" cy="1677481"/>
          </a:xfrm>
          <a:prstGeom prst="rect">
            <a:avLst/>
          </a:prstGeom>
          <a:solidFill>
            <a:schemeClr val="bg1"/>
          </a:solidFill>
          <a:ln w="19050">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400" dirty="0">
                <a:latin typeface="Tahoma" panose="020B0604030504040204" pitchFamily="34" charset="0"/>
              </a:rPr>
              <a:t>[ Source ]</a:t>
            </a:r>
          </a:p>
          <a:p>
            <a:pPr eaLnBrk="1" hangingPunct="1">
              <a:spcBef>
                <a:spcPct val="0"/>
              </a:spcBef>
              <a:buFontTx/>
              <a:buNone/>
            </a:pPr>
            <a:r>
              <a:rPr lang="en-US" altLang="ja-JP" sz="1400" dirty="0">
                <a:latin typeface="Tahoma" panose="020B0604030504040204" pitchFamily="34" charset="0"/>
              </a:rPr>
              <a:t>  </a:t>
            </a:r>
            <a:r>
              <a:rPr lang="en-US" altLang="ja-JP" sz="1400" dirty="0" err="1">
                <a:latin typeface="Tahoma" panose="020B0604030504040204" pitchFamily="34" charset="0"/>
              </a:rPr>
              <a:t>totfact</a:t>
            </a:r>
            <a:r>
              <a:rPr lang="en-US" altLang="ja-JP" sz="1400" dirty="0">
                <a:latin typeface="Tahoma" panose="020B0604030504040204" pitchFamily="34" charset="0"/>
              </a:rPr>
              <a:t> = 2.2713E+06</a:t>
            </a:r>
          </a:p>
          <a:p>
            <a:pPr eaLnBrk="1" hangingPunct="1">
              <a:spcBef>
                <a:spcPct val="0"/>
              </a:spcBef>
              <a:buFontTx/>
              <a:buNone/>
            </a:pPr>
            <a:r>
              <a:rPr lang="en-US" altLang="ja-JP" sz="1400" dirty="0">
                <a:latin typeface="Tahoma" panose="020B0604030504040204" pitchFamily="34" charset="0"/>
              </a:rPr>
              <a:t>   s-type =     17</a:t>
            </a:r>
          </a:p>
          <a:p>
            <a:pPr eaLnBrk="1" hangingPunct="1">
              <a:spcBef>
                <a:spcPct val="0"/>
              </a:spcBef>
              <a:buFontTx/>
              <a:buNone/>
            </a:pPr>
            <a:r>
              <a:rPr lang="en-US" altLang="ja-JP" sz="1400" dirty="0">
                <a:latin typeface="Tahoma" panose="020B0604030504040204" pitchFamily="34" charset="0"/>
              </a:rPr>
              <a:t>     file = </a:t>
            </a:r>
            <a:r>
              <a:rPr lang="en-US" altLang="ja-JP" sz="1400" dirty="0" err="1">
                <a:latin typeface="Tahoma" panose="020B0604030504040204" pitchFamily="34" charset="0"/>
              </a:rPr>
              <a:t>cross_dmp.out</a:t>
            </a:r>
            <a:r>
              <a:rPr lang="en-US" altLang="ja-JP" sz="1400" dirty="0">
                <a:latin typeface="Tahoma" panose="020B0604030504040204" pitchFamily="34" charset="0"/>
              </a:rPr>
              <a:t> </a:t>
            </a:r>
          </a:p>
          <a:p>
            <a:pPr eaLnBrk="1" hangingPunct="1">
              <a:spcBef>
                <a:spcPct val="0"/>
              </a:spcBef>
              <a:buFontTx/>
              <a:buNone/>
            </a:pPr>
            <a:r>
              <a:rPr lang="en-US" altLang="ja-JP" sz="1400" dirty="0">
                <a:latin typeface="Tahoma" panose="020B0604030504040204" pitchFamily="34" charset="0"/>
              </a:rPr>
              <a:t>    </a:t>
            </a:r>
            <a:r>
              <a:rPr lang="en-US" altLang="ja-JP" sz="1400" dirty="0" err="1">
                <a:latin typeface="Tahoma" panose="020B0604030504040204" pitchFamily="34" charset="0"/>
              </a:rPr>
              <a:t>proj</a:t>
            </a:r>
            <a:r>
              <a:rPr lang="en-US" altLang="ja-JP" sz="1400" dirty="0">
                <a:latin typeface="Tahoma" panose="020B0604030504040204" pitchFamily="34" charset="0"/>
              </a:rPr>
              <a:t> =   photon</a:t>
            </a:r>
          </a:p>
          <a:p>
            <a:pPr eaLnBrk="1" hangingPunct="1">
              <a:spcBef>
                <a:spcPct val="0"/>
              </a:spcBef>
              <a:buFontTx/>
              <a:buNone/>
            </a:pPr>
            <a:r>
              <a:rPr lang="en-US" altLang="ja-JP" sz="1400" dirty="0">
                <a:latin typeface="Tahoma" panose="020B0604030504040204" pitchFamily="34" charset="0"/>
              </a:rPr>
              <a:t>     dump = -8</a:t>
            </a:r>
          </a:p>
          <a:p>
            <a:pPr eaLnBrk="1" hangingPunct="1">
              <a:spcBef>
                <a:spcPct val="0"/>
              </a:spcBef>
              <a:buFontTx/>
              <a:buNone/>
            </a:pPr>
            <a:r>
              <a:rPr lang="en-US" altLang="ja-JP" sz="1400" dirty="0">
                <a:latin typeface="Tahoma" panose="020B0604030504040204" pitchFamily="34" charset="0"/>
              </a:rPr>
              <a:t>             1 2 3 4 5 6 7 8</a:t>
            </a:r>
          </a:p>
        </p:txBody>
      </p:sp>
      <p:sp>
        <p:nvSpPr>
          <p:cNvPr id="5" name="テキスト ボックス 4">
            <a:extLst>
              <a:ext uri="{FF2B5EF4-FFF2-40B4-BE49-F238E27FC236}">
                <a16:creationId xmlns:a16="http://schemas.microsoft.com/office/drawing/2014/main" id="{FFEB0617-82C4-974C-1CBF-A62360CD345E}"/>
              </a:ext>
            </a:extLst>
          </p:cNvPr>
          <p:cNvSpPr txBox="1"/>
          <p:nvPr/>
        </p:nvSpPr>
        <p:spPr>
          <a:xfrm>
            <a:off x="3124694" y="812199"/>
            <a:ext cx="2917988" cy="523220"/>
          </a:xfrm>
          <a:prstGeom prst="rect">
            <a:avLst/>
          </a:prstGeom>
          <a:noFill/>
          <a:ln>
            <a:noFill/>
          </a:ln>
        </p:spPr>
        <p:txBody>
          <a:bodyPr wrap="square" rtlCol="0">
            <a:spAutoFit/>
          </a:bodyPr>
          <a:lstStyle/>
          <a:p>
            <a:r>
              <a:rPr lang="en-US" altLang="ja-JP" sz="2800" u="sng" dirty="0" err="1">
                <a:solidFill>
                  <a:srgbClr val="FF0000"/>
                </a:solidFill>
              </a:rPr>
              <a:t>external</a:t>
            </a:r>
            <a:r>
              <a:rPr kumimoji="1" lang="en-US" altLang="ja-JP" sz="2800" u="sng" dirty="0" err="1">
                <a:solidFill>
                  <a:srgbClr val="FF0000"/>
                </a:solidFill>
              </a:rPr>
              <a:t>source.inp</a:t>
            </a:r>
            <a:endParaRPr kumimoji="1" lang="ja-JP" altLang="en-US" sz="2800" u="sng" dirty="0">
              <a:solidFill>
                <a:srgbClr val="FF0000"/>
              </a:solidFill>
            </a:endParaRPr>
          </a:p>
        </p:txBody>
      </p:sp>
      <p:sp>
        <p:nvSpPr>
          <p:cNvPr id="7" name="テキスト ボックス 6">
            <a:extLst>
              <a:ext uri="{FF2B5EF4-FFF2-40B4-BE49-F238E27FC236}">
                <a16:creationId xmlns:a16="http://schemas.microsoft.com/office/drawing/2014/main" id="{AEA57932-5723-956B-68C1-E64A463E6383}"/>
              </a:ext>
            </a:extLst>
          </p:cNvPr>
          <p:cNvSpPr txBox="1"/>
          <p:nvPr/>
        </p:nvSpPr>
        <p:spPr>
          <a:xfrm>
            <a:off x="135088" y="6374869"/>
            <a:ext cx="9143999" cy="461665"/>
          </a:xfrm>
          <a:prstGeom prst="rect">
            <a:avLst/>
          </a:prstGeom>
          <a:noFill/>
        </p:spPr>
        <p:txBody>
          <a:bodyPr wrap="square" rtlCol="0">
            <a:spAutoFit/>
          </a:bodyPr>
          <a:lstStyle/>
          <a:p>
            <a:pPr algn="ctr"/>
            <a:r>
              <a:rPr kumimoji="1" lang="en-US" altLang="ja-JP" sz="2400" dirty="0" err="1">
                <a:solidFill>
                  <a:srgbClr val="FF0000"/>
                </a:solidFill>
              </a:rPr>
              <a:t>externalsource.inp</a:t>
            </a:r>
            <a:r>
              <a:rPr kumimoji="1" lang="ja-JP" altLang="en-US" sz="2400" dirty="0">
                <a:solidFill>
                  <a:srgbClr val="FF0000"/>
                </a:solidFill>
              </a:rPr>
              <a:t>を実行し、</a:t>
            </a:r>
            <a:r>
              <a:rPr kumimoji="1" lang="en-US" altLang="ja-JP" sz="2400" dirty="0">
                <a:solidFill>
                  <a:srgbClr val="FF0000"/>
                </a:solidFill>
              </a:rPr>
              <a:t>track_inside1.eps</a:t>
            </a:r>
            <a:r>
              <a:rPr kumimoji="1" lang="ja-JP" altLang="en-US" sz="2400" dirty="0">
                <a:solidFill>
                  <a:srgbClr val="FF0000"/>
                </a:solidFill>
              </a:rPr>
              <a:t>および</a:t>
            </a:r>
            <a:r>
              <a:rPr kumimoji="1" lang="en-US" altLang="ja-JP" sz="2400" dirty="0">
                <a:solidFill>
                  <a:srgbClr val="FF0000"/>
                </a:solidFill>
              </a:rPr>
              <a:t>dose1.out</a:t>
            </a:r>
            <a:r>
              <a:rPr kumimoji="1" lang="ja-JP" altLang="en-US" sz="2400" dirty="0">
                <a:solidFill>
                  <a:srgbClr val="FF0000"/>
                </a:solidFill>
              </a:rPr>
              <a:t>を確認</a:t>
            </a:r>
          </a:p>
        </p:txBody>
      </p:sp>
      <p:sp>
        <p:nvSpPr>
          <p:cNvPr id="10" name="テキスト ボックス 9">
            <a:extLst>
              <a:ext uri="{FF2B5EF4-FFF2-40B4-BE49-F238E27FC236}">
                <a16:creationId xmlns:a16="http://schemas.microsoft.com/office/drawing/2014/main" id="{73868EAB-EE6C-D763-5694-94C6E074A79E}"/>
              </a:ext>
            </a:extLst>
          </p:cNvPr>
          <p:cNvSpPr txBox="1"/>
          <p:nvPr/>
        </p:nvSpPr>
        <p:spPr>
          <a:xfrm>
            <a:off x="6125384" y="2013658"/>
            <a:ext cx="1728192" cy="646331"/>
          </a:xfrm>
          <a:prstGeom prst="rect">
            <a:avLst/>
          </a:prstGeom>
          <a:noFill/>
          <a:ln>
            <a:solidFill>
              <a:schemeClr val="tx1"/>
            </a:solidFill>
          </a:ln>
        </p:spPr>
        <p:txBody>
          <a:bodyPr wrap="square" rtlCol="0">
            <a:spAutoFit/>
          </a:bodyPr>
          <a:lstStyle/>
          <a:p>
            <a:r>
              <a:rPr kumimoji="1" lang="ja-JP" altLang="en-US" dirty="0"/>
              <a:t>木材</a:t>
            </a:r>
            <a:r>
              <a:rPr lang="en-US" altLang="ja-JP" dirty="0"/>
              <a:t>2</a:t>
            </a:r>
            <a:r>
              <a:rPr kumimoji="1" lang="en-US" altLang="ja-JP" dirty="0"/>
              <a:t>cm</a:t>
            </a:r>
            <a:r>
              <a:rPr kumimoji="1" lang="ja-JP" altLang="en-US" dirty="0"/>
              <a:t>の壁で囲まれた小屋</a:t>
            </a:r>
          </a:p>
        </p:txBody>
      </p:sp>
      <p:cxnSp>
        <p:nvCxnSpPr>
          <p:cNvPr id="13" name="直線矢印コネクタ 12">
            <a:extLst>
              <a:ext uri="{FF2B5EF4-FFF2-40B4-BE49-F238E27FC236}">
                <a16:creationId xmlns:a16="http://schemas.microsoft.com/office/drawing/2014/main" id="{52BA29A3-72C4-2BD0-E12E-FE0EE9619ADF}"/>
              </a:ext>
            </a:extLst>
          </p:cNvPr>
          <p:cNvCxnSpPr>
            <a:stCxn id="10" idx="1"/>
          </p:cNvCxnSpPr>
          <p:nvPr/>
        </p:nvCxnSpPr>
        <p:spPr>
          <a:xfrm flipH="1">
            <a:off x="5033576" y="2336824"/>
            <a:ext cx="1091808" cy="2145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スライド番号プレースホルダー 11">
            <a:extLst>
              <a:ext uri="{FF2B5EF4-FFF2-40B4-BE49-F238E27FC236}">
                <a16:creationId xmlns:a16="http://schemas.microsoft.com/office/drawing/2014/main" id="{3F55B039-B830-5782-3954-928AD8698570}"/>
              </a:ext>
            </a:extLst>
          </p:cNvPr>
          <p:cNvSpPr>
            <a:spLocks noGrp="1"/>
          </p:cNvSpPr>
          <p:nvPr>
            <p:ph type="sldNum" sz="quarter" idx="12"/>
          </p:nvPr>
        </p:nvSpPr>
        <p:spPr/>
        <p:txBody>
          <a:bodyPr/>
          <a:lstStyle/>
          <a:p>
            <a:fld id="{D2D8002D-B5B0-4BAC-B1F6-782DDCCE6D9C}" type="slidenum">
              <a:rPr kumimoji="1" lang="ja-JP" altLang="en-US" smtClean="0"/>
              <a:t>19</a:t>
            </a:fld>
            <a:endParaRPr kumimoji="1" lang="ja-JP" altLang="en-US"/>
          </a:p>
        </p:txBody>
      </p:sp>
    </p:spTree>
    <p:extLst>
      <p:ext uri="{BB962C8B-B14F-4D97-AF65-F5344CB8AC3E}">
        <p14:creationId xmlns:p14="http://schemas.microsoft.com/office/powerpoint/2010/main" val="1964114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78247-88CB-D6CA-31BA-084743C6AA6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BAB11D3-3405-198C-8366-878B12819BD6}"/>
              </a:ext>
            </a:extLst>
          </p:cNvPr>
          <p:cNvSpPr>
            <a:spLocks noGrp="1"/>
          </p:cNvSpPr>
          <p:nvPr>
            <p:ph type="title"/>
          </p:nvPr>
        </p:nvSpPr>
        <p:spPr>
          <a:xfrm>
            <a:off x="457200" y="53752"/>
            <a:ext cx="8229600" cy="1143000"/>
          </a:xfrm>
        </p:spPr>
        <p:txBody>
          <a:bodyPr>
            <a:normAutofit/>
          </a:bodyPr>
          <a:lstStyle/>
          <a:p>
            <a:r>
              <a:rPr lang="ja-JP" altLang="en-US" dirty="0">
                <a:latin typeface="Arial" pitchFamily="18"/>
              </a:rPr>
              <a:t>ステップ</a:t>
            </a:r>
            <a:r>
              <a:rPr lang="ja-JP" altLang="ja-JP" dirty="0">
                <a:latin typeface="Arial" pitchFamily="18"/>
              </a:rPr>
              <a:t> </a:t>
            </a:r>
            <a:r>
              <a:rPr lang="en-US" altLang="ja-JP" dirty="0">
                <a:latin typeface="Arial" pitchFamily="18"/>
              </a:rPr>
              <a:t>5</a:t>
            </a:r>
            <a:r>
              <a:rPr lang="ja-JP" altLang="en-US" dirty="0">
                <a:latin typeface="Arial" pitchFamily="18"/>
              </a:rPr>
              <a:t>（外部線源）結果</a:t>
            </a:r>
            <a:endParaRPr kumimoji="1" lang="ja-JP" altLang="en-US" dirty="0"/>
          </a:p>
        </p:txBody>
      </p:sp>
      <p:sp>
        <p:nvSpPr>
          <p:cNvPr id="6" name="テキスト ボックス 5">
            <a:extLst>
              <a:ext uri="{FF2B5EF4-FFF2-40B4-BE49-F238E27FC236}">
                <a16:creationId xmlns:a16="http://schemas.microsoft.com/office/drawing/2014/main" id="{1F809736-B720-AA69-B1D6-E4FB64D32F0A}"/>
              </a:ext>
            </a:extLst>
          </p:cNvPr>
          <p:cNvSpPr txBox="1"/>
          <p:nvPr/>
        </p:nvSpPr>
        <p:spPr>
          <a:xfrm>
            <a:off x="4471944" y="2740573"/>
            <a:ext cx="4420536" cy="646331"/>
          </a:xfrm>
          <a:prstGeom prst="rect">
            <a:avLst/>
          </a:prstGeom>
          <a:noFill/>
          <a:ln>
            <a:solidFill>
              <a:schemeClr val="tx1"/>
            </a:solidFill>
          </a:ln>
        </p:spPr>
        <p:txBody>
          <a:bodyPr wrap="square">
            <a:spAutoFit/>
          </a:bodyPr>
          <a:lstStyle/>
          <a:p>
            <a:r>
              <a:rPr lang="pt-BR" altLang="ja-JP" dirty="0"/>
              <a:t>#  num    reg     volume       all       r.err </a:t>
            </a:r>
          </a:p>
          <a:p>
            <a:r>
              <a:rPr lang="pt-BR" altLang="ja-JP" dirty="0"/>
              <a:t>    1      10   4.1888E+03   1.0774E-02  0.0874</a:t>
            </a:r>
            <a:endParaRPr lang="ja-JP" altLang="en-US" dirty="0"/>
          </a:p>
        </p:txBody>
      </p:sp>
      <p:sp>
        <p:nvSpPr>
          <p:cNvPr id="7" name="テキスト ボックス 6">
            <a:extLst>
              <a:ext uri="{FF2B5EF4-FFF2-40B4-BE49-F238E27FC236}">
                <a16:creationId xmlns:a16="http://schemas.microsoft.com/office/drawing/2014/main" id="{2EC77FF1-6F92-817A-0261-CF1B9D61E571}"/>
              </a:ext>
            </a:extLst>
          </p:cNvPr>
          <p:cNvSpPr txBox="1"/>
          <p:nvPr/>
        </p:nvSpPr>
        <p:spPr>
          <a:xfrm>
            <a:off x="488796" y="6281028"/>
            <a:ext cx="2859067" cy="523220"/>
          </a:xfrm>
          <a:prstGeom prst="rect">
            <a:avLst/>
          </a:prstGeom>
          <a:noFill/>
        </p:spPr>
        <p:txBody>
          <a:bodyPr wrap="square" rtlCol="0">
            <a:spAutoFit/>
          </a:bodyPr>
          <a:lstStyle/>
          <a:p>
            <a:r>
              <a:rPr kumimoji="1" lang="en-US" altLang="ja-JP" sz="2800" dirty="0"/>
              <a:t>track_inside1.eps</a:t>
            </a:r>
            <a:endParaRPr kumimoji="1" lang="ja-JP" altLang="en-US" sz="2800" dirty="0"/>
          </a:p>
        </p:txBody>
      </p:sp>
      <p:sp>
        <p:nvSpPr>
          <p:cNvPr id="8" name="テキスト ボックス 7">
            <a:extLst>
              <a:ext uri="{FF2B5EF4-FFF2-40B4-BE49-F238E27FC236}">
                <a16:creationId xmlns:a16="http://schemas.microsoft.com/office/drawing/2014/main" id="{1D99F58E-6E9C-F110-BC08-201A620D74A2}"/>
              </a:ext>
            </a:extLst>
          </p:cNvPr>
          <p:cNvSpPr txBox="1"/>
          <p:nvPr/>
        </p:nvSpPr>
        <p:spPr>
          <a:xfrm>
            <a:off x="5089071" y="2217353"/>
            <a:ext cx="3168352" cy="523220"/>
          </a:xfrm>
          <a:prstGeom prst="rect">
            <a:avLst/>
          </a:prstGeom>
          <a:noFill/>
        </p:spPr>
        <p:txBody>
          <a:bodyPr wrap="square" rtlCol="0">
            <a:spAutoFit/>
          </a:bodyPr>
          <a:lstStyle/>
          <a:p>
            <a:r>
              <a:rPr lang="en-US" altLang="ja-JP" sz="2800" dirty="0"/>
              <a:t>dose1</a:t>
            </a:r>
            <a:r>
              <a:rPr kumimoji="1" lang="en-US" altLang="ja-JP" sz="2800" dirty="0"/>
              <a:t>.out (38</a:t>
            </a:r>
            <a:r>
              <a:rPr kumimoji="1" lang="ja-JP" altLang="en-US" sz="2800" dirty="0"/>
              <a:t>行目</a:t>
            </a:r>
            <a:r>
              <a:rPr kumimoji="1" lang="en-US" altLang="ja-JP" sz="2800" dirty="0"/>
              <a:t>)</a:t>
            </a:r>
            <a:endParaRPr kumimoji="1" lang="ja-JP" altLang="en-US" sz="2800" dirty="0"/>
          </a:p>
        </p:txBody>
      </p:sp>
      <p:pic>
        <p:nvPicPr>
          <p:cNvPr id="10" name="図 9">
            <a:extLst>
              <a:ext uri="{FF2B5EF4-FFF2-40B4-BE49-F238E27FC236}">
                <a16:creationId xmlns:a16="http://schemas.microsoft.com/office/drawing/2014/main" id="{801420E9-996D-DEDB-4970-06D9BA5EC66E}"/>
              </a:ext>
            </a:extLst>
          </p:cNvPr>
          <p:cNvPicPr>
            <a:picLocks noChangeAspect="1"/>
          </p:cNvPicPr>
          <p:nvPr/>
        </p:nvPicPr>
        <p:blipFill>
          <a:blip r:embed="rId2"/>
          <a:srcRect l="437" t="9565" r="3352" b="3800"/>
          <a:stretch/>
        </p:blipFill>
        <p:spPr>
          <a:xfrm>
            <a:off x="131883" y="1172917"/>
            <a:ext cx="4031498" cy="5040000"/>
          </a:xfrm>
          <a:prstGeom prst="rect">
            <a:avLst/>
          </a:prstGeom>
        </p:spPr>
      </p:pic>
      <p:sp>
        <p:nvSpPr>
          <p:cNvPr id="3" name="スライド番号プレースホルダー 2">
            <a:extLst>
              <a:ext uri="{FF2B5EF4-FFF2-40B4-BE49-F238E27FC236}">
                <a16:creationId xmlns:a16="http://schemas.microsoft.com/office/drawing/2014/main" id="{42687B4D-B60F-BC79-95B8-13C833333FC9}"/>
              </a:ext>
            </a:extLst>
          </p:cNvPr>
          <p:cNvSpPr>
            <a:spLocks noGrp="1"/>
          </p:cNvSpPr>
          <p:nvPr>
            <p:ph type="sldNum" sz="quarter" idx="12"/>
          </p:nvPr>
        </p:nvSpPr>
        <p:spPr/>
        <p:txBody>
          <a:bodyPr/>
          <a:lstStyle/>
          <a:p>
            <a:fld id="{D2D8002D-B5B0-4BAC-B1F6-782DDCCE6D9C}" type="slidenum">
              <a:rPr kumimoji="1" lang="ja-JP" altLang="en-US" smtClean="0"/>
              <a:t>20</a:t>
            </a:fld>
            <a:endParaRPr kumimoji="1" lang="ja-JP" altLang="en-US"/>
          </a:p>
        </p:txBody>
      </p:sp>
    </p:spTree>
    <p:extLst>
      <p:ext uri="{BB962C8B-B14F-4D97-AF65-F5344CB8AC3E}">
        <p14:creationId xmlns:p14="http://schemas.microsoft.com/office/powerpoint/2010/main" val="3658754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78247-88CB-D6CA-31BA-084743C6AA6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BAB11D3-3405-198C-8366-878B12819BD6}"/>
              </a:ext>
            </a:extLst>
          </p:cNvPr>
          <p:cNvSpPr>
            <a:spLocks noGrp="1"/>
          </p:cNvSpPr>
          <p:nvPr>
            <p:ph type="title"/>
          </p:nvPr>
        </p:nvSpPr>
        <p:spPr>
          <a:xfrm>
            <a:off x="457200" y="53752"/>
            <a:ext cx="8229600" cy="1143000"/>
          </a:xfrm>
        </p:spPr>
        <p:txBody>
          <a:bodyPr>
            <a:normAutofit/>
          </a:bodyPr>
          <a:lstStyle/>
          <a:p>
            <a:r>
              <a:rPr lang="ja-JP" altLang="en-US" dirty="0">
                <a:latin typeface="Arial" pitchFamily="18"/>
              </a:rPr>
              <a:t>ステップ</a:t>
            </a:r>
            <a:r>
              <a:rPr lang="ja-JP" altLang="ja-JP" dirty="0">
                <a:latin typeface="Arial" pitchFamily="18"/>
              </a:rPr>
              <a:t> </a:t>
            </a:r>
            <a:r>
              <a:rPr lang="en-US" altLang="ja-JP" dirty="0">
                <a:latin typeface="Arial" pitchFamily="18"/>
              </a:rPr>
              <a:t>6</a:t>
            </a:r>
            <a:r>
              <a:rPr lang="ja-JP" altLang="en-US" dirty="0">
                <a:latin typeface="Arial" pitchFamily="18"/>
              </a:rPr>
              <a:t>（内部線源）</a:t>
            </a:r>
            <a:endParaRPr kumimoji="1" lang="ja-JP" altLang="en-US" dirty="0"/>
          </a:p>
        </p:txBody>
      </p:sp>
      <p:grpSp>
        <p:nvGrpSpPr>
          <p:cNvPr id="10" name="グループ化 9">
            <a:extLst>
              <a:ext uri="{FF2B5EF4-FFF2-40B4-BE49-F238E27FC236}">
                <a16:creationId xmlns:a16="http://schemas.microsoft.com/office/drawing/2014/main" id="{8457211D-0B04-E222-988C-93D9FBBC13D7}"/>
              </a:ext>
            </a:extLst>
          </p:cNvPr>
          <p:cNvGrpSpPr/>
          <p:nvPr/>
        </p:nvGrpSpPr>
        <p:grpSpPr>
          <a:xfrm>
            <a:off x="2771800" y="1337410"/>
            <a:ext cx="3528546" cy="1947574"/>
            <a:chOff x="2771800" y="908720"/>
            <a:chExt cx="3528546" cy="1947574"/>
          </a:xfrm>
        </p:grpSpPr>
        <p:cxnSp>
          <p:nvCxnSpPr>
            <p:cNvPr id="3" name="直線矢印コネクタ 2">
              <a:extLst>
                <a:ext uri="{FF2B5EF4-FFF2-40B4-BE49-F238E27FC236}">
                  <a16:creationId xmlns:a16="http://schemas.microsoft.com/office/drawing/2014/main" id="{D06AAA6A-7454-1FA1-FDF4-A1C26E9E9292}"/>
                </a:ext>
              </a:extLst>
            </p:cNvPr>
            <p:cNvCxnSpPr>
              <a:cxnSpLocks/>
            </p:cNvCxnSpPr>
            <p:nvPr/>
          </p:nvCxnSpPr>
          <p:spPr>
            <a:xfrm flipV="1">
              <a:off x="3794648" y="2243920"/>
              <a:ext cx="214590" cy="407815"/>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4" name="直線矢印コネクタ 3">
              <a:extLst>
                <a:ext uri="{FF2B5EF4-FFF2-40B4-BE49-F238E27FC236}">
                  <a16:creationId xmlns:a16="http://schemas.microsoft.com/office/drawing/2014/main" id="{EAE716E8-9ECD-2829-07A0-61F4725C0F1B}"/>
                </a:ext>
              </a:extLst>
            </p:cNvPr>
            <p:cNvCxnSpPr>
              <a:cxnSpLocks/>
            </p:cNvCxnSpPr>
            <p:nvPr/>
          </p:nvCxnSpPr>
          <p:spPr>
            <a:xfrm flipH="1" flipV="1">
              <a:off x="5017123" y="2219196"/>
              <a:ext cx="103993" cy="433875"/>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5" name="正方形/長方形 4">
              <a:extLst>
                <a:ext uri="{FF2B5EF4-FFF2-40B4-BE49-F238E27FC236}">
                  <a16:creationId xmlns:a16="http://schemas.microsoft.com/office/drawing/2014/main" id="{CEB3B424-63B3-09AE-733B-A588434E9E7F}"/>
                </a:ext>
              </a:extLst>
            </p:cNvPr>
            <p:cNvSpPr/>
            <p:nvPr/>
          </p:nvSpPr>
          <p:spPr>
            <a:xfrm>
              <a:off x="2771800" y="2617073"/>
              <a:ext cx="3528546" cy="239221"/>
            </a:xfrm>
            <a:prstGeom prst="rect">
              <a:avLst/>
            </a:prstGeom>
            <a:solidFill>
              <a:srgbClr val="808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F9A83F76-5DCF-64D2-4FE3-5BEB5DC58E60}"/>
                </a:ext>
              </a:extLst>
            </p:cNvPr>
            <p:cNvSpPr/>
            <p:nvPr/>
          </p:nvSpPr>
          <p:spPr>
            <a:xfrm>
              <a:off x="3541780" y="1267747"/>
              <a:ext cx="2016220" cy="1349325"/>
            </a:xfrm>
            <a:prstGeom prst="rect">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4" name="直線矢印コネクタ 23">
              <a:extLst>
                <a:ext uri="{FF2B5EF4-FFF2-40B4-BE49-F238E27FC236}">
                  <a16:creationId xmlns:a16="http://schemas.microsoft.com/office/drawing/2014/main" id="{E7C4691A-D0DE-CEAE-0F48-489910137249}"/>
                </a:ext>
              </a:extLst>
            </p:cNvPr>
            <p:cNvCxnSpPr>
              <a:cxnSpLocks/>
            </p:cNvCxnSpPr>
            <p:nvPr/>
          </p:nvCxnSpPr>
          <p:spPr>
            <a:xfrm flipV="1">
              <a:off x="5351710" y="2266496"/>
              <a:ext cx="84876" cy="339274"/>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0FB1BB82-E3EB-D27F-431C-B8E73B8ABFD3}"/>
                </a:ext>
              </a:extLst>
            </p:cNvPr>
            <p:cNvSpPr txBox="1"/>
            <p:nvPr/>
          </p:nvSpPr>
          <p:spPr>
            <a:xfrm>
              <a:off x="3217742" y="908720"/>
              <a:ext cx="2664296" cy="369332"/>
            </a:xfrm>
            <a:prstGeom prst="rect">
              <a:avLst/>
            </a:prstGeom>
            <a:noFill/>
          </p:spPr>
          <p:txBody>
            <a:bodyPr wrap="square" rtlCol="0">
              <a:spAutoFit/>
            </a:bodyPr>
            <a:lstStyle/>
            <a:p>
              <a:r>
                <a:rPr lang="ja-JP" altLang="en-US" dirty="0"/>
                <a:t>内部線源</a:t>
              </a:r>
              <a:r>
                <a:rPr lang="en-US" altLang="ja-JP" dirty="0"/>
                <a:t>(</a:t>
              </a:r>
              <a:r>
                <a:rPr lang="ja-JP" altLang="en-US" dirty="0"/>
                <a:t>内部地表線源</a:t>
              </a:r>
              <a:r>
                <a:rPr lang="en-US" altLang="ja-JP" dirty="0"/>
                <a:t>)</a:t>
              </a:r>
              <a:endParaRPr kumimoji="1" lang="ja-JP" altLang="en-US" dirty="0"/>
            </a:p>
          </p:txBody>
        </p:sp>
        <p:sp>
          <p:nvSpPr>
            <p:cNvPr id="27" name="正方形/長方形 26">
              <a:extLst>
                <a:ext uri="{FF2B5EF4-FFF2-40B4-BE49-F238E27FC236}">
                  <a16:creationId xmlns:a16="http://schemas.microsoft.com/office/drawing/2014/main" id="{40480EA8-3FF0-9D0C-F51B-75BB89BD3554}"/>
                </a:ext>
              </a:extLst>
            </p:cNvPr>
            <p:cNvSpPr/>
            <p:nvPr/>
          </p:nvSpPr>
          <p:spPr>
            <a:xfrm>
              <a:off x="4208632" y="1916833"/>
              <a:ext cx="723408" cy="720080"/>
            </a:xfrm>
            <a:prstGeom prst="rect">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7" name="Text Box 1031">
            <a:extLst>
              <a:ext uri="{FF2B5EF4-FFF2-40B4-BE49-F238E27FC236}">
                <a16:creationId xmlns:a16="http://schemas.microsoft.com/office/drawing/2014/main" id="{F33D2DE5-A2B9-05E3-D55D-00E93850344A}"/>
              </a:ext>
            </a:extLst>
          </p:cNvPr>
          <p:cNvSpPr txBox="1">
            <a:spLocks noChangeArrowheads="1"/>
          </p:cNvSpPr>
          <p:nvPr/>
        </p:nvSpPr>
        <p:spPr bwMode="auto">
          <a:xfrm>
            <a:off x="279980" y="3453055"/>
            <a:ext cx="3928652" cy="2856265"/>
          </a:xfrm>
          <a:prstGeom prst="rect">
            <a:avLst/>
          </a:prstGeom>
          <a:solidFill>
            <a:schemeClr val="bg1"/>
          </a:solidFill>
          <a:ln w="19050">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400" dirty="0">
                <a:latin typeface="Tahoma" panose="020B0604030504040204" pitchFamily="34" charset="0"/>
              </a:rPr>
              <a:t>[ Surface ]</a:t>
            </a:r>
          </a:p>
          <a:p>
            <a:pPr eaLnBrk="1" hangingPunct="1">
              <a:spcBef>
                <a:spcPct val="0"/>
              </a:spcBef>
              <a:buFontTx/>
              <a:buNone/>
            </a:pPr>
            <a:r>
              <a:rPr lang="en-US" altLang="ja-JP" sz="1400" dirty="0">
                <a:latin typeface="Tahoma" panose="020B0604030504040204" pitchFamily="34" charset="0"/>
              </a:rPr>
              <a:t>  50  </a:t>
            </a:r>
            <a:r>
              <a:rPr lang="en-US" altLang="ja-JP" sz="1400" dirty="0" err="1">
                <a:latin typeface="Tahoma" panose="020B0604030504040204" pitchFamily="34" charset="0"/>
              </a:rPr>
              <a:t>rpp</a:t>
            </a:r>
            <a:r>
              <a:rPr lang="en-US" altLang="ja-JP" sz="1400" dirty="0">
                <a:latin typeface="Tahoma" panose="020B0604030504040204" pitchFamily="34" charset="0"/>
              </a:rPr>
              <a:t> -248.0 248.0 -248.0 248.0  2.0 498.0 </a:t>
            </a:r>
          </a:p>
          <a:p>
            <a:pPr eaLnBrk="1" hangingPunct="1">
              <a:spcBef>
                <a:spcPct val="0"/>
              </a:spcBef>
              <a:buFontTx/>
              <a:buNone/>
            </a:pPr>
            <a:r>
              <a:rPr lang="en-US" altLang="ja-JP" sz="1400" dirty="0">
                <a:latin typeface="Tahoma" panose="020B0604030504040204" pitchFamily="34" charset="0"/>
              </a:rPr>
              <a:t>  51  </a:t>
            </a:r>
            <a:r>
              <a:rPr lang="en-US" altLang="ja-JP" sz="1400" dirty="0" err="1">
                <a:latin typeface="Tahoma" panose="020B0604030504040204" pitchFamily="34" charset="0"/>
              </a:rPr>
              <a:t>rpp</a:t>
            </a:r>
            <a:r>
              <a:rPr lang="en-US" altLang="ja-JP" sz="1400" dirty="0">
                <a:latin typeface="Tahoma" panose="020B0604030504040204" pitchFamily="34" charset="0"/>
              </a:rPr>
              <a:t> -250.0 250.0 -250.0 250.0  0.0 500.0 </a:t>
            </a:r>
          </a:p>
          <a:p>
            <a:pPr eaLnBrk="1" hangingPunct="1">
              <a:spcBef>
                <a:spcPct val="0"/>
              </a:spcBef>
              <a:buFontTx/>
              <a:buNone/>
            </a:pPr>
            <a:r>
              <a:rPr lang="en-US" altLang="ja-JP" sz="1400" dirty="0">
                <a:latin typeface="Tahoma" panose="020B0604030504040204" pitchFamily="34" charset="0"/>
              </a:rPr>
              <a:t>  52  </a:t>
            </a:r>
            <a:r>
              <a:rPr lang="en-US" altLang="ja-JP" sz="1400" dirty="0" err="1">
                <a:latin typeface="Tahoma" panose="020B0604030504040204" pitchFamily="34" charset="0"/>
              </a:rPr>
              <a:t>rpp</a:t>
            </a:r>
            <a:r>
              <a:rPr lang="en-US" altLang="ja-JP" sz="1400" dirty="0">
                <a:latin typeface="Tahoma" panose="020B0604030504040204" pitchFamily="34" charset="0"/>
              </a:rPr>
              <a:t> -250.0 250.0 -250.0 250.0 -50.0  0.0</a:t>
            </a:r>
            <a:r>
              <a:rPr lang="en-US" altLang="ja-JP" sz="1400" dirty="0">
                <a:solidFill>
                  <a:srgbClr val="FF0000"/>
                </a:solidFill>
                <a:latin typeface="Tahoma" panose="020B0604030504040204" pitchFamily="34" charset="0"/>
              </a:rPr>
              <a:t> </a:t>
            </a:r>
            <a:endParaRPr lang="pt-BR" altLang="ja-JP" sz="1400" dirty="0">
              <a:solidFill>
                <a:srgbClr val="FF0000"/>
              </a:solidFill>
              <a:latin typeface="Tahoma" panose="020B0604030504040204" pitchFamily="34" charset="0"/>
            </a:endParaRPr>
          </a:p>
          <a:p>
            <a:pPr eaLnBrk="1" hangingPunct="1">
              <a:spcBef>
                <a:spcPct val="0"/>
              </a:spcBef>
              <a:buFontTx/>
              <a:buNone/>
            </a:pPr>
            <a:r>
              <a:rPr lang="pt-BR" altLang="ja-JP" sz="1400" dirty="0">
                <a:solidFill>
                  <a:srgbClr val="000000"/>
                </a:solidFill>
                <a:latin typeface="Tahoma" panose="020B0604030504040204" pitchFamily="34" charset="0"/>
              </a:rPr>
              <a:t>...</a:t>
            </a:r>
          </a:p>
          <a:p>
            <a:pPr eaLnBrk="1" hangingPunct="1">
              <a:spcBef>
                <a:spcPct val="0"/>
              </a:spcBef>
              <a:buFontTx/>
              <a:buNone/>
            </a:pPr>
            <a:r>
              <a:rPr lang="en-US" altLang="ja-JP" sz="1400" dirty="0">
                <a:latin typeface="Tahoma" panose="020B0604030504040204" pitchFamily="34" charset="0"/>
              </a:rPr>
              <a:t>[ Cell ]</a:t>
            </a:r>
          </a:p>
          <a:p>
            <a:pPr eaLnBrk="1" hangingPunct="1">
              <a:spcBef>
                <a:spcPct val="0"/>
              </a:spcBef>
              <a:buFontTx/>
              <a:buNone/>
            </a:pPr>
            <a:r>
              <a:rPr lang="en-US" altLang="ja-JP" sz="1400" dirty="0">
                <a:latin typeface="Tahoma" panose="020B0604030504040204" pitchFamily="34" charset="0"/>
              </a:rPr>
              <a:t> 10  1 -1.2e-3  -10</a:t>
            </a:r>
          </a:p>
          <a:p>
            <a:pPr eaLnBrk="1" hangingPunct="1">
              <a:spcBef>
                <a:spcPct val="0"/>
              </a:spcBef>
              <a:buFontTx/>
              <a:buNone/>
            </a:pPr>
            <a:r>
              <a:rPr lang="en-US" altLang="ja-JP" sz="1400" dirty="0">
                <a:latin typeface="Tahoma" panose="020B0604030504040204" pitchFamily="34" charset="0"/>
              </a:rPr>
              <a:t> 11  1 -1.2e-3   10 -50</a:t>
            </a:r>
          </a:p>
          <a:p>
            <a:pPr eaLnBrk="1" hangingPunct="1">
              <a:spcBef>
                <a:spcPct val="0"/>
              </a:spcBef>
              <a:buFontTx/>
              <a:buNone/>
            </a:pPr>
            <a:r>
              <a:rPr lang="en-US" altLang="ja-JP" sz="1400" dirty="0">
                <a:latin typeface="Tahoma" panose="020B0604030504040204" pitchFamily="34" charset="0"/>
              </a:rPr>
              <a:t> 50  3 -0.64     50 -51</a:t>
            </a:r>
          </a:p>
          <a:p>
            <a:pPr eaLnBrk="1" hangingPunct="1">
              <a:spcBef>
                <a:spcPct val="0"/>
              </a:spcBef>
              <a:buFontTx/>
              <a:buNone/>
            </a:pPr>
            <a:r>
              <a:rPr lang="en-US" altLang="ja-JP" sz="1400" dirty="0">
                <a:latin typeface="Tahoma" panose="020B0604030504040204" pitchFamily="34" charset="0"/>
              </a:rPr>
              <a:t> 20  2 -c2     -910 900 -901 -52</a:t>
            </a:r>
          </a:p>
          <a:p>
            <a:pPr eaLnBrk="1" hangingPunct="1">
              <a:spcBef>
                <a:spcPct val="0"/>
              </a:spcBef>
              <a:buFontTx/>
              <a:buNone/>
            </a:pPr>
            <a:r>
              <a:rPr lang="en-US" altLang="ja-JP" sz="1400" dirty="0">
                <a:latin typeface="Tahoma" panose="020B0604030504040204" pitchFamily="34" charset="0"/>
              </a:rPr>
              <a:t>100  1 -1.2e-3  -910 901 -902 51</a:t>
            </a:r>
          </a:p>
          <a:p>
            <a:pPr eaLnBrk="1" hangingPunct="1">
              <a:spcBef>
                <a:spcPct val="0"/>
              </a:spcBef>
              <a:buFontTx/>
              <a:buNone/>
            </a:pPr>
            <a:r>
              <a:rPr lang="en-US" altLang="ja-JP" sz="1400" dirty="0">
                <a:latin typeface="Tahoma" panose="020B0604030504040204" pitchFamily="34" charset="0"/>
              </a:rPr>
              <a:t>200  2 -c2     -910 900 -901  52</a:t>
            </a:r>
          </a:p>
          <a:p>
            <a:pPr eaLnBrk="1" hangingPunct="1">
              <a:spcBef>
                <a:spcPct val="0"/>
              </a:spcBef>
              <a:buFontTx/>
              <a:buNone/>
            </a:pPr>
            <a:r>
              <a:rPr lang="en-US" altLang="ja-JP" sz="1400" dirty="0">
                <a:latin typeface="Tahoma" panose="020B0604030504040204" pitchFamily="34" charset="0"/>
              </a:rPr>
              <a:t>900 -1           910:-900:902  </a:t>
            </a:r>
          </a:p>
          <a:p>
            <a:pPr eaLnBrk="1" hangingPunct="1">
              <a:spcBef>
                <a:spcPct val="0"/>
              </a:spcBef>
              <a:buFontTx/>
              <a:buNone/>
            </a:pPr>
            <a:endParaRPr lang="en-US" altLang="ja-JP" sz="1400" dirty="0">
              <a:latin typeface="Tahoma" panose="020B0604030504040204" pitchFamily="34" charset="0"/>
            </a:endParaRPr>
          </a:p>
        </p:txBody>
      </p:sp>
      <p:sp>
        <p:nvSpPr>
          <p:cNvPr id="8" name="Text Box 1031">
            <a:extLst>
              <a:ext uri="{FF2B5EF4-FFF2-40B4-BE49-F238E27FC236}">
                <a16:creationId xmlns:a16="http://schemas.microsoft.com/office/drawing/2014/main" id="{25EB9007-83B4-E796-0727-326A622CAEB6}"/>
              </a:ext>
            </a:extLst>
          </p:cNvPr>
          <p:cNvSpPr txBox="1">
            <a:spLocks noChangeArrowheads="1"/>
          </p:cNvSpPr>
          <p:nvPr/>
        </p:nvSpPr>
        <p:spPr bwMode="auto">
          <a:xfrm>
            <a:off x="5554794" y="3453055"/>
            <a:ext cx="2490192" cy="2060968"/>
          </a:xfrm>
          <a:prstGeom prst="rect">
            <a:avLst/>
          </a:prstGeom>
          <a:solidFill>
            <a:schemeClr val="bg1"/>
          </a:solidFill>
          <a:ln w="19050">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400" dirty="0">
                <a:latin typeface="Tahoma" panose="020B0604030504040204" pitchFamily="34" charset="0"/>
              </a:rPr>
              <a:t>[ Source ]</a:t>
            </a:r>
          </a:p>
          <a:p>
            <a:pPr eaLnBrk="1" hangingPunct="1">
              <a:spcBef>
                <a:spcPct val="0"/>
              </a:spcBef>
              <a:buFontTx/>
              <a:buNone/>
            </a:pPr>
            <a:r>
              <a:rPr lang="en-US" altLang="ja-JP" sz="1400" dirty="0">
                <a:latin typeface="Tahoma" panose="020B0604030504040204" pitchFamily="34" charset="0"/>
              </a:rPr>
              <a:t>  </a:t>
            </a:r>
            <a:r>
              <a:rPr lang="en-US" altLang="ja-JP" sz="1400" dirty="0" err="1">
                <a:latin typeface="Tahoma" panose="020B0604030504040204" pitchFamily="34" charset="0"/>
              </a:rPr>
              <a:t>totfact</a:t>
            </a:r>
            <a:r>
              <a:rPr lang="en-US" altLang="ja-JP" sz="1400" dirty="0">
                <a:latin typeface="Tahoma" panose="020B0604030504040204" pitchFamily="34" charset="0"/>
              </a:rPr>
              <a:t> =     c4*c4-500*500</a:t>
            </a:r>
          </a:p>
          <a:p>
            <a:pPr eaLnBrk="1" hangingPunct="1">
              <a:spcBef>
                <a:spcPct val="0"/>
              </a:spcBef>
              <a:buFontTx/>
              <a:buNone/>
            </a:pPr>
            <a:r>
              <a:rPr lang="en-US" altLang="ja-JP" sz="1400" dirty="0">
                <a:solidFill>
                  <a:srgbClr val="FF0000"/>
                </a:solidFill>
                <a:latin typeface="Tahoma" panose="020B0604030504040204" pitchFamily="34" charset="0"/>
              </a:rPr>
              <a:t>      </a:t>
            </a:r>
            <a:r>
              <a:rPr lang="en-US" altLang="ja-JP" sz="1400" dirty="0">
                <a:latin typeface="Tahoma" panose="020B0604030504040204" pitchFamily="34" charset="0"/>
              </a:rPr>
              <a:t>reg =    200</a:t>
            </a:r>
          </a:p>
          <a:p>
            <a:pPr eaLnBrk="1" hangingPunct="1">
              <a:spcBef>
                <a:spcPct val="0"/>
              </a:spcBef>
              <a:buFontTx/>
              <a:buNone/>
            </a:pPr>
            <a:r>
              <a:rPr lang="en-US" altLang="ja-JP" sz="1400" dirty="0">
                <a:latin typeface="Tahoma" panose="020B0604030504040204" pitchFamily="34" charset="0"/>
              </a:rPr>
              <a:t>   s-type =     2</a:t>
            </a:r>
          </a:p>
          <a:p>
            <a:pPr eaLnBrk="1" hangingPunct="1">
              <a:spcBef>
                <a:spcPct val="0"/>
              </a:spcBef>
              <a:buFontTx/>
              <a:buNone/>
            </a:pPr>
            <a:r>
              <a:rPr lang="en-US" altLang="ja-JP" sz="1400" dirty="0">
                <a:latin typeface="Tahoma" panose="020B0604030504040204" pitchFamily="34" charset="0"/>
              </a:rPr>
              <a:t>     </a:t>
            </a:r>
            <a:r>
              <a:rPr lang="en-US" altLang="ja-JP" sz="1400" dirty="0" err="1">
                <a:latin typeface="Tahoma" panose="020B0604030504040204" pitchFamily="34" charset="0"/>
              </a:rPr>
              <a:t>proj</a:t>
            </a:r>
            <a:r>
              <a:rPr lang="en-US" altLang="ja-JP" sz="1400" dirty="0">
                <a:latin typeface="Tahoma" panose="020B0604030504040204" pitchFamily="34" charset="0"/>
              </a:rPr>
              <a:t> =   photon</a:t>
            </a:r>
          </a:p>
          <a:p>
            <a:pPr eaLnBrk="1" hangingPunct="1">
              <a:spcBef>
                <a:spcPct val="0"/>
              </a:spcBef>
              <a:buFontTx/>
              <a:buNone/>
            </a:pPr>
            <a:r>
              <a:rPr lang="en-US" altLang="ja-JP" sz="1400" dirty="0">
                <a:latin typeface="Tahoma" panose="020B0604030504040204" pitchFamily="34" charset="0"/>
              </a:rPr>
              <a:t>       x0 =    -0.5*c4</a:t>
            </a:r>
          </a:p>
          <a:p>
            <a:pPr eaLnBrk="1" hangingPunct="1">
              <a:spcBef>
                <a:spcPct val="0"/>
              </a:spcBef>
              <a:buFontTx/>
              <a:buNone/>
            </a:pPr>
            <a:r>
              <a:rPr lang="en-US" altLang="ja-JP" sz="1400" dirty="0">
                <a:latin typeface="Tahoma" panose="020B0604030504040204" pitchFamily="34" charset="0"/>
              </a:rPr>
              <a:t>       x1 =     0.5*c4</a:t>
            </a:r>
          </a:p>
          <a:p>
            <a:pPr eaLnBrk="1" hangingPunct="1">
              <a:spcBef>
                <a:spcPct val="0"/>
              </a:spcBef>
              <a:buFontTx/>
              <a:buNone/>
            </a:pPr>
            <a:r>
              <a:rPr lang="en-US" altLang="ja-JP" sz="1400" dirty="0">
                <a:latin typeface="Tahoma" panose="020B0604030504040204" pitchFamily="34" charset="0"/>
              </a:rPr>
              <a:t>       y0 =    -0.5*c4</a:t>
            </a:r>
          </a:p>
          <a:p>
            <a:pPr eaLnBrk="1" hangingPunct="1">
              <a:spcBef>
                <a:spcPct val="0"/>
              </a:spcBef>
              <a:buFontTx/>
              <a:buNone/>
            </a:pPr>
            <a:r>
              <a:rPr lang="en-US" altLang="ja-JP" sz="1400" dirty="0">
                <a:latin typeface="Tahoma" panose="020B0604030504040204" pitchFamily="34" charset="0"/>
              </a:rPr>
              <a:t>       y1 =     0.5*c4</a:t>
            </a:r>
          </a:p>
          <a:p>
            <a:pPr eaLnBrk="1" hangingPunct="1">
              <a:spcBef>
                <a:spcPct val="0"/>
              </a:spcBef>
              <a:buFontTx/>
              <a:buNone/>
            </a:pPr>
            <a:r>
              <a:rPr lang="en-US" altLang="ja-JP" sz="1400" dirty="0">
                <a:latin typeface="Tahoma" panose="020B0604030504040204" pitchFamily="34" charset="0"/>
              </a:rPr>
              <a:t>…</a:t>
            </a:r>
          </a:p>
        </p:txBody>
      </p:sp>
      <p:sp>
        <p:nvSpPr>
          <p:cNvPr id="9" name="テキスト ボックス 8">
            <a:extLst>
              <a:ext uri="{FF2B5EF4-FFF2-40B4-BE49-F238E27FC236}">
                <a16:creationId xmlns:a16="http://schemas.microsoft.com/office/drawing/2014/main" id="{D9E1232F-A2E1-0BA1-472B-97AC1D5DFFAB}"/>
              </a:ext>
            </a:extLst>
          </p:cNvPr>
          <p:cNvSpPr txBox="1"/>
          <p:nvPr/>
        </p:nvSpPr>
        <p:spPr>
          <a:xfrm>
            <a:off x="-1664" y="6374869"/>
            <a:ext cx="9143999" cy="461665"/>
          </a:xfrm>
          <a:prstGeom prst="rect">
            <a:avLst/>
          </a:prstGeom>
          <a:noFill/>
        </p:spPr>
        <p:txBody>
          <a:bodyPr wrap="square" rtlCol="0">
            <a:spAutoFit/>
          </a:bodyPr>
          <a:lstStyle/>
          <a:p>
            <a:pPr algn="ctr"/>
            <a:r>
              <a:rPr lang="en-US" altLang="ja-JP" sz="2400" dirty="0" err="1">
                <a:solidFill>
                  <a:srgbClr val="FF0000"/>
                </a:solidFill>
              </a:rPr>
              <a:t>int</a:t>
            </a:r>
            <a:r>
              <a:rPr kumimoji="1" lang="en-US" altLang="ja-JP" sz="2400" dirty="0" err="1">
                <a:solidFill>
                  <a:srgbClr val="FF0000"/>
                </a:solidFill>
              </a:rPr>
              <a:t>ernalsource.inp</a:t>
            </a:r>
            <a:r>
              <a:rPr kumimoji="1" lang="ja-JP" altLang="en-US" sz="2400" dirty="0">
                <a:solidFill>
                  <a:srgbClr val="FF0000"/>
                </a:solidFill>
              </a:rPr>
              <a:t>を実行し、</a:t>
            </a:r>
            <a:r>
              <a:rPr kumimoji="1" lang="en-US" altLang="ja-JP" sz="2400" dirty="0">
                <a:solidFill>
                  <a:srgbClr val="FF0000"/>
                </a:solidFill>
              </a:rPr>
              <a:t>track_inside2.eps</a:t>
            </a:r>
            <a:r>
              <a:rPr kumimoji="1" lang="ja-JP" altLang="en-US" sz="2400" dirty="0">
                <a:solidFill>
                  <a:srgbClr val="FF0000"/>
                </a:solidFill>
              </a:rPr>
              <a:t>および</a:t>
            </a:r>
            <a:r>
              <a:rPr kumimoji="1" lang="en-US" altLang="ja-JP" sz="2400" dirty="0">
                <a:solidFill>
                  <a:srgbClr val="FF0000"/>
                </a:solidFill>
              </a:rPr>
              <a:t>dose2.out</a:t>
            </a:r>
            <a:r>
              <a:rPr kumimoji="1" lang="ja-JP" altLang="en-US" sz="2400" dirty="0">
                <a:solidFill>
                  <a:srgbClr val="FF0000"/>
                </a:solidFill>
              </a:rPr>
              <a:t>を確認</a:t>
            </a:r>
          </a:p>
        </p:txBody>
      </p:sp>
      <p:sp>
        <p:nvSpPr>
          <p:cNvPr id="11" name="テキスト ボックス 10">
            <a:extLst>
              <a:ext uri="{FF2B5EF4-FFF2-40B4-BE49-F238E27FC236}">
                <a16:creationId xmlns:a16="http://schemas.microsoft.com/office/drawing/2014/main" id="{DCC252D4-5AC7-EA92-EA3F-A071B5F8620E}"/>
              </a:ext>
            </a:extLst>
          </p:cNvPr>
          <p:cNvSpPr txBox="1"/>
          <p:nvPr/>
        </p:nvSpPr>
        <p:spPr>
          <a:xfrm>
            <a:off x="3124694" y="812199"/>
            <a:ext cx="2917988" cy="523220"/>
          </a:xfrm>
          <a:prstGeom prst="rect">
            <a:avLst/>
          </a:prstGeom>
          <a:noFill/>
          <a:ln>
            <a:noFill/>
          </a:ln>
        </p:spPr>
        <p:txBody>
          <a:bodyPr wrap="square" rtlCol="0">
            <a:spAutoFit/>
          </a:bodyPr>
          <a:lstStyle/>
          <a:p>
            <a:r>
              <a:rPr lang="en-US" altLang="ja-JP" sz="2800" u="sng" dirty="0" err="1">
                <a:solidFill>
                  <a:srgbClr val="FF0000"/>
                </a:solidFill>
              </a:rPr>
              <a:t>internal</a:t>
            </a:r>
            <a:r>
              <a:rPr kumimoji="1" lang="en-US" altLang="ja-JP" sz="2800" u="sng" dirty="0" err="1">
                <a:solidFill>
                  <a:srgbClr val="FF0000"/>
                </a:solidFill>
              </a:rPr>
              <a:t>source.inp</a:t>
            </a:r>
            <a:endParaRPr kumimoji="1" lang="ja-JP" altLang="en-US" sz="2800" u="sng" dirty="0">
              <a:solidFill>
                <a:srgbClr val="FF0000"/>
              </a:solidFill>
            </a:endParaRPr>
          </a:p>
        </p:txBody>
      </p:sp>
      <p:sp>
        <p:nvSpPr>
          <p:cNvPr id="12" name="テキスト ボックス 11">
            <a:extLst>
              <a:ext uri="{FF2B5EF4-FFF2-40B4-BE49-F238E27FC236}">
                <a16:creationId xmlns:a16="http://schemas.microsoft.com/office/drawing/2014/main" id="{8D6BE44F-3078-E6B0-D1BB-4AAA062DFE8B}"/>
              </a:ext>
            </a:extLst>
          </p:cNvPr>
          <p:cNvSpPr txBox="1"/>
          <p:nvPr/>
        </p:nvSpPr>
        <p:spPr>
          <a:xfrm>
            <a:off x="4514722" y="5548195"/>
            <a:ext cx="4570335" cy="707886"/>
          </a:xfrm>
          <a:prstGeom prst="rect">
            <a:avLst/>
          </a:prstGeom>
          <a:noFill/>
        </p:spPr>
        <p:txBody>
          <a:bodyPr wrap="square" rtlCol="0">
            <a:spAutoFit/>
          </a:bodyPr>
          <a:lstStyle/>
          <a:p>
            <a:pPr algn="ctr"/>
            <a:r>
              <a:rPr lang="en-US" altLang="ja-JP" sz="2000" dirty="0">
                <a:solidFill>
                  <a:srgbClr val="FF0000"/>
                </a:solidFill>
              </a:rPr>
              <a:t>Scoring box</a:t>
            </a:r>
            <a:r>
              <a:rPr lang="ja-JP" altLang="en-US" sz="2000" dirty="0">
                <a:solidFill>
                  <a:srgbClr val="FF0000"/>
                </a:solidFill>
              </a:rPr>
              <a:t>内で小屋の下には汚染源が無いものとして</a:t>
            </a:r>
            <a:r>
              <a:rPr lang="en-US" altLang="ja-JP" sz="2000" dirty="0">
                <a:solidFill>
                  <a:srgbClr val="FF0000"/>
                </a:solidFill>
              </a:rPr>
              <a:t>reg=200</a:t>
            </a:r>
            <a:r>
              <a:rPr lang="ja-JP" altLang="en-US" sz="2000" dirty="0">
                <a:solidFill>
                  <a:srgbClr val="FF0000"/>
                </a:solidFill>
              </a:rPr>
              <a:t>のみを線源とする</a:t>
            </a:r>
            <a:endParaRPr kumimoji="1" lang="en-US" altLang="ja-JP" sz="2000" dirty="0">
              <a:solidFill>
                <a:srgbClr val="FF0000"/>
              </a:solidFill>
            </a:endParaRPr>
          </a:p>
        </p:txBody>
      </p:sp>
      <p:sp>
        <p:nvSpPr>
          <p:cNvPr id="13" name="スライド番号プレースホルダー 12">
            <a:extLst>
              <a:ext uri="{FF2B5EF4-FFF2-40B4-BE49-F238E27FC236}">
                <a16:creationId xmlns:a16="http://schemas.microsoft.com/office/drawing/2014/main" id="{4D670174-E7D7-4466-7195-0FC037639480}"/>
              </a:ext>
            </a:extLst>
          </p:cNvPr>
          <p:cNvSpPr>
            <a:spLocks noGrp="1"/>
          </p:cNvSpPr>
          <p:nvPr>
            <p:ph type="sldNum" sz="quarter" idx="12"/>
          </p:nvPr>
        </p:nvSpPr>
        <p:spPr/>
        <p:txBody>
          <a:bodyPr/>
          <a:lstStyle/>
          <a:p>
            <a:fld id="{D2D8002D-B5B0-4BAC-B1F6-782DDCCE6D9C}" type="slidenum">
              <a:rPr kumimoji="1" lang="ja-JP" altLang="en-US" smtClean="0"/>
              <a:t>21</a:t>
            </a:fld>
            <a:endParaRPr kumimoji="1" lang="ja-JP" altLang="en-US"/>
          </a:p>
        </p:txBody>
      </p:sp>
      <p:sp>
        <p:nvSpPr>
          <p:cNvPr id="14" name="四角形: 角を丸くする 13">
            <a:extLst>
              <a:ext uri="{FF2B5EF4-FFF2-40B4-BE49-F238E27FC236}">
                <a16:creationId xmlns:a16="http://schemas.microsoft.com/office/drawing/2014/main" id="{0F31E445-3E02-1965-B8E6-FAC8EBF214C1}"/>
              </a:ext>
            </a:extLst>
          </p:cNvPr>
          <p:cNvSpPr/>
          <p:nvPr/>
        </p:nvSpPr>
        <p:spPr>
          <a:xfrm>
            <a:off x="454930" y="4142792"/>
            <a:ext cx="3554307" cy="276654"/>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四角形: 角を丸くする 14">
            <a:extLst>
              <a:ext uri="{FF2B5EF4-FFF2-40B4-BE49-F238E27FC236}">
                <a16:creationId xmlns:a16="http://schemas.microsoft.com/office/drawing/2014/main" id="{509D4236-4E59-BE49-E2A8-84CD2D100295}"/>
              </a:ext>
            </a:extLst>
          </p:cNvPr>
          <p:cNvSpPr/>
          <p:nvPr/>
        </p:nvSpPr>
        <p:spPr>
          <a:xfrm>
            <a:off x="347637" y="5877271"/>
            <a:ext cx="2777058" cy="168530"/>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F98D6B3F-9A79-C93E-96D9-7ADBAEB03BFD}"/>
              </a:ext>
            </a:extLst>
          </p:cNvPr>
          <p:cNvSpPr/>
          <p:nvPr/>
        </p:nvSpPr>
        <p:spPr>
          <a:xfrm>
            <a:off x="6614090" y="3750458"/>
            <a:ext cx="1430896" cy="182598"/>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四角形: 角を丸くする 16">
            <a:extLst>
              <a:ext uri="{FF2B5EF4-FFF2-40B4-BE49-F238E27FC236}">
                <a16:creationId xmlns:a16="http://schemas.microsoft.com/office/drawing/2014/main" id="{ABF05FAC-BCA8-3213-B1A9-70D7A3102DEE}"/>
              </a:ext>
            </a:extLst>
          </p:cNvPr>
          <p:cNvSpPr/>
          <p:nvPr/>
        </p:nvSpPr>
        <p:spPr>
          <a:xfrm>
            <a:off x="5882038" y="3974262"/>
            <a:ext cx="1092866" cy="182598"/>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6394630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78247-88CB-D6CA-31BA-084743C6AA6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BAB11D3-3405-198C-8366-878B12819BD6}"/>
              </a:ext>
            </a:extLst>
          </p:cNvPr>
          <p:cNvSpPr>
            <a:spLocks noGrp="1"/>
          </p:cNvSpPr>
          <p:nvPr>
            <p:ph type="title"/>
          </p:nvPr>
        </p:nvSpPr>
        <p:spPr>
          <a:xfrm>
            <a:off x="457200" y="53752"/>
            <a:ext cx="8229600" cy="1143000"/>
          </a:xfrm>
        </p:spPr>
        <p:txBody>
          <a:bodyPr>
            <a:normAutofit/>
          </a:bodyPr>
          <a:lstStyle/>
          <a:p>
            <a:r>
              <a:rPr lang="ja-JP" altLang="en-US" dirty="0">
                <a:latin typeface="Arial" pitchFamily="18"/>
              </a:rPr>
              <a:t>ステップ</a:t>
            </a:r>
            <a:r>
              <a:rPr lang="ja-JP" altLang="ja-JP" dirty="0">
                <a:latin typeface="Arial" pitchFamily="18"/>
              </a:rPr>
              <a:t> </a:t>
            </a:r>
            <a:r>
              <a:rPr lang="en-US" altLang="ja-JP" dirty="0">
                <a:latin typeface="Arial" pitchFamily="18"/>
              </a:rPr>
              <a:t>6</a:t>
            </a:r>
            <a:r>
              <a:rPr lang="ja-JP" altLang="en-US" dirty="0">
                <a:latin typeface="Arial" pitchFamily="18"/>
              </a:rPr>
              <a:t>（内部線源）結果</a:t>
            </a:r>
            <a:endParaRPr kumimoji="1" lang="ja-JP" altLang="en-US" dirty="0"/>
          </a:p>
        </p:txBody>
      </p:sp>
      <p:sp>
        <p:nvSpPr>
          <p:cNvPr id="5" name="テキスト ボックス 4">
            <a:extLst>
              <a:ext uri="{FF2B5EF4-FFF2-40B4-BE49-F238E27FC236}">
                <a16:creationId xmlns:a16="http://schemas.microsoft.com/office/drawing/2014/main" id="{8E1D0979-26CB-C002-5ECE-C875DC1A3FAD}"/>
              </a:ext>
            </a:extLst>
          </p:cNvPr>
          <p:cNvSpPr txBox="1"/>
          <p:nvPr/>
        </p:nvSpPr>
        <p:spPr>
          <a:xfrm>
            <a:off x="488796" y="6281028"/>
            <a:ext cx="2859067" cy="523220"/>
          </a:xfrm>
          <a:prstGeom prst="rect">
            <a:avLst/>
          </a:prstGeom>
          <a:noFill/>
        </p:spPr>
        <p:txBody>
          <a:bodyPr wrap="square" rtlCol="0">
            <a:spAutoFit/>
          </a:bodyPr>
          <a:lstStyle/>
          <a:p>
            <a:r>
              <a:rPr kumimoji="1" lang="en-US" altLang="ja-JP" sz="2800" dirty="0"/>
              <a:t>track_inside1.eps</a:t>
            </a:r>
            <a:endParaRPr kumimoji="1" lang="ja-JP" altLang="en-US" sz="2800" dirty="0"/>
          </a:p>
        </p:txBody>
      </p:sp>
      <p:sp>
        <p:nvSpPr>
          <p:cNvPr id="6" name="テキスト ボックス 5">
            <a:extLst>
              <a:ext uri="{FF2B5EF4-FFF2-40B4-BE49-F238E27FC236}">
                <a16:creationId xmlns:a16="http://schemas.microsoft.com/office/drawing/2014/main" id="{D7D0F4C5-0392-AE51-48C8-3FC091B4F89F}"/>
              </a:ext>
            </a:extLst>
          </p:cNvPr>
          <p:cNvSpPr txBox="1"/>
          <p:nvPr/>
        </p:nvSpPr>
        <p:spPr>
          <a:xfrm>
            <a:off x="5089071" y="2217353"/>
            <a:ext cx="3168352" cy="523220"/>
          </a:xfrm>
          <a:prstGeom prst="rect">
            <a:avLst/>
          </a:prstGeom>
          <a:noFill/>
        </p:spPr>
        <p:txBody>
          <a:bodyPr wrap="square" rtlCol="0">
            <a:spAutoFit/>
          </a:bodyPr>
          <a:lstStyle/>
          <a:p>
            <a:r>
              <a:rPr lang="en-US" altLang="ja-JP" sz="2800" dirty="0"/>
              <a:t>dose1</a:t>
            </a:r>
            <a:r>
              <a:rPr kumimoji="1" lang="en-US" altLang="ja-JP" sz="2800" dirty="0"/>
              <a:t>.out (38</a:t>
            </a:r>
            <a:r>
              <a:rPr kumimoji="1" lang="ja-JP" altLang="en-US" sz="2800" dirty="0"/>
              <a:t>行目</a:t>
            </a:r>
            <a:r>
              <a:rPr kumimoji="1" lang="en-US" altLang="ja-JP" sz="2800" dirty="0"/>
              <a:t>)</a:t>
            </a:r>
            <a:endParaRPr kumimoji="1" lang="ja-JP" altLang="en-US" sz="2800" dirty="0"/>
          </a:p>
        </p:txBody>
      </p:sp>
      <p:sp>
        <p:nvSpPr>
          <p:cNvPr id="8" name="テキスト ボックス 7">
            <a:extLst>
              <a:ext uri="{FF2B5EF4-FFF2-40B4-BE49-F238E27FC236}">
                <a16:creationId xmlns:a16="http://schemas.microsoft.com/office/drawing/2014/main" id="{267CB7F4-3915-03E4-B557-E8BE3C724A00}"/>
              </a:ext>
            </a:extLst>
          </p:cNvPr>
          <p:cNvSpPr txBox="1"/>
          <p:nvPr/>
        </p:nvSpPr>
        <p:spPr>
          <a:xfrm>
            <a:off x="4446240" y="2747255"/>
            <a:ext cx="4446240" cy="646331"/>
          </a:xfrm>
          <a:prstGeom prst="rect">
            <a:avLst/>
          </a:prstGeom>
          <a:noFill/>
          <a:ln>
            <a:solidFill>
              <a:schemeClr val="tx1"/>
            </a:solidFill>
          </a:ln>
        </p:spPr>
        <p:txBody>
          <a:bodyPr wrap="square">
            <a:spAutoFit/>
          </a:bodyPr>
          <a:lstStyle/>
          <a:p>
            <a:r>
              <a:rPr lang="pt-BR" altLang="ja-JP" dirty="0"/>
              <a:t>#  num    reg     volume       all       r.err </a:t>
            </a:r>
          </a:p>
          <a:p>
            <a:r>
              <a:rPr lang="pt-BR" altLang="ja-JP" dirty="0"/>
              <a:t>    1      10   4.1888E+03   2.0261E-03  0.1278</a:t>
            </a:r>
            <a:endParaRPr lang="ja-JP" altLang="en-US" dirty="0"/>
          </a:p>
        </p:txBody>
      </p:sp>
      <p:pic>
        <p:nvPicPr>
          <p:cNvPr id="10" name="図 9">
            <a:extLst>
              <a:ext uri="{FF2B5EF4-FFF2-40B4-BE49-F238E27FC236}">
                <a16:creationId xmlns:a16="http://schemas.microsoft.com/office/drawing/2014/main" id="{53373070-E8EC-6EDE-3C6A-2C700914AF67}"/>
              </a:ext>
            </a:extLst>
          </p:cNvPr>
          <p:cNvPicPr>
            <a:picLocks noChangeAspect="1"/>
          </p:cNvPicPr>
          <p:nvPr/>
        </p:nvPicPr>
        <p:blipFill>
          <a:blip r:embed="rId2"/>
          <a:srcRect l="1895" t="9060" r="3352" b="3800"/>
          <a:stretch/>
        </p:blipFill>
        <p:spPr>
          <a:xfrm>
            <a:off x="107572" y="1106175"/>
            <a:ext cx="3947358" cy="5040000"/>
          </a:xfrm>
          <a:prstGeom prst="rect">
            <a:avLst/>
          </a:prstGeom>
        </p:spPr>
      </p:pic>
      <p:sp>
        <p:nvSpPr>
          <p:cNvPr id="3" name="スライド番号プレースホルダー 2">
            <a:extLst>
              <a:ext uri="{FF2B5EF4-FFF2-40B4-BE49-F238E27FC236}">
                <a16:creationId xmlns:a16="http://schemas.microsoft.com/office/drawing/2014/main" id="{5520914B-7E4A-D518-8508-9ED2C057422F}"/>
              </a:ext>
            </a:extLst>
          </p:cNvPr>
          <p:cNvSpPr>
            <a:spLocks noGrp="1"/>
          </p:cNvSpPr>
          <p:nvPr>
            <p:ph type="sldNum" sz="quarter" idx="12"/>
          </p:nvPr>
        </p:nvSpPr>
        <p:spPr/>
        <p:txBody>
          <a:bodyPr/>
          <a:lstStyle/>
          <a:p>
            <a:fld id="{D2D8002D-B5B0-4BAC-B1F6-782DDCCE6D9C}" type="slidenum">
              <a:rPr kumimoji="1" lang="ja-JP" altLang="en-US" smtClean="0"/>
              <a:t>22</a:t>
            </a:fld>
            <a:endParaRPr kumimoji="1" lang="ja-JP" altLang="en-US"/>
          </a:p>
        </p:txBody>
      </p:sp>
    </p:spTree>
    <p:extLst>
      <p:ext uri="{BB962C8B-B14F-4D97-AF65-F5344CB8AC3E}">
        <p14:creationId xmlns:p14="http://schemas.microsoft.com/office/powerpoint/2010/main" val="37812716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78247-88CB-D6CA-31BA-084743C6AA6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BAB11D3-3405-198C-8366-878B12819BD6}"/>
              </a:ext>
            </a:extLst>
          </p:cNvPr>
          <p:cNvSpPr>
            <a:spLocks noGrp="1"/>
          </p:cNvSpPr>
          <p:nvPr>
            <p:ph type="title"/>
          </p:nvPr>
        </p:nvSpPr>
        <p:spPr>
          <a:xfrm>
            <a:off x="457200" y="53752"/>
            <a:ext cx="8229600" cy="1143000"/>
          </a:xfrm>
        </p:spPr>
        <p:txBody>
          <a:bodyPr>
            <a:normAutofit/>
          </a:bodyPr>
          <a:lstStyle/>
          <a:p>
            <a:r>
              <a:rPr lang="ja-JP" altLang="en-US" dirty="0">
                <a:latin typeface="Arial" pitchFamily="18"/>
              </a:rPr>
              <a:t>ステップ</a:t>
            </a:r>
            <a:r>
              <a:rPr lang="ja-JP" altLang="ja-JP" dirty="0">
                <a:latin typeface="Arial" pitchFamily="18"/>
              </a:rPr>
              <a:t> </a:t>
            </a:r>
            <a:r>
              <a:rPr lang="en-US" altLang="ja-JP" dirty="0">
                <a:latin typeface="Arial" pitchFamily="18"/>
              </a:rPr>
              <a:t>7</a:t>
            </a:r>
            <a:r>
              <a:rPr lang="ja-JP" altLang="en-US" dirty="0">
                <a:latin typeface="Arial" pitchFamily="18"/>
              </a:rPr>
              <a:t>（</a:t>
            </a:r>
            <a:r>
              <a:rPr lang="en-US" altLang="ja-JP" dirty="0" err="1">
                <a:latin typeface="Arial" pitchFamily="18"/>
              </a:rPr>
              <a:t>Sumtally</a:t>
            </a:r>
            <a:r>
              <a:rPr lang="ja-JP" altLang="en-US" dirty="0">
                <a:latin typeface="Arial" pitchFamily="18"/>
              </a:rPr>
              <a:t>）</a:t>
            </a:r>
            <a:endParaRPr kumimoji="1" lang="ja-JP" altLang="en-US" dirty="0"/>
          </a:p>
        </p:txBody>
      </p:sp>
      <p:cxnSp>
        <p:nvCxnSpPr>
          <p:cNvPr id="3" name="直線矢印コネクタ 2">
            <a:extLst>
              <a:ext uri="{FF2B5EF4-FFF2-40B4-BE49-F238E27FC236}">
                <a16:creationId xmlns:a16="http://schemas.microsoft.com/office/drawing/2014/main" id="{D06AAA6A-7454-1FA1-FDF4-A1C26E9E9292}"/>
              </a:ext>
            </a:extLst>
          </p:cNvPr>
          <p:cNvCxnSpPr>
            <a:cxnSpLocks/>
          </p:cNvCxnSpPr>
          <p:nvPr/>
        </p:nvCxnSpPr>
        <p:spPr>
          <a:xfrm flipV="1">
            <a:off x="6098750" y="2763566"/>
            <a:ext cx="214590" cy="407815"/>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4" name="直線矢印コネクタ 3">
            <a:extLst>
              <a:ext uri="{FF2B5EF4-FFF2-40B4-BE49-F238E27FC236}">
                <a16:creationId xmlns:a16="http://schemas.microsoft.com/office/drawing/2014/main" id="{EAE716E8-9ECD-2829-07A0-61F4725C0F1B}"/>
              </a:ext>
            </a:extLst>
          </p:cNvPr>
          <p:cNvCxnSpPr>
            <a:cxnSpLocks/>
          </p:cNvCxnSpPr>
          <p:nvPr/>
        </p:nvCxnSpPr>
        <p:spPr>
          <a:xfrm flipH="1" flipV="1">
            <a:off x="7321225" y="2738842"/>
            <a:ext cx="103993" cy="433875"/>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5" name="正方形/長方形 4">
            <a:extLst>
              <a:ext uri="{FF2B5EF4-FFF2-40B4-BE49-F238E27FC236}">
                <a16:creationId xmlns:a16="http://schemas.microsoft.com/office/drawing/2014/main" id="{CEB3B424-63B3-09AE-733B-A588434E9E7F}"/>
              </a:ext>
            </a:extLst>
          </p:cNvPr>
          <p:cNvSpPr/>
          <p:nvPr/>
        </p:nvSpPr>
        <p:spPr>
          <a:xfrm>
            <a:off x="5075902" y="3136719"/>
            <a:ext cx="3528546" cy="239221"/>
          </a:xfrm>
          <a:prstGeom prst="rect">
            <a:avLst/>
          </a:prstGeom>
          <a:solidFill>
            <a:srgbClr val="808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F9A83F76-5DCF-64D2-4FE3-5BEB5DC58E60}"/>
              </a:ext>
            </a:extLst>
          </p:cNvPr>
          <p:cNvSpPr/>
          <p:nvPr/>
        </p:nvSpPr>
        <p:spPr>
          <a:xfrm>
            <a:off x="5845882" y="1787393"/>
            <a:ext cx="2016220" cy="1349325"/>
          </a:xfrm>
          <a:prstGeom prst="rect">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4" name="直線矢印コネクタ 23">
            <a:extLst>
              <a:ext uri="{FF2B5EF4-FFF2-40B4-BE49-F238E27FC236}">
                <a16:creationId xmlns:a16="http://schemas.microsoft.com/office/drawing/2014/main" id="{E7C4691A-D0DE-CEAE-0F48-489910137249}"/>
              </a:ext>
            </a:extLst>
          </p:cNvPr>
          <p:cNvCxnSpPr>
            <a:cxnSpLocks/>
          </p:cNvCxnSpPr>
          <p:nvPr/>
        </p:nvCxnSpPr>
        <p:spPr>
          <a:xfrm flipV="1">
            <a:off x="7655812" y="2786142"/>
            <a:ext cx="84876" cy="339274"/>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0FB1BB82-E3EB-D27F-431C-B8E73B8ABFD3}"/>
              </a:ext>
            </a:extLst>
          </p:cNvPr>
          <p:cNvSpPr txBox="1"/>
          <p:nvPr/>
        </p:nvSpPr>
        <p:spPr>
          <a:xfrm>
            <a:off x="5521844" y="1428366"/>
            <a:ext cx="2664296" cy="369332"/>
          </a:xfrm>
          <a:prstGeom prst="rect">
            <a:avLst/>
          </a:prstGeom>
          <a:noFill/>
        </p:spPr>
        <p:txBody>
          <a:bodyPr wrap="square" rtlCol="0">
            <a:spAutoFit/>
          </a:bodyPr>
          <a:lstStyle/>
          <a:p>
            <a:r>
              <a:rPr lang="ja-JP" altLang="en-US" dirty="0"/>
              <a:t>内部線源</a:t>
            </a:r>
            <a:r>
              <a:rPr lang="en-US" altLang="ja-JP" dirty="0"/>
              <a:t>(</a:t>
            </a:r>
            <a:r>
              <a:rPr lang="ja-JP" altLang="en-US" dirty="0"/>
              <a:t>内部地表線源</a:t>
            </a:r>
            <a:r>
              <a:rPr lang="en-US" altLang="ja-JP" dirty="0"/>
              <a:t>)</a:t>
            </a:r>
            <a:endParaRPr kumimoji="1" lang="ja-JP" altLang="en-US" dirty="0"/>
          </a:p>
        </p:txBody>
      </p:sp>
      <p:sp>
        <p:nvSpPr>
          <p:cNvPr id="9" name="正方形/長方形 8">
            <a:extLst>
              <a:ext uri="{FF2B5EF4-FFF2-40B4-BE49-F238E27FC236}">
                <a16:creationId xmlns:a16="http://schemas.microsoft.com/office/drawing/2014/main" id="{B8CCD92B-4B59-9852-6545-2A7FE42B0D26}"/>
              </a:ext>
            </a:extLst>
          </p:cNvPr>
          <p:cNvSpPr/>
          <p:nvPr/>
        </p:nvSpPr>
        <p:spPr>
          <a:xfrm>
            <a:off x="589646" y="3136719"/>
            <a:ext cx="3528546" cy="239221"/>
          </a:xfrm>
          <a:prstGeom prst="rect">
            <a:avLst/>
          </a:prstGeom>
          <a:solidFill>
            <a:srgbClr val="808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77C3AF5D-6D64-0C3A-65F9-748E85425799}"/>
              </a:ext>
            </a:extLst>
          </p:cNvPr>
          <p:cNvSpPr/>
          <p:nvPr/>
        </p:nvSpPr>
        <p:spPr>
          <a:xfrm>
            <a:off x="1359626" y="1787393"/>
            <a:ext cx="2016220" cy="1349325"/>
          </a:xfrm>
          <a:prstGeom prst="rect">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 name="直線矢印コネクタ 11">
            <a:extLst>
              <a:ext uri="{FF2B5EF4-FFF2-40B4-BE49-F238E27FC236}">
                <a16:creationId xmlns:a16="http://schemas.microsoft.com/office/drawing/2014/main" id="{E9C980EF-7A5B-38F7-3785-7358961CABAC}"/>
              </a:ext>
            </a:extLst>
          </p:cNvPr>
          <p:cNvCxnSpPr>
            <a:cxnSpLocks/>
          </p:cNvCxnSpPr>
          <p:nvPr/>
        </p:nvCxnSpPr>
        <p:spPr>
          <a:xfrm flipV="1">
            <a:off x="1337233" y="2576831"/>
            <a:ext cx="309854" cy="67090"/>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5DD1781D-ED47-52AF-003D-CAC05AF5B6B7}"/>
              </a:ext>
            </a:extLst>
          </p:cNvPr>
          <p:cNvCxnSpPr>
            <a:cxnSpLocks/>
          </p:cNvCxnSpPr>
          <p:nvPr/>
        </p:nvCxnSpPr>
        <p:spPr>
          <a:xfrm flipV="1">
            <a:off x="1375445" y="2043985"/>
            <a:ext cx="279667" cy="101267"/>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3AB872C5-10CA-06DD-1DEC-8E454906807A}"/>
              </a:ext>
            </a:extLst>
          </p:cNvPr>
          <p:cNvCxnSpPr>
            <a:cxnSpLocks/>
          </p:cNvCxnSpPr>
          <p:nvPr/>
        </p:nvCxnSpPr>
        <p:spPr>
          <a:xfrm flipH="1" flipV="1">
            <a:off x="3147337" y="1868861"/>
            <a:ext cx="278612" cy="119538"/>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BB0295ED-2D36-162A-8624-F6512A4E2316}"/>
              </a:ext>
            </a:extLst>
          </p:cNvPr>
          <p:cNvCxnSpPr>
            <a:cxnSpLocks/>
          </p:cNvCxnSpPr>
          <p:nvPr/>
        </p:nvCxnSpPr>
        <p:spPr>
          <a:xfrm flipH="1" flipV="1">
            <a:off x="3116011" y="2649308"/>
            <a:ext cx="330996" cy="67176"/>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16" name="楕円 15">
            <a:extLst>
              <a:ext uri="{FF2B5EF4-FFF2-40B4-BE49-F238E27FC236}">
                <a16:creationId xmlns:a16="http://schemas.microsoft.com/office/drawing/2014/main" id="{590061B0-F26D-7EEB-CD1C-D8E816B9D88D}"/>
              </a:ext>
            </a:extLst>
          </p:cNvPr>
          <p:cNvSpPr/>
          <p:nvPr/>
        </p:nvSpPr>
        <p:spPr>
          <a:xfrm>
            <a:off x="3342622" y="1921672"/>
            <a:ext cx="133429" cy="122438"/>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楕円 16">
            <a:extLst>
              <a:ext uri="{FF2B5EF4-FFF2-40B4-BE49-F238E27FC236}">
                <a16:creationId xmlns:a16="http://schemas.microsoft.com/office/drawing/2014/main" id="{2B0327BD-4D5E-888B-F075-545A9F457605}"/>
              </a:ext>
            </a:extLst>
          </p:cNvPr>
          <p:cNvSpPr/>
          <p:nvPr/>
        </p:nvSpPr>
        <p:spPr>
          <a:xfrm>
            <a:off x="1326398" y="2085484"/>
            <a:ext cx="133429" cy="122438"/>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楕円 19">
            <a:extLst>
              <a:ext uri="{FF2B5EF4-FFF2-40B4-BE49-F238E27FC236}">
                <a16:creationId xmlns:a16="http://schemas.microsoft.com/office/drawing/2014/main" id="{83B6B8B1-3F39-44A9-08CA-89D32B2C9CC3}"/>
              </a:ext>
            </a:extLst>
          </p:cNvPr>
          <p:cNvSpPr/>
          <p:nvPr/>
        </p:nvSpPr>
        <p:spPr>
          <a:xfrm>
            <a:off x="3321448" y="2670886"/>
            <a:ext cx="133429" cy="122438"/>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楕円 26">
            <a:extLst>
              <a:ext uri="{FF2B5EF4-FFF2-40B4-BE49-F238E27FC236}">
                <a16:creationId xmlns:a16="http://schemas.microsoft.com/office/drawing/2014/main" id="{1AFECAFE-6E03-12B9-BD47-72FA6D687B04}"/>
              </a:ext>
            </a:extLst>
          </p:cNvPr>
          <p:cNvSpPr/>
          <p:nvPr/>
        </p:nvSpPr>
        <p:spPr>
          <a:xfrm>
            <a:off x="1315811" y="2582702"/>
            <a:ext cx="133429" cy="122438"/>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B21E1E79-D686-F5F4-964F-9FE1D4717AC5}"/>
              </a:ext>
            </a:extLst>
          </p:cNvPr>
          <p:cNvSpPr txBox="1"/>
          <p:nvPr/>
        </p:nvSpPr>
        <p:spPr>
          <a:xfrm>
            <a:off x="1111147" y="1412776"/>
            <a:ext cx="2508920" cy="369332"/>
          </a:xfrm>
          <a:prstGeom prst="rect">
            <a:avLst/>
          </a:prstGeom>
          <a:noFill/>
        </p:spPr>
        <p:txBody>
          <a:bodyPr wrap="square" rtlCol="0">
            <a:spAutoFit/>
          </a:bodyPr>
          <a:lstStyle/>
          <a:p>
            <a:r>
              <a:rPr lang="ja-JP" altLang="en-US" dirty="0"/>
              <a:t>外部線源</a:t>
            </a:r>
            <a:r>
              <a:rPr lang="en-US" altLang="ja-JP" dirty="0"/>
              <a:t>(</a:t>
            </a:r>
            <a:r>
              <a:rPr lang="ja-JP" altLang="en-US" dirty="0">
                <a:solidFill>
                  <a:srgbClr val="FF0000"/>
                </a:solidFill>
              </a:rPr>
              <a:t>ダンプデータ</a:t>
            </a:r>
            <a:r>
              <a:rPr lang="en-US" altLang="ja-JP" dirty="0"/>
              <a:t>)</a:t>
            </a:r>
            <a:endParaRPr kumimoji="1" lang="ja-JP" altLang="en-US" dirty="0"/>
          </a:p>
        </p:txBody>
      </p:sp>
      <p:sp>
        <p:nvSpPr>
          <p:cNvPr id="34" name="テキスト ボックス 33">
            <a:extLst>
              <a:ext uri="{FF2B5EF4-FFF2-40B4-BE49-F238E27FC236}">
                <a16:creationId xmlns:a16="http://schemas.microsoft.com/office/drawing/2014/main" id="{3FF320E3-6510-D89A-73C1-F80997FE4B39}"/>
              </a:ext>
            </a:extLst>
          </p:cNvPr>
          <p:cNvSpPr txBox="1"/>
          <p:nvPr/>
        </p:nvSpPr>
        <p:spPr>
          <a:xfrm>
            <a:off x="4376351" y="2085774"/>
            <a:ext cx="459053" cy="646331"/>
          </a:xfrm>
          <a:prstGeom prst="rect">
            <a:avLst/>
          </a:prstGeom>
          <a:noFill/>
        </p:spPr>
        <p:txBody>
          <a:bodyPr wrap="square" rtlCol="0">
            <a:spAutoFit/>
          </a:bodyPr>
          <a:lstStyle/>
          <a:p>
            <a:r>
              <a:rPr kumimoji="1" lang="en-US" altLang="ja-JP" sz="3600" dirty="0"/>
              <a:t>+</a:t>
            </a:r>
            <a:endParaRPr kumimoji="1" lang="ja-JP" altLang="en-US" sz="3600" dirty="0"/>
          </a:p>
        </p:txBody>
      </p:sp>
      <p:sp>
        <p:nvSpPr>
          <p:cNvPr id="35" name="正方形/長方形 34">
            <a:extLst>
              <a:ext uri="{FF2B5EF4-FFF2-40B4-BE49-F238E27FC236}">
                <a16:creationId xmlns:a16="http://schemas.microsoft.com/office/drawing/2014/main" id="{0A731061-BD0E-890E-00AD-E2C0F8D0D139}"/>
              </a:ext>
            </a:extLst>
          </p:cNvPr>
          <p:cNvSpPr/>
          <p:nvPr/>
        </p:nvSpPr>
        <p:spPr>
          <a:xfrm>
            <a:off x="2049515" y="2416639"/>
            <a:ext cx="723408" cy="720080"/>
          </a:xfrm>
          <a:prstGeom prst="rect">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正方形/長方形 35">
            <a:extLst>
              <a:ext uri="{FF2B5EF4-FFF2-40B4-BE49-F238E27FC236}">
                <a16:creationId xmlns:a16="http://schemas.microsoft.com/office/drawing/2014/main" id="{3B9EDD48-77D4-0AA4-4340-285C20BD5C69}"/>
              </a:ext>
            </a:extLst>
          </p:cNvPr>
          <p:cNvSpPr/>
          <p:nvPr/>
        </p:nvSpPr>
        <p:spPr>
          <a:xfrm>
            <a:off x="6473214" y="2406142"/>
            <a:ext cx="723408" cy="720080"/>
          </a:xfrm>
          <a:prstGeom prst="rect">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F8AF9372-78D1-0FB9-CBB9-550CB070BCA6}"/>
              </a:ext>
            </a:extLst>
          </p:cNvPr>
          <p:cNvSpPr txBox="1"/>
          <p:nvPr/>
        </p:nvSpPr>
        <p:spPr>
          <a:xfrm>
            <a:off x="3538516" y="978519"/>
            <a:ext cx="2066967" cy="523220"/>
          </a:xfrm>
          <a:prstGeom prst="rect">
            <a:avLst/>
          </a:prstGeom>
          <a:noFill/>
          <a:ln>
            <a:noFill/>
          </a:ln>
        </p:spPr>
        <p:txBody>
          <a:bodyPr wrap="square" rtlCol="0">
            <a:spAutoFit/>
          </a:bodyPr>
          <a:lstStyle/>
          <a:p>
            <a:r>
              <a:rPr kumimoji="1" lang="en-US" altLang="ja-JP" sz="2800" u="sng" dirty="0" err="1">
                <a:solidFill>
                  <a:srgbClr val="FF0000"/>
                </a:solidFill>
              </a:rPr>
              <a:t>sumtally.inp</a:t>
            </a:r>
            <a:endParaRPr kumimoji="1" lang="ja-JP" altLang="en-US" sz="2800" u="sng" dirty="0">
              <a:solidFill>
                <a:srgbClr val="FF0000"/>
              </a:solidFill>
            </a:endParaRPr>
          </a:p>
        </p:txBody>
      </p:sp>
      <p:sp>
        <p:nvSpPr>
          <p:cNvPr id="8" name="Text Box 1031">
            <a:extLst>
              <a:ext uri="{FF2B5EF4-FFF2-40B4-BE49-F238E27FC236}">
                <a16:creationId xmlns:a16="http://schemas.microsoft.com/office/drawing/2014/main" id="{799B7AF7-8F2B-5F74-49AC-8153177C9AF6}"/>
              </a:ext>
            </a:extLst>
          </p:cNvPr>
          <p:cNvSpPr txBox="1">
            <a:spLocks noChangeArrowheads="1"/>
          </p:cNvSpPr>
          <p:nvPr/>
        </p:nvSpPr>
        <p:spPr bwMode="auto">
          <a:xfrm>
            <a:off x="287358" y="4191913"/>
            <a:ext cx="2124402" cy="2621463"/>
          </a:xfrm>
          <a:prstGeom prst="rect">
            <a:avLst/>
          </a:prstGeom>
          <a:solidFill>
            <a:schemeClr val="bg1"/>
          </a:solidFill>
          <a:ln w="19050">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400" dirty="0">
                <a:latin typeface="Tahoma" panose="020B0604030504040204" pitchFamily="34" charset="0"/>
              </a:rPr>
              <a:t>[ T-track ]</a:t>
            </a:r>
          </a:p>
          <a:p>
            <a:pPr eaLnBrk="1" hangingPunct="1">
              <a:spcBef>
                <a:spcPct val="0"/>
              </a:spcBef>
              <a:buFontTx/>
              <a:buNone/>
            </a:pPr>
            <a:r>
              <a:rPr lang="en-US" altLang="ja-JP" sz="1400" dirty="0">
                <a:latin typeface="Tahoma" panose="020B0604030504040204" pitchFamily="34" charset="0"/>
              </a:rPr>
              <a:t> file = </a:t>
            </a:r>
            <a:r>
              <a:rPr lang="en-US" altLang="ja-JP" sz="1400" dirty="0" err="1">
                <a:latin typeface="Tahoma" panose="020B0604030504040204" pitchFamily="34" charset="0"/>
              </a:rPr>
              <a:t>track_inside.out</a:t>
            </a:r>
            <a:endParaRPr lang="en-US" altLang="ja-JP" sz="1400" dirty="0">
              <a:latin typeface="Tahoma" panose="020B0604030504040204" pitchFamily="34" charset="0"/>
            </a:endParaRPr>
          </a:p>
          <a:p>
            <a:pPr eaLnBrk="1" hangingPunct="1">
              <a:spcBef>
                <a:spcPct val="0"/>
              </a:spcBef>
              <a:buFontTx/>
              <a:buNone/>
            </a:pPr>
            <a:r>
              <a:rPr lang="en-US" altLang="ja-JP" sz="1400" dirty="0">
                <a:latin typeface="Tahoma" panose="020B0604030504040204" pitchFamily="34" charset="0"/>
              </a:rPr>
              <a:t>…</a:t>
            </a:r>
          </a:p>
          <a:p>
            <a:pPr eaLnBrk="1" hangingPunct="1">
              <a:spcBef>
                <a:spcPct val="0"/>
              </a:spcBef>
              <a:buFontTx/>
              <a:buNone/>
            </a:pPr>
            <a:r>
              <a:rPr lang="en-US" altLang="ja-JP" sz="1400" dirty="0" err="1">
                <a:latin typeface="Tahoma" panose="020B0604030504040204" pitchFamily="34" charset="0"/>
              </a:rPr>
              <a:t>sumtally</a:t>
            </a:r>
            <a:r>
              <a:rPr lang="en-US" altLang="ja-JP" sz="1400" dirty="0">
                <a:latin typeface="Tahoma" panose="020B0604030504040204" pitchFamily="34" charset="0"/>
              </a:rPr>
              <a:t> start</a:t>
            </a:r>
          </a:p>
          <a:p>
            <a:pPr eaLnBrk="1" hangingPunct="1">
              <a:spcBef>
                <a:spcPct val="0"/>
              </a:spcBef>
              <a:buFontTx/>
              <a:buNone/>
            </a:pPr>
            <a:r>
              <a:rPr lang="en-US" altLang="ja-JP" sz="1400" dirty="0" err="1">
                <a:latin typeface="Tahoma" panose="020B0604030504040204" pitchFamily="34" charset="0"/>
              </a:rPr>
              <a:t>isumtally</a:t>
            </a:r>
            <a:r>
              <a:rPr lang="en-US" altLang="ja-JP" sz="1400" dirty="0">
                <a:latin typeface="Tahoma" panose="020B0604030504040204" pitchFamily="34" charset="0"/>
              </a:rPr>
              <a:t> = 2</a:t>
            </a:r>
          </a:p>
          <a:p>
            <a:pPr eaLnBrk="1" hangingPunct="1">
              <a:spcBef>
                <a:spcPct val="0"/>
              </a:spcBef>
              <a:buFontTx/>
              <a:buNone/>
            </a:pPr>
            <a:r>
              <a:rPr lang="en-US" altLang="ja-JP" sz="1400" dirty="0" err="1">
                <a:latin typeface="Tahoma" panose="020B0604030504040204" pitchFamily="34" charset="0"/>
              </a:rPr>
              <a:t>nfile</a:t>
            </a:r>
            <a:r>
              <a:rPr lang="en-US" altLang="ja-JP" sz="1400" dirty="0">
                <a:latin typeface="Tahoma" panose="020B0604030504040204" pitchFamily="34" charset="0"/>
              </a:rPr>
              <a:t> = 2</a:t>
            </a:r>
          </a:p>
          <a:p>
            <a:pPr eaLnBrk="1" hangingPunct="1">
              <a:spcBef>
                <a:spcPct val="0"/>
              </a:spcBef>
              <a:buFontTx/>
              <a:buNone/>
            </a:pPr>
            <a:r>
              <a:rPr lang="en-US" altLang="ja-JP" sz="1400" dirty="0">
                <a:latin typeface="Tahoma" panose="020B0604030504040204" pitchFamily="34" charset="0"/>
              </a:rPr>
              <a:t> track_inside1.out 1.0</a:t>
            </a:r>
          </a:p>
          <a:p>
            <a:pPr eaLnBrk="1" hangingPunct="1">
              <a:spcBef>
                <a:spcPct val="0"/>
              </a:spcBef>
              <a:buFontTx/>
              <a:buNone/>
            </a:pPr>
            <a:r>
              <a:rPr lang="en-US" altLang="ja-JP" sz="1400" dirty="0">
                <a:latin typeface="Tahoma" panose="020B0604030504040204" pitchFamily="34" charset="0"/>
              </a:rPr>
              <a:t> track_inside2.out 1.0</a:t>
            </a:r>
          </a:p>
          <a:p>
            <a:pPr eaLnBrk="1" hangingPunct="1">
              <a:spcBef>
                <a:spcPct val="0"/>
              </a:spcBef>
              <a:buFontTx/>
              <a:buNone/>
            </a:pPr>
            <a:r>
              <a:rPr lang="en-US" altLang="ja-JP" sz="1400" dirty="0" err="1">
                <a:latin typeface="Tahoma" panose="020B0604030504040204" pitchFamily="34" charset="0"/>
              </a:rPr>
              <a:t>sfile</a:t>
            </a:r>
            <a:r>
              <a:rPr lang="en-US" altLang="ja-JP" sz="1400" dirty="0">
                <a:latin typeface="Tahoma" panose="020B0604030504040204" pitchFamily="34" charset="0"/>
              </a:rPr>
              <a:t> = </a:t>
            </a:r>
            <a:r>
              <a:rPr lang="en-US" altLang="ja-JP" sz="1400" dirty="0" err="1">
                <a:latin typeface="Tahoma" panose="020B0604030504040204" pitchFamily="34" charset="0"/>
              </a:rPr>
              <a:t>track_inside.out</a:t>
            </a:r>
            <a:endParaRPr lang="en-US" altLang="ja-JP" sz="1400" dirty="0">
              <a:latin typeface="Tahoma" panose="020B0604030504040204" pitchFamily="34" charset="0"/>
            </a:endParaRPr>
          </a:p>
          <a:p>
            <a:pPr eaLnBrk="1" hangingPunct="1">
              <a:spcBef>
                <a:spcPct val="0"/>
              </a:spcBef>
              <a:buFontTx/>
              <a:buNone/>
            </a:pPr>
            <a:r>
              <a:rPr lang="en-US" altLang="ja-JP" sz="1400" dirty="0" err="1">
                <a:latin typeface="Tahoma" panose="020B0604030504040204" pitchFamily="34" charset="0"/>
              </a:rPr>
              <a:t>sumfactor</a:t>
            </a:r>
            <a:r>
              <a:rPr lang="en-US" altLang="ja-JP" sz="1400" dirty="0">
                <a:latin typeface="Tahoma" panose="020B0604030504040204" pitchFamily="34" charset="0"/>
              </a:rPr>
              <a:t> = 2.0</a:t>
            </a:r>
          </a:p>
          <a:p>
            <a:pPr eaLnBrk="1" hangingPunct="1">
              <a:spcBef>
                <a:spcPct val="0"/>
              </a:spcBef>
              <a:buFontTx/>
              <a:buNone/>
            </a:pPr>
            <a:r>
              <a:rPr lang="en-US" altLang="ja-JP" sz="1400" dirty="0" err="1">
                <a:latin typeface="Tahoma" panose="020B0604030504040204" pitchFamily="34" charset="0"/>
              </a:rPr>
              <a:t>sumtally</a:t>
            </a:r>
            <a:r>
              <a:rPr lang="en-US" altLang="ja-JP" sz="1400" dirty="0">
                <a:latin typeface="Tahoma" panose="020B0604030504040204" pitchFamily="34" charset="0"/>
              </a:rPr>
              <a:t> end…</a:t>
            </a:r>
          </a:p>
        </p:txBody>
      </p:sp>
      <p:sp>
        <p:nvSpPr>
          <p:cNvPr id="11" name="四角形: 角を丸くする 10">
            <a:extLst>
              <a:ext uri="{FF2B5EF4-FFF2-40B4-BE49-F238E27FC236}">
                <a16:creationId xmlns:a16="http://schemas.microsoft.com/office/drawing/2014/main" id="{3684372A-566C-9D6E-5A81-AF3577B1DD1B}"/>
              </a:ext>
            </a:extLst>
          </p:cNvPr>
          <p:cNvSpPr/>
          <p:nvPr/>
        </p:nvSpPr>
        <p:spPr>
          <a:xfrm>
            <a:off x="322462" y="4828588"/>
            <a:ext cx="1873274" cy="1817573"/>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F2CE1536-0034-2DAF-0A25-15EABC69AE17}"/>
              </a:ext>
            </a:extLst>
          </p:cNvPr>
          <p:cNvSpPr txBox="1"/>
          <p:nvPr/>
        </p:nvSpPr>
        <p:spPr>
          <a:xfrm>
            <a:off x="2877209" y="4213212"/>
            <a:ext cx="2666499" cy="1323439"/>
          </a:xfrm>
          <a:prstGeom prst="rect">
            <a:avLst/>
          </a:prstGeom>
          <a:noFill/>
        </p:spPr>
        <p:txBody>
          <a:bodyPr wrap="square" rtlCol="0">
            <a:spAutoFit/>
          </a:bodyPr>
          <a:lstStyle/>
          <a:p>
            <a:pPr algn="ctr"/>
            <a:r>
              <a:rPr kumimoji="1" lang="en-US" altLang="ja-JP" sz="2000" dirty="0" err="1">
                <a:solidFill>
                  <a:srgbClr val="FF0000"/>
                </a:solidFill>
              </a:rPr>
              <a:t>Sumtally</a:t>
            </a:r>
            <a:r>
              <a:rPr kumimoji="1" lang="ja-JP" altLang="en-US" sz="2000" dirty="0">
                <a:solidFill>
                  <a:srgbClr val="FF0000"/>
                </a:solidFill>
              </a:rPr>
              <a:t>サブセクション</a:t>
            </a:r>
            <a:endParaRPr kumimoji="1" lang="en-US" altLang="ja-JP" sz="2000" dirty="0">
              <a:solidFill>
                <a:srgbClr val="FF0000"/>
              </a:solidFill>
            </a:endParaRPr>
          </a:p>
          <a:p>
            <a:r>
              <a:rPr kumimoji="1" lang="en-US" altLang="ja-JP" sz="2000" dirty="0">
                <a:solidFill>
                  <a:srgbClr val="FF0000"/>
                </a:solidFill>
              </a:rPr>
              <a:t>track_inside1.out</a:t>
            </a:r>
            <a:r>
              <a:rPr kumimoji="1" lang="ja-JP" altLang="en-US" sz="2000" dirty="0">
                <a:solidFill>
                  <a:srgbClr val="FF0000"/>
                </a:solidFill>
              </a:rPr>
              <a:t>と</a:t>
            </a:r>
            <a:r>
              <a:rPr kumimoji="1" lang="en-US" altLang="ja-JP" sz="2000" dirty="0">
                <a:solidFill>
                  <a:srgbClr val="FF0000"/>
                </a:solidFill>
              </a:rPr>
              <a:t>track_inside2.out</a:t>
            </a:r>
            <a:r>
              <a:rPr kumimoji="1" lang="ja-JP" altLang="en-US" sz="2000" dirty="0">
                <a:solidFill>
                  <a:srgbClr val="FF0000"/>
                </a:solidFill>
              </a:rPr>
              <a:t>を</a:t>
            </a:r>
            <a:r>
              <a:rPr kumimoji="1" lang="en-US" altLang="ja-JP" sz="2000" dirty="0">
                <a:solidFill>
                  <a:srgbClr val="FF0000"/>
                </a:solidFill>
              </a:rPr>
              <a:t>1:1</a:t>
            </a:r>
            <a:r>
              <a:rPr kumimoji="1" lang="ja-JP" altLang="en-US" sz="2000" dirty="0">
                <a:solidFill>
                  <a:srgbClr val="FF0000"/>
                </a:solidFill>
              </a:rPr>
              <a:t>で足し合わせて平均</a:t>
            </a:r>
            <a:endParaRPr kumimoji="1" lang="en-US" altLang="ja-JP" sz="2000" dirty="0">
              <a:solidFill>
                <a:srgbClr val="FF0000"/>
              </a:solidFill>
            </a:endParaRPr>
          </a:p>
        </p:txBody>
      </p:sp>
      <p:sp>
        <p:nvSpPr>
          <p:cNvPr id="19" name="テキスト ボックス 18">
            <a:extLst>
              <a:ext uri="{FF2B5EF4-FFF2-40B4-BE49-F238E27FC236}">
                <a16:creationId xmlns:a16="http://schemas.microsoft.com/office/drawing/2014/main" id="{63E9B3CC-4C9F-3399-9E57-EF3F0C48761E}"/>
              </a:ext>
            </a:extLst>
          </p:cNvPr>
          <p:cNvSpPr txBox="1"/>
          <p:nvPr/>
        </p:nvSpPr>
        <p:spPr>
          <a:xfrm>
            <a:off x="2772923" y="5557422"/>
            <a:ext cx="2666499" cy="707886"/>
          </a:xfrm>
          <a:prstGeom prst="rect">
            <a:avLst/>
          </a:prstGeom>
          <a:noFill/>
        </p:spPr>
        <p:txBody>
          <a:bodyPr wrap="square" rtlCol="0">
            <a:spAutoFit/>
          </a:bodyPr>
          <a:lstStyle/>
          <a:p>
            <a:pPr algn="ctr"/>
            <a:r>
              <a:rPr kumimoji="1" lang="ja-JP" altLang="en-US" sz="2000" dirty="0">
                <a:solidFill>
                  <a:srgbClr val="FF0000"/>
                </a:solidFill>
              </a:rPr>
              <a:t>平均ではなく、足し合わせにするので、</a:t>
            </a:r>
            <a:r>
              <a:rPr lang="en-US" altLang="ja-JP" sz="2000" dirty="0">
                <a:solidFill>
                  <a:srgbClr val="FF0000"/>
                </a:solidFill>
              </a:rPr>
              <a:t>x 2.0</a:t>
            </a:r>
            <a:endParaRPr kumimoji="1" lang="en-US" altLang="ja-JP" sz="2000" dirty="0">
              <a:solidFill>
                <a:srgbClr val="FF0000"/>
              </a:solidFill>
            </a:endParaRPr>
          </a:p>
        </p:txBody>
      </p:sp>
      <p:cxnSp>
        <p:nvCxnSpPr>
          <p:cNvPr id="21" name="直線矢印コネクタ 20">
            <a:extLst>
              <a:ext uri="{FF2B5EF4-FFF2-40B4-BE49-F238E27FC236}">
                <a16:creationId xmlns:a16="http://schemas.microsoft.com/office/drawing/2014/main" id="{883797EF-B0F2-2ABA-E6E4-D74CC2C99370}"/>
              </a:ext>
            </a:extLst>
          </p:cNvPr>
          <p:cNvCxnSpPr>
            <a:cxnSpLocks/>
          </p:cNvCxnSpPr>
          <p:nvPr/>
        </p:nvCxnSpPr>
        <p:spPr>
          <a:xfrm flipH="1">
            <a:off x="1655112" y="5938275"/>
            <a:ext cx="1117811" cy="32703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47F922E9-65D4-8F76-7F5E-6715D8C439A2}"/>
              </a:ext>
            </a:extLst>
          </p:cNvPr>
          <p:cNvCxnSpPr>
            <a:cxnSpLocks/>
            <a:stCxn id="18" idx="1"/>
          </p:cNvCxnSpPr>
          <p:nvPr/>
        </p:nvCxnSpPr>
        <p:spPr>
          <a:xfrm flipH="1">
            <a:off x="2195736" y="4874932"/>
            <a:ext cx="681473" cy="25353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2" name="テキスト ボックス 31">
            <a:extLst>
              <a:ext uri="{FF2B5EF4-FFF2-40B4-BE49-F238E27FC236}">
                <a16:creationId xmlns:a16="http://schemas.microsoft.com/office/drawing/2014/main" id="{4479E78F-2E79-E9C0-8528-0BA893CA6A62}"/>
              </a:ext>
            </a:extLst>
          </p:cNvPr>
          <p:cNvSpPr txBox="1"/>
          <p:nvPr/>
        </p:nvSpPr>
        <p:spPr>
          <a:xfrm>
            <a:off x="5709624" y="4187236"/>
            <a:ext cx="2977176" cy="646331"/>
          </a:xfrm>
          <a:prstGeom prst="rect">
            <a:avLst/>
          </a:prstGeom>
          <a:noFill/>
          <a:ln>
            <a:solidFill>
              <a:schemeClr val="tx1"/>
            </a:solidFill>
          </a:ln>
        </p:spPr>
        <p:txBody>
          <a:bodyPr wrap="square" rtlCol="0">
            <a:spAutoFit/>
          </a:bodyPr>
          <a:lstStyle/>
          <a:p>
            <a:r>
              <a:rPr lang="en-US" altLang="ja-JP" dirty="0" err="1"/>
              <a:t>Sumtally</a:t>
            </a:r>
            <a:r>
              <a:rPr kumimoji="1" lang="ja-JP" altLang="en-US" dirty="0"/>
              <a:t>の設定</a:t>
            </a:r>
            <a:endParaRPr kumimoji="1" lang="en-US" altLang="ja-JP" dirty="0"/>
          </a:p>
          <a:p>
            <a:r>
              <a:rPr kumimoji="1" lang="en-US" altLang="ja-JP" dirty="0" err="1"/>
              <a:t>phits</a:t>
            </a:r>
            <a:r>
              <a:rPr kumimoji="1" lang="en-US" altLang="ja-JP" dirty="0"/>
              <a:t>/lecture/</a:t>
            </a:r>
            <a:r>
              <a:rPr lang="en-US" altLang="ja-JP" dirty="0"/>
              <a:t>utility</a:t>
            </a:r>
            <a:r>
              <a:rPr kumimoji="1" lang="en-US" altLang="ja-JP" dirty="0"/>
              <a:t>/</a:t>
            </a:r>
            <a:r>
              <a:rPr lang="en-US" altLang="ja-JP" dirty="0" err="1"/>
              <a:t>s</a:t>
            </a:r>
            <a:r>
              <a:rPr kumimoji="1" lang="en-US" altLang="ja-JP" dirty="0" err="1"/>
              <a:t>umtally</a:t>
            </a:r>
            <a:endParaRPr kumimoji="1" lang="ja-JP" altLang="en-US" dirty="0"/>
          </a:p>
        </p:txBody>
      </p:sp>
      <p:sp>
        <p:nvSpPr>
          <p:cNvPr id="37" name="テキスト ボックス 36">
            <a:extLst>
              <a:ext uri="{FF2B5EF4-FFF2-40B4-BE49-F238E27FC236}">
                <a16:creationId xmlns:a16="http://schemas.microsoft.com/office/drawing/2014/main" id="{B7541A6F-2230-4DC0-008E-285F46F69320}"/>
              </a:ext>
            </a:extLst>
          </p:cNvPr>
          <p:cNvSpPr txBox="1"/>
          <p:nvPr/>
        </p:nvSpPr>
        <p:spPr>
          <a:xfrm>
            <a:off x="267416" y="3453277"/>
            <a:ext cx="2144344" cy="646331"/>
          </a:xfrm>
          <a:prstGeom prst="rect">
            <a:avLst/>
          </a:prstGeom>
          <a:noFill/>
          <a:ln>
            <a:solidFill>
              <a:schemeClr val="tx1"/>
            </a:solidFill>
          </a:ln>
        </p:spPr>
        <p:txBody>
          <a:bodyPr wrap="square">
            <a:spAutoFit/>
          </a:bodyPr>
          <a:lstStyle/>
          <a:p>
            <a:r>
              <a:rPr lang="en-US" altLang="ja-JP" dirty="0"/>
              <a:t>[ Parameter ]</a:t>
            </a:r>
          </a:p>
          <a:p>
            <a:r>
              <a:rPr lang="en-US" altLang="ja-JP" dirty="0" err="1"/>
              <a:t>icntl</a:t>
            </a:r>
            <a:r>
              <a:rPr lang="en-US" altLang="ja-JP" dirty="0"/>
              <a:t>    =          13</a:t>
            </a:r>
            <a:endParaRPr lang="ja-JP" altLang="en-US" dirty="0"/>
          </a:p>
        </p:txBody>
      </p:sp>
      <p:sp>
        <p:nvSpPr>
          <p:cNvPr id="39" name="テキスト ボックス 38">
            <a:extLst>
              <a:ext uri="{FF2B5EF4-FFF2-40B4-BE49-F238E27FC236}">
                <a16:creationId xmlns:a16="http://schemas.microsoft.com/office/drawing/2014/main" id="{FA675F55-90C2-2A81-3781-426EBBFF640D}"/>
              </a:ext>
            </a:extLst>
          </p:cNvPr>
          <p:cNvSpPr txBox="1"/>
          <p:nvPr/>
        </p:nvSpPr>
        <p:spPr>
          <a:xfrm>
            <a:off x="2834356" y="6373923"/>
            <a:ext cx="5973567" cy="461665"/>
          </a:xfrm>
          <a:prstGeom prst="rect">
            <a:avLst/>
          </a:prstGeom>
          <a:noFill/>
        </p:spPr>
        <p:txBody>
          <a:bodyPr wrap="square" rtlCol="0">
            <a:spAutoFit/>
          </a:bodyPr>
          <a:lstStyle/>
          <a:p>
            <a:pPr algn="ctr"/>
            <a:r>
              <a:rPr lang="en-US" altLang="ja-JP" sz="2400" dirty="0" err="1">
                <a:solidFill>
                  <a:srgbClr val="FF0000"/>
                </a:solidFill>
              </a:rPr>
              <a:t>sumtally</a:t>
            </a:r>
            <a:r>
              <a:rPr kumimoji="1" lang="en-US" altLang="ja-JP" sz="2400" dirty="0" err="1">
                <a:solidFill>
                  <a:srgbClr val="FF0000"/>
                </a:solidFill>
              </a:rPr>
              <a:t>.inp</a:t>
            </a:r>
            <a:r>
              <a:rPr kumimoji="1" lang="ja-JP" altLang="en-US" sz="2400" dirty="0">
                <a:solidFill>
                  <a:srgbClr val="FF0000"/>
                </a:solidFill>
              </a:rPr>
              <a:t>を実行し、</a:t>
            </a:r>
            <a:r>
              <a:rPr kumimoji="1" lang="en-US" altLang="ja-JP" sz="2400" dirty="0" err="1">
                <a:solidFill>
                  <a:srgbClr val="FF0000"/>
                </a:solidFill>
              </a:rPr>
              <a:t>track_inside.eps</a:t>
            </a:r>
            <a:r>
              <a:rPr kumimoji="1" lang="ja-JP" altLang="en-US" sz="2400" dirty="0">
                <a:solidFill>
                  <a:srgbClr val="FF0000"/>
                </a:solidFill>
              </a:rPr>
              <a:t>を確認</a:t>
            </a:r>
          </a:p>
        </p:txBody>
      </p:sp>
      <p:sp>
        <p:nvSpPr>
          <p:cNvPr id="22" name="スライド番号プレースホルダー 21">
            <a:extLst>
              <a:ext uri="{FF2B5EF4-FFF2-40B4-BE49-F238E27FC236}">
                <a16:creationId xmlns:a16="http://schemas.microsoft.com/office/drawing/2014/main" id="{3D4BECC2-D22C-579A-8B98-F19234DF67A4}"/>
              </a:ext>
            </a:extLst>
          </p:cNvPr>
          <p:cNvSpPr>
            <a:spLocks noGrp="1"/>
          </p:cNvSpPr>
          <p:nvPr>
            <p:ph type="sldNum" sz="quarter" idx="12"/>
          </p:nvPr>
        </p:nvSpPr>
        <p:spPr/>
        <p:txBody>
          <a:bodyPr/>
          <a:lstStyle/>
          <a:p>
            <a:fld id="{D2D8002D-B5B0-4BAC-B1F6-782DDCCE6D9C}" type="slidenum">
              <a:rPr kumimoji="1" lang="ja-JP" altLang="en-US" smtClean="0"/>
              <a:t>23</a:t>
            </a:fld>
            <a:endParaRPr kumimoji="1" lang="ja-JP" altLang="en-US"/>
          </a:p>
        </p:txBody>
      </p:sp>
    </p:spTree>
    <p:extLst>
      <p:ext uri="{BB962C8B-B14F-4D97-AF65-F5344CB8AC3E}">
        <p14:creationId xmlns:p14="http://schemas.microsoft.com/office/powerpoint/2010/main" val="8824852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78247-88CB-D6CA-31BA-084743C6AA6A}"/>
            </a:ext>
          </a:extLst>
        </p:cNvPr>
        <p:cNvGrpSpPr/>
        <p:nvPr/>
      </p:nvGrpSpPr>
      <p:grpSpPr>
        <a:xfrm>
          <a:off x="0" y="0"/>
          <a:ext cx="0" cy="0"/>
          <a:chOff x="0" y="0"/>
          <a:chExt cx="0" cy="0"/>
        </a:xfrm>
      </p:grpSpPr>
      <p:pic>
        <p:nvPicPr>
          <p:cNvPr id="21" name="図 20">
            <a:extLst>
              <a:ext uri="{FF2B5EF4-FFF2-40B4-BE49-F238E27FC236}">
                <a16:creationId xmlns:a16="http://schemas.microsoft.com/office/drawing/2014/main" id="{F9FF895B-7A8C-3992-1725-75255D0AD15B}"/>
              </a:ext>
            </a:extLst>
          </p:cNvPr>
          <p:cNvPicPr>
            <a:picLocks noChangeAspect="1"/>
          </p:cNvPicPr>
          <p:nvPr/>
        </p:nvPicPr>
        <p:blipFill>
          <a:blip r:embed="rId2"/>
          <a:srcRect l="1499" t="13250" r="1499" b="5901"/>
          <a:stretch/>
        </p:blipFill>
        <p:spPr>
          <a:xfrm>
            <a:off x="4366971" y="1105185"/>
            <a:ext cx="4370119" cy="3657600"/>
          </a:xfrm>
          <a:prstGeom prst="rect">
            <a:avLst/>
          </a:prstGeom>
        </p:spPr>
      </p:pic>
      <p:sp>
        <p:nvSpPr>
          <p:cNvPr id="2" name="タイトル 1">
            <a:extLst>
              <a:ext uri="{FF2B5EF4-FFF2-40B4-BE49-F238E27FC236}">
                <a16:creationId xmlns:a16="http://schemas.microsoft.com/office/drawing/2014/main" id="{DBAB11D3-3405-198C-8366-878B12819BD6}"/>
              </a:ext>
            </a:extLst>
          </p:cNvPr>
          <p:cNvSpPr>
            <a:spLocks noGrp="1"/>
          </p:cNvSpPr>
          <p:nvPr>
            <p:ph type="title"/>
          </p:nvPr>
        </p:nvSpPr>
        <p:spPr>
          <a:xfrm>
            <a:off x="457200" y="53752"/>
            <a:ext cx="8229600" cy="1143000"/>
          </a:xfrm>
        </p:spPr>
        <p:txBody>
          <a:bodyPr>
            <a:normAutofit/>
          </a:bodyPr>
          <a:lstStyle/>
          <a:p>
            <a:r>
              <a:rPr lang="ja-JP" altLang="en-US" dirty="0">
                <a:latin typeface="Arial" pitchFamily="18"/>
              </a:rPr>
              <a:t>ステップ</a:t>
            </a:r>
            <a:r>
              <a:rPr lang="ja-JP" altLang="ja-JP" dirty="0">
                <a:latin typeface="Arial" pitchFamily="18"/>
              </a:rPr>
              <a:t> </a:t>
            </a:r>
            <a:r>
              <a:rPr lang="en-US" altLang="ja-JP" dirty="0">
                <a:latin typeface="Arial" pitchFamily="18"/>
              </a:rPr>
              <a:t>7</a:t>
            </a:r>
            <a:r>
              <a:rPr lang="ja-JP" altLang="en-US" dirty="0">
                <a:latin typeface="Arial" pitchFamily="18"/>
              </a:rPr>
              <a:t>（</a:t>
            </a:r>
            <a:r>
              <a:rPr lang="en-US" altLang="ja-JP" dirty="0" err="1">
                <a:latin typeface="Arial" pitchFamily="18"/>
              </a:rPr>
              <a:t>Sumtally</a:t>
            </a:r>
            <a:r>
              <a:rPr lang="ja-JP" altLang="en-US" dirty="0">
                <a:latin typeface="Arial" pitchFamily="18"/>
              </a:rPr>
              <a:t>）結果</a:t>
            </a:r>
            <a:endParaRPr kumimoji="1" lang="ja-JP" altLang="en-US" dirty="0"/>
          </a:p>
        </p:txBody>
      </p:sp>
      <p:sp>
        <p:nvSpPr>
          <p:cNvPr id="7" name="テキスト ボックス 6">
            <a:extLst>
              <a:ext uri="{FF2B5EF4-FFF2-40B4-BE49-F238E27FC236}">
                <a16:creationId xmlns:a16="http://schemas.microsoft.com/office/drawing/2014/main" id="{5D84492A-D353-8E47-FFA8-6E7A1F6EB98A}"/>
              </a:ext>
            </a:extLst>
          </p:cNvPr>
          <p:cNvSpPr txBox="1"/>
          <p:nvPr/>
        </p:nvSpPr>
        <p:spPr>
          <a:xfrm>
            <a:off x="482076" y="4756378"/>
            <a:ext cx="2643044" cy="523220"/>
          </a:xfrm>
          <a:prstGeom prst="rect">
            <a:avLst/>
          </a:prstGeom>
          <a:noFill/>
        </p:spPr>
        <p:txBody>
          <a:bodyPr wrap="square" rtlCol="0">
            <a:spAutoFit/>
          </a:bodyPr>
          <a:lstStyle/>
          <a:p>
            <a:r>
              <a:rPr kumimoji="1" lang="en-US" altLang="ja-JP" sz="2800" dirty="0" err="1"/>
              <a:t>track_inside.eps</a:t>
            </a:r>
            <a:endParaRPr kumimoji="1" lang="ja-JP" altLang="en-US" sz="2800" dirty="0"/>
          </a:p>
        </p:txBody>
      </p:sp>
      <p:sp>
        <p:nvSpPr>
          <p:cNvPr id="8" name="テキスト ボックス 7">
            <a:extLst>
              <a:ext uri="{FF2B5EF4-FFF2-40B4-BE49-F238E27FC236}">
                <a16:creationId xmlns:a16="http://schemas.microsoft.com/office/drawing/2014/main" id="{A62A49EA-AE0E-90E4-2E2C-6D649E803C53}"/>
              </a:ext>
            </a:extLst>
          </p:cNvPr>
          <p:cNvSpPr txBox="1"/>
          <p:nvPr/>
        </p:nvSpPr>
        <p:spPr>
          <a:xfrm>
            <a:off x="6018882" y="4676996"/>
            <a:ext cx="1706938" cy="523220"/>
          </a:xfrm>
          <a:prstGeom prst="rect">
            <a:avLst/>
          </a:prstGeom>
          <a:noFill/>
        </p:spPr>
        <p:txBody>
          <a:bodyPr wrap="square" rtlCol="0">
            <a:spAutoFit/>
          </a:bodyPr>
          <a:lstStyle/>
          <a:p>
            <a:r>
              <a:rPr lang="en-US" altLang="ja-JP" sz="2800" dirty="0" err="1"/>
              <a:t>vdose</a:t>
            </a:r>
            <a:r>
              <a:rPr kumimoji="1" lang="en-US" altLang="ja-JP" sz="2800" dirty="0" err="1"/>
              <a:t>.eps</a:t>
            </a:r>
            <a:endParaRPr kumimoji="1" lang="ja-JP" altLang="en-US" sz="2800" dirty="0"/>
          </a:p>
        </p:txBody>
      </p:sp>
      <p:sp>
        <p:nvSpPr>
          <p:cNvPr id="10" name="テキスト ボックス 9">
            <a:extLst>
              <a:ext uri="{FF2B5EF4-FFF2-40B4-BE49-F238E27FC236}">
                <a16:creationId xmlns:a16="http://schemas.microsoft.com/office/drawing/2014/main" id="{66CA30F0-39FE-684B-DD26-D8876791FF12}"/>
              </a:ext>
            </a:extLst>
          </p:cNvPr>
          <p:cNvSpPr txBox="1"/>
          <p:nvPr/>
        </p:nvSpPr>
        <p:spPr>
          <a:xfrm>
            <a:off x="60601" y="5571109"/>
            <a:ext cx="4306370" cy="646331"/>
          </a:xfrm>
          <a:prstGeom prst="rect">
            <a:avLst/>
          </a:prstGeom>
          <a:noFill/>
          <a:ln>
            <a:solidFill>
              <a:schemeClr val="tx1"/>
            </a:solidFill>
          </a:ln>
        </p:spPr>
        <p:txBody>
          <a:bodyPr wrap="square">
            <a:spAutoFit/>
          </a:bodyPr>
          <a:lstStyle/>
          <a:p>
            <a:r>
              <a:rPr lang="pt-BR" altLang="ja-JP" dirty="0"/>
              <a:t>#  num    reg     volume       all       r.err </a:t>
            </a:r>
          </a:p>
          <a:p>
            <a:r>
              <a:rPr lang="pt-BR" altLang="ja-JP" dirty="0"/>
              <a:t>    1      10   4.1888E+03   1.2800E-02  0.0763</a:t>
            </a:r>
            <a:endParaRPr lang="ja-JP" altLang="en-US" dirty="0"/>
          </a:p>
        </p:txBody>
      </p:sp>
      <p:sp>
        <p:nvSpPr>
          <p:cNvPr id="11" name="テキスト ボックス 10">
            <a:extLst>
              <a:ext uri="{FF2B5EF4-FFF2-40B4-BE49-F238E27FC236}">
                <a16:creationId xmlns:a16="http://schemas.microsoft.com/office/drawing/2014/main" id="{DE975216-0039-4932-B663-8BD2D5598F4F}"/>
              </a:ext>
            </a:extLst>
          </p:cNvPr>
          <p:cNvSpPr txBox="1"/>
          <p:nvPr/>
        </p:nvSpPr>
        <p:spPr>
          <a:xfrm>
            <a:off x="753040" y="6281028"/>
            <a:ext cx="3168352" cy="523220"/>
          </a:xfrm>
          <a:prstGeom prst="rect">
            <a:avLst/>
          </a:prstGeom>
          <a:noFill/>
        </p:spPr>
        <p:txBody>
          <a:bodyPr wrap="square" rtlCol="0">
            <a:spAutoFit/>
          </a:bodyPr>
          <a:lstStyle/>
          <a:p>
            <a:r>
              <a:rPr lang="en-US" altLang="ja-JP" sz="2800" dirty="0" err="1"/>
              <a:t>dose</a:t>
            </a:r>
            <a:r>
              <a:rPr kumimoji="1" lang="en-US" altLang="ja-JP" sz="2800" dirty="0" err="1"/>
              <a:t>.out</a:t>
            </a:r>
            <a:r>
              <a:rPr kumimoji="1" lang="en-US" altLang="ja-JP" sz="2800" dirty="0"/>
              <a:t> (38</a:t>
            </a:r>
            <a:r>
              <a:rPr kumimoji="1" lang="ja-JP" altLang="en-US" sz="2800" dirty="0"/>
              <a:t>行目</a:t>
            </a:r>
            <a:r>
              <a:rPr kumimoji="1" lang="en-US" altLang="ja-JP" sz="2800" dirty="0"/>
              <a:t>)</a:t>
            </a:r>
            <a:endParaRPr kumimoji="1" lang="ja-JP" altLang="en-US" sz="2800" dirty="0"/>
          </a:p>
        </p:txBody>
      </p:sp>
      <p:sp>
        <p:nvSpPr>
          <p:cNvPr id="12" name="テキスト ボックス 11">
            <a:extLst>
              <a:ext uri="{FF2B5EF4-FFF2-40B4-BE49-F238E27FC236}">
                <a16:creationId xmlns:a16="http://schemas.microsoft.com/office/drawing/2014/main" id="{26A8420F-8039-BD6F-D151-28071E32A60D}"/>
              </a:ext>
            </a:extLst>
          </p:cNvPr>
          <p:cNvSpPr txBox="1"/>
          <p:nvPr/>
        </p:nvSpPr>
        <p:spPr>
          <a:xfrm>
            <a:off x="5868144" y="2319408"/>
            <a:ext cx="2515724" cy="707886"/>
          </a:xfrm>
          <a:prstGeom prst="rect">
            <a:avLst/>
          </a:prstGeom>
          <a:noFill/>
        </p:spPr>
        <p:txBody>
          <a:bodyPr wrap="square" rtlCol="0">
            <a:spAutoFit/>
          </a:bodyPr>
          <a:lstStyle/>
          <a:p>
            <a:pPr algn="ctr"/>
            <a:r>
              <a:rPr lang="ja-JP" altLang="en-US" sz="2000" dirty="0"/>
              <a:t>小屋中央</a:t>
            </a:r>
            <a:r>
              <a:rPr lang="en-US" altLang="ja-JP" sz="2000" dirty="0"/>
              <a:t>(1x1m</a:t>
            </a:r>
            <a:r>
              <a:rPr lang="en-US" altLang="ja-JP" sz="2000" baseline="30000" dirty="0"/>
              <a:t>2</a:t>
            </a:r>
            <a:r>
              <a:rPr lang="en-US" altLang="ja-JP" sz="2000" dirty="0"/>
              <a:t>)</a:t>
            </a:r>
            <a:r>
              <a:rPr lang="ja-JP" altLang="en-US" sz="2000" dirty="0"/>
              <a:t>の垂直方向の線量分布</a:t>
            </a:r>
            <a:endParaRPr kumimoji="1" lang="en-US" altLang="ja-JP" sz="2000" dirty="0"/>
          </a:p>
        </p:txBody>
      </p:sp>
      <p:sp>
        <p:nvSpPr>
          <p:cNvPr id="14" name="テキスト ボックス 13">
            <a:extLst>
              <a:ext uri="{FF2B5EF4-FFF2-40B4-BE49-F238E27FC236}">
                <a16:creationId xmlns:a16="http://schemas.microsoft.com/office/drawing/2014/main" id="{88D1AA9D-14AF-618E-788D-8134AF4169A2}"/>
              </a:ext>
            </a:extLst>
          </p:cNvPr>
          <p:cNvSpPr txBox="1"/>
          <p:nvPr/>
        </p:nvSpPr>
        <p:spPr>
          <a:xfrm>
            <a:off x="5697849" y="3270101"/>
            <a:ext cx="2856313" cy="646331"/>
          </a:xfrm>
          <a:prstGeom prst="rect">
            <a:avLst/>
          </a:prstGeom>
          <a:noFill/>
        </p:spPr>
        <p:txBody>
          <a:bodyPr wrap="square" rtlCol="0">
            <a:spAutoFit/>
          </a:bodyPr>
          <a:lstStyle/>
          <a:p>
            <a:r>
              <a:rPr kumimoji="1" lang="ja-JP" altLang="en-US" dirty="0">
                <a:solidFill>
                  <a:srgbClr val="FF0000"/>
                </a:solidFill>
              </a:rPr>
              <a:t>線量が垂直方向に上昇</a:t>
            </a:r>
            <a:endParaRPr kumimoji="1" lang="en-US" altLang="ja-JP" dirty="0">
              <a:solidFill>
                <a:srgbClr val="FF0000"/>
              </a:solidFill>
            </a:endParaRPr>
          </a:p>
          <a:p>
            <a:r>
              <a:rPr lang="en-US" altLang="ja-JP" dirty="0">
                <a:solidFill>
                  <a:srgbClr val="FF0000"/>
                </a:solidFill>
              </a:rPr>
              <a:t>=&gt; 2</a:t>
            </a:r>
            <a:r>
              <a:rPr lang="ja-JP" altLang="en-US" dirty="0">
                <a:solidFill>
                  <a:srgbClr val="FF0000"/>
                </a:solidFill>
              </a:rPr>
              <a:t>階のほうが線量が高い</a:t>
            </a:r>
            <a:endParaRPr kumimoji="1" lang="ja-JP" altLang="en-US" dirty="0">
              <a:solidFill>
                <a:srgbClr val="FF0000"/>
              </a:solidFill>
            </a:endParaRPr>
          </a:p>
        </p:txBody>
      </p:sp>
      <p:sp>
        <p:nvSpPr>
          <p:cNvPr id="16" name="テキスト ボックス 15">
            <a:extLst>
              <a:ext uri="{FF2B5EF4-FFF2-40B4-BE49-F238E27FC236}">
                <a16:creationId xmlns:a16="http://schemas.microsoft.com/office/drawing/2014/main" id="{32678AD5-7239-14CC-8605-FDA69BFA4120}"/>
              </a:ext>
            </a:extLst>
          </p:cNvPr>
          <p:cNvSpPr txBox="1"/>
          <p:nvPr/>
        </p:nvSpPr>
        <p:spPr>
          <a:xfrm>
            <a:off x="4507800" y="5710442"/>
            <a:ext cx="4179000" cy="369332"/>
          </a:xfrm>
          <a:prstGeom prst="rect">
            <a:avLst/>
          </a:prstGeom>
          <a:noFill/>
        </p:spPr>
        <p:txBody>
          <a:bodyPr wrap="square">
            <a:spAutoFit/>
          </a:bodyPr>
          <a:lstStyle/>
          <a:p>
            <a:r>
              <a:rPr lang="ja-JP" altLang="en-US" dirty="0">
                <a:solidFill>
                  <a:srgbClr val="FF0000"/>
                </a:solidFill>
              </a:rPr>
              <a:t>無限平面上の線量</a:t>
            </a:r>
            <a:r>
              <a:rPr lang="en-US" altLang="ja-JP" dirty="0">
                <a:solidFill>
                  <a:srgbClr val="FF0000"/>
                </a:solidFill>
              </a:rPr>
              <a:t>(2.0340E-02)</a:t>
            </a:r>
            <a:r>
              <a:rPr lang="ja-JP" altLang="en-US" dirty="0">
                <a:solidFill>
                  <a:srgbClr val="FF0000"/>
                </a:solidFill>
              </a:rPr>
              <a:t>の半分強</a:t>
            </a:r>
          </a:p>
        </p:txBody>
      </p:sp>
      <p:sp>
        <p:nvSpPr>
          <p:cNvPr id="17" name="テキスト ボックス 16">
            <a:extLst>
              <a:ext uri="{FF2B5EF4-FFF2-40B4-BE49-F238E27FC236}">
                <a16:creationId xmlns:a16="http://schemas.microsoft.com/office/drawing/2014/main" id="{BE28415F-6ED0-260A-E2E0-340A3705B798}"/>
              </a:ext>
            </a:extLst>
          </p:cNvPr>
          <p:cNvSpPr txBox="1"/>
          <p:nvPr/>
        </p:nvSpPr>
        <p:spPr>
          <a:xfrm>
            <a:off x="5222610" y="6220668"/>
            <a:ext cx="3128167" cy="369332"/>
          </a:xfrm>
          <a:prstGeom prst="rect">
            <a:avLst/>
          </a:prstGeom>
          <a:noFill/>
        </p:spPr>
        <p:txBody>
          <a:bodyPr wrap="square">
            <a:spAutoFit/>
          </a:bodyPr>
          <a:lstStyle/>
          <a:p>
            <a:r>
              <a:rPr lang="ja-JP" altLang="en-US" dirty="0">
                <a:solidFill>
                  <a:srgbClr val="FF0000"/>
                </a:solidFill>
              </a:rPr>
              <a:t>線量が低減した主な原因は？</a:t>
            </a:r>
          </a:p>
        </p:txBody>
      </p:sp>
      <p:pic>
        <p:nvPicPr>
          <p:cNvPr id="19" name="図 18">
            <a:extLst>
              <a:ext uri="{FF2B5EF4-FFF2-40B4-BE49-F238E27FC236}">
                <a16:creationId xmlns:a16="http://schemas.microsoft.com/office/drawing/2014/main" id="{F6C50E21-3E8F-7499-309C-0F668E8D35FE}"/>
              </a:ext>
            </a:extLst>
          </p:cNvPr>
          <p:cNvPicPr>
            <a:picLocks noChangeAspect="1"/>
          </p:cNvPicPr>
          <p:nvPr/>
        </p:nvPicPr>
        <p:blipFill>
          <a:blip r:embed="rId3"/>
          <a:srcRect l="437" t="9340" r="2764" b="3908"/>
          <a:stretch/>
        </p:blipFill>
        <p:spPr>
          <a:xfrm>
            <a:off x="419629" y="1081165"/>
            <a:ext cx="3046704" cy="3790800"/>
          </a:xfrm>
          <a:prstGeom prst="rect">
            <a:avLst/>
          </a:prstGeom>
        </p:spPr>
      </p:pic>
      <p:sp>
        <p:nvSpPr>
          <p:cNvPr id="3" name="スライド番号プレースホルダー 2">
            <a:extLst>
              <a:ext uri="{FF2B5EF4-FFF2-40B4-BE49-F238E27FC236}">
                <a16:creationId xmlns:a16="http://schemas.microsoft.com/office/drawing/2014/main" id="{45E9F9D6-D3FC-4F0E-C529-96DC75AF2A15}"/>
              </a:ext>
            </a:extLst>
          </p:cNvPr>
          <p:cNvSpPr>
            <a:spLocks noGrp="1"/>
          </p:cNvSpPr>
          <p:nvPr>
            <p:ph type="sldNum" sz="quarter" idx="12"/>
          </p:nvPr>
        </p:nvSpPr>
        <p:spPr/>
        <p:txBody>
          <a:bodyPr/>
          <a:lstStyle/>
          <a:p>
            <a:fld id="{D2D8002D-B5B0-4BAC-B1F6-782DDCCE6D9C}" type="slidenum">
              <a:rPr kumimoji="1" lang="ja-JP" altLang="en-US" smtClean="0"/>
              <a:t>24</a:t>
            </a:fld>
            <a:endParaRPr kumimoji="1" lang="ja-JP" altLang="en-US"/>
          </a:p>
        </p:txBody>
      </p:sp>
    </p:spTree>
    <p:extLst>
      <p:ext uri="{BB962C8B-B14F-4D97-AF65-F5344CB8AC3E}">
        <p14:creationId xmlns:p14="http://schemas.microsoft.com/office/powerpoint/2010/main" val="9983415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DAE3C-F46F-8E3B-C0C2-CCA92E610CF9}"/>
            </a:ext>
          </a:extLst>
        </p:cNvPr>
        <p:cNvGrpSpPr/>
        <p:nvPr/>
      </p:nvGrpSpPr>
      <p:grpSpPr>
        <a:xfrm>
          <a:off x="0" y="0"/>
          <a:ext cx="0" cy="0"/>
          <a:chOff x="0" y="0"/>
          <a:chExt cx="0" cy="0"/>
        </a:xfrm>
      </p:grpSpPr>
      <p:pic>
        <p:nvPicPr>
          <p:cNvPr id="21" name="図 20">
            <a:extLst>
              <a:ext uri="{FF2B5EF4-FFF2-40B4-BE49-F238E27FC236}">
                <a16:creationId xmlns:a16="http://schemas.microsoft.com/office/drawing/2014/main" id="{CCB1F490-9433-4A12-4C2B-E2163D8EE7DC}"/>
              </a:ext>
            </a:extLst>
          </p:cNvPr>
          <p:cNvPicPr>
            <a:picLocks noChangeAspect="1"/>
          </p:cNvPicPr>
          <p:nvPr/>
        </p:nvPicPr>
        <p:blipFill>
          <a:blip r:embed="rId2"/>
          <a:srcRect l="1499" t="13250" r="1499" b="5901"/>
          <a:stretch/>
        </p:blipFill>
        <p:spPr>
          <a:xfrm>
            <a:off x="5122275" y="997353"/>
            <a:ext cx="3531781" cy="2955947"/>
          </a:xfrm>
          <a:prstGeom prst="rect">
            <a:avLst/>
          </a:prstGeom>
        </p:spPr>
      </p:pic>
      <p:sp>
        <p:nvSpPr>
          <p:cNvPr id="2" name="タイトル 1">
            <a:extLst>
              <a:ext uri="{FF2B5EF4-FFF2-40B4-BE49-F238E27FC236}">
                <a16:creationId xmlns:a16="http://schemas.microsoft.com/office/drawing/2014/main" id="{88679119-EB9C-7E74-B607-C8E989910622}"/>
              </a:ext>
            </a:extLst>
          </p:cNvPr>
          <p:cNvSpPr>
            <a:spLocks noGrp="1"/>
          </p:cNvSpPr>
          <p:nvPr>
            <p:ph type="title"/>
          </p:nvPr>
        </p:nvSpPr>
        <p:spPr>
          <a:xfrm>
            <a:off x="457200" y="53752"/>
            <a:ext cx="8229600" cy="1143000"/>
          </a:xfrm>
        </p:spPr>
        <p:txBody>
          <a:bodyPr>
            <a:normAutofit/>
          </a:bodyPr>
          <a:lstStyle/>
          <a:p>
            <a:r>
              <a:rPr lang="ja-JP" altLang="en-US" dirty="0">
                <a:latin typeface="Arial" pitchFamily="18"/>
              </a:rPr>
              <a:t>ステップ</a:t>
            </a:r>
            <a:r>
              <a:rPr lang="ja-JP" altLang="ja-JP" dirty="0">
                <a:latin typeface="Arial" pitchFamily="18"/>
              </a:rPr>
              <a:t> </a:t>
            </a:r>
            <a:r>
              <a:rPr lang="en-US" altLang="ja-JP" dirty="0">
                <a:latin typeface="Arial" pitchFamily="18"/>
              </a:rPr>
              <a:t>7</a:t>
            </a:r>
            <a:r>
              <a:rPr lang="ja-JP" altLang="en-US" dirty="0">
                <a:latin typeface="Arial" pitchFamily="18"/>
              </a:rPr>
              <a:t>（</a:t>
            </a:r>
            <a:r>
              <a:rPr lang="en-US" altLang="ja-JP" dirty="0" err="1">
                <a:latin typeface="Arial" pitchFamily="18"/>
              </a:rPr>
              <a:t>Sumtally</a:t>
            </a:r>
            <a:r>
              <a:rPr lang="ja-JP" altLang="en-US" dirty="0">
                <a:latin typeface="Arial" pitchFamily="18"/>
              </a:rPr>
              <a:t>）結果</a:t>
            </a:r>
            <a:endParaRPr kumimoji="1" lang="ja-JP" altLang="en-US" dirty="0"/>
          </a:p>
        </p:txBody>
      </p:sp>
      <p:sp>
        <p:nvSpPr>
          <p:cNvPr id="7" name="テキスト ボックス 6">
            <a:extLst>
              <a:ext uri="{FF2B5EF4-FFF2-40B4-BE49-F238E27FC236}">
                <a16:creationId xmlns:a16="http://schemas.microsoft.com/office/drawing/2014/main" id="{CD2914A0-5F56-29B0-9895-293030B69B12}"/>
              </a:ext>
            </a:extLst>
          </p:cNvPr>
          <p:cNvSpPr txBox="1"/>
          <p:nvPr/>
        </p:nvSpPr>
        <p:spPr>
          <a:xfrm>
            <a:off x="482076" y="4756378"/>
            <a:ext cx="2643044" cy="523220"/>
          </a:xfrm>
          <a:prstGeom prst="rect">
            <a:avLst/>
          </a:prstGeom>
          <a:noFill/>
        </p:spPr>
        <p:txBody>
          <a:bodyPr wrap="square" rtlCol="0">
            <a:spAutoFit/>
          </a:bodyPr>
          <a:lstStyle/>
          <a:p>
            <a:r>
              <a:rPr kumimoji="1" lang="en-US" altLang="ja-JP" sz="2800" dirty="0" err="1"/>
              <a:t>track_inside.eps</a:t>
            </a:r>
            <a:endParaRPr kumimoji="1" lang="ja-JP" altLang="en-US" sz="2800" dirty="0"/>
          </a:p>
        </p:txBody>
      </p:sp>
      <p:sp>
        <p:nvSpPr>
          <p:cNvPr id="8" name="テキスト ボックス 7">
            <a:extLst>
              <a:ext uri="{FF2B5EF4-FFF2-40B4-BE49-F238E27FC236}">
                <a16:creationId xmlns:a16="http://schemas.microsoft.com/office/drawing/2014/main" id="{0EC9A70F-E8BF-1583-5F1A-D9E94854B24B}"/>
              </a:ext>
            </a:extLst>
          </p:cNvPr>
          <p:cNvSpPr txBox="1"/>
          <p:nvPr/>
        </p:nvSpPr>
        <p:spPr>
          <a:xfrm>
            <a:off x="6424470" y="2918759"/>
            <a:ext cx="1706938" cy="523220"/>
          </a:xfrm>
          <a:prstGeom prst="rect">
            <a:avLst/>
          </a:prstGeom>
          <a:noFill/>
        </p:spPr>
        <p:txBody>
          <a:bodyPr wrap="square" rtlCol="0">
            <a:spAutoFit/>
          </a:bodyPr>
          <a:lstStyle/>
          <a:p>
            <a:r>
              <a:rPr lang="en-US" altLang="ja-JP" sz="2800" dirty="0" err="1"/>
              <a:t>vdose</a:t>
            </a:r>
            <a:r>
              <a:rPr kumimoji="1" lang="en-US" altLang="ja-JP" sz="2800" dirty="0" err="1"/>
              <a:t>.eps</a:t>
            </a:r>
            <a:endParaRPr kumimoji="1" lang="ja-JP" altLang="en-US" sz="2800" dirty="0"/>
          </a:p>
        </p:txBody>
      </p:sp>
      <p:sp>
        <p:nvSpPr>
          <p:cNvPr id="12" name="テキスト ボックス 11">
            <a:extLst>
              <a:ext uri="{FF2B5EF4-FFF2-40B4-BE49-F238E27FC236}">
                <a16:creationId xmlns:a16="http://schemas.microsoft.com/office/drawing/2014/main" id="{2FCDC202-55D0-C568-7101-84A95980F98C}"/>
              </a:ext>
            </a:extLst>
          </p:cNvPr>
          <p:cNvSpPr txBox="1"/>
          <p:nvPr/>
        </p:nvSpPr>
        <p:spPr>
          <a:xfrm>
            <a:off x="5975528" y="2140353"/>
            <a:ext cx="2515724" cy="707886"/>
          </a:xfrm>
          <a:prstGeom prst="rect">
            <a:avLst/>
          </a:prstGeom>
          <a:noFill/>
        </p:spPr>
        <p:txBody>
          <a:bodyPr wrap="square" rtlCol="0">
            <a:spAutoFit/>
          </a:bodyPr>
          <a:lstStyle/>
          <a:p>
            <a:pPr algn="ctr"/>
            <a:r>
              <a:rPr lang="ja-JP" altLang="en-US" sz="2000" dirty="0"/>
              <a:t>小屋中央</a:t>
            </a:r>
            <a:r>
              <a:rPr lang="en-US" altLang="ja-JP" sz="2000" dirty="0"/>
              <a:t>(1x1m</a:t>
            </a:r>
            <a:r>
              <a:rPr lang="en-US" altLang="ja-JP" sz="2000" baseline="30000" dirty="0"/>
              <a:t>2</a:t>
            </a:r>
            <a:r>
              <a:rPr lang="en-US" altLang="ja-JP" sz="2000" dirty="0"/>
              <a:t>)</a:t>
            </a:r>
            <a:r>
              <a:rPr lang="ja-JP" altLang="en-US" sz="2000" dirty="0"/>
              <a:t>の垂直方向の線量分布</a:t>
            </a:r>
            <a:endParaRPr kumimoji="1" lang="en-US" altLang="ja-JP" sz="2000" dirty="0"/>
          </a:p>
        </p:txBody>
      </p:sp>
      <p:pic>
        <p:nvPicPr>
          <p:cNvPr id="19" name="図 18">
            <a:extLst>
              <a:ext uri="{FF2B5EF4-FFF2-40B4-BE49-F238E27FC236}">
                <a16:creationId xmlns:a16="http://schemas.microsoft.com/office/drawing/2014/main" id="{D28FB890-5767-33F8-2DA1-FB044155BE86}"/>
              </a:ext>
            </a:extLst>
          </p:cNvPr>
          <p:cNvPicPr>
            <a:picLocks noChangeAspect="1"/>
          </p:cNvPicPr>
          <p:nvPr/>
        </p:nvPicPr>
        <p:blipFill>
          <a:blip r:embed="rId3"/>
          <a:srcRect l="437" t="9340" r="2764" b="3908"/>
          <a:stretch/>
        </p:blipFill>
        <p:spPr>
          <a:xfrm>
            <a:off x="419629" y="1081165"/>
            <a:ext cx="3046704" cy="3790800"/>
          </a:xfrm>
          <a:prstGeom prst="rect">
            <a:avLst/>
          </a:prstGeom>
        </p:spPr>
      </p:pic>
      <p:sp>
        <p:nvSpPr>
          <p:cNvPr id="3" name="スライド番号プレースホルダー 2">
            <a:extLst>
              <a:ext uri="{FF2B5EF4-FFF2-40B4-BE49-F238E27FC236}">
                <a16:creationId xmlns:a16="http://schemas.microsoft.com/office/drawing/2014/main" id="{0066A048-4DB6-F8F4-CB60-640AFAD42DE8}"/>
              </a:ext>
            </a:extLst>
          </p:cNvPr>
          <p:cNvSpPr>
            <a:spLocks noGrp="1"/>
          </p:cNvSpPr>
          <p:nvPr>
            <p:ph type="sldNum" sz="quarter" idx="12"/>
          </p:nvPr>
        </p:nvSpPr>
        <p:spPr/>
        <p:txBody>
          <a:bodyPr/>
          <a:lstStyle/>
          <a:p>
            <a:fld id="{D2D8002D-B5B0-4BAC-B1F6-782DDCCE6D9C}" type="slidenum">
              <a:rPr kumimoji="1" lang="ja-JP" altLang="en-US" smtClean="0"/>
              <a:t>25</a:t>
            </a:fld>
            <a:endParaRPr kumimoji="1" lang="ja-JP" altLang="en-US"/>
          </a:p>
        </p:txBody>
      </p:sp>
      <p:pic>
        <p:nvPicPr>
          <p:cNvPr id="4" name="図 3">
            <a:extLst>
              <a:ext uri="{FF2B5EF4-FFF2-40B4-BE49-F238E27FC236}">
                <a16:creationId xmlns:a16="http://schemas.microsoft.com/office/drawing/2014/main" id="{3F0BA35D-E10B-8633-01E8-BD8CDC00FE47}"/>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27851" y="3753144"/>
            <a:ext cx="4550673" cy="1718246"/>
          </a:xfrm>
          <a:prstGeom prst="rect">
            <a:avLst/>
          </a:prstGeom>
          <a:solidFill>
            <a:schemeClr val="bg1"/>
          </a:solidFill>
          <a:ln>
            <a:noFill/>
          </a:ln>
        </p:spPr>
      </p:pic>
      <p:sp>
        <p:nvSpPr>
          <p:cNvPr id="14" name="テキスト ボックス 13">
            <a:extLst>
              <a:ext uri="{FF2B5EF4-FFF2-40B4-BE49-F238E27FC236}">
                <a16:creationId xmlns:a16="http://schemas.microsoft.com/office/drawing/2014/main" id="{2C34CE62-4838-4CC5-E746-A4F79948F06D}"/>
              </a:ext>
            </a:extLst>
          </p:cNvPr>
          <p:cNvSpPr txBox="1"/>
          <p:nvPr/>
        </p:nvSpPr>
        <p:spPr>
          <a:xfrm>
            <a:off x="4527851" y="3725802"/>
            <a:ext cx="2856313" cy="646331"/>
          </a:xfrm>
          <a:prstGeom prst="rect">
            <a:avLst/>
          </a:prstGeom>
          <a:noFill/>
        </p:spPr>
        <p:txBody>
          <a:bodyPr wrap="square" rtlCol="0">
            <a:spAutoFit/>
          </a:bodyPr>
          <a:lstStyle/>
          <a:p>
            <a:r>
              <a:rPr kumimoji="1" lang="ja-JP" altLang="en-US" dirty="0">
                <a:solidFill>
                  <a:srgbClr val="FF0000"/>
                </a:solidFill>
              </a:rPr>
              <a:t>線量が垂直方向に上昇</a:t>
            </a:r>
            <a:endParaRPr kumimoji="1" lang="en-US" altLang="ja-JP" dirty="0">
              <a:solidFill>
                <a:srgbClr val="FF0000"/>
              </a:solidFill>
            </a:endParaRPr>
          </a:p>
          <a:p>
            <a:r>
              <a:rPr lang="en-US" altLang="ja-JP" dirty="0">
                <a:solidFill>
                  <a:srgbClr val="FF0000"/>
                </a:solidFill>
              </a:rPr>
              <a:t>=&gt; 2</a:t>
            </a:r>
            <a:r>
              <a:rPr lang="ja-JP" altLang="en-US" dirty="0">
                <a:solidFill>
                  <a:srgbClr val="FF0000"/>
                </a:solidFill>
              </a:rPr>
              <a:t>階のほうが線量が高い</a:t>
            </a:r>
            <a:endParaRPr kumimoji="1" lang="ja-JP" altLang="en-US" dirty="0">
              <a:solidFill>
                <a:srgbClr val="FF0000"/>
              </a:solidFill>
            </a:endParaRPr>
          </a:p>
        </p:txBody>
      </p:sp>
      <p:grpSp>
        <p:nvGrpSpPr>
          <p:cNvPr id="6" name="グループ化 5">
            <a:extLst>
              <a:ext uri="{FF2B5EF4-FFF2-40B4-BE49-F238E27FC236}">
                <a16:creationId xmlns:a16="http://schemas.microsoft.com/office/drawing/2014/main" id="{4F278F33-0F81-F442-FF6D-49E32E186BFA}"/>
              </a:ext>
            </a:extLst>
          </p:cNvPr>
          <p:cNvGrpSpPr/>
          <p:nvPr/>
        </p:nvGrpSpPr>
        <p:grpSpPr>
          <a:xfrm>
            <a:off x="65476" y="5471390"/>
            <a:ext cx="8641375" cy="1345881"/>
            <a:chOff x="65476" y="5471390"/>
            <a:chExt cx="8641375" cy="1345881"/>
          </a:xfrm>
        </p:grpSpPr>
        <p:sp>
          <p:nvSpPr>
            <p:cNvPr id="10" name="テキスト ボックス 9">
              <a:extLst>
                <a:ext uri="{FF2B5EF4-FFF2-40B4-BE49-F238E27FC236}">
                  <a16:creationId xmlns:a16="http://schemas.microsoft.com/office/drawing/2014/main" id="{DC4986D2-BA65-1B8F-C732-BCFB80F623E7}"/>
                </a:ext>
              </a:extLst>
            </p:cNvPr>
            <p:cNvSpPr txBox="1"/>
            <p:nvPr/>
          </p:nvSpPr>
          <p:spPr>
            <a:xfrm>
              <a:off x="193622" y="5571109"/>
              <a:ext cx="4306370" cy="646331"/>
            </a:xfrm>
            <a:prstGeom prst="rect">
              <a:avLst/>
            </a:prstGeom>
            <a:noFill/>
            <a:ln>
              <a:solidFill>
                <a:schemeClr val="tx1"/>
              </a:solidFill>
            </a:ln>
          </p:spPr>
          <p:txBody>
            <a:bodyPr wrap="square">
              <a:spAutoFit/>
            </a:bodyPr>
            <a:lstStyle/>
            <a:p>
              <a:r>
                <a:rPr lang="pt-BR" altLang="ja-JP" dirty="0"/>
                <a:t>#  num    reg     volume       all       r.err </a:t>
              </a:r>
            </a:p>
            <a:p>
              <a:r>
                <a:rPr lang="pt-BR" altLang="ja-JP" dirty="0"/>
                <a:t>    1      10   4.1888E+03   1.2800E-02  0.0763</a:t>
              </a:r>
              <a:endParaRPr lang="ja-JP" altLang="en-US" dirty="0"/>
            </a:p>
          </p:txBody>
        </p:sp>
        <p:sp>
          <p:nvSpPr>
            <p:cNvPr id="11" name="テキスト ボックス 10">
              <a:extLst>
                <a:ext uri="{FF2B5EF4-FFF2-40B4-BE49-F238E27FC236}">
                  <a16:creationId xmlns:a16="http://schemas.microsoft.com/office/drawing/2014/main" id="{35E1E525-8DBD-859A-A69C-DDA999AE2D29}"/>
                </a:ext>
              </a:extLst>
            </p:cNvPr>
            <p:cNvSpPr txBox="1"/>
            <p:nvPr/>
          </p:nvSpPr>
          <p:spPr>
            <a:xfrm>
              <a:off x="753040" y="6281028"/>
              <a:ext cx="3168352" cy="523220"/>
            </a:xfrm>
            <a:prstGeom prst="rect">
              <a:avLst/>
            </a:prstGeom>
            <a:noFill/>
          </p:spPr>
          <p:txBody>
            <a:bodyPr wrap="square" rtlCol="0">
              <a:spAutoFit/>
            </a:bodyPr>
            <a:lstStyle/>
            <a:p>
              <a:r>
                <a:rPr lang="en-US" altLang="ja-JP" sz="2800" dirty="0" err="1"/>
                <a:t>dose</a:t>
              </a:r>
              <a:r>
                <a:rPr kumimoji="1" lang="en-US" altLang="ja-JP" sz="2800" dirty="0" err="1"/>
                <a:t>.out</a:t>
              </a:r>
              <a:r>
                <a:rPr kumimoji="1" lang="en-US" altLang="ja-JP" sz="2800" dirty="0"/>
                <a:t> (38</a:t>
              </a:r>
              <a:r>
                <a:rPr kumimoji="1" lang="ja-JP" altLang="en-US" sz="2800" dirty="0"/>
                <a:t>行目</a:t>
              </a:r>
              <a:r>
                <a:rPr kumimoji="1" lang="en-US" altLang="ja-JP" sz="2800" dirty="0"/>
                <a:t>)</a:t>
              </a:r>
              <a:endParaRPr kumimoji="1" lang="ja-JP" altLang="en-US" sz="2800" dirty="0"/>
            </a:p>
          </p:txBody>
        </p:sp>
        <p:sp>
          <p:nvSpPr>
            <p:cNvPr id="16" name="テキスト ボックス 15">
              <a:extLst>
                <a:ext uri="{FF2B5EF4-FFF2-40B4-BE49-F238E27FC236}">
                  <a16:creationId xmlns:a16="http://schemas.microsoft.com/office/drawing/2014/main" id="{87E20747-23F7-83FD-8182-525C09B0FB36}"/>
                </a:ext>
              </a:extLst>
            </p:cNvPr>
            <p:cNvSpPr txBox="1"/>
            <p:nvPr/>
          </p:nvSpPr>
          <p:spPr>
            <a:xfrm>
              <a:off x="4527851" y="5755041"/>
              <a:ext cx="4179000" cy="369332"/>
            </a:xfrm>
            <a:prstGeom prst="rect">
              <a:avLst/>
            </a:prstGeom>
            <a:noFill/>
          </p:spPr>
          <p:txBody>
            <a:bodyPr wrap="square">
              <a:spAutoFit/>
            </a:bodyPr>
            <a:lstStyle/>
            <a:p>
              <a:r>
                <a:rPr lang="ja-JP" altLang="en-US" dirty="0">
                  <a:solidFill>
                    <a:srgbClr val="FF0000"/>
                  </a:solidFill>
                </a:rPr>
                <a:t>無限平面上の線量</a:t>
              </a:r>
              <a:r>
                <a:rPr lang="en-US" altLang="ja-JP" dirty="0">
                  <a:solidFill>
                    <a:srgbClr val="FF0000"/>
                  </a:solidFill>
                </a:rPr>
                <a:t>(2.0340E-02)</a:t>
              </a:r>
              <a:r>
                <a:rPr lang="ja-JP" altLang="en-US" dirty="0">
                  <a:solidFill>
                    <a:srgbClr val="FF0000"/>
                  </a:solidFill>
                </a:rPr>
                <a:t>の半分強</a:t>
              </a:r>
            </a:p>
          </p:txBody>
        </p:sp>
        <p:sp>
          <p:nvSpPr>
            <p:cNvPr id="17" name="テキスト ボックス 16">
              <a:extLst>
                <a:ext uri="{FF2B5EF4-FFF2-40B4-BE49-F238E27FC236}">
                  <a16:creationId xmlns:a16="http://schemas.microsoft.com/office/drawing/2014/main" id="{A47734DF-CF31-6730-4A25-6623BA821D71}"/>
                </a:ext>
              </a:extLst>
            </p:cNvPr>
            <p:cNvSpPr txBox="1"/>
            <p:nvPr/>
          </p:nvSpPr>
          <p:spPr>
            <a:xfrm>
              <a:off x="5107889" y="6297684"/>
              <a:ext cx="3128167" cy="369332"/>
            </a:xfrm>
            <a:prstGeom prst="rect">
              <a:avLst/>
            </a:prstGeom>
            <a:noFill/>
          </p:spPr>
          <p:txBody>
            <a:bodyPr wrap="square">
              <a:spAutoFit/>
            </a:bodyPr>
            <a:lstStyle/>
            <a:p>
              <a:r>
                <a:rPr lang="ja-JP" altLang="en-US" dirty="0">
                  <a:solidFill>
                    <a:srgbClr val="FF0000"/>
                  </a:solidFill>
                </a:rPr>
                <a:t>線量が低減した主な原因は？</a:t>
              </a:r>
            </a:p>
          </p:txBody>
        </p:sp>
        <p:sp>
          <p:nvSpPr>
            <p:cNvPr id="5" name="四角形: 角を丸くする 4">
              <a:extLst>
                <a:ext uri="{FF2B5EF4-FFF2-40B4-BE49-F238E27FC236}">
                  <a16:creationId xmlns:a16="http://schemas.microsoft.com/office/drawing/2014/main" id="{C641C109-3D41-6E78-4165-4E1F300CAEC1}"/>
                </a:ext>
              </a:extLst>
            </p:cNvPr>
            <p:cNvSpPr/>
            <p:nvPr/>
          </p:nvSpPr>
          <p:spPr>
            <a:xfrm>
              <a:off x="65476" y="5471390"/>
              <a:ext cx="8588580" cy="1345881"/>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1438170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78247-88CB-D6CA-31BA-084743C6AA6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BAB11D3-3405-198C-8366-878B12819BD6}"/>
              </a:ext>
            </a:extLst>
          </p:cNvPr>
          <p:cNvSpPr>
            <a:spLocks noGrp="1"/>
          </p:cNvSpPr>
          <p:nvPr>
            <p:ph type="title"/>
          </p:nvPr>
        </p:nvSpPr>
        <p:spPr>
          <a:xfrm>
            <a:off x="457200" y="53752"/>
            <a:ext cx="8229600" cy="1143000"/>
          </a:xfrm>
        </p:spPr>
        <p:txBody>
          <a:bodyPr>
            <a:normAutofit/>
          </a:bodyPr>
          <a:lstStyle/>
          <a:p>
            <a:r>
              <a:rPr lang="ja-JP" altLang="en-US" dirty="0">
                <a:latin typeface="Arial" pitchFamily="18"/>
              </a:rPr>
              <a:t>ステップ</a:t>
            </a:r>
            <a:r>
              <a:rPr lang="ja-JP" altLang="ja-JP" dirty="0">
                <a:latin typeface="Arial" pitchFamily="18"/>
              </a:rPr>
              <a:t> </a:t>
            </a:r>
            <a:r>
              <a:rPr lang="en-US" altLang="ja-JP" dirty="0">
                <a:latin typeface="Arial" pitchFamily="18"/>
              </a:rPr>
              <a:t>8</a:t>
            </a:r>
            <a:r>
              <a:rPr lang="ja-JP" altLang="en-US" dirty="0">
                <a:latin typeface="Arial" pitchFamily="18"/>
              </a:rPr>
              <a:t>（遮蔽効果）</a:t>
            </a:r>
            <a:endParaRPr kumimoji="1" lang="ja-JP" altLang="en-US" dirty="0"/>
          </a:p>
        </p:txBody>
      </p:sp>
      <p:sp>
        <p:nvSpPr>
          <p:cNvPr id="34" name="テキスト ボックス 33">
            <a:extLst>
              <a:ext uri="{FF2B5EF4-FFF2-40B4-BE49-F238E27FC236}">
                <a16:creationId xmlns:a16="http://schemas.microsoft.com/office/drawing/2014/main" id="{3FF320E3-6510-D89A-73C1-F80997FE4B39}"/>
              </a:ext>
            </a:extLst>
          </p:cNvPr>
          <p:cNvSpPr txBox="1"/>
          <p:nvPr/>
        </p:nvSpPr>
        <p:spPr>
          <a:xfrm>
            <a:off x="4376351" y="2085774"/>
            <a:ext cx="459053" cy="646331"/>
          </a:xfrm>
          <a:prstGeom prst="rect">
            <a:avLst/>
          </a:prstGeom>
          <a:noFill/>
        </p:spPr>
        <p:txBody>
          <a:bodyPr wrap="square" rtlCol="0">
            <a:spAutoFit/>
          </a:bodyPr>
          <a:lstStyle/>
          <a:p>
            <a:r>
              <a:rPr kumimoji="1" lang="en-US" altLang="ja-JP" sz="3600" dirty="0"/>
              <a:t>+</a:t>
            </a:r>
            <a:endParaRPr kumimoji="1" lang="ja-JP" altLang="en-US" sz="3600" dirty="0"/>
          </a:p>
        </p:txBody>
      </p:sp>
      <p:grpSp>
        <p:nvGrpSpPr>
          <p:cNvPr id="18" name="グループ化 17">
            <a:extLst>
              <a:ext uri="{FF2B5EF4-FFF2-40B4-BE49-F238E27FC236}">
                <a16:creationId xmlns:a16="http://schemas.microsoft.com/office/drawing/2014/main" id="{CF58BC58-EC6A-CCB1-9468-8343AA7C15CC}"/>
              </a:ext>
            </a:extLst>
          </p:cNvPr>
          <p:cNvGrpSpPr/>
          <p:nvPr/>
        </p:nvGrpSpPr>
        <p:grpSpPr>
          <a:xfrm>
            <a:off x="589646" y="1412776"/>
            <a:ext cx="3528546" cy="1963164"/>
            <a:chOff x="589646" y="893130"/>
            <a:chExt cx="3528546" cy="1963164"/>
          </a:xfrm>
        </p:grpSpPr>
        <p:sp>
          <p:nvSpPr>
            <p:cNvPr id="9" name="正方形/長方形 8">
              <a:extLst>
                <a:ext uri="{FF2B5EF4-FFF2-40B4-BE49-F238E27FC236}">
                  <a16:creationId xmlns:a16="http://schemas.microsoft.com/office/drawing/2014/main" id="{B8CCD92B-4B59-9852-6545-2A7FE42B0D26}"/>
                </a:ext>
              </a:extLst>
            </p:cNvPr>
            <p:cNvSpPr/>
            <p:nvPr/>
          </p:nvSpPr>
          <p:spPr>
            <a:xfrm>
              <a:off x="589646" y="2617073"/>
              <a:ext cx="3528546" cy="239221"/>
            </a:xfrm>
            <a:prstGeom prst="rect">
              <a:avLst/>
            </a:prstGeom>
            <a:solidFill>
              <a:srgbClr val="808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77C3AF5D-6D64-0C3A-65F9-748E85425799}"/>
                </a:ext>
              </a:extLst>
            </p:cNvPr>
            <p:cNvSpPr/>
            <p:nvPr/>
          </p:nvSpPr>
          <p:spPr>
            <a:xfrm>
              <a:off x="1359626" y="1267747"/>
              <a:ext cx="2016220" cy="1349325"/>
            </a:xfrm>
            <a:prstGeom prst="rect">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 name="直線矢印コネクタ 11">
              <a:extLst>
                <a:ext uri="{FF2B5EF4-FFF2-40B4-BE49-F238E27FC236}">
                  <a16:creationId xmlns:a16="http://schemas.microsoft.com/office/drawing/2014/main" id="{E9C980EF-7A5B-38F7-3785-7358961CABAC}"/>
                </a:ext>
              </a:extLst>
            </p:cNvPr>
            <p:cNvCxnSpPr>
              <a:cxnSpLocks/>
            </p:cNvCxnSpPr>
            <p:nvPr/>
          </p:nvCxnSpPr>
          <p:spPr>
            <a:xfrm flipV="1">
              <a:off x="1337233" y="2057185"/>
              <a:ext cx="309854" cy="67090"/>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5DD1781D-ED47-52AF-003D-CAC05AF5B6B7}"/>
                </a:ext>
              </a:extLst>
            </p:cNvPr>
            <p:cNvCxnSpPr>
              <a:cxnSpLocks/>
            </p:cNvCxnSpPr>
            <p:nvPr/>
          </p:nvCxnSpPr>
          <p:spPr>
            <a:xfrm flipV="1">
              <a:off x="1375445" y="1524339"/>
              <a:ext cx="279667" cy="101267"/>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3AB872C5-10CA-06DD-1DEC-8E454906807A}"/>
                </a:ext>
              </a:extLst>
            </p:cNvPr>
            <p:cNvCxnSpPr>
              <a:cxnSpLocks/>
            </p:cNvCxnSpPr>
            <p:nvPr/>
          </p:nvCxnSpPr>
          <p:spPr>
            <a:xfrm flipH="1" flipV="1">
              <a:off x="3147337" y="1349215"/>
              <a:ext cx="278612" cy="119538"/>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BB0295ED-2D36-162A-8624-F6512A4E2316}"/>
                </a:ext>
              </a:extLst>
            </p:cNvPr>
            <p:cNvCxnSpPr>
              <a:cxnSpLocks/>
            </p:cNvCxnSpPr>
            <p:nvPr/>
          </p:nvCxnSpPr>
          <p:spPr>
            <a:xfrm flipH="1" flipV="1">
              <a:off x="3116011" y="2129662"/>
              <a:ext cx="330996" cy="67176"/>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16" name="楕円 15">
              <a:extLst>
                <a:ext uri="{FF2B5EF4-FFF2-40B4-BE49-F238E27FC236}">
                  <a16:creationId xmlns:a16="http://schemas.microsoft.com/office/drawing/2014/main" id="{590061B0-F26D-7EEB-CD1C-D8E816B9D88D}"/>
                </a:ext>
              </a:extLst>
            </p:cNvPr>
            <p:cNvSpPr/>
            <p:nvPr/>
          </p:nvSpPr>
          <p:spPr>
            <a:xfrm>
              <a:off x="3342622" y="1402026"/>
              <a:ext cx="133429" cy="122438"/>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楕円 16">
              <a:extLst>
                <a:ext uri="{FF2B5EF4-FFF2-40B4-BE49-F238E27FC236}">
                  <a16:creationId xmlns:a16="http://schemas.microsoft.com/office/drawing/2014/main" id="{2B0327BD-4D5E-888B-F075-545A9F457605}"/>
                </a:ext>
              </a:extLst>
            </p:cNvPr>
            <p:cNvSpPr/>
            <p:nvPr/>
          </p:nvSpPr>
          <p:spPr>
            <a:xfrm>
              <a:off x="1326398" y="1565838"/>
              <a:ext cx="133429" cy="122438"/>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楕円 19">
              <a:extLst>
                <a:ext uri="{FF2B5EF4-FFF2-40B4-BE49-F238E27FC236}">
                  <a16:creationId xmlns:a16="http://schemas.microsoft.com/office/drawing/2014/main" id="{83B6B8B1-3F39-44A9-08CA-89D32B2C9CC3}"/>
                </a:ext>
              </a:extLst>
            </p:cNvPr>
            <p:cNvSpPr/>
            <p:nvPr/>
          </p:nvSpPr>
          <p:spPr>
            <a:xfrm>
              <a:off x="3321448" y="2151240"/>
              <a:ext cx="133429" cy="122438"/>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楕円 26">
              <a:extLst>
                <a:ext uri="{FF2B5EF4-FFF2-40B4-BE49-F238E27FC236}">
                  <a16:creationId xmlns:a16="http://schemas.microsoft.com/office/drawing/2014/main" id="{1AFECAFE-6E03-12B9-BD47-72FA6D687B04}"/>
                </a:ext>
              </a:extLst>
            </p:cNvPr>
            <p:cNvSpPr/>
            <p:nvPr/>
          </p:nvSpPr>
          <p:spPr>
            <a:xfrm>
              <a:off x="1315811" y="2063056"/>
              <a:ext cx="133429" cy="122438"/>
            </a:xfrm>
            <a:prstGeom prst="ellipse">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B21E1E79-D686-F5F4-964F-9FE1D4717AC5}"/>
                </a:ext>
              </a:extLst>
            </p:cNvPr>
            <p:cNvSpPr txBox="1"/>
            <p:nvPr/>
          </p:nvSpPr>
          <p:spPr>
            <a:xfrm>
              <a:off x="1111147" y="893130"/>
              <a:ext cx="2508920" cy="369332"/>
            </a:xfrm>
            <a:prstGeom prst="rect">
              <a:avLst/>
            </a:prstGeom>
            <a:noFill/>
          </p:spPr>
          <p:txBody>
            <a:bodyPr wrap="square" rtlCol="0">
              <a:spAutoFit/>
            </a:bodyPr>
            <a:lstStyle/>
            <a:p>
              <a:r>
                <a:rPr lang="ja-JP" altLang="en-US" dirty="0"/>
                <a:t>外部線源</a:t>
              </a:r>
              <a:r>
                <a:rPr lang="en-US" altLang="ja-JP" dirty="0"/>
                <a:t>(</a:t>
              </a:r>
              <a:r>
                <a:rPr lang="ja-JP" altLang="en-US" dirty="0">
                  <a:solidFill>
                    <a:srgbClr val="FF0000"/>
                  </a:solidFill>
                </a:rPr>
                <a:t>ダンプデータ</a:t>
              </a:r>
              <a:r>
                <a:rPr lang="en-US" altLang="ja-JP" dirty="0"/>
                <a:t>)</a:t>
              </a:r>
              <a:endParaRPr kumimoji="1" lang="ja-JP" altLang="en-US" dirty="0"/>
            </a:p>
          </p:txBody>
        </p:sp>
        <p:sp>
          <p:nvSpPr>
            <p:cNvPr id="35" name="正方形/長方形 34">
              <a:extLst>
                <a:ext uri="{FF2B5EF4-FFF2-40B4-BE49-F238E27FC236}">
                  <a16:creationId xmlns:a16="http://schemas.microsoft.com/office/drawing/2014/main" id="{A353FF9F-2DED-CD39-8504-9299B2173705}"/>
                </a:ext>
              </a:extLst>
            </p:cNvPr>
            <p:cNvSpPr/>
            <p:nvPr/>
          </p:nvSpPr>
          <p:spPr>
            <a:xfrm>
              <a:off x="2049515" y="1896993"/>
              <a:ext cx="723408" cy="720080"/>
            </a:xfrm>
            <a:prstGeom prst="rect">
              <a:avLst/>
            </a:prstGeom>
            <a:solidFill>
              <a:srgbClr val="F0EEE4"/>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楕円 36">
              <a:extLst>
                <a:ext uri="{FF2B5EF4-FFF2-40B4-BE49-F238E27FC236}">
                  <a16:creationId xmlns:a16="http://schemas.microsoft.com/office/drawing/2014/main" id="{9CB3EEF1-DA52-D0F4-A906-7649AAB5D10F}"/>
                </a:ext>
              </a:extLst>
            </p:cNvPr>
            <p:cNvSpPr/>
            <p:nvPr/>
          </p:nvSpPr>
          <p:spPr>
            <a:xfrm>
              <a:off x="2303207" y="2334944"/>
              <a:ext cx="216024" cy="216619"/>
            </a:xfrm>
            <a:prstGeom prst="ellipse">
              <a:avLst/>
            </a:prstGeom>
            <a:no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9" name="グループ化 18">
            <a:extLst>
              <a:ext uri="{FF2B5EF4-FFF2-40B4-BE49-F238E27FC236}">
                <a16:creationId xmlns:a16="http://schemas.microsoft.com/office/drawing/2014/main" id="{51AE193B-B701-05E9-BEF7-3D407CED7200}"/>
              </a:ext>
            </a:extLst>
          </p:cNvPr>
          <p:cNvGrpSpPr/>
          <p:nvPr/>
        </p:nvGrpSpPr>
        <p:grpSpPr>
          <a:xfrm>
            <a:off x="5075902" y="1428366"/>
            <a:ext cx="3528546" cy="1947574"/>
            <a:chOff x="5075902" y="908720"/>
            <a:chExt cx="3528546" cy="1947574"/>
          </a:xfrm>
        </p:grpSpPr>
        <p:cxnSp>
          <p:nvCxnSpPr>
            <p:cNvPr id="3" name="直線矢印コネクタ 2">
              <a:extLst>
                <a:ext uri="{FF2B5EF4-FFF2-40B4-BE49-F238E27FC236}">
                  <a16:creationId xmlns:a16="http://schemas.microsoft.com/office/drawing/2014/main" id="{D06AAA6A-7454-1FA1-FDF4-A1C26E9E9292}"/>
                </a:ext>
              </a:extLst>
            </p:cNvPr>
            <p:cNvCxnSpPr>
              <a:cxnSpLocks/>
            </p:cNvCxnSpPr>
            <p:nvPr/>
          </p:nvCxnSpPr>
          <p:spPr>
            <a:xfrm flipV="1">
              <a:off x="6098750" y="2243920"/>
              <a:ext cx="214590" cy="407815"/>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cxnSp>
          <p:nvCxnSpPr>
            <p:cNvPr id="4" name="直線矢印コネクタ 3">
              <a:extLst>
                <a:ext uri="{FF2B5EF4-FFF2-40B4-BE49-F238E27FC236}">
                  <a16:creationId xmlns:a16="http://schemas.microsoft.com/office/drawing/2014/main" id="{EAE716E8-9ECD-2829-07A0-61F4725C0F1B}"/>
                </a:ext>
              </a:extLst>
            </p:cNvPr>
            <p:cNvCxnSpPr>
              <a:cxnSpLocks/>
            </p:cNvCxnSpPr>
            <p:nvPr/>
          </p:nvCxnSpPr>
          <p:spPr>
            <a:xfrm flipH="1" flipV="1">
              <a:off x="7321225" y="2219196"/>
              <a:ext cx="103993" cy="433875"/>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5" name="正方形/長方形 4">
              <a:extLst>
                <a:ext uri="{FF2B5EF4-FFF2-40B4-BE49-F238E27FC236}">
                  <a16:creationId xmlns:a16="http://schemas.microsoft.com/office/drawing/2014/main" id="{CEB3B424-63B3-09AE-733B-A588434E9E7F}"/>
                </a:ext>
              </a:extLst>
            </p:cNvPr>
            <p:cNvSpPr/>
            <p:nvPr/>
          </p:nvSpPr>
          <p:spPr>
            <a:xfrm>
              <a:off x="5075902" y="2617073"/>
              <a:ext cx="3528546" cy="239221"/>
            </a:xfrm>
            <a:prstGeom prst="rect">
              <a:avLst/>
            </a:prstGeom>
            <a:solidFill>
              <a:srgbClr val="808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F9A83F76-5DCF-64D2-4FE3-5BEB5DC58E60}"/>
                </a:ext>
              </a:extLst>
            </p:cNvPr>
            <p:cNvSpPr/>
            <p:nvPr/>
          </p:nvSpPr>
          <p:spPr>
            <a:xfrm>
              <a:off x="5845882" y="1267747"/>
              <a:ext cx="2016220" cy="1349325"/>
            </a:xfrm>
            <a:prstGeom prst="rect">
              <a:avLst/>
            </a:prstGeom>
            <a:noFill/>
            <a:ln>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4" name="直線矢印コネクタ 23">
              <a:extLst>
                <a:ext uri="{FF2B5EF4-FFF2-40B4-BE49-F238E27FC236}">
                  <a16:creationId xmlns:a16="http://schemas.microsoft.com/office/drawing/2014/main" id="{E7C4691A-D0DE-CEAE-0F48-489910137249}"/>
                </a:ext>
              </a:extLst>
            </p:cNvPr>
            <p:cNvCxnSpPr>
              <a:cxnSpLocks/>
            </p:cNvCxnSpPr>
            <p:nvPr/>
          </p:nvCxnSpPr>
          <p:spPr>
            <a:xfrm flipV="1">
              <a:off x="7655812" y="2266496"/>
              <a:ext cx="84876" cy="339274"/>
            </a:xfrm>
            <a:prstGeom prst="straightConnector1">
              <a:avLst/>
            </a:prstGeom>
            <a:ln w="38100">
              <a:solidFill>
                <a:srgbClr val="FFC000"/>
              </a:solidFill>
              <a:tailEnd type="arrow"/>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0FB1BB82-E3EB-D27F-431C-B8E73B8ABFD3}"/>
                </a:ext>
              </a:extLst>
            </p:cNvPr>
            <p:cNvSpPr txBox="1"/>
            <p:nvPr/>
          </p:nvSpPr>
          <p:spPr>
            <a:xfrm>
              <a:off x="5521844" y="908720"/>
              <a:ext cx="2664296" cy="369332"/>
            </a:xfrm>
            <a:prstGeom prst="rect">
              <a:avLst/>
            </a:prstGeom>
            <a:noFill/>
          </p:spPr>
          <p:txBody>
            <a:bodyPr wrap="square" rtlCol="0">
              <a:spAutoFit/>
            </a:bodyPr>
            <a:lstStyle/>
            <a:p>
              <a:r>
                <a:rPr lang="ja-JP" altLang="en-US" dirty="0"/>
                <a:t>内部線源</a:t>
              </a:r>
              <a:r>
                <a:rPr lang="en-US" altLang="ja-JP" dirty="0"/>
                <a:t>(</a:t>
              </a:r>
              <a:r>
                <a:rPr lang="ja-JP" altLang="en-US" dirty="0"/>
                <a:t>内部地表線源</a:t>
              </a:r>
              <a:r>
                <a:rPr lang="en-US" altLang="ja-JP" dirty="0"/>
                <a:t>)</a:t>
              </a:r>
              <a:endParaRPr kumimoji="1" lang="ja-JP" altLang="en-US" dirty="0"/>
            </a:p>
          </p:txBody>
        </p:sp>
        <p:sp>
          <p:nvSpPr>
            <p:cNvPr id="36" name="正方形/長方形 35">
              <a:extLst>
                <a:ext uri="{FF2B5EF4-FFF2-40B4-BE49-F238E27FC236}">
                  <a16:creationId xmlns:a16="http://schemas.microsoft.com/office/drawing/2014/main" id="{E464E535-C3FE-53EF-6F0C-8C504D8158F5}"/>
                </a:ext>
              </a:extLst>
            </p:cNvPr>
            <p:cNvSpPr/>
            <p:nvPr/>
          </p:nvSpPr>
          <p:spPr>
            <a:xfrm>
              <a:off x="6492288" y="1916832"/>
              <a:ext cx="723408" cy="720080"/>
            </a:xfrm>
            <a:prstGeom prst="rect">
              <a:avLst/>
            </a:prstGeom>
            <a:solidFill>
              <a:srgbClr val="F0EEE4"/>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楕円 37">
              <a:extLst>
                <a:ext uri="{FF2B5EF4-FFF2-40B4-BE49-F238E27FC236}">
                  <a16:creationId xmlns:a16="http://schemas.microsoft.com/office/drawing/2014/main" id="{4C72F0DA-5B93-BDB5-14F2-6939BF238843}"/>
                </a:ext>
              </a:extLst>
            </p:cNvPr>
            <p:cNvSpPr/>
            <p:nvPr/>
          </p:nvSpPr>
          <p:spPr>
            <a:xfrm>
              <a:off x="6745980" y="2319154"/>
              <a:ext cx="216024" cy="216619"/>
            </a:xfrm>
            <a:prstGeom prst="ellipse">
              <a:avLst/>
            </a:prstGeom>
            <a:noFill/>
            <a:ln>
              <a:solidFill>
                <a:srgbClr val="FF0000"/>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7" name="Text Box 1031">
            <a:extLst>
              <a:ext uri="{FF2B5EF4-FFF2-40B4-BE49-F238E27FC236}">
                <a16:creationId xmlns:a16="http://schemas.microsoft.com/office/drawing/2014/main" id="{C55C37E4-A4AF-119F-321A-72474252FAE2}"/>
              </a:ext>
            </a:extLst>
          </p:cNvPr>
          <p:cNvSpPr txBox="1">
            <a:spLocks noChangeArrowheads="1"/>
          </p:cNvSpPr>
          <p:nvPr/>
        </p:nvSpPr>
        <p:spPr bwMode="auto">
          <a:xfrm>
            <a:off x="3453750" y="3781933"/>
            <a:ext cx="2236500" cy="949222"/>
          </a:xfrm>
          <a:prstGeom prst="rect">
            <a:avLst/>
          </a:prstGeom>
          <a:solidFill>
            <a:schemeClr val="bg1"/>
          </a:solidFill>
          <a:ln w="19050">
            <a:solidFill>
              <a:schemeClr val="tx1"/>
            </a:solidFill>
            <a:miter lim="800000"/>
            <a:headEnd/>
            <a:tailEnd/>
          </a:ln>
        </p:spPr>
        <p:txBody>
          <a:bodyPr/>
          <a:lstStyle>
            <a:lvl1pPr>
              <a:spcBef>
                <a:spcPct val="20000"/>
              </a:spcBef>
              <a:buChar char="•"/>
              <a:defRPr kumimoji="1" sz="3200">
                <a:solidFill>
                  <a:schemeClr val="tx1"/>
                </a:solidFill>
                <a:latin typeface="Times New Roman" panose="02020603050405020304" pitchFamily="18" charset="0"/>
                <a:ea typeface="ＭＳ Ｐゴシック" panose="020B0600070205080204" pitchFamily="50" charset="-128"/>
              </a:defRPr>
            </a:lvl1pPr>
            <a:lvl2pPr marL="742950" indent="-285750">
              <a:spcBef>
                <a:spcPct val="20000"/>
              </a:spcBef>
              <a:buChar char="–"/>
              <a:defRPr kumimoji="1" sz="2800">
                <a:solidFill>
                  <a:schemeClr val="tx1"/>
                </a:solidFill>
                <a:latin typeface="Times New Roman" panose="02020603050405020304" pitchFamily="18" charset="0"/>
                <a:ea typeface="ＭＳ Ｐゴシック" panose="020B0600070205080204" pitchFamily="50" charset="-128"/>
              </a:defRPr>
            </a:lvl2pPr>
            <a:lvl3pPr marL="1143000" indent="-228600">
              <a:spcBef>
                <a:spcPct val="20000"/>
              </a:spcBef>
              <a:buChar char="•"/>
              <a:defRPr kumimoji="1" sz="2400">
                <a:solidFill>
                  <a:schemeClr val="tx1"/>
                </a:solidFill>
                <a:latin typeface="Times New Roman" panose="02020603050405020304" pitchFamily="18" charset="0"/>
                <a:ea typeface="ＭＳ Ｐゴシック" panose="020B0600070205080204" pitchFamily="50" charset="-128"/>
              </a:defRPr>
            </a:lvl3pPr>
            <a:lvl4pPr marL="16002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4pPr>
            <a:lvl5pPr marL="2057400" indent="-228600">
              <a:spcBef>
                <a:spcPct val="20000"/>
              </a:spcBef>
              <a:buChar char="»"/>
              <a:defRPr kumimoji="1" sz="20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ＭＳ Ｐゴシック" panose="020B0600070205080204" pitchFamily="50" charset="-128"/>
              </a:defRPr>
            </a:lvl9pPr>
          </a:lstStyle>
          <a:p>
            <a:pPr eaLnBrk="1" hangingPunct="1">
              <a:spcBef>
                <a:spcPct val="0"/>
              </a:spcBef>
              <a:buFontTx/>
              <a:buNone/>
            </a:pPr>
            <a:r>
              <a:rPr lang="en-US" altLang="ja-JP" sz="1400" dirty="0">
                <a:latin typeface="Tahoma" panose="020B0604030504040204" pitchFamily="34" charset="0"/>
              </a:rPr>
              <a:t>[ Cell ]</a:t>
            </a:r>
          </a:p>
          <a:p>
            <a:pPr eaLnBrk="1" hangingPunct="1">
              <a:spcBef>
                <a:spcPct val="0"/>
              </a:spcBef>
              <a:buFontTx/>
              <a:buNone/>
            </a:pPr>
            <a:r>
              <a:rPr lang="en-US" altLang="ja-JP" sz="1400" dirty="0">
                <a:latin typeface="Tahoma" panose="020B0604030504040204" pitchFamily="34" charset="0"/>
              </a:rPr>
              <a:t>…</a:t>
            </a:r>
          </a:p>
          <a:p>
            <a:pPr eaLnBrk="1" hangingPunct="1">
              <a:spcBef>
                <a:spcPct val="0"/>
              </a:spcBef>
              <a:buFontTx/>
              <a:buNone/>
            </a:pPr>
            <a:r>
              <a:rPr lang="en-US" altLang="ja-JP" sz="1400" dirty="0">
                <a:latin typeface="Tahoma" panose="020B0604030504040204" pitchFamily="34" charset="0"/>
              </a:rPr>
              <a:t> 50  </a:t>
            </a:r>
            <a:r>
              <a:rPr lang="en-US" altLang="ja-JP" sz="1400" dirty="0">
                <a:solidFill>
                  <a:srgbClr val="FF0000"/>
                </a:solidFill>
                <a:latin typeface="Tahoma" panose="020B0604030504040204" pitchFamily="34" charset="0"/>
              </a:rPr>
              <a:t>1 -1.2e-3   </a:t>
            </a:r>
            <a:r>
              <a:rPr lang="en-US" altLang="ja-JP" sz="1400" dirty="0">
                <a:latin typeface="Tahoma" panose="020B0604030504040204" pitchFamily="34" charset="0"/>
              </a:rPr>
              <a:t>50 -51</a:t>
            </a:r>
          </a:p>
          <a:p>
            <a:pPr eaLnBrk="1" hangingPunct="1">
              <a:spcBef>
                <a:spcPct val="0"/>
              </a:spcBef>
              <a:buFontTx/>
              <a:buNone/>
            </a:pPr>
            <a:r>
              <a:rPr lang="en-US" altLang="ja-JP" sz="1400" dirty="0">
                <a:latin typeface="Tahoma" panose="020B0604030504040204" pitchFamily="34" charset="0"/>
              </a:rPr>
              <a:t>…</a:t>
            </a:r>
          </a:p>
        </p:txBody>
      </p:sp>
      <p:sp>
        <p:nvSpPr>
          <p:cNvPr id="8" name="テキスト ボックス 7">
            <a:extLst>
              <a:ext uri="{FF2B5EF4-FFF2-40B4-BE49-F238E27FC236}">
                <a16:creationId xmlns:a16="http://schemas.microsoft.com/office/drawing/2014/main" id="{CDCA41CB-EA32-3534-A7EA-A88C46D317A1}"/>
              </a:ext>
            </a:extLst>
          </p:cNvPr>
          <p:cNvSpPr txBox="1"/>
          <p:nvPr/>
        </p:nvSpPr>
        <p:spPr>
          <a:xfrm>
            <a:off x="5374038" y="940793"/>
            <a:ext cx="2917988" cy="523220"/>
          </a:xfrm>
          <a:prstGeom prst="rect">
            <a:avLst/>
          </a:prstGeom>
          <a:noFill/>
          <a:ln>
            <a:noFill/>
          </a:ln>
        </p:spPr>
        <p:txBody>
          <a:bodyPr wrap="square" rtlCol="0">
            <a:spAutoFit/>
          </a:bodyPr>
          <a:lstStyle/>
          <a:p>
            <a:r>
              <a:rPr lang="en-US" altLang="ja-JP" sz="2800" u="sng" dirty="0" err="1"/>
              <a:t>internal</a:t>
            </a:r>
            <a:r>
              <a:rPr kumimoji="1" lang="en-US" altLang="ja-JP" sz="2800" u="sng" dirty="0" err="1"/>
              <a:t>source.inp</a:t>
            </a:r>
            <a:endParaRPr kumimoji="1" lang="ja-JP" altLang="en-US" sz="2800" u="sng" dirty="0"/>
          </a:p>
        </p:txBody>
      </p:sp>
      <p:sp>
        <p:nvSpPr>
          <p:cNvPr id="11" name="テキスト ボックス 10">
            <a:extLst>
              <a:ext uri="{FF2B5EF4-FFF2-40B4-BE49-F238E27FC236}">
                <a16:creationId xmlns:a16="http://schemas.microsoft.com/office/drawing/2014/main" id="{DEC01C59-0DF3-B50F-E829-8817D9D807DB}"/>
              </a:ext>
            </a:extLst>
          </p:cNvPr>
          <p:cNvSpPr txBox="1"/>
          <p:nvPr/>
        </p:nvSpPr>
        <p:spPr>
          <a:xfrm>
            <a:off x="952225" y="933719"/>
            <a:ext cx="2917988" cy="523220"/>
          </a:xfrm>
          <a:prstGeom prst="rect">
            <a:avLst/>
          </a:prstGeom>
          <a:noFill/>
          <a:ln>
            <a:noFill/>
          </a:ln>
        </p:spPr>
        <p:txBody>
          <a:bodyPr wrap="square" rtlCol="0">
            <a:spAutoFit/>
          </a:bodyPr>
          <a:lstStyle/>
          <a:p>
            <a:r>
              <a:rPr lang="en-US" altLang="ja-JP" sz="2800" u="sng" dirty="0" err="1"/>
              <a:t>external</a:t>
            </a:r>
            <a:r>
              <a:rPr kumimoji="1" lang="en-US" altLang="ja-JP" sz="2800" u="sng" dirty="0" err="1"/>
              <a:t>source.inp</a:t>
            </a:r>
            <a:endParaRPr kumimoji="1" lang="ja-JP" altLang="en-US" sz="2800" u="sng" dirty="0"/>
          </a:p>
        </p:txBody>
      </p:sp>
      <p:sp>
        <p:nvSpPr>
          <p:cNvPr id="21" name="テキスト ボックス 20">
            <a:extLst>
              <a:ext uri="{FF2B5EF4-FFF2-40B4-BE49-F238E27FC236}">
                <a16:creationId xmlns:a16="http://schemas.microsoft.com/office/drawing/2014/main" id="{87A67D2A-88F9-94BB-3051-7B06D27B6CBA}"/>
              </a:ext>
            </a:extLst>
          </p:cNvPr>
          <p:cNvSpPr txBox="1"/>
          <p:nvPr/>
        </p:nvSpPr>
        <p:spPr>
          <a:xfrm>
            <a:off x="2951820" y="4816498"/>
            <a:ext cx="3240360" cy="369332"/>
          </a:xfrm>
          <a:prstGeom prst="rect">
            <a:avLst/>
          </a:prstGeom>
          <a:noFill/>
        </p:spPr>
        <p:txBody>
          <a:bodyPr wrap="square" rtlCol="0">
            <a:spAutoFit/>
          </a:bodyPr>
          <a:lstStyle/>
          <a:p>
            <a:r>
              <a:rPr lang="ja-JP" altLang="en-US" dirty="0"/>
              <a:t>壁の材質、密度を空気に変える</a:t>
            </a:r>
            <a:endParaRPr kumimoji="1" lang="ja-JP" altLang="en-US" dirty="0"/>
          </a:p>
        </p:txBody>
      </p:sp>
      <p:sp>
        <p:nvSpPr>
          <p:cNvPr id="22" name="テキスト ボックス 21">
            <a:extLst>
              <a:ext uri="{FF2B5EF4-FFF2-40B4-BE49-F238E27FC236}">
                <a16:creationId xmlns:a16="http://schemas.microsoft.com/office/drawing/2014/main" id="{248EDA3A-A90F-279B-072D-5589B172F9E5}"/>
              </a:ext>
            </a:extLst>
          </p:cNvPr>
          <p:cNvSpPr txBox="1"/>
          <p:nvPr/>
        </p:nvSpPr>
        <p:spPr>
          <a:xfrm>
            <a:off x="33877" y="5362365"/>
            <a:ext cx="9144000" cy="1200329"/>
          </a:xfrm>
          <a:prstGeom prst="rect">
            <a:avLst/>
          </a:prstGeom>
          <a:noFill/>
        </p:spPr>
        <p:txBody>
          <a:bodyPr wrap="square" rtlCol="0">
            <a:spAutoFit/>
          </a:bodyPr>
          <a:lstStyle/>
          <a:p>
            <a:pPr algn="ctr"/>
            <a:r>
              <a:rPr lang="en-US" altLang="ja-JP" sz="2400" dirty="0" err="1">
                <a:solidFill>
                  <a:srgbClr val="FF0000"/>
                </a:solidFill>
              </a:rPr>
              <a:t>externalsource.inp</a:t>
            </a:r>
            <a:r>
              <a:rPr lang="ja-JP" altLang="en-US" sz="2400" dirty="0">
                <a:solidFill>
                  <a:srgbClr val="FF0000"/>
                </a:solidFill>
              </a:rPr>
              <a:t>および</a:t>
            </a:r>
            <a:r>
              <a:rPr lang="en-US" altLang="ja-JP" sz="2400" dirty="0" err="1">
                <a:solidFill>
                  <a:srgbClr val="FF0000"/>
                </a:solidFill>
              </a:rPr>
              <a:t>int</a:t>
            </a:r>
            <a:r>
              <a:rPr kumimoji="1" lang="en-US" altLang="ja-JP" sz="2400" dirty="0" err="1">
                <a:solidFill>
                  <a:srgbClr val="FF0000"/>
                </a:solidFill>
              </a:rPr>
              <a:t>ernalsource.inp</a:t>
            </a:r>
            <a:r>
              <a:rPr kumimoji="1" lang="ja-JP" altLang="en-US" sz="2400" dirty="0">
                <a:solidFill>
                  <a:srgbClr val="FF0000"/>
                </a:solidFill>
              </a:rPr>
              <a:t>を実行し、</a:t>
            </a:r>
            <a:endParaRPr kumimoji="1" lang="en-US" altLang="ja-JP" sz="2400" dirty="0">
              <a:solidFill>
                <a:srgbClr val="FF0000"/>
              </a:solidFill>
            </a:endParaRPr>
          </a:p>
          <a:p>
            <a:pPr algn="ctr"/>
            <a:r>
              <a:rPr lang="en-US" altLang="ja-JP" sz="2400" dirty="0">
                <a:solidFill>
                  <a:srgbClr val="FF0000"/>
                </a:solidFill>
              </a:rPr>
              <a:t>dose1.out</a:t>
            </a:r>
            <a:r>
              <a:rPr kumimoji="1" lang="ja-JP" altLang="en-US" sz="2400" dirty="0">
                <a:solidFill>
                  <a:srgbClr val="FF0000"/>
                </a:solidFill>
              </a:rPr>
              <a:t>および</a:t>
            </a:r>
            <a:r>
              <a:rPr kumimoji="1" lang="en-US" altLang="ja-JP" sz="2400" dirty="0">
                <a:solidFill>
                  <a:srgbClr val="FF0000"/>
                </a:solidFill>
              </a:rPr>
              <a:t>dose2.out</a:t>
            </a:r>
            <a:r>
              <a:rPr kumimoji="1" lang="ja-JP" altLang="en-US" sz="2400" dirty="0">
                <a:solidFill>
                  <a:srgbClr val="FF0000"/>
                </a:solidFill>
              </a:rPr>
              <a:t>を確認</a:t>
            </a:r>
            <a:endParaRPr kumimoji="1" lang="en-US" altLang="ja-JP" sz="2400" dirty="0">
              <a:solidFill>
                <a:srgbClr val="FF0000"/>
              </a:solidFill>
            </a:endParaRPr>
          </a:p>
          <a:p>
            <a:pPr algn="ctr"/>
            <a:r>
              <a:rPr kumimoji="1" lang="ja-JP" altLang="en-US" sz="2400" dirty="0">
                <a:solidFill>
                  <a:srgbClr val="FF0000"/>
                </a:solidFill>
              </a:rPr>
              <a:t>小屋内線量（</a:t>
            </a:r>
            <a:r>
              <a:rPr kumimoji="1" lang="en-US" altLang="ja-JP" sz="2000" dirty="0">
                <a:solidFill>
                  <a:srgbClr val="FF0000"/>
                </a:solidFill>
              </a:rPr>
              <a:t>1.2800E-02</a:t>
            </a:r>
            <a:r>
              <a:rPr kumimoji="1" lang="en-US" altLang="ja-JP" sz="2000" dirty="0">
                <a:solidFill>
                  <a:srgbClr val="FF0000"/>
                </a:solidFill>
                <a:sym typeface="Symbol" panose="05050102010706020507" pitchFamily="18" charset="2"/>
              </a:rPr>
              <a:t>Sv/h</a:t>
            </a:r>
            <a:r>
              <a:rPr kumimoji="1" lang="ja-JP" altLang="en-US" sz="2400" dirty="0">
                <a:solidFill>
                  <a:srgbClr val="FF0000"/>
                </a:solidFill>
              </a:rPr>
              <a:t>）と無限平面上線量（</a:t>
            </a:r>
            <a:r>
              <a:rPr kumimoji="1" lang="en-US" altLang="ja-JP" sz="2000" dirty="0">
                <a:solidFill>
                  <a:srgbClr val="FF0000"/>
                </a:solidFill>
              </a:rPr>
              <a:t>2.0340E-02</a:t>
            </a:r>
            <a:r>
              <a:rPr kumimoji="1" lang="en-US" altLang="ja-JP" sz="2000" dirty="0">
                <a:solidFill>
                  <a:srgbClr val="FF0000"/>
                </a:solidFill>
                <a:sym typeface="Symbol" panose="05050102010706020507" pitchFamily="18" charset="2"/>
              </a:rPr>
              <a:t>Sv/h</a:t>
            </a:r>
            <a:r>
              <a:rPr kumimoji="1" lang="ja-JP" altLang="en-US" sz="2400" dirty="0">
                <a:solidFill>
                  <a:srgbClr val="FF0000"/>
                </a:solidFill>
              </a:rPr>
              <a:t>）</a:t>
            </a:r>
            <a:r>
              <a:rPr lang="ja-JP" altLang="en-US" sz="2400" dirty="0">
                <a:solidFill>
                  <a:srgbClr val="FF0000"/>
                </a:solidFill>
              </a:rPr>
              <a:t>と比較</a:t>
            </a:r>
            <a:endParaRPr kumimoji="1" lang="ja-JP" altLang="en-US" sz="2400" dirty="0">
              <a:solidFill>
                <a:srgbClr val="FF0000"/>
              </a:solidFill>
            </a:endParaRPr>
          </a:p>
        </p:txBody>
      </p:sp>
      <p:sp>
        <p:nvSpPr>
          <p:cNvPr id="23" name="スライド番号プレースホルダー 22">
            <a:extLst>
              <a:ext uri="{FF2B5EF4-FFF2-40B4-BE49-F238E27FC236}">
                <a16:creationId xmlns:a16="http://schemas.microsoft.com/office/drawing/2014/main" id="{1C9EF468-F7CB-C80E-78AF-25CA30FB5B31}"/>
              </a:ext>
            </a:extLst>
          </p:cNvPr>
          <p:cNvSpPr>
            <a:spLocks noGrp="1"/>
          </p:cNvSpPr>
          <p:nvPr>
            <p:ph type="sldNum" sz="quarter" idx="12"/>
          </p:nvPr>
        </p:nvSpPr>
        <p:spPr/>
        <p:txBody>
          <a:bodyPr/>
          <a:lstStyle/>
          <a:p>
            <a:fld id="{D2D8002D-B5B0-4BAC-B1F6-782DDCCE6D9C}" type="slidenum">
              <a:rPr kumimoji="1" lang="ja-JP" altLang="en-US" smtClean="0"/>
              <a:t>26</a:t>
            </a:fld>
            <a:endParaRPr kumimoji="1" lang="ja-JP" altLang="en-US"/>
          </a:p>
        </p:txBody>
      </p:sp>
    </p:spTree>
    <p:extLst>
      <p:ext uri="{BB962C8B-B14F-4D97-AF65-F5344CB8AC3E}">
        <p14:creationId xmlns:p14="http://schemas.microsoft.com/office/powerpoint/2010/main" val="5092002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78247-88CB-D6CA-31BA-084743C6AA6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BAB11D3-3405-198C-8366-878B12819BD6}"/>
              </a:ext>
            </a:extLst>
          </p:cNvPr>
          <p:cNvSpPr>
            <a:spLocks noGrp="1"/>
          </p:cNvSpPr>
          <p:nvPr>
            <p:ph type="title"/>
          </p:nvPr>
        </p:nvSpPr>
        <p:spPr>
          <a:xfrm>
            <a:off x="457200" y="53752"/>
            <a:ext cx="8229600" cy="1143000"/>
          </a:xfrm>
        </p:spPr>
        <p:txBody>
          <a:bodyPr>
            <a:normAutofit/>
          </a:bodyPr>
          <a:lstStyle/>
          <a:p>
            <a:r>
              <a:rPr lang="ja-JP" altLang="en-US" dirty="0">
                <a:latin typeface="Arial" pitchFamily="18"/>
              </a:rPr>
              <a:t>ステップ</a:t>
            </a:r>
            <a:r>
              <a:rPr lang="ja-JP" altLang="ja-JP" dirty="0">
                <a:latin typeface="Arial" pitchFamily="18"/>
              </a:rPr>
              <a:t> </a:t>
            </a:r>
            <a:r>
              <a:rPr lang="en-US" altLang="ja-JP" dirty="0">
                <a:latin typeface="Arial" pitchFamily="18"/>
              </a:rPr>
              <a:t>8</a:t>
            </a:r>
            <a:r>
              <a:rPr lang="ja-JP" altLang="en-US" dirty="0">
                <a:latin typeface="Arial" pitchFamily="18"/>
              </a:rPr>
              <a:t>（遮蔽効果）結果</a:t>
            </a:r>
            <a:endParaRPr kumimoji="1" lang="ja-JP" altLang="en-US" dirty="0"/>
          </a:p>
        </p:txBody>
      </p:sp>
      <p:graphicFrame>
        <p:nvGraphicFramePr>
          <p:cNvPr id="7" name="表 6">
            <a:extLst>
              <a:ext uri="{FF2B5EF4-FFF2-40B4-BE49-F238E27FC236}">
                <a16:creationId xmlns:a16="http://schemas.microsoft.com/office/drawing/2014/main" id="{E038F2B0-A800-6713-D9B7-BB51D8F016DE}"/>
              </a:ext>
            </a:extLst>
          </p:cNvPr>
          <p:cNvGraphicFramePr>
            <a:graphicFrameLocks noGrp="1"/>
          </p:cNvGraphicFramePr>
          <p:nvPr>
            <p:extLst>
              <p:ext uri="{D42A27DB-BD31-4B8C-83A1-F6EECF244321}">
                <p14:modId xmlns:p14="http://schemas.microsoft.com/office/powerpoint/2010/main" val="2055998817"/>
              </p:ext>
            </p:extLst>
          </p:nvPr>
        </p:nvGraphicFramePr>
        <p:xfrm>
          <a:off x="470729" y="1212049"/>
          <a:ext cx="8229600" cy="1483360"/>
        </p:xfrm>
        <a:graphic>
          <a:graphicData uri="http://schemas.openxmlformats.org/drawingml/2006/table">
            <a:tbl>
              <a:tblPr firstRow="1" bandRow="1">
                <a:tableStyleId>{5C22544A-7EE6-4342-B048-85BDC9FD1C3A}</a:tableStyleId>
              </a:tblPr>
              <a:tblGrid>
                <a:gridCol w="2301071">
                  <a:extLst>
                    <a:ext uri="{9D8B030D-6E8A-4147-A177-3AD203B41FA5}">
                      <a16:colId xmlns:a16="http://schemas.microsoft.com/office/drawing/2014/main" val="1168048536"/>
                    </a:ext>
                  </a:extLst>
                </a:gridCol>
                <a:gridCol w="1813729">
                  <a:extLst>
                    <a:ext uri="{9D8B030D-6E8A-4147-A177-3AD203B41FA5}">
                      <a16:colId xmlns:a16="http://schemas.microsoft.com/office/drawing/2014/main" val="3570520995"/>
                    </a:ext>
                  </a:extLst>
                </a:gridCol>
                <a:gridCol w="2057400">
                  <a:extLst>
                    <a:ext uri="{9D8B030D-6E8A-4147-A177-3AD203B41FA5}">
                      <a16:colId xmlns:a16="http://schemas.microsoft.com/office/drawing/2014/main" val="3509773530"/>
                    </a:ext>
                  </a:extLst>
                </a:gridCol>
                <a:gridCol w="2057400">
                  <a:extLst>
                    <a:ext uri="{9D8B030D-6E8A-4147-A177-3AD203B41FA5}">
                      <a16:colId xmlns:a16="http://schemas.microsoft.com/office/drawing/2014/main" val="3872953502"/>
                    </a:ext>
                  </a:extLst>
                </a:gridCol>
              </a:tblGrid>
              <a:tr h="370840">
                <a:tc>
                  <a:txBody>
                    <a:bodyPr/>
                    <a:lstStyle/>
                    <a:p>
                      <a:endParaRPr kumimoji="1" lang="ja-JP" altLang="en-US"/>
                    </a:p>
                  </a:txBody>
                  <a:tcPr/>
                </a:tc>
                <a:tc>
                  <a:txBody>
                    <a:bodyPr/>
                    <a:lstStyle/>
                    <a:p>
                      <a:pPr algn="ctr"/>
                      <a:r>
                        <a:rPr kumimoji="1" lang="ja-JP" altLang="en-US" dirty="0"/>
                        <a:t>外部線源</a:t>
                      </a:r>
                    </a:p>
                  </a:txBody>
                  <a:tcPr/>
                </a:tc>
                <a:tc>
                  <a:txBody>
                    <a:bodyPr/>
                    <a:lstStyle/>
                    <a:p>
                      <a:pPr algn="ctr"/>
                      <a:r>
                        <a:rPr kumimoji="1" lang="ja-JP" altLang="en-US" dirty="0"/>
                        <a:t>内部線源</a:t>
                      </a:r>
                    </a:p>
                  </a:txBody>
                  <a:tcPr/>
                </a:tc>
                <a:tc>
                  <a:txBody>
                    <a:bodyPr/>
                    <a:lstStyle/>
                    <a:p>
                      <a:pPr algn="ctr"/>
                      <a:r>
                        <a:rPr kumimoji="1" lang="en-US" altLang="ja-JP" dirty="0"/>
                        <a:t>Total</a:t>
                      </a:r>
                      <a:endParaRPr kumimoji="1" lang="ja-JP" altLang="en-US" dirty="0"/>
                    </a:p>
                  </a:txBody>
                  <a:tcPr/>
                </a:tc>
                <a:extLst>
                  <a:ext uri="{0D108BD9-81ED-4DB2-BD59-A6C34878D82A}">
                    <a16:rowId xmlns:a16="http://schemas.microsoft.com/office/drawing/2014/main" val="1771527405"/>
                  </a:ext>
                </a:extLst>
              </a:tr>
              <a:tr h="370840">
                <a:tc>
                  <a:txBody>
                    <a:bodyPr/>
                    <a:lstStyle/>
                    <a:p>
                      <a:r>
                        <a:rPr kumimoji="1" lang="ja-JP" altLang="en-US" dirty="0"/>
                        <a:t>①無限平面上の線量</a:t>
                      </a:r>
                    </a:p>
                  </a:txBody>
                  <a:tcPr/>
                </a:tc>
                <a:tc>
                  <a:txBody>
                    <a:bodyPr/>
                    <a:lstStyle/>
                    <a:p>
                      <a:pPr algn="ctr"/>
                      <a:r>
                        <a:rPr kumimoji="1" lang="en-US" altLang="ja-JP" dirty="0"/>
                        <a:t>-</a:t>
                      </a:r>
                      <a:endParaRPr kumimoji="1" lang="ja-JP" altLang="en-US" dirty="0"/>
                    </a:p>
                  </a:txBody>
                  <a:tcPr/>
                </a:tc>
                <a:tc>
                  <a:txBody>
                    <a:bodyPr/>
                    <a:lstStyle/>
                    <a:p>
                      <a:pPr algn="ctr"/>
                      <a:r>
                        <a:rPr kumimoji="1" lang="en-US" altLang="ja-JP" dirty="0"/>
                        <a:t>-</a:t>
                      </a:r>
                      <a:endParaRPr kumimoji="1" lang="ja-JP" altLang="en-US" dirty="0"/>
                    </a:p>
                  </a:txBody>
                  <a:tcPr/>
                </a:tc>
                <a:tc>
                  <a:txBody>
                    <a:bodyPr/>
                    <a:lstStyle/>
                    <a:p>
                      <a:pPr algn="ctr"/>
                      <a:r>
                        <a:rPr kumimoji="1" lang="en-US" altLang="ja-JP" dirty="0"/>
                        <a:t>2.0340E-02</a:t>
                      </a:r>
                      <a:endParaRPr kumimoji="1" lang="ja-JP" altLang="en-US" dirty="0"/>
                    </a:p>
                  </a:txBody>
                  <a:tcPr/>
                </a:tc>
                <a:extLst>
                  <a:ext uri="{0D108BD9-81ED-4DB2-BD59-A6C34878D82A}">
                    <a16:rowId xmlns:a16="http://schemas.microsoft.com/office/drawing/2014/main" val="3576980986"/>
                  </a:ext>
                </a:extLst>
              </a:tr>
              <a:tr h="370840">
                <a:tc>
                  <a:txBody>
                    <a:bodyPr/>
                    <a:lstStyle/>
                    <a:p>
                      <a:r>
                        <a:rPr kumimoji="1" lang="ja-JP" altLang="en-US" dirty="0"/>
                        <a:t>②小屋内の線量</a:t>
                      </a:r>
                    </a:p>
                  </a:txBody>
                  <a:tcPr/>
                </a:tc>
                <a:tc>
                  <a:txBody>
                    <a:bodyPr/>
                    <a:lstStyle/>
                    <a:p>
                      <a:pPr algn="ctr"/>
                      <a:r>
                        <a:rPr kumimoji="1" lang="en-US" altLang="ja-JP" dirty="0"/>
                        <a:t>1.0774E-02</a:t>
                      </a:r>
                      <a:endParaRPr kumimoji="1" lang="ja-JP" altLang="en-US" dirty="0"/>
                    </a:p>
                  </a:txBody>
                  <a:tcPr/>
                </a:tc>
                <a:tc>
                  <a:txBody>
                    <a:bodyPr/>
                    <a:lstStyle/>
                    <a:p>
                      <a:pPr algn="ctr"/>
                      <a:r>
                        <a:rPr kumimoji="1" lang="en-US" altLang="ja-JP" dirty="0"/>
                        <a:t>2.0261E-03</a:t>
                      </a:r>
                      <a:endParaRPr kumimoji="1" lang="ja-JP" altLang="en-US" dirty="0"/>
                    </a:p>
                  </a:txBody>
                  <a:tcPr/>
                </a:tc>
                <a:tc>
                  <a:txBody>
                    <a:bodyPr/>
                    <a:lstStyle/>
                    <a:p>
                      <a:pPr algn="ctr"/>
                      <a:r>
                        <a:rPr kumimoji="1" lang="en-US" altLang="ja-JP" dirty="0"/>
                        <a:t>1.2800E-02</a:t>
                      </a:r>
                      <a:endParaRPr kumimoji="1" lang="ja-JP" altLang="en-US" dirty="0"/>
                    </a:p>
                  </a:txBody>
                  <a:tcPr/>
                </a:tc>
                <a:extLst>
                  <a:ext uri="{0D108BD9-81ED-4DB2-BD59-A6C34878D82A}">
                    <a16:rowId xmlns:a16="http://schemas.microsoft.com/office/drawing/2014/main" val="3550688088"/>
                  </a:ext>
                </a:extLst>
              </a:tr>
              <a:tr h="370840">
                <a:tc>
                  <a:txBody>
                    <a:bodyPr/>
                    <a:lstStyle/>
                    <a:p>
                      <a:r>
                        <a:rPr kumimoji="1" lang="ja-JP" altLang="en-US" dirty="0"/>
                        <a:t>③壁なしの線量</a:t>
                      </a:r>
                    </a:p>
                  </a:txBody>
                  <a:tcPr/>
                </a:tc>
                <a:tc>
                  <a:txBody>
                    <a:bodyPr/>
                    <a:lstStyle/>
                    <a:p>
                      <a:pPr algn="ctr"/>
                      <a:r>
                        <a:rPr kumimoji="1" lang="en-US" altLang="ja-JP" dirty="0"/>
                        <a:t>1.1288E-02</a:t>
                      </a:r>
                      <a:endParaRPr kumimoji="1" lang="ja-JP"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dirty="0"/>
                        <a:t>2.3418E-03</a:t>
                      </a:r>
                      <a:endParaRPr kumimoji="1" lang="ja-JP" altLang="en-US" dirty="0"/>
                    </a:p>
                  </a:txBody>
                  <a:tcPr/>
                </a:tc>
                <a:tc>
                  <a:txBody>
                    <a:bodyPr/>
                    <a:lstStyle/>
                    <a:p>
                      <a:pPr algn="ctr"/>
                      <a:r>
                        <a:rPr kumimoji="1" lang="en-US" altLang="ja-JP" dirty="0"/>
                        <a:t>1.3630E-02</a:t>
                      </a:r>
                      <a:endParaRPr kumimoji="1" lang="ja-JP" altLang="en-US" dirty="0"/>
                    </a:p>
                  </a:txBody>
                  <a:tcPr/>
                </a:tc>
                <a:extLst>
                  <a:ext uri="{0D108BD9-81ED-4DB2-BD59-A6C34878D82A}">
                    <a16:rowId xmlns:a16="http://schemas.microsoft.com/office/drawing/2014/main" val="4271149808"/>
                  </a:ext>
                </a:extLst>
              </a:tr>
            </a:tbl>
          </a:graphicData>
        </a:graphic>
      </p:graphicFrame>
      <p:sp>
        <p:nvSpPr>
          <p:cNvPr id="8" name="テキスト ボックス 7">
            <a:extLst>
              <a:ext uri="{FF2B5EF4-FFF2-40B4-BE49-F238E27FC236}">
                <a16:creationId xmlns:a16="http://schemas.microsoft.com/office/drawing/2014/main" id="{F1DF4BDA-C133-B191-BFEB-B6F2DC393932}"/>
              </a:ext>
            </a:extLst>
          </p:cNvPr>
          <p:cNvSpPr txBox="1"/>
          <p:nvPr/>
        </p:nvSpPr>
        <p:spPr>
          <a:xfrm>
            <a:off x="1022260" y="3480543"/>
            <a:ext cx="2757652" cy="461665"/>
          </a:xfrm>
          <a:prstGeom prst="rect">
            <a:avLst/>
          </a:prstGeom>
          <a:noFill/>
        </p:spPr>
        <p:txBody>
          <a:bodyPr wrap="square" rtlCol="0">
            <a:spAutoFit/>
          </a:bodyPr>
          <a:lstStyle/>
          <a:p>
            <a:r>
              <a:rPr lang="ja-JP" altLang="en-US" sz="2400" dirty="0"/>
              <a:t>線量低減係数　＝</a:t>
            </a:r>
            <a:endParaRPr kumimoji="1" lang="ja-JP" altLang="en-US" sz="2400" dirty="0"/>
          </a:p>
        </p:txBody>
      </p:sp>
      <p:sp>
        <p:nvSpPr>
          <p:cNvPr id="11" name="テキスト ボックス 10">
            <a:extLst>
              <a:ext uri="{FF2B5EF4-FFF2-40B4-BE49-F238E27FC236}">
                <a16:creationId xmlns:a16="http://schemas.microsoft.com/office/drawing/2014/main" id="{9A35585B-5537-5DCC-1A26-7C421A065BC0}"/>
              </a:ext>
            </a:extLst>
          </p:cNvPr>
          <p:cNvSpPr txBox="1"/>
          <p:nvPr/>
        </p:nvSpPr>
        <p:spPr>
          <a:xfrm>
            <a:off x="3635896" y="3212976"/>
            <a:ext cx="2592288" cy="461665"/>
          </a:xfrm>
          <a:prstGeom prst="rect">
            <a:avLst/>
          </a:prstGeom>
          <a:noFill/>
        </p:spPr>
        <p:txBody>
          <a:bodyPr wrap="square" rtlCol="0">
            <a:spAutoFit/>
          </a:bodyPr>
          <a:lstStyle/>
          <a:p>
            <a:r>
              <a:rPr kumimoji="1" lang="ja-JP" altLang="en-US" sz="2400" dirty="0"/>
              <a:t>②小屋内の線量</a:t>
            </a:r>
          </a:p>
        </p:txBody>
      </p:sp>
      <p:sp>
        <p:nvSpPr>
          <p:cNvPr id="18" name="テキスト ボックス 17">
            <a:extLst>
              <a:ext uri="{FF2B5EF4-FFF2-40B4-BE49-F238E27FC236}">
                <a16:creationId xmlns:a16="http://schemas.microsoft.com/office/drawing/2014/main" id="{C5ED926E-8E68-96BF-1078-902DFE86434D}"/>
              </a:ext>
            </a:extLst>
          </p:cNvPr>
          <p:cNvSpPr txBox="1"/>
          <p:nvPr/>
        </p:nvSpPr>
        <p:spPr>
          <a:xfrm>
            <a:off x="3635896" y="3665209"/>
            <a:ext cx="2952328" cy="461665"/>
          </a:xfrm>
          <a:prstGeom prst="rect">
            <a:avLst/>
          </a:prstGeom>
          <a:noFill/>
        </p:spPr>
        <p:txBody>
          <a:bodyPr wrap="square" rtlCol="0">
            <a:spAutoFit/>
          </a:bodyPr>
          <a:lstStyle/>
          <a:p>
            <a:r>
              <a:rPr lang="ja-JP" altLang="en-US" sz="2400" dirty="0"/>
              <a:t>①無限平面上</a:t>
            </a:r>
            <a:r>
              <a:rPr kumimoji="1" lang="ja-JP" altLang="en-US" sz="2400" dirty="0"/>
              <a:t>の線量</a:t>
            </a:r>
          </a:p>
        </p:txBody>
      </p:sp>
      <p:sp>
        <p:nvSpPr>
          <p:cNvPr id="19" name="テキスト ボックス 18">
            <a:extLst>
              <a:ext uri="{FF2B5EF4-FFF2-40B4-BE49-F238E27FC236}">
                <a16:creationId xmlns:a16="http://schemas.microsoft.com/office/drawing/2014/main" id="{201DC1FD-012F-DB1E-D67E-B7F2FE147208}"/>
              </a:ext>
            </a:extLst>
          </p:cNvPr>
          <p:cNvSpPr txBox="1"/>
          <p:nvPr/>
        </p:nvSpPr>
        <p:spPr>
          <a:xfrm>
            <a:off x="1619673" y="4715572"/>
            <a:ext cx="2160240" cy="461665"/>
          </a:xfrm>
          <a:prstGeom prst="rect">
            <a:avLst/>
          </a:prstGeom>
          <a:noFill/>
        </p:spPr>
        <p:txBody>
          <a:bodyPr wrap="square" rtlCol="0">
            <a:spAutoFit/>
          </a:bodyPr>
          <a:lstStyle/>
          <a:p>
            <a:r>
              <a:rPr lang="ja-JP" altLang="en-US" sz="2400" dirty="0"/>
              <a:t>遮蔽係数　＝</a:t>
            </a:r>
            <a:endParaRPr kumimoji="1" lang="ja-JP" altLang="en-US" sz="2400" dirty="0"/>
          </a:p>
        </p:txBody>
      </p:sp>
      <p:sp>
        <p:nvSpPr>
          <p:cNvPr id="21" name="テキスト ボックス 20">
            <a:extLst>
              <a:ext uri="{FF2B5EF4-FFF2-40B4-BE49-F238E27FC236}">
                <a16:creationId xmlns:a16="http://schemas.microsoft.com/office/drawing/2014/main" id="{70EDAD51-1BB4-A129-968E-B090B4FE434D}"/>
              </a:ext>
            </a:extLst>
          </p:cNvPr>
          <p:cNvSpPr txBox="1"/>
          <p:nvPr/>
        </p:nvSpPr>
        <p:spPr>
          <a:xfrm>
            <a:off x="3635896" y="4450343"/>
            <a:ext cx="2736304" cy="461665"/>
          </a:xfrm>
          <a:prstGeom prst="rect">
            <a:avLst/>
          </a:prstGeom>
          <a:noFill/>
        </p:spPr>
        <p:txBody>
          <a:bodyPr wrap="square" rtlCol="0">
            <a:spAutoFit/>
          </a:bodyPr>
          <a:lstStyle/>
          <a:p>
            <a:r>
              <a:rPr kumimoji="1" lang="ja-JP" altLang="en-US" sz="2400" dirty="0"/>
              <a:t>②小屋内の線量</a:t>
            </a:r>
          </a:p>
        </p:txBody>
      </p:sp>
      <p:sp>
        <p:nvSpPr>
          <p:cNvPr id="22" name="テキスト ボックス 21">
            <a:extLst>
              <a:ext uri="{FF2B5EF4-FFF2-40B4-BE49-F238E27FC236}">
                <a16:creationId xmlns:a16="http://schemas.microsoft.com/office/drawing/2014/main" id="{42451C43-EF81-7C02-73BB-901C8B528D0A}"/>
              </a:ext>
            </a:extLst>
          </p:cNvPr>
          <p:cNvSpPr txBox="1"/>
          <p:nvPr/>
        </p:nvSpPr>
        <p:spPr>
          <a:xfrm>
            <a:off x="3635896" y="4819675"/>
            <a:ext cx="2520280" cy="461665"/>
          </a:xfrm>
          <a:prstGeom prst="rect">
            <a:avLst/>
          </a:prstGeom>
          <a:noFill/>
        </p:spPr>
        <p:txBody>
          <a:bodyPr wrap="square" rtlCol="0">
            <a:spAutoFit/>
          </a:bodyPr>
          <a:lstStyle/>
          <a:p>
            <a:r>
              <a:rPr kumimoji="1" lang="ja-JP" altLang="en-US" sz="2400" dirty="0"/>
              <a:t>③壁なしの線量</a:t>
            </a:r>
          </a:p>
        </p:txBody>
      </p:sp>
      <p:sp>
        <p:nvSpPr>
          <p:cNvPr id="23" name="テキスト ボックス 22">
            <a:extLst>
              <a:ext uri="{FF2B5EF4-FFF2-40B4-BE49-F238E27FC236}">
                <a16:creationId xmlns:a16="http://schemas.microsoft.com/office/drawing/2014/main" id="{629B20B1-6DA3-DE75-C3E8-66FD51E16C5F}"/>
              </a:ext>
            </a:extLst>
          </p:cNvPr>
          <p:cNvSpPr txBox="1"/>
          <p:nvPr/>
        </p:nvSpPr>
        <p:spPr>
          <a:xfrm>
            <a:off x="6380087" y="3470160"/>
            <a:ext cx="1258771" cy="461665"/>
          </a:xfrm>
          <a:prstGeom prst="rect">
            <a:avLst/>
          </a:prstGeom>
          <a:noFill/>
        </p:spPr>
        <p:txBody>
          <a:bodyPr wrap="square" rtlCol="0">
            <a:spAutoFit/>
          </a:bodyPr>
          <a:lstStyle/>
          <a:p>
            <a:r>
              <a:rPr lang="ja-JP" altLang="en-US" sz="2400" dirty="0"/>
              <a:t>＝ </a:t>
            </a:r>
            <a:r>
              <a:rPr lang="en-US" altLang="ja-JP" sz="2400" dirty="0"/>
              <a:t>0.63</a:t>
            </a:r>
            <a:endParaRPr kumimoji="1" lang="ja-JP" altLang="en-US" sz="2400" dirty="0"/>
          </a:p>
        </p:txBody>
      </p:sp>
      <p:sp>
        <p:nvSpPr>
          <p:cNvPr id="26" name="テキスト ボックス 25">
            <a:extLst>
              <a:ext uri="{FF2B5EF4-FFF2-40B4-BE49-F238E27FC236}">
                <a16:creationId xmlns:a16="http://schemas.microsoft.com/office/drawing/2014/main" id="{0D2D41CB-34B7-662D-A313-0B069B565107}"/>
              </a:ext>
            </a:extLst>
          </p:cNvPr>
          <p:cNvSpPr txBox="1"/>
          <p:nvPr/>
        </p:nvSpPr>
        <p:spPr>
          <a:xfrm>
            <a:off x="6372200" y="4635009"/>
            <a:ext cx="1283329" cy="461665"/>
          </a:xfrm>
          <a:prstGeom prst="rect">
            <a:avLst/>
          </a:prstGeom>
          <a:noFill/>
        </p:spPr>
        <p:txBody>
          <a:bodyPr wrap="square" rtlCol="0">
            <a:spAutoFit/>
          </a:bodyPr>
          <a:lstStyle/>
          <a:p>
            <a:r>
              <a:rPr lang="ja-JP" altLang="en-US" sz="2400" dirty="0"/>
              <a:t>＝ </a:t>
            </a:r>
            <a:r>
              <a:rPr lang="en-US" altLang="ja-JP" sz="2400" dirty="0"/>
              <a:t>0.94</a:t>
            </a:r>
            <a:endParaRPr kumimoji="1" lang="ja-JP" altLang="en-US" sz="2400" dirty="0"/>
          </a:p>
        </p:txBody>
      </p:sp>
      <p:cxnSp>
        <p:nvCxnSpPr>
          <p:cNvPr id="30" name="直線コネクタ 29">
            <a:extLst>
              <a:ext uri="{FF2B5EF4-FFF2-40B4-BE49-F238E27FC236}">
                <a16:creationId xmlns:a16="http://schemas.microsoft.com/office/drawing/2014/main" id="{E15EB912-35E2-6133-00C5-7D9628722553}"/>
              </a:ext>
            </a:extLst>
          </p:cNvPr>
          <p:cNvCxnSpPr>
            <a:cxnSpLocks/>
          </p:cNvCxnSpPr>
          <p:nvPr/>
        </p:nvCxnSpPr>
        <p:spPr>
          <a:xfrm>
            <a:off x="3779912" y="3665209"/>
            <a:ext cx="259228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線コネクタ 30">
            <a:extLst>
              <a:ext uri="{FF2B5EF4-FFF2-40B4-BE49-F238E27FC236}">
                <a16:creationId xmlns:a16="http://schemas.microsoft.com/office/drawing/2014/main" id="{F453D598-182F-B8CF-CA77-9CBC02E508A5}"/>
              </a:ext>
            </a:extLst>
          </p:cNvPr>
          <p:cNvCxnSpPr>
            <a:cxnSpLocks/>
          </p:cNvCxnSpPr>
          <p:nvPr/>
        </p:nvCxnSpPr>
        <p:spPr>
          <a:xfrm>
            <a:off x="3563888" y="4869160"/>
            <a:ext cx="25202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テキスト ボックス 2">
            <a:extLst>
              <a:ext uri="{FF2B5EF4-FFF2-40B4-BE49-F238E27FC236}">
                <a16:creationId xmlns:a16="http://schemas.microsoft.com/office/drawing/2014/main" id="{3CF34AE7-9802-771A-E244-7DB52932B9B8}"/>
              </a:ext>
            </a:extLst>
          </p:cNvPr>
          <p:cNvSpPr txBox="1"/>
          <p:nvPr/>
        </p:nvSpPr>
        <p:spPr>
          <a:xfrm>
            <a:off x="470729" y="5500706"/>
            <a:ext cx="8229600" cy="830997"/>
          </a:xfrm>
          <a:prstGeom prst="rect">
            <a:avLst/>
          </a:prstGeom>
          <a:noFill/>
        </p:spPr>
        <p:txBody>
          <a:bodyPr wrap="square" rtlCol="0">
            <a:spAutoFit/>
          </a:bodyPr>
          <a:lstStyle/>
          <a:p>
            <a:pPr algn="ctr"/>
            <a:r>
              <a:rPr lang="ja-JP" altLang="en-US" sz="2400" dirty="0">
                <a:solidFill>
                  <a:srgbClr val="FF0000"/>
                </a:solidFill>
              </a:rPr>
              <a:t>木造家屋の屋内線量が低減する主な理由は外壁の遮蔽効果ではなく、家屋の床下に汚染源が無いことによる低減効果</a:t>
            </a:r>
            <a:endParaRPr lang="en-US" altLang="ja-JP" sz="2400" dirty="0">
              <a:solidFill>
                <a:srgbClr val="FF0000"/>
              </a:solidFill>
            </a:endParaRPr>
          </a:p>
        </p:txBody>
      </p:sp>
      <p:sp>
        <p:nvSpPr>
          <p:cNvPr id="4" name="スライド番号プレースホルダー 3">
            <a:extLst>
              <a:ext uri="{FF2B5EF4-FFF2-40B4-BE49-F238E27FC236}">
                <a16:creationId xmlns:a16="http://schemas.microsoft.com/office/drawing/2014/main" id="{E5846ADE-E91B-69B1-F8B8-7B9CD25DE0E5}"/>
              </a:ext>
            </a:extLst>
          </p:cNvPr>
          <p:cNvSpPr>
            <a:spLocks noGrp="1"/>
          </p:cNvSpPr>
          <p:nvPr>
            <p:ph type="sldNum" sz="quarter" idx="12"/>
          </p:nvPr>
        </p:nvSpPr>
        <p:spPr/>
        <p:txBody>
          <a:bodyPr/>
          <a:lstStyle/>
          <a:p>
            <a:fld id="{D2D8002D-B5B0-4BAC-B1F6-782DDCCE6D9C}" type="slidenum">
              <a:rPr kumimoji="1" lang="ja-JP" altLang="en-US" smtClean="0"/>
              <a:t>27</a:t>
            </a:fld>
            <a:endParaRPr kumimoji="1" lang="ja-JP" altLang="en-US"/>
          </a:p>
        </p:txBody>
      </p:sp>
    </p:spTree>
    <p:extLst>
      <p:ext uri="{BB962C8B-B14F-4D97-AF65-F5344CB8AC3E}">
        <p14:creationId xmlns:p14="http://schemas.microsoft.com/office/powerpoint/2010/main" val="805388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428C9-4B23-1018-234B-DC46396661A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0D802FE-C38A-B4FB-1248-EA3DA9537B6F}"/>
              </a:ext>
            </a:extLst>
          </p:cNvPr>
          <p:cNvSpPr>
            <a:spLocks noGrp="1"/>
          </p:cNvSpPr>
          <p:nvPr>
            <p:ph type="title"/>
          </p:nvPr>
        </p:nvSpPr>
        <p:spPr>
          <a:xfrm>
            <a:off x="457200" y="53752"/>
            <a:ext cx="8229600" cy="1143000"/>
          </a:xfrm>
        </p:spPr>
        <p:txBody>
          <a:bodyPr>
            <a:normAutofit/>
          </a:bodyPr>
          <a:lstStyle/>
          <a:p>
            <a:r>
              <a:rPr kumimoji="1" lang="ja-JP" altLang="en-US" dirty="0">
                <a:latin typeface="Arial" pitchFamily="18"/>
              </a:rPr>
              <a:t>まとめ</a:t>
            </a:r>
            <a:endParaRPr kumimoji="1" lang="ja-JP" altLang="en-US" dirty="0"/>
          </a:p>
        </p:txBody>
      </p:sp>
      <p:sp>
        <p:nvSpPr>
          <p:cNvPr id="3" name="テキスト ボックス 2">
            <a:extLst>
              <a:ext uri="{FF2B5EF4-FFF2-40B4-BE49-F238E27FC236}">
                <a16:creationId xmlns:a16="http://schemas.microsoft.com/office/drawing/2014/main" id="{F2A79048-139C-C018-1990-487BA50FD978}"/>
              </a:ext>
            </a:extLst>
          </p:cNvPr>
          <p:cNvSpPr txBox="1"/>
          <p:nvPr/>
        </p:nvSpPr>
        <p:spPr>
          <a:xfrm>
            <a:off x="2267744" y="5512696"/>
            <a:ext cx="4608512" cy="369332"/>
          </a:xfrm>
          <a:prstGeom prst="rect">
            <a:avLst/>
          </a:prstGeom>
          <a:noFill/>
        </p:spPr>
        <p:txBody>
          <a:bodyPr wrap="square" rtlCol="0">
            <a:spAutoFit/>
          </a:bodyPr>
          <a:lstStyle/>
          <a:p>
            <a:r>
              <a:rPr kumimoji="1" lang="en-US" altLang="ja-JP" dirty="0"/>
              <a:t>T. Furuta, J. </a:t>
            </a:r>
            <a:r>
              <a:rPr kumimoji="1" lang="en-US" altLang="ja-JP" dirty="0" err="1"/>
              <a:t>Nucl</a:t>
            </a:r>
            <a:r>
              <a:rPr kumimoji="1" lang="en-US" altLang="ja-JP" dirty="0"/>
              <a:t> Sci. Technol. </a:t>
            </a:r>
            <a:r>
              <a:rPr lang="en-US" altLang="ja-JP" dirty="0"/>
              <a:t>52</a:t>
            </a:r>
            <a:r>
              <a:rPr kumimoji="1" lang="en-US" altLang="ja-JP" dirty="0"/>
              <a:t>(2015)897-904</a:t>
            </a:r>
            <a:endParaRPr kumimoji="1" lang="ja-JP" altLang="en-US" dirty="0"/>
          </a:p>
        </p:txBody>
      </p:sp>
      <p:sp>
        <p:nvSpPr>
          <p:cNvPr id="4" name="テキスト ボックス 3">
            <a:extLst>
              <a:ext uri="{FF2B5EF4-FFF2-40B4-BE49-F238E27FC236}">
                <a16:creationId xmlns:a16="http://schemas.microsoft.com/office/drawing/2014/main" id="{683222B2-7E2A-0AE4-E689-1B99CCEA14D4}"/>
              </a:ext>
            </a:extLst>
          </p:cNvPr>
          <p:cNvSpPr txBox="1"/>
          <p:nvPr/>
        </p:nvSpPr>
        <p:spPr>
          <a:xfrm>
            <a:off x="2241972" y="4344178"/>
            <a:ext cx="4896545" cy="369332"/>
          </a:xfrm>
          <a:prstGeom prst="rect">
            <a:avLst/>
          </a:prstGeom>
          <a:noFill/>
        </p:spPr>
        <p:txBody>
          <a:bodyPr wrap="square" rtlCol="0">
            <a:spAutoFit/>
          </a:bodyPr>
          <a:lstStyle/>
          <a:p>
            <a:r>
              <a:rPr kumimoji="1" lang="en-US" altLang="ja-JP" dirty="0"/>
              <a:t>T. Furuta, </a:t>
            </a:r>
            <a:r>
              <a:rPr kumimoji="1" lang="en-US" altLang="ja-JP" dirty="0" err="1"/>
              <a:t>Radiat</a:t>
            </a:r>
            <a:r>
              <a:rPr kumimoji="1" lang="en-US" altLang="ja-JP" dirty="0"/>
              <a:t>. Prot. </a:t>
            </a:r>
            <a:r>
              <a:rPr kumimoji="1" lang="en-US" altLang="ja-JP" dirty="0" err="1"/>
              <a:t>Dosim</a:t>
            </a:r>
            <a:r>
              <a:rPr kumimoji="1" lang="en-US" altLang="ja-JP" dirty="0"/>
              <a:t>. 167(2015)392-398</a:t>
            </a:r>
            <a:endParaRPr kumimoji="1" lang="ja-JP" altLang="en-US" dirty="0"/>
          </a:p>
        </p:txBody>
      </p:sp>
      <p:sp>
        <p:nvSpPr>
          <p:cNvPr id="5" name="テキスト ボックス 4">
            <a:extLst>
              <a:ext uri="{FF2B5EF4-FFF2-40B4-BE49-F238E27FC236}">
                <a16:creationId xmlns:a16="http://schemas.microsoft.com/office/drawing/2014/main" id="{6E15ED2E-D0A0-31FD-9726-274813ECF8D2}"/>
              </a:ext>
            </a:extLst>
          </p:cNvPr>
          <p:cNvSpPr txBox="1"/>
          <p:nvPr/>
        </p:nvSpPr>
        <p:spPr>
          <a:xfrm>
            <a:off x="423912" y="1471920"/>
            <a:ext cx="8229600" cy="1569660"/>
          </a:xfrm>
          <a:prstGeom prst="rect">
            <a:avLst/>
          </a:prstGeom>
          <a:noFill/>
        </p:spPr>
        <p:txBody>
          <a:bodyPr wrap="square" rtlCol="0">
            <a:spAutoFit/>
          </a:bodyPr>
          <a:lstStyle/>
          <a:p>
            <a:pPr algn="ctr"/>
            <a:r>
              <a:rPr lang="ja-JP" altLang="en-US" sz="3200" dirty="0"/>
              <a:t>反射境界と二段階計算を組み合わせることで、環境放射線の線量評価で必要となる無限環境下の線量計算を効率的に実施可能</a:t>
            </a:r>
            <a:endParaRPr lang="en-US" altLang="ja-JP" sz="3200" dirty="0"/>
          </a:p>
        </p:txBody>
      </p:sp>
      <p:sp>
        <p:nvSpPr>
          <p:cNvPr id="6" name="テキスト ボックス 5">
            <a:extLst>
              <a:ext uri="{FF2B5EF4-FFF2-40B4-BE49-F238E27FC236}">
                <a16:creationId xmlns:a16="http://schemas.microsoft.com/office/drawing/2014/main" id="{E7AF82D8-9932-8D0B-13AC-DF548C5F3940}"/>
              </a:ext>
            </a:extLst>
          </p:cNvPr>
          <p:cNvSpPr txBox="1"/>
          <p:nvPr/>
        </p:nvSpPr>
        <p:spPr>
          <a:xfrm>
            <a:off x="722288" y="3974846"/>
            <a:ext cx="5145856" cy="461665"/>
          </a:xfrm>
          <a:prstGeom prst="rect">
            <a:avLst/>
          </a:prstGeom>
          <a:noFill/>
        </p:spPr>
        <p:txBody>
          <a:bodyPr wrap="square" rtlCol="0">
            <a:spAutoFit/>
          </a:bodyPr>
          <a:lstStyle/>
          <a:p>
            <a:r>
              <a:rPr kumimoji="1" lang="ja-JP" altLang="en-US" sz="2400" dirty="0"/>
              <a:t>反射境界と</a:t>
            </a:r>
            <a:r>
              <a:rPr lang="ja-JP" altLang="en-US" sz="2400" dirty="0"/>
              <a:t>二</a:t>
            </a:r>
            <a:r>
              <a:rPr kumimoji="1" lang="ja-JP" altLang="en-US" sz="2400" dirty="0"/>
              <a:t>段階計算の組み合わせ</a:t>
            </a:r>
          </a:p>
        </p:txBody>
      </p:sp>
      <p:sp>
        <p:nvSpPr>
          <p:cNvPr id="7" name="テキスト ボックス 6">
            <a:extLst>
              <a:ext uri="{FF2B5EF4-FFF2-40B4-BE49-F238E27FC236}">
                <a16:creationId xmlns:a16="http://schemas.microsoft.com/office/drawing/2014/main" id="{B70DDED0-E3BA-D304-8434-9BB75E2B26B5}"/>
              </a:ext>
            </a:extLst>
          </p:cNvPr>
          <p:cNvSpPr txBox="1"/>
          <p:nvPr/>
        </p:nvSpPr>
        <p:spPr>
          <a:xfrm>
            <a:off x="755576" y="5133492"/>
            <a:ext cx="6744206" cy="461665"/>
          </a:xfrm>
          <a:prstGeom prst="rect">
            <a:avLst/>
          </a:prstGeom>
          <a:noFill/>
        </p:spPr>
        <p:txBody>
          <a:bodyPr wrap="square" rtlCol="0">
            <a:spAutoFit/>
          </a:bodyPr>
          <a:lstStyle/>
          <a:p>
            <a:r>
              <a:rPr lang="ja-JP" altLang="en-US" sz="2400" dirty="0"/>
              <a:t>本手法を用いた各種建物の線量低減効果の研究</a:t>
            </a:r>
            <a:endParaRPr kumimoji="1" lang="ja-JP" altLang="en-US" sz="2400" dirty="0"/>
          </a:p>
        </p:txBody>
      </p:sp>
      <p:sp>
        <p:nvSpPr>
          <p:cNvPr id="8" name="スライド番号プレースホルダー 7">
            <a:extLst>
              <a:ext uri="{FF2B5EF4-FFF2-40B4-BE49-F238E27FC236}">
                <a16:creationId xmlns:a16="http://schemas.microsoft.com/office/drawing/2014/main" id="{0AF8B489-4A45-7B69-216C-3D4DF7CDBD15}"/>
              </a:ext>
            </a:extLst>
          </p:cNvPr>
          <p:cNvSpPr>
            <a:spLocks noGrp="1"/>
          </p:cNvSpPr>
          <p:nvPr>
            <p:ph type="sldNum" sz="quarter" idx="12"/>
          </p:nvPr>
        </p:nvSpPr>
        <p:spPr/>
        <p:txBody>
          <a:bodyPr/>
          <a:lstStyle/>
          <a:p>
            <a:fld id="{D2D8002D-B5B0-4BAC-B1F6-782DDCCE6D9C}" type="slidenum">
              <a:rPr kumimoji="1" lang="ja-JP" altLang="en-US" smtClean="0"/>
              <a:t>28</a:t>
            </a:fld>
            <a:endParaRPr kumimoji="1" lang="ja-JP" altLang="en-US"/>
          </a:p>
        </p:txBody>
      </p:sp>
    </p:spTree>
    <p:extLst>
      <p:ext uri="{BB962C8B-B14F-4D97-AF65-F5344CB8AC3E}">
        <p14:creationId xmlns:p14="http://schemas.microsoft.com/office/powerpoint/2010/main" val="360561150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標準デザイン">
  <a:themeElements>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標準デザイン">
      <a:majorFont>
        <a:latin typeface="Times New Roman"/>
        <a:ea typeface="ＭＳ Ｐゴシック"/>
        <a:cs typeface=""/>
      </a:majorFont>
      <a:minorFont>
        <a:latin typeface="Times New Roman"/>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2125</TotalTime>
  <Words>2656</Words>
  <Application>Microsoft Office PowerPoint</Application>
  <PresentationFormat>画面に合わせる (4:3)</PresentationFormat>
  <Paragraphs>463</Paragraphs>
  <Slides>28</Slides>
  <Notes>1</Notes>
  <HiddenSlides>0</HiddenSlides>
  <MMClips>0</MMClips>
  <ScaleCrop>false</ScaleCrop>
  <HeadingPairs>
    <vt:vector size="6" baseType="variant">
      <vt:variant>
        <vt:lpstr>使用されているフォント</vt:lpstr>
      </vt:variant>
      <vt:variant>
        <vt:i4>7</vt:i4>
      </vt:variant>
      <vt:variant>
        <vt:lpstr>テーマ</vt:lpstr>
      </vt:variant>
      <vt:variant>
        <vt:i4>2</vt:i4>
      </vt:variant>
      <vt:variant>
        <vt:lpstr>スライド タイトル</vt:lpstr>
      </vt:variant>
      <vt:variant>
        <vt:i4>28</vt:i4>
      </vt:variant>
    </vt:vector>
  </HeadingPairs>
  <TitlesOfParts>
    <vt:vector size="37" baseType="lpstr">
      <vt:lpstr>ＭＳ Ｐゴシック</vt:lpstr>
      <vt:lpstr>メイリオ</vt:lpstr>
      <vt:lpstr>Arial</vt:lpstr>
      <vt:lpstr>Calibri</vt:lpstr>
      <vt:lpstr>Symbol</vt:lpstr>
      <vt:lpstr>Tahoma</vt:lpstr>
      <vt:lpstr>Times New Roman</vt:lpstr>
      <vt:lpstr>Office テーマ</vt:lpstr>
      <vt:lpstr>標準デザイン</vt:lpstr>
      <vt:lpstr>PHITS</vt:lpstr>
      <vt:lpstr>PowerPoint プレゼンテーション</vt:lpstr>
      <vt:lpstr>半無限平面の計算</vt:lpstr>
      <vt:lpstr>半無限平面の計算つづき</vt:lpstr>
      <vt:lpstr>半無限平面の計算つづき</vt:lpstr>
      <vt:lpstr>ステップ 1（半無限平面）</vt:lpstr>
      <vt:lpstr>ステップ 1（半無限平面）結果</vt:lpstr>
      <vt:lpstr>ステップ 1（半無限平面）つづき</vt:lpstr>
      <vt:lpstr>ステップ 1（半無限平面）結果</vt:lpstr>
      <vt:lpstr>反射境界を利用した計算</vt:lpstr>
      <vt:lpstr>ステップ 2（反射境界）</vt:lpstr>
      <vt:lpstr>ステップ 2（反射境界）結果</vt:lpstr>
      <vt:lpstr>孤立した建物の計算</vt:lpstr>
      <vt:lpstr>孤立した建物の計算つづき</vt:lpstr>
      <vt:lpstr>ステップ 3（ダンプデータの取得）</vt:lpstr>
      <vt:lpstr>ステップ 3（ダンプデータの取得）結果</vt:lpstr>
      <vt:lpstr>ステップ 4（ダンプデータ線源）</vt:lpstr>
      <vt:lpstr>ステップ 4（ダンプデータ線源）結果</vt:lpstr>
      <vt:lpstr>ステップ 5（外部線源）</vt:lpstr>
      <vt:lpstr>ステップ 5（外部線源）結果</vt:lpstr>
      <vt:lpstr>ステップ 6（内部線源）</vt:lpstr>
      <vt:lpstr>ステップ 6（内部線源）結果</vt:lpstr>
      <vt:lpstr>ステップ 7（Sumtally）</vt:lpstr>
      <vt:lpstr>ステップ 7（Sumtally）結果</vt:lpstr>
      <vt:lpstr>ステップ 7（Sumtally）結果</vt:lpstr>
      <vt:lpstr>ステップ 8（遮蔽効果）</vt:lpstr>
      <vt:lpstr>ステップ 8（遮蔽効果）結果</vt:lpstr>
      <vt:lpstr>まとめ</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Step 1</dc:title>
  <dc:creator>T_Ogawa</dc:creator>
  <cp:lastModifiedBy>Takuya Furuta</cp:lastModifiedBy>
  <cp:revision>71</cp:revision>
  <dcterms:created xsi:type="dcterms:W3CDTF">2017-07-03T00:57:10Z</dcterms:created>
  <dcterms:modified xsi:type="dcterms:W3CDTF">2024-10-10T00:59:23Z</dcterms:modified>
</cp:coreProperties>
</file>