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0"/>
  </p:notesMasterIdLst>
  <p:sldIdLst>
    <p:sldId id="266" r:id="rId3"/>
    <p:sldId id="280" r:id="rId4"/>
    <p:sldId id="257" r:id="rId5"/>
    <p:sldId id="270" r:id="rId6"/>
    <p:sldId id="271" r:id="rId7"/>
    <p:sldId id="272" r:id="rId8"/>
    <p:sldId id="273" r:id="rId9"/>
    <p:sldId id="274" r:id="rId10"/>
    <p:sldId id="275" r:id="rId11"/>
    <p:sldId id="268" r:id="rId12"/>
    <p:sldId id="276" r:id="rId13"/>
    <p:sldId id="277" r:id="rId14"/>
    <p:sldId id="279" r:id="rId15"/>
    <p:sldId id="282" r:id="rId16"/>
    <p:sldId id="278" r:id="rId17"/>
    <p:sldId id="286" r:id="rId18"/>
    <p:sldId id="283" r:id="rId19"/>
    <p:sldId id="287" r:id="rId20"/>
    <p:sldId id="284" r:id="rId21"/>
    <p:sldId id="288" r:id="rId22"/>
    <p:sldId id="285" r:id="rId23"/>
    <p:sldId id="289" r:id="rId24"/>
    <p:sldId id="290" r:id="rId25"/>
    <p:sldId id="291" r:id="rId26"/>
    <p:sldId id="292" r:id="rId27"/>
    <p:sldId id="293" r:id="rId28"/>
    <p:sldId id="269" r:id="rId29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6A5C02D2-4A43-43AB-BD38-71B18228B95A}">
          <p14:sldIdLst>
            <p14:sldId id="266"/>
            <p14:sldId id="280"/>
            <p14:sldId id="257"/>
            <p14:sldId id="270"/>
            <p14:sldId id="271"/>
            <p14:sldId id="272"/>
            <p14:sldId id="273"/>
            <p14:sldId id="274"/>
            <p14:sldId id="275"/>
            <p14:sldId id="268"/>
            <p14:sldId id="276"/>
            <p14:sldId id="277"/>
            <p14:sldId id="279"/>
            <p14:sldId id="282"/>
            <p14:sldId id="278"/>
            <p14:sldId id="286"/>
            <p14:sldId id="283"/>
            <p14:sldId id="287"/>
            <p14:sldId id="284"/>
            <p14:sldId id="288"/>
            <p14:sldId id="285"/>
            <p14:sldId id="289"/>
            <p14:sldId id="290"/>
            <p14:sldId id="291"/>
            <p14:sldId id="292"/>
            <p14:sldId id="293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EE4"/>
    <a:srgbClr val="808000"/>
    <a:srgbClr val="CC9900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702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F39D3-6688-4634-862A-D9E5081A6F08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53672-2792-422E-A58C-0CC615C208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8352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ln/>
        </p:spPr>
      </p:sp>
      <p:sp>
        <p:nvSpPr>
          <p:cNvPr id="10342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88324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07529-C09D-4BEC-B0F0-9DBB23191306}" type="datetime1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AF1B-B5D3-438A-A3D1-7789A612FAB9}" type="datetime1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020272" y="6356350"/>
            <a:ext cx="2133600" cy="365125"/>
          </a:xfrm>
        </p:spPr>
        <p:txBody>
          <a:bodyPr/>
          <a:lstStyle>
            <a:lvl1pPr>
              <a:defRPr sz="3200"/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B91D-FEC3-41ED-A455-CF01957EDE97}" type="datetime1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5145-919C-4936-9BC2-BCCD47B38DFD}" type="datetime1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D282E-AD7E-4614-A9D4-F48ADC803CDA}" type="datetime1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82A8-7EF5-470F-97C4-4C9091A5434D}" type="datetime1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0904-0739-4172-9F2F-DE2E4DEBC526}" type="datetime1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E37D-C2B0-4352-AA06-72A1F1906DCC}" type="datetime1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BDB8-BD8F-46EE-B4A5-DD0811EABDBE}" type="datetime1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AE959-9F34-41AB-B4F4-D0B956BDC84E}" type="datetime1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44142-6368-4B25-B619-9B97DCC79390}" type="datetime1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1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53" indent="0" algn="ctr">
              <a:buNone/>
              <a:defRPr/>
            </a:lvl2pPr>
            <a:lvl3pPr marL="914305" indent="0" algn="ctr">
              <a:buNone/>
              <a:defRPr/>
            </a:lvl3pPr>
            <a:lvl4pPr marL="1371458" indent="0" algn="ctr">
              <a:buNone/>
              <a:defRPr/>
            </a:lvl4pPr>
            <a:lvl5pPr marL="1828610" indent="0" algn="ctr">
              <a:buNone/>
              <a:defRPr/>
            </a:lvl5pPr>
            <a:lvl6pPr marL="2285763" indent="0" algn="ctr">
              <a:buNone/>
              <a:defRPr/>
            </a:lvl6pPr>
            <a:lvl7pPr marL="2742915" indent="0" algn="ctr">
              <a:buNone/>
              <a:defRPr/>
            </a:lvl7pPr>
            <a:lvl8pPr marL="3200068" indent="0" algn="ctr">
              <a:buNone/>
              <a:defRPr/>
            </a:lvl8pPr>
            <a:lvl9pPr marL="365722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97F444-A73D-4ABB-A3A9-D396C702895F}" type="datetime1">
              <a:rPr lang="ja-JP" altLang="en-US" smtClean="0">
                <a:solidFill>
                  <a:srgbClr val="000000"/>
                </a:solidFill>
              </a:rPr>
              <a:t>2024/10/10</a:t>
            </a:fld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D60D0B-D6AA-47A9-84DE-9BF82EA5B0A6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6029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B77BA1-C788-40BC-ACDF-CDCDBEDDEB99}" type="datetime1">
              <a:rPr lang="ja-JP" altLang="en-US" smtClean="0">
                <a:solidFill>
                  <a:srgbClr val="000000"/>
                </a:solidFill>
              </a:rPr>
              <a:t>2024/10/10</a:t>
            </a:fld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91B703-D8A0-41AA-A21C-FDF9BA75AF98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33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53" indent="0">
              <a:buNone/>
              <a:defRPr sz="1800"/>
            </a:lvl2pPr>
            <a:lvl3pPr marL="914305" indent="0">
              <a:buNone/>
              <a:defRPr sz="1600"/>
            </a:lvl3pPr>
            <a:lvl4pPr marL="1371458" indent="0">
              <a:buNone/>
              <a:defRPr sz="1400"/>
            </a:lvl4pPr>
            <a:lvl5pPr marL="1828610" indent="0">
              <a:buNone/>
              <a:defRPr sz="1400"/>
            </a:lvl5pPr>
            <a:lvl6pPr marL="2285763" indent="0">
              <a:buNone/>
              <a:defRPr sz="1400"/>
            </a:lvl6pPr>
            <a:lvl7pPr marL="2742915" indent="0">
              <a:buNone/>
              <a:defRPr sz="1400"/>
            </a:lvl7pPr>
            <a:lvl8pPr marL="3200068" indent="0">
              <a:buNone/>
              <a:defRPr sz="1400"/>
            </a:lvl8pPr>
            <a:lvl9pPr marL="365722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6D3FC7-5B60-4DBC-BDF2-B52BD275D82A}" type="datetime1">
              <a:rPr lang="ja-JP" altLang="en-US" smtClean="0">
                <a:solidFill>
                  <a:srgbClr val="000000"/>
                </a:solidFill>
              </a:rPr>
              <a:t>2024/10/10</a:t>
            </a:fld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77FAB5-4D49-4B70-9831-30C70C8D3515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588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846B6A-8009-426C-B4A7-649728F89124}" type="datetime1">
              <a:rPr lang="ja-JP" altLang="en-US" smtClean="0">
                <a:solidFill>
                  <a:srgbClr val="000000"/>
                </a:solidFill>
              </a:rPr>
              <a:t>2024/10/10</a:t>
            </a:fld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FAC204-713D-4BE2-A142-8E48B9DF7548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39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3" indent="0">
              <a:buNone/>
              <a:defRPr sz="2000" b="1"/>
            </a:lvl2pPr>
            <a:lvl3pPr marL="914305" indent="0">
              <a:buNone/>
              <a:defRPr sz="1800" b="1"/>
            </a:lvl3pPr>
            <a:lvl4pPr marL="1371458" indent="0">
              <a:buNone/>
              <a:defRPr sz="1600" b="1"/>
            </a:lvl4pPr>
            <a:lvl5pPr marL="1828610" indent="0">
              <a:buNone/>
              <a:defRPr sz="1600" b="1"/>
            </a:lvl5pPr>
            <a:lvl6pPr marL="2285763" indent="0">
              <a:buNone/>
              <a:defRPr sz="1600" b="1"/>
            </a:lvl6pPr>
            <a:lvl7pPr marL="2742915" indent="0">
              <a:buNone/>
              <a:defRPr sz="1600" b="1"/>
            </a:lvl7pPr>
            <a:lvl8pPr marL="3200068" indent="0">
              <a:buNone/>
              <a:defRPr sz="1600" b="1"/>
            </a:lvl8pPr>
            <a:lvl9pPr marL="365722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3" indent="0">
              <a:buNone/>
              <a:defRPr sz="2000" b="1"/>
            </a:lvl2pPr>
            <a:lvl3pPr marL="914305" indent="0">
              <a:buNone/>
              <a:defRPr sz="1800" b="1"/>
            </a:lvl3pPr>
            <a:lvl4pPr marL="1371458" indent="0">
              <a:buNone/>
              <a:defRPr sz="1600" b="1"/>
            </a:lvl4pPr>
            <a:lvl5pPr marL="1828610" indent="0">
              <a:buNone/>
              <a:defRPr sz="1600" b="1"/>
            </a:lvl5pPr>
            <a:lvl6pPr marL="2285763" indent="0">
              <a:buNone/>
              <a:defRPr sz="1600" b="1"/>
            </a:lvl6pPr>
            <a:lvl7pPr marL="2742915" indent="0">
              <a:buNone/>
              <a:defRPr sz="1600" b="1"/>
            </a:lvl7pPr>
            <a:lvl8pPr marL="3200068" indent="0">
              <a:buNone/>
              <a:defRPr sz="1600" b="1"/>
            </a:lvl8pPr>
            <a:lvl9pPr marL="365722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9E32B3-A86B-4FC7-93FC-08BE66E097B3}" type="datetime1">
              <a:rPr lang="ja-JP" altLang="en-US" smtClean="0">
                <a:solidFill>
                  <a:srgbClr val="000000"/>
                </a:solidFill>
              </a:rPr>
              <a:t>2024/10/10</a:t>
            </a:fld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F47656-3058-400E-88E1-8A3DA0D9A2B9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594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D1D124-F55D-485C-BBBB-28E81155C2E5}" type="datetime1">
              <a:rPr lang="ja-JP" altLang="en-US" smtClean="0">
                <a:solidFill>
                  <a:srgbClr val="000000"/>
                </a:solidFill>
              </a:rPr>
              <a:t>2024/10/10</a:t>
            </a:fld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343011-A72D-4E6C-8051-63D4D32BBFC7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1764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C460E7-020E-41B0-9BF2-C9299D408319}" type="datetime1">
              <a:rPr lang="ja-JP" altLang="en-US" smtClean="0">
                <a:solidFill>
                  <a:srgbClr val="000000"/>
                </a:solidFill>
              </a:rPr>
              <a:t>2024/10/10</a:t>
            </a:fld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DE8EA6-BD83-4B80-9348-645B3ECCE3F1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8888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1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53" indent="0">
              <a:buNone/>
              <a:defRPr sz="1200"/>
            </a:lvl2pPr>
            <a:lvl3pPr marL="914305" indent="0">
              <a:buNone/>
              <a:defRPr sz="1000"/>
            </a:lvl3pPr>
            <a:lvl4pPr marL="1371458" indent="0">
              <a:buNone/>
              <a:defRPr sz="900"/>
            </a:lvl4pPr>
            <a:lvl5pPr marL="1828610" indent="0">
              <a:buNone/>
              <a:defRPr sz="900"/>
            </a:lvl5pPr>
            <a:lvl6pPr marL="2285763" indent="0">
              <a:buNone/>
              <a:defRPr sz="900"/>
            </a:lvl6pPr>
            <a:lvl7pPr marL="2742915" indent="0">
              <a:buNone/>
              <a:defRPr sz="900"/>
            </a:lvl7pPr>
            <a:lvl8pPr marL="3200068" indent="0">
              <a:buNone/>
              <a:defRPr sz="900"/>
            </a:lvl8pPr>
            <a:lvl9pPr marL="365722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05F311-BF51-4E1B-880C-01B531FA276D}" type="datetime1">
              <a:rPr lang="ja-JP" altLang="en-US" smtClean="0">
                <a:solidFill>
                  <a:srgbClr val="000000"/>
                </a:solidFill>
              </a:rPr>
              <a:t>2024/10/10</a:t>
            </a:fld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29CA4D-AC21-4E32-9D49-16B91744F2D6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7336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53" indent="0">
              <a:buNone/>
              <a:defRPr sz="2800"/>
            </a:lvl2pPr>
            <a:lvl3pPr marL="914305" indent="0">
              <a:buNone/>
              <a:defRPr sz="2400"/>
            </a:lvl3pPr>
            <a:lvl4pPr marL="1371458" indent="0">
              <a:buNone/>
              <a:defRPr sz="2000"/>
            </a:lvl4pPr>
            <a:lvl5pPr marL="1828610" indent="0">
              <a:buNone/>
              <a:defRPr sz="2000"/>
            </a:lvl5pPr>
            <a:lvl6pPr marL="2285763" indent="0">
              <a:buNone/>
              <a:defRPr sz="2000"/>
            </a:lvl6pPr>
            <a:lvl7pPr marL="2742915" indent="0">
              <a:buNone/>
              <a:defRPr sz="2000"/>
            </a:lvl7pPr>
            <a:lvl8pPr marL="3200068" indent="0">
              <a:buNone/>
              <a:defRPr sz="2000"/>
            </a:lvl8pPr>
            <a:lvl9pPr marL="365722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53" indent="0">
              <a:buNone/>
              <a:defRPr sz="1200"/>
            </a:lvl2pPr>
            <a:lvl3pPr marL="914305" indent="0">
              <a:buNone/>
              <a:defRPr sz="1000"/>
            </a:lvl3pPr>
            <a:lvl4pPr marL="1371458" indent="0">
              <a:buNone/>
              <a:defRPr sz="900"/>
            </a:lvl4pPr>
            <a:lvl5pPr marL="1828610" indent="0">
              <a:buNone/>
              <a:defRPr sz="900"/>
            </a:lvl5pPr>
            <a:lvl6pPr marL="2285763" indent="0">
              <a:buNone/>
              <a:defRPr sz="900"/>
            </a:lvl6pPr>
            <a:lvl7pPr marL="2742915" indent="0">
              <a:buNone/>
              <a:defRPr sz="900"/>
            </a:lvl7pPr>
            <a:lvl8pPr marL="3200068" indent="0">
              <a:buNone/>
              <a:defRPr sz="900"/>
            </a:lvl8pPr>
            <a:lvl9pPr marL="365722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AA92B5-6CC6-4025-9C89-3AC7E920574C}" type="datetime1">
              <a:rPr lang="ja-JP" altLang="en-US" smtClean="0">
                <a:solidFill>
                  <a:srgbClr val="000000"/>
                </a:solidFill>
              </a:rPr>
              <a:t>2024/10/10</a:t>
            </a:fld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07C05D-716E-430B-8F1B-696FE9865A7B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4408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F05281-29DA-4ECA-85A1-9B395CA503DD}" type="datetime1">
              <a:rPr lang="ja-JP" altLang="en-US" smtClean="0">
                <a:solidFill>
                  <a:srgbClr val="000000"/>
                </a:solidFill>
              </a:rPr>
              <a:t>2024/10/10</a:t>
            </a:fld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656C1D-A0E4-4894-B766-752C565B9C64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0245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AB5DA-C981-42E0-AB97-C1CF7F036682}" type="datetime1">
              <a:rPr lang="ja-JP" altLang="en-US" smtClean="0">
                <a:solidFill>
                  <a:srgbClr val="000000"/>
                </a:solidFill>
              </a:rPr>
              <a:t>2024/10/10</a:t>
            </a:fld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13D808-7D6D-40D6-BC10-FDB01196358E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045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E8982-831C-4C30-A80E-965C65B08B14}" type="datetime1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Times New Roman" charset="0"/>
                <a:ea typeface="ＭＳ Ｐゴシック" pitchFamily="50" charset="-128"/>
              </a:defRPr>
            </a:lvl1pPr>
          </a:lstStyle>
          <a:p>
            <a:pPr defTabSz="829452" fontAlgn="base">
              <a:spcBef>
                <a:spcPct val="0"/>
              </a:spcBef>
              <a:spcAft>
                <a:spcPct val="0"/>
              </a:spcAft>
              <a:defRPr/>
            </a:pPr>
            <a:fld id="{4EC4BBBC-913A-49C4-825E-B5A1BE012880}" type="datetime1">
              <a:rPr lang="ja-JP" altLang="en-US" smtClean="0">
                <a:solidFill>
                  <a:srgbClr val="000000"/>
                </a:solidFill>
              </a:rPr>
              <a:t>2024/10/10</a:t>
            </a:fld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charset="0"/>
                <a:ea typeface="ＭＳ Ｐゴシック" pitchFamily="50" charset="-128"/>
              </a:defRPr>
            </a:lvl1pPr>
          </a:lstStyle>
          <a:p>
            <a:pPr defTabSz="82945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 defTabSz="829452" fontAlgn="base">
              <a:spcBef>
                <a:spcPct val="0"/>
              </a:spcBef>
              <a:spcAft>
                <a:spcPct val="0"/>
              </a:spcAft>
            </a:pPr>
            <a:fld id="{0A9DE9F4-1B0D-41D4-BB45-F82231040046}" type="slidenum">
              <a:rPr lang="en-US" altLang="ja-JP">
                <a:solidFill>
                  <a:srgbClr val="000000"/>
                </a:solidFill>
              </a:rPr>
              <a:pPr defTabSz="829452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85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5pPr>
      <a:lvl6pPr marL="457153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6pPr>
      <a:lvl7pPr marL="914305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7pPr>
      <a:lvl8pPr marL="1371458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8pPr>
      <a:lvl9pPr marL="182861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9pPr>
    </p:titleStyle>
    <p:bodyStyle>
      <a:lvl1pPr marL="342865" indent="-342865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873" indent="-28572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2882" indent="-228577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034" indent="-228577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187" indent="-228577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340" indent="-228577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92" indent="-228577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645" indent="-228577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797" indent="-228577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3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5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58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0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3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15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68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0" algn="l" defTabSz="91430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727200"/>
          </a:xfrm>
        </p:spPr>
        <p:txBody>
          <a:bodyPr/>
          <a:lstStyle/>
          <a:p>
            <a:pPr eaLnBrk="1" hangingPunct="1"/>
            <a:r>
              <a:rPr lang="en-US" altLang="ja-JP" sz="11000" b="1" i="1">
                <a:solidFill>
                  <a:srgbClr val="0000CC"/>
                </a:solidFill>
              </a:rPr>
              <a:t>P</a:t>
            </a:r>
            <a:r>
              <a:rPr lang="en-US" altLang="ja-JP" sz="9000" b="1" i="1">
                <a:solidFill>
                  <a:srgbClr val="0000CC"/>
                </a:solidFill>
              </a:rPr>
              <a:t>HI</a:t>
            </a:r>
            <a:r>
              <a:rPr lang="en-US" altLang="ja-JP" sz="9800" b="1" i="1">
                <a:solidFill>
                  <a:srgbClr val="0000CC"/>
                </a:solidFill>
              </a:rPr>
              <a:t>T</a:t>
            </a:r>
            <a:r>
              <a:rPr lang="en-US" altLang="ja-JP" sz="9000" b="1" i="1">
                <a:solidFill>
                  <a:srgbClr val="0000CC"/>
                </a:solidFill>
              </a:rPr>
              <a:t>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9100" y="3276603"/>
            <a:ext cx="8305800" cy="1752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ja-JP" dirty="0">
                <a:solidFill>
                  <a:srgbClr val="010000"/>
                </a:solidFill>
                <a:latin typeface="+mj-ea"/>
                <a:ea typeface="+mj-ea"/>
              </a:rPr>
              <a:t>Guidance for hands-on exercise</a:t>
            </a:r>
          </a:p>
          <a:p>
            <a:pPr eaLnBrk="1" hangingPunct="1">
              <a:defRPr/>
            </a:pPr>
            <a:r>
              <a:rPr lang="en-US" altLang="ja-JP" dirty="0">
                <a:solidFill>
                  <a:srgbClr val="010000"/>
                </a:solidFill>
                <a:latin typeface="+mj-ea"/>
                <a:ea typeface="+mj-ea"/>
              </a:rPr>
              <a:t>Environmental radioactivity</a:t>
            </a: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3" y="6448428"/>
            <a:ext cx="186372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6329363"/>
            <a:ext cx="9105900" cy="71437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defTabSz="829366" fontAlgn="base">
              <a:spcBef>
                <a:spcPct val="0"/>
              </a:spcBef>
              <a:spcAft>
                <a:spcPct val="0"/>
              </a:spcAft>
              <a:buNone/>
            </a:pPr>
            <a:endParaRPr lang="ja-JP" altLang="en-US" sz="2400">
              <a:solidFill>
                <a:srgbClr val="000000"/>
              </a:solidFill>
            </a:endParaRPr>
          </a:p>
        </p:txBody>
      </p:sp>
      <p:sp>
        <p:nvSpPr>
          <p:cNvPr id="15366" name="正方形/長方形 4"/>
          <p:cNvSpPr>
            <a:spLocks noChangeArrowheads="1"/>
          </p:cNvSpPr>
          <p:nvPr/>
        </p:nvSpPr>
        <p:spPr bwMode="auto">
          <a:xfrm>
            <a:off x="214315" y="2495550"/>
            <a:ext cx="864393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defTabSz="829366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ja-JP" sz="2200" b="1" i="1">
                <a:solidFill>
                  <a:srgbClr val="000000"/>
                </a:solidFill>
              </a:rPr>
              <a:t>Multi-Purpose </a:t>
            </a:r>
            <a:r>
              <a:rPr lang="en-US" altLang="ja-JP" sz="2200" b="1" i="1">
                <a:solidFill>
                  <a:srgbClr val="0000CC"/>
                </a:solidFill>
              </a:rPr>
              <a:t>P</a:t>
            </a:r>
            <a:r>
              <a:rPr lang="en-US" altLang="ja-JP" sz="2200" b="1" i="1">
                <a:solidFill>
                  <a:srgbClr val="000000"/>
                </a:solidFill>
              </a:rPr>
              <a:t>article and </a:t>
            </a:r>
            <a:r>
              <a:rPr lang="en-US" altLang="ja-JP" sz="2200" b="1" i="1">
                <a:solidFill>
                  <a:srgbClr val="0000CC"/>
                </a:solidFill>
              </a:rPr>
              <a:t>H</a:t>
            </a:r>
            <a:r>
              <a:rPr lang="en-US" altLang="ja-JP" sz="2200" b="1" i="1">
                <a:solidFill>
                  <a:srgbClr val="000000"/>
                </a:solidFill>
              </a:rPr>
              <a:t>eavy </a:t>
            </a:r>
            <a:r>
              <a:rPr lang="en-US" altLang="ja-JP" sz="2200" b="1" i="1">
                <a:solidFill>
                  <a:srgbClr val="0000CC"/>
                </a:solidFill>
              </a:rPr>
              <a:t>I</a:t>
            </a:r>
            <a:r>
              <a:rPr lang="en-US" altLang="ja-JP" sz="2200" b="1" i="1">
                <a:solidFill>
                  <a:srgbClr val="000000"/>
                </a:solidFill>
              </a:rPr>
              <a:t>on </a:t>
            </a:r>
            <a:r>
              <a:rPr lang="en-US" altLang="ja-JP" sz="2200" b="1" i="1">
                <a:solidFill>
                  <a:srgbClr val="0000CC"/>
                </a:solidFill>
              </a:rPr>
              <a:t>T</a:t>
            </a:r>
            <a:r>
              <a:rPr lang="en-US" altLang="ja-JP" sz="2200" b="1" i="1">
                <a:solidFill>
                  <a:srgbClr val="000000"/>
                </a:solidFill>
              </a:rPr>
              <a:t>ransport code </a:t>
            </a:r>
            <a:r>
              <a:rPr lang="en-US" altLang="ja-JP" sz="2200" b="1" i="1">
                <a:solidFill>
                  <a:srgbClr val="0000CC"/>
                </a:solidFill>
              </a:rPr>
              <a:t>S</a:t>
            </a:r>
            <a:r>
              <a:rPr lang="en-US" altLang="ja-JP" sz="2200" b="1" i="1">
                <a:solidFill>
                  <a:srgbClr val="000000"/>
                </a:solidFill>
              </a:rPr>
              <a:t>ystem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2197100" y="64008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defTabSz="829366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altLang="ja-JP" sz="2400">
                <a:solidFill>
                  <a:srgbClr val="000000"/>
                </a:solidFill>
                <a:latin typeface="Tahoma" panose="020B0604030504040204" pitchFamily="34" charset="0"/>
              </a:rPr>
              <a:t>title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8153400" y="6400800"/>
            <a:ext cx="71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defTabSz="829366" fontAlgn="base">
              <a:spcBef>
                <a:spcPct val="50000"/>
              </a:spcBef>
              <a:spcAft>
                <a:spcPct val="0"/>
              </a:spcAft>
              <a:buNone/>
            </a:pPr>
            <a:fld id="{7C192A15-7A00-4CA8-8E06-AD9085343294}" type="slidenum">
              <a:rPr lang="en-US" altLang="ja-JP" sz="2400">
                <a:solidFill>
                  <a:srgbClr val="000000"/>
                </a:solidFill>
                <a:latin typeface="Tahoma" panose="020B0604030504040204" pitchFamily="34" charset="0"/>
              </a:rPr>
              <a:pPr algn="ctr" defTabSz="829366" fontAlgn="base">
                <a:spcBef>
                  <a:spcPct val="50000"/>
                </a:spcBef>
                <a:spcAft>
                  <a:spcPct val="0"/>
                </a:spcAft>
                <a:buNone/>
              </a:pPr>
              <a:t>1</a:t>
            </a:fld>
            <a:endParaRPr lang="en-US" altLang="ja-JP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369" name="Text Box 15"/>
          <p:cNvSpPr txBox="1">
            <a:spLocks noChangeArrowheads="1"/>
          </p:cNvSpPr>
          <p:nvPr/>
        </p:nvSpPr>
        <p:spPr bwMode="auto">
          <a:xfrm>
            <a:off x="3154366" y="5194303"/>
            <a:ext cx="2809875" cy="523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 defTabSz="829366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ja-JP" sz="2800" dirty="0">
                <a:solidFill>
                  <a:srgbClr val="FF0000"/>
                </a:solidFill>
                <a:latin typeface="ＭＳ Ｐゴシック"/>
                <a:ea typeface="ＭＳ Ｐゴシック"/>
              </a:rPr>
              <a:t>Oct. 2024 revised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6BC794E-175F-62BF-C637-2321B8BF5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60D0B-D6AA-47A9-84DE-9BF82EA5B0A6}" type="slidenum">
              <a:rPr lang="en-US" altLang="ja-JP" smtClean="0">
                <a:solidFill>
                  <a:srgbClr val="000000"/>
                </a:solidFill>
              </a:rPr>
              <a:pPr/>
              <a:t>1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58192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B17A7-3205-316C-FB43-717CC22E7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E885473C-BCF4-A926-35BD-3F383B3E2724}"/>
              </a:ext>
            </a:extLst>
          </p:cNvPr>
          <p:cNvCxnSpPr/>
          <p:nvPr/>
        </p:nvCxnSpPr>
        <p:spPr>
          <a:xfrm flipV="1">
            <a:off x="6941368" y="3305338"/>
            <a:ext cx="366936" cy="81437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3B02A2BA-D5A1-BC8D-47D6-4DDDD7EBC492}"/>
              </a:ext>
            </a:extLst>
          </p:cNvPr>
          <p:cNvCxnSpPr/>
          <p:nvPr/>
        </p:nvCxnSpPr>
        <p:spPr>
          <a:xfrm flipH="1" flipV="1">
            <a:off x="4997152" y="3615666"/>
            <a:ext cx="366936" cy="497613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6F0C31AB-E8DA-0F19-D985-3155967958DF}"/>
              </a:ext>
            </a:extLst>
          </p:cNvPr>
          <p:cNvCxnSpPr/>
          <p:nvPr/>
        </p:nvCxnSpPr>
        <p:spPr>
          <a:xfrm flipH="1" flipV="1">
            <a:off x="3707904" y="3486322"/>
            <a:ext cx="216024" cy="633386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D03259CC-491E-690F-C67A-836F724CF1CF}"/>
              </a:ext>
            </a:extLst>
          </p:cNvPr>
          <p:cNvCxnSpPr/>
          <p:nvPr/>
        </p:nvCxnSpPr>
        <p:spPr>
          <a:xfrm flipV="1">
            <a:off x="4997152" y="3305338"/>
            <a:ext cx="546956" cy="81437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3AF1314-8C95-04C8-2B73-BE2403167698}"/>
              </a:ext>
            </a:extLst>
          </p:cNvPr>
          <p:cNvSpPr/>
          <p:nvPr/>
        </p:nvSpPr>
        <p:spPr>
          <a:xfrm>
            <a:off x="323528" y="4119708"/>
            <a:ext cx="8568952" cy="216038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B2B6F9FE-48D2-D220-4895-A16796CCF136}"/>
              </a:ext>
            </a:extLst>
          </p:cNvPr>
          <p:cNvCxnSpPr/>
          <p:nvPr/>
        </p:nvCxnSpPr>
        <p:spPr>
          <a:xfrm flipV="1">
            <a:off x="1403648" y="3501008"/>
            <a:ext cx="504056" cy="618714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186DB89F-555C-DFFE-7B86-5A2A21785FDB}"/>
              </a:ext>
            </a:extLst>
          </p:cNvPr>
          <p:cNvCxnSpPr/>
          <p:nvPr/>
        </p:nvCxnSpPr>
        <p:spPr>
          <a:xfrm flipH="1" flipV="1">
            <a:off x="323528" y="3068960"/>
            <a:ext cx="288032" cy="1050762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EF75CE93-5BCB-EB5D-7D94-FFE52AB983A4}"/>
              </a:ext>
            </a:extLst>
          </p:cNvPr>
          <p:cNvCxnSpPr/>
          <p:nvPr/>
        </p:nvCxnSpPr>
        <p:spPr>
          <a:xfrm flipH="1" flipV="1">
            <a:off x="7452320" y="3938741"/>
            <a:ext cx="929208" cy="180969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22B9A4FC-F89C-85F9-D5EE-4064EBF35F73}"/>
              </a:ext>
            </a:extLst>
          </p:cNvPr>
          <p:cNvCxnSpPr/>
          <p:nvPr/>
        </p:nvCxnSpPr>
        <p:spPr>
          <a:xfrm flipH="1" flipV="1">
            <a:off x="2411760" y="3615666"/>
            <a:ext cx="432048" cy="491201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B04077D4-0090-4274-E2FA-A6E98EC129D7}"/>
              </a:ext>
            </a:extLst>
          </p:cNvPr>
          <p:cNvCxnSpPr/>
          <p:nvPr/>
        </p:nvCxnSpPr>
        <p:spPr>
          <a:xfrm flipV="1">
            <a:off x="6228184" y="3111610"/>
            <a:ext cx="72008" cy="100167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B84C3C0B-90E7-C923-13D7-4DCE8A750906}"/>
              </a:ext>
            </a:extLst>
          </p:cNvPr>
          <p:cNvCxnSpPr/>
          <p:nvPr/>
        </p:nvCxnSpPr>
        <p:spPr>
          <a:xfrm flipH="1" flipV="1">
            <a:off x="6941368" y="3068960"/>
            <a:ext cx="366936" cy="236379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1" name="グループ化 130">
            <a:extLst>
              <a:ext uri="{FF2B5EF4-FFF2-40B4-BE49-F238E27FC236}">
                <a16:creationId xmlns:a16="http://schemas.microsoft.com/office/drawing/2014/main" id="{5CE42F0D-D119-7BC8-D6D3-97BF7B0A7CE5}"/>
              </a:ext>
            </a:extLst>
          </p:cNvPr>
          <p:cNvGrpSpPr/>
          <p:nvPr/>
        </p:nvGrpSpPr>
        <p:grpSpPr>
          <a:xfrm>
            <a:off x="3995920" y="3224982"/>
            <a:ext cx="1114356" cy="924098"/>
            <a:chOff x="4064518" y="3799793"/>
            <a:chExt cx="1299592" cy="1172733"/>
          </a:xfrm>
        </p:grpSpPr>
        <p:sp>
          <p:nvSpPr>
            <p:cNvPr id="133" name="正方形/長方形 132">
              <a:extLst>
                <a:ext uri="{FF2B5EF4-FFF2-40B4-BE49-F238E27FC236}">
                  <a16:creationId xmlns:a16="http://schemas.microsoft.com/office/drawing/2014/main" id="{654D6F22-876A-9F38-E6B1-2B6EE693CEA5}"/>
                </a:ext>
              </a:extLst>
            </p:cNvPr>
            <p:cNvSpPr/>
            <p:nvPr/>
          </p:nvSpPr>
          <p:spPr>
            <a:xfrm>
              <a:off x="4283960" y="4005093"/>
              <a:ext cx="846102" cy="87287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4" name="二等辺三角形 133">
              <a:extLst>
                <a:ext uri="{FF2B5EF4-FFF2-40B4-BE49-F238E27FC236}">
                  <a16:creationId xmlns:a16="http://schemas.microsoft.com/office/drawing/2014/main" id="{20001338-A8B9-5A79-36B5-4D43B55F9E9C}"/>
                </a:ext>
              </a:extLst>
            </p:cNvPr>
            <p:cNvSpPr/>
            <p:nvPr/>
          </p:nvSpPr>
          <p:spPr>
            <a:xfrm>
              <a:off x="4064518" y="3799793"/>
              <a:ext cx="1299592" cy="205287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5" name="正方形/長方形 134">
              <a:extLst>
                <a:ext uri="{FF2B5EF4-FFF2-40B4-BE49-F238E27FC236}">
                  <a16:creationId xmlns:a16="http://schemas.microsoft.com/office/drawing/2014/main" id="{02CF12DA-877A-656A-BC6E-741182588DBA}"/>
                </a:ext>
              </a:extLst>
            </p:cNvPr>
            <p:cNvSpPr/>
            <p:nvPr/>
          </p:nvSpPr>
          <p:spPr>
            <a:xfrm>
              <a:off x="4316526" y="4149100"/>
              <a:ext cx="327484" cy="216030"/>
            </a:xfrm>
            <a:prstGeom prst="rect">
              <a:avLst/>
            </a:prstGeom>
            <a:solidFill>
              <a:srgbClr val="00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6" name="正方形/長方形 135">
              <a:extLst>
                <a:ext uri="{FF2B5EF4-FFF2-40B4-BE49-F238E27FC236}">
                  <a16:creationId xmlns:a16="http://schemas.microsoft.com/office/drawing/2014/main" id="{7809F419-E31C-F8E2-DBC0-9489900EC039}"/>
                </a:ext>
              </a:extLst>
            </p:cNvPr>
            <p:cNvSpPr/>
            <p:nvPr/>
          </p:nvSpPr>
          <p:spPr>
            <a:xfrm>
              <a:off x="4590018" y="4509150"/>
              <a:ext cx="486052" cy="368822"/>
            </a:xfrm>
            <a:prstGeom prst="rect">
              <a:avLst/>
            </a:prstGeom>
            <a:solidFill>
              <a:srgbClr val="00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7" name="正方形/長方形 136">
              <a:extLst>
                <a:ext uri="{FF2B5EF4-FFF2-40B4-BE49-F238E27FC236}">
                  <a16:creationId xmlns:a16="http://schemas.microsoft.com/office/drawing/2014/main" id="{DDE55C3A-E270-0420-72A0-F6318D15C26B}"/>
                </a:ext>
              </a:extLst>
            </p:cNvPr>
            <p:cNvSpPr/>
            <p:nvPr/>
          </p:nvSpPr>
          <p:spPr>
            <a:xfrm>
              <a:off x="4211950" y="4877972"/>
              <a:ext cx="990110" cy="9455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7B3FF2D8-9870-9A4E-77B2-2E4064D4B409}"/>
              </a:ext>
            </a:extLst>
          </p:cNvPr>
          <p:cNvCxnSpPr/>
          <p:nvPr/>
        </p:nvCxnSpPr>
        <p:spPr>
          <a:xfrm flipV="1">
            <a:off x="323528" y="3752075"/>
            <a:ext cx="3600400" cy="3696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6C7F01B-A6D4-2A31-AEC3-B783F68B155D}"/>
              </a:ext>
            </a:extLst>
          </p:cNvPr>
          <p:cNvSpPr txBox="1"/>
          <p:nvPr/>
        </p:nvSpPr>
        <p:spPr>
          <a:xfrm>
            <a:off x="1082572" y="3730824"/>
            <a:ext cx="2507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hundreds</a:t>
            </a:r>
            <a:r>
              <a:rPr kumimoji="1" lang="ja-JP" altLang="en-US" sz="2400" dirty="0"/>
              <a:t> </a:t>
            </a:r>
            <a:r>
              <a:rPr lang="en-US" altLang="ja-JP" sz="2400" dirty="0"/>
              <a:t>meters</a:t>
            </a:r>
            <a:endParaRPr kumimoji="1" lang="ja-JP" altLang="en-US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1DD0570-B31B-59D4-E458-15C8209AF525}"/>
              </a:ext>
            </a:extLst>
          </p:cNvPr>
          <p:cNvSpPr txBox="1"/>
          <p:nvPr/>
        </p:nvSpPr>
        <p:spPr>
          <a:xfrm>
            <a:off x="4074692" y="2344243"/>
            <a:ext cx="965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sym typeface="Symbol" panose="05050102010706020507" pitchFamily="18" charset="2"/>
              </a:rPr>
              <a:t></a:t>
            </a:r>
            <a:r>
              <a:rPr lang="en-US" altLang="ja-JP" sz="2400" dirty="0"/>
              <a:t>10m</a:t>
            </a:r>
            <a:endParaRPr kumimoji="1" lang="ja-JP" altLang="en-US" sz="24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D2B4CD9-3387-A878-05E7-01A33B49647A}"/>
              </a:ext>
            </a:extLst>
          </p:cNvPr>
          <p:cNvSpPr txBox="1"/>
          <p:nvPr/>
        </p:nvSpPr>
        <p:spPr>
          <a:xfrm>
            <a:off x="155220" y="119534"/>
            <a:ext cx="87372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dirty="0">
                <a:ea typeface="メイリオ" panose="020B0604030504040204" pitchFamily="50" charset="-128"/>
              </a:rPr>
              <a:t>Computational approach to efficiently calculate dose contributions from widely distributed  environmental radioactivity</a:t>
            </a:r>
            <a:endParaRPr kumimoji="1" lang="ja-JP" altLang="en-US" sz="3200" dirty="0"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9DD3850-2CD3-2252-214C-3C8F97FC30BD}"/>
              </a:ext>
            </a:extLst>
          </p:cNvPr>
          <p:cNvSpPr txBox="1"/>
          <p:nvPr/>
        </p:nvSpPr>
        <p:spPr>
          <a:xfrm>
            <a:off x="999338" y="1617610"/>
            <a:ext cx="71453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u="sng" dirty="0" err="1"/>
              <a:t>f.g.</a:t>
            </a:r>
            <a:r>
              <a:rPr lang="en-US" altLang="ja-JP" sz="2400" u="sng" dirty="0"/>
              <a:t>: Dose evaluation inside a building standing on the ground contaminated by Cs-137</a:t>
            </a:r>
            <a:endParaRPr kumimoji="1" lang="ja-JP" altLang="en-US" sz="2400" u="sng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3B51B48-2FB2-3EDB-6A64-1090436740CD}"/>
              </a:ext>
            </a:extLst>
          </p:cNvPr>
          <p:cNvSpPr txBox="1"/>
          <p:nvPr/>
        </p:nvSpPr>
        <p:spPr>
          <a:xfrm>
            <a:off x="155220" y="4331912"/>
            <a:ext cx="8809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Only a few gammas reach the building among a tremendous number of initiated radiations</a:t>
            </a:r>
          </a:p>
          <a:p>
            <a:pPr algn="ctr"/>
            <a:r>
              <a:rPr lang="en-US" altLang="ja-JP" sz="2400" dirty="0"/>
              <a:t>=&gt; A large number of histories are required to achieve good statistics</a:t>
            </a:r>
            <a:endParaRPr kumimoji="1" lang="ja-JP" altLang="en-US" sz="24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3EDB292-2EA1-8F69-974C-0724B07BB5A1}"/>
              </a:ext>
            </a:extLst>
          </p:cNvPr>
          <p:cNvSpPr txBox="1"/>
          <p:nvPr/>
        </p:nvSpPr>
        <p:spPr>
          <a:xfrm>
            <a:off x="482316" y="2521320"/>
            <a:ext cx="3291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Mean</a:t>
            </a:r>
            <a:r>
              <a:rPr lang="ja-JP" altLang="en-US" sz="2400" dirty="0"/>
              <a:t> </a:t>
            </a:r>
            <a:r>
              <a:rPr lang="en-US" altLang="ja-JP" sz="2400" dirty="0"/>
              <a:t>free</a:t>
            </a:r>
            <a:r>
              <a:rPr lang="ja-JP" altLang="en-US" sz="2400" dirty="0"/>
              <a:t> </a:t>
            </a:r>
            <a:r>
              <a:rPr lang="en-US" altLang="ja-JP" sz="2400" dirty="0"/>
              <a:t>path</a:t>
            </a:r>
            <a:r>
              <a:rPr lang="ja-JP" altLang="en-US" sz="2400" dirty="0"/>
              <a:t> </a:t>
            </a:r>
            <a:r>
              <a:rPr kumimoji="1" lang="en-US" altLang="ja-JP" sz="2400" dirty="0"/>
              <a:t>~100m</a:t>
            </a:r>
            <a:endParaRPr kumimoji="1" lang="ja-JP" altLang="en-US" sz="2400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1DE29F6-6DEA-A9A4-B938-2457456467DE}"/>
              </a:ext>
            </a:extLst>
          </p:cNvPr>
          <p:cNvSpPr txBox="1"/>
          <p:nvPr/>
        </p:nvSpPr>
        <p:spPr>
          <a:xfrm>
            <a:off x="2627784" y="5626187"/>
            <a:ext cx="3764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rgbClr val="FF0000"/>
                </a:solidFill>
              </a:rPr>
              <a:t>How to compute efficiently ?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6959D04-4D95-49D9-473B-F6A0BE7FA7ED}"/>
              </a:ext>
            </a:extLst>
          </p:cNvPr>
          <p:cNvCxnSpPr>
            <a:cxnSpLocks/>
          </p:cNvCxnSpPr>
          <p:nvPr/>
        </p:nvCxnSpPr>
        <p:spPr>
          <a:xfrm>
            <a:off x="4004320" y="2924944"/>
            <a:ext cx="1105956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A26D8C1-FE58-2514-22C5-6D6FE1FB5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8294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>
                <a:latin typeface="Arial" pitchFamily="18"/>
              </a:rPr>
              <a:t>Semi-infinite ground</a:t>
            </a:r>
            <a:endParaRPr kumimoji="1" lang="ja-JP" altLang="en-US" dirty="0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2737D1E-7BDA-6F47-CF94-1CFF8D6E6C01}"/>
              </a:ext>
            </a:extLst>
          </p:cNvPr>
          <p:cNvCxnSpPr/>
          <p:nvPr/>
        </p:nvCxnSpPr>
        <p:spPr>
          <a:xfrm flipV="1">
            <a:off x="6941368" y="2113988"/>
            <a:ext cx="366936" cy="81437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B48B0796-3136-EEC1-E8CA-4B78A3451867}"/>
              </a:ext>
            </a:extLst>
          </p:cNvPr>
          <p:cNvCxnSpPr/>
          <p:nvPr/>
        </p:nvCxnSpPr>
        <p:spPr>
          <a:xfrm flipH="1" flipV="1">
            <a:off x="4997152" y="2424316"/>
            <a:ext cx="366936" cy="497613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AAAE3721-D013-686C-191E-531E25046CCE}"/>
              </a:ext>
            </a:extLst>
          </p:cNvPr>
          <p:cNvCxnSpPr/>
          <p:nvPr/>
        </p:nvCxnSpPr>
        <p:spPr>
          <a:xfrm flipH="1" flipV="1">
            <a:off x="3707904" y="2294972"/>
            <a:ext cx="216024" cy="633386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2EFD2D17-2FD2-1098-9D34-468FC0165101}"/>
              </a:ext>
            </a:extLst>
          </p:cNvPr>
          <p:cNvCxnSpPr/>
          <p:nvPr/>
        </p:nvCxnSpPr>
        <p:spPr>
          <a:xfrm flipV="1">
            <a:off x="4997152" y="2113988"/>
            <a:ext cx="546956" cy="81437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CC6EC44-A986-4CC4-CC71-C42F361E8E92}"/>
              </a:ext>
            </a:extLst>
          </p:cNvPr>
          <p:cNvSpPr/>
          <p:nvPr/>
        </p:nvSpPr>
        <p:spPr>
          <a:xfrm>
            <a:off x="323528" y="2928358"/>
            <a:ext cx="8568952" cy="395882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4970B7F6-E604-0E2E-36A1-45518A99F8DA}"/>
              </a:ext>
            </a:extLst>
          </p:cNvPr>
          <p:cNvCxnSpPr/>
          <p:nvPr/>
        </p:nvCxnSpPr>
        <p:spPr>
          <a:xfrm flipV="1">
            <a:off x="1403648" y="2309658"/>
            <a:ext cx="504056" cy="618714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6FCD14C1-FB5B-1C4E-EABB-02D57301088D}"/>
              </a:ext>
            </a:extLst>
          </p:cNvPr>
          <p:cNvCxnSpPr/>
          <p:nvPr/>
        </p:nvCxnSpPr>
        <p:spPr>
          <a:xfrm flipH="1" flipV="1">
            <a:off x="323528" y="1877610"/>
            <a:ext cx="288032" cy="1050762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D0EA4F3D-2465-BE09-FED8-5573559EA96E}"/>
              </a:ext>
            </a:extLst>
          </p:cNvPr>
          <p:cNvCxnSpPr/>
          <p:nvPr/>
        </p:nvCxnSpPr>
        <p:spPr>
          <a:xfrm flipH="1" flipV="1">
            <a:off x="7452320" y="2747391"/>
            <a:ext cx="929208" cy="180969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8D5460AC-DB72-90C4-01F9-F16185F4197A}"/>
              </a:ext>
            </a:extLst>
          </p:cNvPr>
          <p:cNvCxnSpPr/>
          <p:nvPr/>
        </p:nvCxnSpPr>
        <p:spPr>
          <a:xfrm flipH="1" flipV="1">
            <a:off x="2411760" y="2424316"/>
            <a:ext cx="432048" cy="491201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350D5E63-79F7-D84C-8492-D4D77469FE53}"/>
              </a:ext>
            </a:extLst>
          </p:cNvPr>
          <p:cNvCxnSpPr/>
          <p:nvPr/>
        </p:nvCxnSpPr>
        <p:spPr>
          <a:xfrm flipV="1">
            <a:off x="6228184" y="1920260"/>
            <a:ext cx="72008" cy="100167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C685A1D3-70DD-75A7-9991-6F095F565F97}"/>
              </a:ext>
            </a:extLst>
          </p:cNvPr>
          <p:cNvCxnSpPr>
            <a:cxnSpLocks/>
          </p:cNvCxnSpPr>
          <p:nvPr/>
        </p:nvCxnSpPr>
        <p:spPr>
          <a:xfrm flipV="1">
            <a:off x="323528" y="2747391"/>
            <a:ext cx="4248472" cy="3696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823F0A5-A371-0F1A-6242-5A53A182D84F}"/>
              </a:ext>
            </a:extLst>
          </p:cNvPr>
          <p:cNvSpPr txBox="1"/>
          <p:nvPr/>
        </p:nvSpPr>
        <p:spPr>
          <a:xfrm>
            <a:off x="1619672" y="2424316"/>
            <a:ext cx="929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200m</a:t>
            </a:r>
            <a:endParaRPr kumimoji="1" lang="ja-JP" altLang="en-US" sz="2400" dirty="0"/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3D7D77B2-5904-3764-FEE7-BD4ACF71A062}"/>
              </a:ext>
            </a:extLst>
          </p:cNvPr>
          <p:cNvCxnSpPr/>
          <p:nvPr/>
        </p:nvCxnSpPr>
        <p:spPr>
          <a:xfrm flipH="1" flipV="1">
            <a:off x="6941368" y="1877610"/>
            <a:ext cx="366936" cy="236379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915447A1-8F1F-AED7-1975-3A8EE57198BC}"/>
              </a:ext>
            </a:extLst>
          </p:cNvPr>
          <p:cNvCxnSpPr>
            <a:cxnSpLocks/>
          </p:cNvCxnSpPr>
          <p:nvPr/>
        </p:nvCxnSpPr>
        <p:spPr>
          <a:xfrm flipV="1">
            <a:off x="4615892" y="2709498"/>
            <a:ext cx="4248472" cy="3696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D78D2B9-C94A-871B-DA31-A8F5D25D14DE}"/>
              </a:ext>
            </a:extLst>
          </p:cNvPr>
          <p:cNvSpPr txBox="1"/>
          <p:nvPr/>
        </p:nvSpPr>
        <p:spPr>
          <a:xfrm>
            <a:off x="6228184" y="2381236"/>
            <a:ext cx="929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200m</a:t>
            </a:r>
            <a:endParaRPr kumimoji="1" lang="ja-JP" altLang="en-US" sz="24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6FADFB8-2330-421A-1FCA-D5FF4D973D27}"/>
              </a:ext>
            </a:extLst>
          </p:cNvPr>
          <p:cNvSpPr/>
          <p:nvPr/>
        </p:nvSpPr>
        <p:spPr>
          <a:xfrm>
            <a:off x="4482486" y="2101583"/>
            <a:ext cx="216024" cy="216619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892F5405-887E-D8D0-6E45-F6B22F1F333C}"/>
              </a:ext>
            </a:extLst>
          </p:cNvPr>
          <p:cNvCxnSpPr>
            <a:cxnSpLocks/>
          </p:cNvCxnSpPr>
          <p:nvPr/>
        </p:nvCxnSpPr>
        <p:spPr>
          <a:xfrm flipH="1" flipV="1">
            <a:off x="4583584" y="2375206"/>
            <a:ext cx="6908" cy="53633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D228705-37E3-EB59-CA3E-E0C1D6A7D36B}"/>
              </a:ext>
            </a:extLst>
          </p:cNvPr>
          <p:cNvSpPr txBox="1"/>
          <p:nvPr/>
        </p:nvSpPr>
        <p:spPr>
          <a:xfrm>
            <a:off x="3994306" y="2205104"/>
            <a:ext cx="685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1</a:t>
            </a:r>
            <a:r>
              <a:rPr kumimoji="1" lang="en-US" altLang="ja-JP" sz="2400" dirty="0"/>
              <a:t>m</a:t>
            </a:r>
            <a:endParaRPr kumimoji="1" lang="ja-JP" altLang="en-US" sz="24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78D7A27-211E-D5DF-4006-C83CAEF15458}"/>
              </a:ext>
            </a:extLst>
          </p:cNvPr>
          <p:cNvSpPr txBox="1"/>
          <p:nvPr/>
        </p:nvSpPr>
        <p:spPr>
          <a:xfrm>
            <a:off x="3707904" y="1291786"/>
            <a:ext cx="5031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Evaluation point (10cm radius sphere)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9998FADB-CE17-BCFB-8C41-3E7724D0620D}"/>
              </a:ext>
            </a:extLst>
          </p:cNvPr>
          <p:cNvCxnSpPr>
            <a:cxnSpLocks/>
          </p:cNvCxnSpPr>
          <p:nvPr/>
        </p:nvCxnSpPr>
        <p:spPr>
          <a:xfrm flipV="1">
            <a:off x="3520579" y="2894595"/>
            <a:ext cx="0" cy="42964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D464045-4D62-F943-FD6C-21CDB43BE4E1}"/>
              </a:ext>
            </a:extLst>
          </p:cNvPr>
          <p:cNvSpPr txBox="1"/>
          <p:nvPr/>
        </p:nvSpPr>
        <p:spPr>
          <a:xfrm>
            <a:off x="2966243" y="3304197"/>
            <a:ext cx="1028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5</a:t>
            </a:r>
            <a:r>
              <a:rPr kumimoji="1" lang="en-US" altLang="ja-JP" sz="2400" dirty="0"/>
              <a:t>0cm</a:t>
            </a:r>
            <a:endParaRPr kumimoji="1" lang="ja-JP" altLang="en-US" sz="24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D818B55-D349-7494-24B2-5C2DF13E2AFF}"/>
              </a:ext>
            </a:extLst>
          </p:cNvPr>
          <p:cNvSpPr txBox="1"/>
          <p:nvPr/>
        </p:nvSpPr>
        <p:spPr>
          <a:xfrm>
            <a:off x="2804630" y="2864978"/>
            <a:ext cx="645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solidFill>
                  <a:schemeClr val="bg1"/>
                </a:solidFill>
              </a:rPr>
              <a:t>Soil</a:t>
            </a:r>
            <a:endParaRPr kumimoji="1"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722BC7C-B732-A7D2-A47A-00D23F2FBC0B}"/>
              </a:ext>
            </a:extLst>
          </p:cNvPr>
          <p:cNvSpPr txBox="1"/>
          <p:nvPr/>
        </p:nvSpPr>
        <p:spPr>
          <a:xfrm>
            <a:off x="3069116" y="1403652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Air</a:t>
            </a: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2C05BA22-5757-5440-4D3B-178254112930}"/>
              </a:ext>
            </a:extLst>
          </p:cNvPr>
          <p:cNvCxnSpPr>
            <a:cxnSpLocks/>
          </p:cNvCxnSpPr>
          <p:nvPr/>
        </p:nvCxnSpPr>
        <p:spPr>
          <a:xfrm flipH="1">
            <a:off x="4698510" y="1736856"/>
            <a:ext cx="188312" cy="3877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F51927BE-062F-0180-F4CF-5DB1301E48E4}"/>
              </a:ext>
            </a:extLst>
          </p:cNvPr>
          <p:cNvCxnSpPr>
            <a:cxnSpLocks/>
          </p:cNvCxnSpPr>
          <p:nvPr/>
        </p:nvCxnSpPr>
        <p:spPr>
          <a:xfrm>
            <a:off x="8515381" y="2318202"/>
            <a:ext cx="0" cy="61015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D2ED7B-6C32-7410-18C5-B9B8B7D0EA4C}"/>
              </a:ext>
            </a:extLst>
          </p:cNvPr>
          <p:cNvSpPr txBox="1"/>
          <p:nvPr/>
        </p:nvSpPr>
        <p:spPr>
          <a:xfrm>
            <a:off x="7610400" y="1669002"/>
            <a:ext cx="929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200m</a:t>
            </a:r>
            <a:endParaRPr kumimoji="1" lang="ja-JP" altLang="en-US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2870F0E-0722-D070-B963-D6C51467ADE7}"/>
              </a:ext>
            </a:extLst>
          </p:cNvPr>
          <p:cNvSpPr txBox="1"/>
          <p:nvPr/>
        </p:nvSpPr>
        <p:spPr>
          <a:xfrm>
            <a:off x="251520" y="1184240"/>
            <a:ext cx="168824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Geometry</a:t>
            </a:r>
            <a:endParaRPr kumimoji="1" lang="ja-JP" altLang="en-US" sz="2800" dirty="0"/>
          </a:p>
        </p:txBody>
      </p:sp>
      <p:sp>
        <p:nvSpPr>
          <p:cNvPr id="25" name="Text Box 1031">
            <a:extLst>
              <a:ext uri="{FF2B5EF4-FFF2-40B4-BE49-F238E27FC236}">
                <a16:creationId xmlns:a16="http://schemas.microsoft.com/office/drawing/2014/main" id="{3970E703-DB1C-FBB5-50C4-9AFA79189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87" y="3834393"/>
            <a:ext cx="4248472" cy="205253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set:c1[20000] $ World cylinder radius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set:c2[1.0]     $ Density of soil g/cm3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[ Surface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 10 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sz</a:t>
            </a: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  100.0 10.0   $ Detection volume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 900 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pz</a:t>
            </a: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  -50.0         $ Soil depth down to 50 cm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 901 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pz</a:t>
            </a: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    0.0          $ Soil surface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 902 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pz</a:t>
            </a: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 20000.0      $ Sky top up to 200 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 910 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cz</a:t>
            </a: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  c1             $ World cylinder</a:t>
            </a:r>
            <a:endParaRPr lang="pt-BR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A6F20C54-6171-2477-AADA-F17EF02B4497}"/>
              </a:ext>
            </a:extLst>
          </p:cNvPr>
          <p:cNvCxnSpPr>
            <a:cxnSpLocks/>
          </p:cNvCxnSpPr>
          <p:nvPr/>
        </p:nvCxnSpPr>
        <p:spPr>
          <a:xfrm flipH="1" flipV="1">
            <a:off x="8505234" y="1052736"/>
            <a:ext cx="10147" cy="55288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6890B287-4B3A-EE14-67FF-6BCDCDDDC376}"/>
              </a:ext>
            </a:extLst>
          </p:cNvPr>
          <p:cNvCxnSpPr>
            <a:cxnSpLocks/>
          </p:cNvCxnSpPr>
          <p:nvPr/>
        </p:nvCxnSpPr>
        <p:spPr>
          <a:xfrm flipV="1">
            <a:off x="8515381" y="1642642"/>
            <a:ext cx="0" cy="61105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086B02A-1C06-7489-FD68-01277F5D3858}"/>
              </a:ext>
            </a:extLst>
          </p:cNvPr>
          <p:cNvSpPr txBox="1"/>
          <p:nvPr/>
        </p:nvSpPr>
        <p:spPr>
          <a:xfrm>
            <a:off x="3192453" y="831177"/>
            <a:ext cx="2808311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u="sng" dirty="0" err="1"/>
              <a:t>groundsource.inp</a:t>
            </a:r>
            <a:endParaRPr kumimoji="1" lang="ja-JP" altLang="en-US" sz="2800" u="sng" dirty="0"/>
          </a:p>
        </p:txBody>
      </p:sp>
      <p:sp>
        <p:nvSpPr>
          <p:cNvPr id="51" name="Text Box 1031">
            <a:extLst>
              <a:ext uri="{FF2B5EF4-FFF2-40B4-BE49-F238E27FC236}">
                <a16:creationId xmlns:a16="http://schemas.microsoft.com/office/drawing/2014/main" id="{9BBB268F-BBFB-DDCB-8ADA-0D6A823B8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0492" y="3830665"/>
            <a:ext cx="4435388" cy="18393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[ Cell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 10  1 -1.2e-3  -10                      $ Detection volume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342900" indent="-342900" eaLnBrk="1" hangingPunct="1">
              <a:spcBef>
                <a:spcPct val="0"/>
              </a:spcBef>
              <a:buFontTx/>
              <a:buAutoNum type="arabicPlain" startAt="100"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1 -1.2e-3  -910 901 -902 10  $ Air</a:t>
            </a:r>
          </a:p>
          <a:p>
            <a:pPr eaLnBrk="1" hangingPunct="1">
              <a:spcBef>
                <a:spcPct val="0"/>
              </a:spcBef>
              <a:buNone/>
            </a:pPr>
            <a:endParaRPr lang="en-US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342900" indent="-342900" eaLnBrk="1" hangingPunct="1">
              <a:spcBef>
                <a:spcPct val="0"/>
              </a:spcBef>
              <a:buFontTx/>
              <a:buAutoNum type="arabicPlain" startAt="200"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2 -c2     -910 900 -901          $ Soil</a:t>
            </a:r>
          </a:p>
          <a:p>
            <a:pPr eaLnBrk="1" hangingPunct="1">
              <a:spcBef>
                <a:spcPct val="0"/>
              </a:spcBef>
              <a:buNone/>
            </a:pPr>
            <a:endParaRPr lang="pt-BR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900 -1           910:-900:902         $ Outer void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F5482DE2-735A-D570-8DEC-A472C11CC683}"/>
              </a:ext>
            </a:extLst>
          </p:cNvPr>
          <p:cNvCxnSpPr/>
          <p:nvPr/>
        </p:nvCxnSpPr>
        <p:spPr>
          <a:xfrm flipV="1">
            <a:off x="827584" y="1772816"/>
            <a:ext cx="0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F3FD3A67-9CC4-3A69-3C69-F5585302CFEA}"/>
              </a:ext>
            </a:extLst>
          </p:cNvPr>
          <p:cNvCxnSpPr/>
          <p:nvPr/>
        </p:nvCxnSpPr>
        <p:spPr>
          <a:xfrm>
            <a:off x="827584" y="2348880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F2235AD-E910-033E-2479-12FED1763296}"/>
              </a:ext>
            </a:extLst>
          </p:cNvPr>
          <p:cNvSpPr txBox="1"/>
          <p:nvPr/>
        </p:nvSpPr>
        <p:spPr>
          <a:xfrm>
            <a:off x="574980" y="1817216"/>
            <a:ext cx="197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olidFill>
                  <a:srgbClr val="0070C0"/>
                </a:solidFill>
              </a:rPr>
              <a:t>z</a:t>
            </a:r>
            <a:endParaRPr kumimoji="1" lang="ja-JP" altLang="en-US" sz="2800" dirty="0">
              <a:solidFill>
                <a:srgbClr val="0070C0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0595D51-735F-6DD7-9142-B1F8D78D373F}"/>
              </a:ext>
            </a:extLst>
          </p:cNvPr>
          <p:cNvSpPr txBox="1"/>
          <p:nvPr/>
        </p:nvSpPr>
        <p:spPr>
          <a:xfrm>
            <a:off x="918090" y="2189906"/>
            <a:ext cx="197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rgbClr val="0070C0"/>
                </a:solidFill>
              </a:rPr>
              <a:t>x</a:t>
            </a:r>
            <a:endParaRPr kumimoji="1" lang="ja-JP" altLang="en-US" sz="2800" dirty="0">
              <a:solidFill>
                <a:srgbClr val="0070C0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C2CAA31-1D9D-AD44-27FA-68E4B57DC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172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9184-1890-E527-E280-FE5C96182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9F5ED9-568F-45F5-40F6-DF2768800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ja-JP" dirty="0">
                <a:latin typeface="Arial" pitchFamily="18"/>
              </a:rPr>
              <a:t>Semi-infinite ground (continue)</a:t>
            </a:r>
            <a:endParaRPr kumimoji="1" lang="ja-JP" altLang="en-US" dirty="0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E924BA9-0EA9-0283-E370-BC65EB6BDD2F}"/>
              </a:ext>
            </a:extLst>
          </p:cNvPr>
          <p:cNvCxnSpPr/>
          <p:nvPr/>
        </p:nvCxnSpPr>
        <p:spPr>
          <a:xfrm flipV="1">
            <a:off x="6941368" y="2113988"/>
            <a:ext cx="366936" cy="81437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883CC3D-208E-7AF0-481D-0C3CFEAADCC8}"/>
              </a:ext>
            </a:extLst>
          </p:cNvPr>
          <p:cNvCxnSpPr/>
          <p:nvPr/>
        </p:nvCxnSpPr>
        <p:spPr>
          <a:xfrm flipH="1" flipV="1">
            <a:off x="4997152" y="2424316"/>
            <a:ext cx="366936" cy="497613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940E9291-6EDE-07B0-D354-8E66DF69E7BE}"/>
              </a:ext>
            </a:extLst>
          </p:cNvPr>
          <p:cNvCxnSpPr/>
          <p:nvPr/>
        </p:nvCxnSpPr>
        <p:spPr>
          <a:xfrm flipH="1" flipV="1">
            <a:off x="3707904" y="2294972"/>
            <a:ext cx="216024" cy="633386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1F4C748F-C20D-449D-BDBF-B6EFB240D46F}"/>
              </a:ext>
            </a:extLst>
          </p:cNvPr>
          <p:cNvCxnSpPr/>
          <p:nvPr/>
        </p:nvCxnSpPr>
        <p:spPr>
          <a:xfrm flipV="1">
            <a:off x="4997152" y="2113988"/>
            <a:ext cx="546956" cy="81437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8ECEDE-8D58-D104-2811-1B4FB8511559}"/>
              </a:ext>
            </a:extLst>
          </p:cNvPr>
          <p:cNvSpPr/>
          <p:nvPr/>
        </p:nvSpPr>
        <p:spPr>
          <a:xfrm>
            <a:off x="323528" y="2928358"/>
            <a:ext cx="8568952" cy="395882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2118951F-4818-035E-9A20-C384025BC158}"/>
              </a:ext>
            </a:extLst>
          </p:cNvPr>
          <p:cNvCxnSpPr/>
          <p:nvPr/>
        </p:nvCxnSpPr>
        <p:spPr>
          <a:xfrm flipV="1">
            <a:off x="1403648" y="2309658"/>
            <a:ext cx="504056" cy="618714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16D259AB-E73E-1B1B-DF03-D67A7FF75B4D}"/>
              </a:ext>
            </a:extLst>
          </p:cNvPr>
          <p:cNvCxnSpPr/>
          <p:nvPr/>
        </p:nvCxnSpPr>
        <p:spPr>
          <a:xfrm flipH="1" flipV="1">
            <a:off x="323528" y="1877610"/>
            <a:ext cx="288032" cy="1050762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54089AD5-17C8-D63A-21E5-E2DAB99F2F74}"/>
              </a:ext>
            </a:extLst>
          </p:cNvPr>
          <p:cNvCxnSpPr/>
          <p:nvPr/>
        </p:nvCxnSpPr>
        <p:spPr>
          <a:xfrm flipH="1" flipV="1">
            <a:off x="7452320" y="2747391"/>
            <a:ext cx="929208" cy="180969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6E10DAAF-B002-F26C-EFF3-40878FCBC34C}"/>
              </a:ext>
            </a:extLst>
          </p:cNvPr>
          <p:cNvCxnSpPr/>
          <p:nvPr/>
        </p:nvCxnSpPr>
        <p:spPr>
          <a:xfrm flipH="1" flipV="1">
            <a:off x="2411760" y="2424316"/>
            <a:ext cx="432048" cy="491201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EBF1FF42-655A-93A9-C4E5-06B9061B19D8}"/>
              </a:ext>
            </a:extLst>
          </p:cNvPr>
          <p:cNvCxnSpPr/>
          <p:nvPr/>
        </p:nvCxnSpPr>
        <p:spPr>
          <a:xfrm flipV="1">
            <a:off x="6228184" y="1920260"/>
            <a:ext cx="72008" cy="100167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08EB46CE-BCF5-CC11-5239-350B0A619DB4}"/>
              </a:ext>
            </a:extLst>
          </p:cNvPr>
          <p:cNvCxnSpPr/>
          <p:nvPr/>
        </p:nvCxnSpPr>
        <p:spPr>
          <a:xfrm flipH="1" flipV="1">
            <a:off x="6941368" y="1877610"/>
            <a:ext cx="366936" cy="236379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21402A23-8BFC-2FF8-4F48-0AF52FEC9C7C}"/>
              </a:ext>
            </a:extLst>
          </p:cNvPr>
          <p:cNvSpPr txBox="1"/>
          <p:nvPr/>
        </p:nvSpPr>
        <p:spPr>
          <a:xfrm>
            <a:off x="2804630" y="2864978"/>
            <a:ext cx="645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solidFill>
                  <a:schemeClr val="bg1"/>
                </a:solidFill>
              </a:rPr>
              <a:t>Soil</a:t>
            </a:r>
            <a:endParaRPr kumimoji="1"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53CAFB7-46BD-A53B-7C56-212F6409B007}"/>
              </a:ext>
            </a:extLst>
          </p:cNvPr>
          <p:cNvSpPr txBox="1"/>
          <p:nvPr/>
        </p:nvSpPr>
        <p:spPr>
          <a:xfrm>
            <a:off x="251520" y="1184240"/>
            <a:ext cx="122413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Source</a:t>
            </a:r>
            <a:endParaRPr kumimoji="1" lang="ja-JP" altLang="en-US" sz="2800" dirty="0"/>
          </a:p>
        </p:txBody>
      </p:sp>
      <p:sp>
        <p:nvSpPr>
          <p:cNvPr id="25" name="Text Box 1031">
            <a:extLst>
              <a:ext uri="{FF2B5EF4-FFF2-40B4-BE49-F238E27FC236}">
                <a16:creationId xmlns:a16="http://schemas.microsoft.com/office/drawing/2014/main" id="{B2EB9C4B-1071-16D2-2AB1-52B0BDE6A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710" y="3468107"/>
            <a:ext cx="3619218" cy="33390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set:c1[20000] $ World cylinder radius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set:c2[1.0]     $ Density of soil g/cm3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[ Source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</a:t>
            </a:r>
            <a:r>
              <a:rPr lang="en-US" altLang="ja-JP" sz="1400" dirty="0" err="1">
                <a:latin typeface="Tahoma" panose="020B0604030504040204" pitchFamily="34" charset="0"/>
              </a:rPr>
              <a:t>totfact</a:t>
            </a:r>
            <a:r>
              <a:rPr lang="en-US" altLang="ja-JP" sz="1400" dirty="0">
                <a:latin typeface="Tahoma" panose="020B0604030504040204" pitchFamily="34" charset="0"/>
              </a:rPr>
              <a:t> =     pi*c1*c1    $ per 1 </a:t>
            </a:r>
            <a:r>
              <a:rPr lang="en-US" altLang="ja-JP" sz="1400" dirty="0" err="1">
                <a:latin typeface="Tahoma" panose="020B0604030504040204" pitchFamily="34" charset="0"/>
              </a:rPr>
              <a:t>Bq</a:t>
            </a:r>
            <a:r>
              <a:rPr lang="en-US" altLang="ja-JP" sz="1400" dirty="0">
                <a:latin typeface="Tahoma" panose="020B0604030504040204" pitchFamily="34" charset="0"/>
              </a:rPr>
              <a:t>/cm2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s-type =    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</a:t>
            </a:r>
            <a:r>
              <a:rPr lang="en-US" altLang="ja-JP" sz="1400" dirty="0" err="1">
                <a:latin typeface="Tahoma" panose="020B0604030504040204" pitchFamily="34" charset="0"/>
              </a:rPr>
              <a:t>proj</a:t>
            </a:r>
            <a:r>
              <a:rPr lang="en-US" altLang="ja-JP" sz="1400" dirty="0">
                <a:latin typeface="Tahoma" panose="020B0604030504040204" pitchFamily="34" charset="0"/>
              </a:rPr>
              <a:t> =   photon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  r0 =     c1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  z0 =    -0.5/c2       $ 0.5g/cm2 depth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  z1 =    -0.5/c2       $ 0.5g/cm2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 </a:t>
            </a:r>
            <a:r>
              <a:rPr lang="en-US" altLang="ja-JP" sz="1400" dirty="0" err="1">
                <a:latin typeface="Tahoma" panose="020B0604030504040204" pitchFamily="34" charset="0"/>
              </a:rPr>
              <a:t>dir</a:t>
            </a:r>
            <a:r>
              <a:rPr lang="en-US" altLang="ja-JP" sz="1400" dirty="0">
                <a:latin typeface="Tahoma" panose="020B0604030504040204" pitchFamily="34" charset="0"/>
              </a:rPr>
              <a:t> =   all         </a:t>
            </a:r>
            <a:r>
              <a:rPr lang="ja-JP" altLang="en-US" sz="1400" dirty="0">
                <a:latin typeface="Tahoma" panose="020B0604030504040204" pitchFamily="34" charset="0"/>
              </a:rPr>
              <a:t>　</a:t>
            </a:r>
            <a:r>
              <a:rPr lang="en-US" altLang="ja-JP" sz="1400" dirty="0">
                <a:latin typeface="Tahoma" panose="020B0604030504040204" pitchFamily="34" charset="0"/>
              </a:rPr>
              <a:t>   $ isotropic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e-type =   28             $ RI </a:t>
            </a:r>
            <a:r>
              <a:rPr lang="en-US" altLang="ja-JP" sz="1400" dirty="0" err="1">
                <a:latin typeface="Tahoma" panose="020B0604030504040204" pitchFamily="34" charset="0"/>
              </a:rPr>
              <a:t>soource</a:t>
            </a:r>
            <a:endParaRPr lang="en-US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  </a:t>
            </a:r>
            <a:r>
              <a:rPr lang="en-US" altLang="ja-JP" sz="1400" dirty="0" err="1">
                <a:latin typeface="Tahoma" panose="020B0604030504040204" pitchFamily="34" charset="0"/>
              </a:rPr>
              <a:t>ni</a:t>
            </a:r>
            <a:r>
              <a:rPr lang="en-US" altLang="ja-JP" sz="1400" dirty="0">
                <a:latin typeface="Tahoma" panose="020B0604030504040204" pitchFamily="34" charset="0"/>
              </a:rPr>
              <a:t> =  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137Cs    1.0            $ activity is 1 </a:t>
            </a:r>
            <a:r>
              <a:rPr lang="en-US" altLang="ja-JP" sz="1400" dirty="0" err="1">
                <a:latin typeface="Tahoma" panose="020B0604030504040204" pitchFamily="34" charset="0"/>
              </a:rPr>
              <a:t>Bq</a:t>
            </a:r>
            <a:endParaRPr lang="en-US" altLang="ja-JP" sz="1400" dirty="0">
              <a:latin typeface="Tahoma" panose="020B0604030504040204" pitchFamily="34" charset="0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6CC90B98-2CE8-2B78-390C-D0774BFB061B}"/>
              </a:ext>
            </a:extLst>
          </p:cNvPr>
          <p:cNvSpPr txBox="1"/>
          <p:nvPr/>
        </p:nvSpPr>
        <p:spPr>
          <a:xfrm>
            <a:off x="3203849" y="836712"/>
            <a:ext cx="2808311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u="sng" dirty="0" err="1"/>
              <a:t>groundsource.inp</a:t>
            </a:r>
            <a:endParaRPr kumimoji="1" lang="ja-JP" altLang="en-US" sz="2800" u="sng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F839B07-9D12-9F4D-5E83-241B9583AF73}"/>
              </a:ext>
            </a:extLst>
          </p:cNvPr>
          <p:cNvSpPr txBox="1"/>
          <p:nvPr/>
        </p:nvSpPr>
        <p:spPr>
          <a:xfrm>
            <a:off x="4644008" y="3399564"/>
            <a:ext cx="4499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>
                <a:solidFill>
                  <a:srgbClr val="FF0000"/>
                </a:solidFill>
              </a:rPr>
              <a:t>Uniform plane source in 0.5 g/cm</a:t>
            </a:r>
            <a:r>
              <a:rPr lang="en-US" altLang="ja-JP" sz="2400" baseline="30000" dirty="0">
                <a:solidFill>
                  <a:srgbClr val="FF0000"/>
                </a:solidFill>
              </a:rPr>
              <a:t>2</a:t>
            </a:r>
            <a:r>
              <a:rPr lang="en-US" altLang="ja-JP" sz="2400" dirty="0">
                <a:solidFill>
                  <a:srgbClr val="FF0000"/>
                </a:solidFill>
              </a:rPr>
              <a:t> cumulative mass depth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55B708-6E37-FC42-61A9-6882E87D2385}"/>
              </a:ext>
            </a:extLst>
          </p:cNvPr>
          <p:cNvSpPr txBox="1"/>
          <p:nvPr/>
        </p:nvSpPr>
        <p:spPr>
          <a:xfrm>
            <a:off x="4997152" y="5368266"/>
            <a:ext cx="2644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rgbClr val="FF0000"/>
                </a:solidFill>
              </a:rPr>
              <a:t>Cs-137 in 1Bq/cm</a:t>
            </a:r>
            <a:r>
              <a:rPr kumimoji="1" lang="en-US" altLang="ja-JP" sz="2400" baseline="30000" dirty="0">
                <a:solidFill>
                  <a:srgbClr val="FF0000"/>
                </a:solidFill>
              </a:rPr>
              <a:t>2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64D8D9E-C548-A26B-6060-C26C4A4D1F52}"/>
              </a:ext>
            </a:extLst>
          </p:cNvPr>
          <p:cNvSpPr txBox="1"/>
          <p:nvPr/>
        </p:nvSpPr>
        <p:spPr>
          <a:xfrm>
            <a:off x="5180620" y="4230561"/>
            <a:ext cx="3791799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Distribute in depth even just after the incidence to account initial migration and ground roughness</a:t>
            </a:r>
            <a:endParaRPr kumimoji="1" lang="ja-JP" altLang="en-US" sz="20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1C3010A-4D35-F527-6FB1-F679EEBE255C}"/>
              </a:ext>
            </a:extLst>
          </p:cNvPr>
          <p:cNvSpPr txBox="1"/>
          <p:nvPr/>
        </p:nvSpPr>
        <p:spPr>
          <a:xfrm>
            <a:off x="5180620" y="5944338"/>
            <a:ext cx="332719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RI source setting</a:t>
            </a:r>
          </a:p>
          <a:p>
            <a:r>
              <a:rPr kumimoji="1" lang="en-US" altLang="ja-JP" dirty="0" err="1"/>
              <a:t>phits</a:t>
            </a:r>
            <a:r>
              <a:rPr kumimoji="1" lang="en-US" altLang="ja-JP" dirty="0"/>
              <a:t>/lecture/advanced/</a:t>
            </a:r>
            <a:r>
              <a:rPr lang="en-US" altLang="ja-JP" dirty="0" err="1"/>
              <a:t>sourceA</a:t>
            </a:r>
            <a:endParaRPr kumimoji="1" lang="ja-JP" altLang="en-US" dirty="0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7FDAF388-740F-B26B-C791-5DBB4CCF01AF}"/>
              </a:ext>
            </a:extLst>
          </p:cNvPr>
          <p:cNvSpPr/>
          <p:nvPr/>
        </p:nvSpPr>
        <p:spPr>
          <a:xfrm>
            <a:off x="467544" y="6093296"/>
            <a:ext cx="3312368" cy="6480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78E6A4D0-D41A-CC4C-AF7A-BCB779C2D8AE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779912" y="5599099"/>
            <a:ext cx="1217240" cy="7102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13F4B8C2-72B8-ADDC-4C18-258465A52608}"/>
              </a:ext>
            </a:extLst>
          </p:cNvPr>
          <p:cNvSpPr/>
          <p:nvPr/>
        </p:nvSpPr>
        <p:spPr>
          <a:xfrm>
            <a:off x="467544" y="5455232"/>
            <a:ext cx="3312368" cy="40951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8B58FA82-A2FA-A224-8458-BDEB27A65453}"/>
              </a:ext>
            </a:extLst>
          </p:cNvPr>
          <p:cNvSpPr/>
          <p:nvPr/>
        </p:nvSpPr>
        <p:spPr>
          <a:xfrm>
            <a:off x="1295636" y="4545137"/>
            <a:ext cx="972108" cy="2460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6C6EF7FD-EB74-A1B9-EE54-4CD978C43D37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2304718" y="4816780"/>
            <a:ext cx="2692434" cy="7823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9D3EB9D7-69FE-920A-B96B-257ECFEF689C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3707904" y="3815063"/>
            <a:ext cx="936104" cy="16016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E4906A07-098F-D119-FB93-FCE09C9E7072}"/>
              </a:ext>
            </a:extLst>
          </p:cNvPr>
          <p:cNvSpPr txBox="1"/>
          <p:nvPr/>
        </p:nvSpPr>
        <p:spPr>
          <a:xfrm>
            <a:off x="1403648" y="419032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Area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20DC96F-3607-24EB-9B1A-3A75057DC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644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9EACC-2658-DD42-41F5-C26FFD645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B8F87FB0-9A81-62BD-0A67-B7B441643649}"/>
              </a:ext>
            </a:extLst>
          </p:cNvPr>
          <p:cNvCxnSpPr/>
          <p:nvPr/>
        </p:nvCxnSpPr>
        <p:spPr>
          <a:xfrm flipV="1">
            <a:off x="6941368" y="2113988"/>
            <a:ext cx="366936" cy="81437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1D9F41E0-F264-92A9-71DD-A01F5CC8D6E8}"/>
              </a:ext>
            </a:extLst>
          </p:cNvPr>
          <p:cNvCxnSpPr/>
          <p:nvPr/>
        </p:nvCxnSpPr>
        <p:spPr>
          <a:xfrm flipH="1" flipV="1">
            <a:off x="4997152" y="2424316"/>
            <a:ext cx="366936" cy="497613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3E2A55D5-3F6B-638D-4B89-1B924FE359D6}"/>
              </a:ext>
            </a:extLst>
          </p:cNvPr>
          <p:cNvCxnSpPr/>
          <p:nvPr/>
        </p:nvCxnSpPr>
        <p:spPr>
          <a:xfrm flipH="1" flipV="1">
            <a:off x="3707904" y="2294972"/>
            <a:ext cx="216024" cy="633386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A1C060C5-BFDD-2543-8FD3-2A356165E801}"/>
              </a:ext>
            </a:extLst>
          </p:cNvPr>
          <p:cNvCxnSpPr/>
          <p:nvPr/>
        </p:nvCxnSpPr>
        <p:spPr>
          <a:xfrm flipV="1">
            <a:off x="4997152" y="2113988"/>
            <a:ext cx="546956" cy="81437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2A06239-5168-32FC-C7BD-23E5DF1AC9D0}"/>
              </a:ext>
            </a:extLst>
          </p:cNvPr>
          <p:cNvSpPr/>
          <p:nvPr/>
        </p:nvSpPr>
        <p:spPr>
          <a:xfrm>
            <a:off x="323528" y="2928358"/>
            <a:ext cx="8568952" cy="395882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D916763B-0E63-ACF4-0218-F4181F52A598}"/>
              </a:ext>
            </a:extLst>
          </p:cNvPr>
          <p:cNvCxnSpPr/>
          <p:nvPr/>
        </p:nvCxnSpPr>
        <p:spPr>
          <a:xfrm flipV="1">
            <a:off x="1403648" y="2309658"/>
            <a:ext cx="504056" cy="618714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E4A08AE3-A095-1962-AFD4-7CF4FAB7D7C8}"/>
              </a:ext>
            </a:extLst>
          </p:cNvPr>
          <p:cNvCxnSpPr/>
          <p:nvPr/>
        </p:nvCxnSpPr>
        <p:spPr>
          <a:xfrm flipH="1" flipV="1">
            <a:off x="323528" y="1877610"/>
            <a:ext cx="288032" cy="1050762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C819822C-F25D-E5B4-0758-7C11DE4AA83A}"/>
              </a:ext>
            </a:extLst>
          </p:cNvPr>
          <p:cNvCxnSpPr/>
          <p:nvPr/>
        </p:nvCxnSpPr>
        <p:spPr>
          <a:xfrm flipH="1" flipV="1">
            <a:off x="7452320" y="2747391"/>
            <a:ext cx="929208" cy="180969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575F4FAD-CEC6-5BF8-D804-5E24AA083FC2}"/>
              </a:ext>
            </a:extLst>
          </p:cNvPr>
          <p:cNvCxnSpPr/>
          <p:nvPr/>
        </p:nvCxnSpPr>
        <p:spPr>
          <a:xfrm flipH="1" flipV="1">
            <a:off x="2411760" y="2424316"/>
            <a:ext cx="432048" cy="491201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C261EB29-416C-0AC8-2631-5B0B437250F6}"/>
              </a:ext>
            </a:extLst>
          </p:cNvPr>
          <p:cNvCxnSpPr/>
          <p:nvPr/>
        </p:nvCxnSpPr>
        <p:spPr>
          <a:xfrm flipV="1">
            <a:off x="6228184" y="1920260"/>
            <a:ext cx="72008" cy="100167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5442470B-489C-FA69-D101-2149D896F90A}"/>
              </a:ext>
            </a:extLst>
          </p:cNvPr>
          <p:cNvCxnSpPr/>
          <p:nvPr/>
        </p:nvCxnSpPr>
        <p:spPr>
          <a:xfrm flipH="1" flipV="1">
            <a:off x="6941368" y="1877610"/>
            <a:ext cx="366936" cy="236379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53F94511-4642-18FE-D4C7-F5E835895ECF}"/>
              </a:ext>
            </a:extLst>
          </p:cNvPr>
          <p:cNvSpPr/>
          <p:nvPr/>
        </p:nvSpPr>
        <p:spPr>
          <a:xfrm>
            <a:off x="4482486" y="2101583"/>
            <a:ext cx="216024" cy="216619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8A9E7897-757D-86FF-D8C6-A65680B74520}"/>
              </a:ext>
            </a:extLst>
          </p:cNvPr>
          <p:cNvCxnSpPr>
            <a:cxnSpLocks/>
          </p:cNvCxnSpPr>
          <p:nvPr/>
        </p:nvCxnSpPr>
        <p:spPr>
          <a:xfrm flipH="1" flipV="1">
            <a:off x="4583584" y="2375206"/>
            <a:ext cx="6908" cy="53633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A8C21D5-2866-19F9-09F6-88EA70522A25}"/>
              </a:ext>
            </a:extLst>
          </p:cNvPr>
          <p:cNvSpPr txBox="1"/>
          <p:nvPr/>
        </p:nvSpPr>
        <p:spPr>
          <a:xfrm>
            <a:off x="3994306" y="2205104"/>
            <a:ext cx="685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1</a:t>
            </a:r>
            <a:r>
              <a:rPr kumimoji="1" lang="en-US" altLang="ja-JP" sz="2400" dirty="0"/>
              <a:t>m</a:t>
            </a:r>
            <a:endParaRPr kumimoji="1" lang="ja-JP" altLang="en-US" sz="24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84566F2-080A-7CDA-E2ED-B5B703F47CBA}"/>
              </a:ext>
            </a:extLst>
          </p:cNvPr>
          <p:cNvSpPr txBox="1"/>
          <p:nvPr/>
        </p:nvSpPr>
        <p:spPr>
          <a:xfrm>
            <a:off x="4699448" y="1291786"/>
            <a:ext cx="4058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Evaluation point : Cell 10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C1E8E633-F013-8329-57FF-C402C1D75B4E}"/>
              </a:ext>
            </a:extLst>
          </p:cNvPr>
          <p:cNvSpPr txBox="1"/>
          <p:nvPr/>
        </p:nvSpPr>
        <p:spPr>
          <a:xfrm>
            <a:off x="2804630" y="2864978"/>
            <a:ext cx="645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solidFill>
                  <a:schemeClr val="bg1"/>
                </a:solidFill>
              </a:rPr>
              <a:t>Soil</a:t>
            </a:r>
            <a:endParaRPr kumimoji="1"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AC3A892-01AC-1532-074C-A26FCEDE23A6}"/>
              </a:ext>
            </a:extLst>
          </p:cNvPr>
          <p:cNvSpPr txBox="1"/>
          <p:nvPr/>
        </p:nvSpPr>
        <p:spPr>
          <a:xfrm>
            <a:off x="3440957" y="1729495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Air</a:t>
            </a: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BF7AF0E2-B007-6D84-F384-F7F5DD7C3020}"/>
              </a:ext>
            </a:extLst>
          </p:cNvPr>
          <p:cNvCxnSpPr>
            <a:cxnSpLocks/>
          </p:cNvCxnSpPr>
          <p:nvPr/>
        </p:nvCxnSpPr>
        <p:spPr>
          <a:xfrm flipH="1">
            <a:off x="4698510" y="1736856"/>
            <a:ext cx="188312" cy="3877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4EADD4D-A481-C110-E488-DE2D9FE9182C}"/>
              </a:ext>
            </a:extLst>
          </p:cNvPr>
          <p:cNvSpPr txBox="1"/>
          <p:nvPr/>
        </p:nvSpPr>
        <p:spPr>
          <a:xfrm>
            <a:off x="251520" y="1184240"/>
            <a:ext cx="86409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Tally</a:t>
            </a:r>
            <a:endParaRPr kumimoji="1" lang="ja-JP" altLang="en-US" sz="2800" dirty="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FEEBD5BB-33A6-1B0F-9D7F-0936F1146C8D}"/>
              </a:ext>
            </a:extLst>
          </p:cNvPr>
          <p:cNvSpPr txBox="1"/>
          <p:nvPr/>
        </p:nvSpPr>
        <p:spPr>
          <a:xfrm>
            <a:off x="3192453" y="831177"/>
            <a:ext cx="2808311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u="sng" dirty="0" err="1"/>
              <a:t>groundsource.inp</a:t>
            </a:r>
            <a:endParaRPr kumimoji="1" lang="ja-JP" altLang="en-US" sz="2800" u="sng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D788FBD-C919-1EFB-FAC9-A23967F2956C}"/>
              </a:ext>
            </a:extLst>
          </p:cNvPr>
          <p:cNvSpPr txBox="1"/>
          <p:nvPr/>
        </p:nvSpPr>
        <p:spPr>
          <a:xfrm>
            <a:off x="4045287" y="5513104"/>
            <a:ext cx="3910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olidFill>
                  <a:srgbClr val="FF0000"/>
                </a:solidFill>
              </a:rPr>
              <a:t>Ambient dose equivalent</a:t>
            </a:r>
            <a:endParaRPr kumimoji="1" lang="ja-JP" altLang="en-US" sz="2800" dirty="0">
              <a:solidFill>
                <a:srgbClr val="FF0000"/>
              </a:solidFill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1BDACD88-FFC6-4A3F-1873-7CE3E32CFBD7}"/>
              </a:ext>
            </a:extLst>
          </p:cNvPr>
          <p:cNvGrpSpPr/>
          <p:nvPr/>
        </p:nvGrpSpPr>
        <p:grpSpPr>
          <a:xfrm>
            <a:off x="4168126" y="3403967"/>
            <a:ext cx="4868370" cy="1938992"/>
            <a:chOff x="4329413" y="3957074"/>
            <a:chExt cx="4868370" cy="1938992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4EE7716B-15B7-10C4-6EE3-166BF2FB1395}"/>
                </a:ext>
              </a:extLst>
            </p:cNvPr>
            <p:cNvSpPr txBox="1"/>
            <p:nvPr/>
          </p:nvSpPr>
          <p:spPr>
            <a:xfrm>
              <a:off x="4329413" y="3957074"/>
              <a:ext cx="4868370" cy="19389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/>
                <a:t>Derive dose by computing the photon fluence in [T-Track] and multiplying the dose conversion </a:t>
              </a:r>
              <a:r>
                <a:rPr kumimoji="1" lang="en-US" altLang="ja-JP" sz="2400" dirty="0" err="1"/>
                <a:t>coefficinety</a:t>
              </a:r>
              <a:r>
                <a:rPr kumimoji="1" lang="en-US" altLang="ja-JP" sz="2400" dirty="0"/>
                <a:t> using “multiplier” function</a:t>
              </a:r>
            </a:p>
            <a:p>
              <a:endParaRPr kumimoji="1" lang="ja-JP" altLang="en-US" sz="2400" dirty="0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C24F557B-E724-D8BB-B99D-AA357818FEE5}"/>
                </a:ext>
              </a:extLst>
            </p:cNvPr>
            <p:cNvSpPr txBox="1"/>
            <p:nvPr/>
          </p:nvSpPr>
          <p:spPr>
            <a:xfrm>
              <a:off x="5079561" y="5505211"/>
              <a:ext cx="3327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 err="1"/>
                <a:t>phits</a:t>
              </a:r>
              <a:r>
                <a:rPr kumimoji="1" lang="en-US" altLang="ja-JP" dirty="0"/>
                <a:t>/lecture/advanced/options</a:t>
              </a:r>
              <a:endParaRPr kumimoji="1" lang="ja-JP" altLang="en-US" dirty="0"/>
            </a:p>
          </p:txBody>
        </p:sp>
      </p:grpSp>
      <p:sp>
        <p:nvSpPr>
          <p:cNvPr id="22" name="Text Box 1031">
            <a:extLst>
              <a:ext uri="{FF2B5EF4-FFF2-40B4-BE49-F238E27FC236}">
                <a16:creationId xmlns:a16="http://schemas.microsoft.com/office/drawing/2014/main" id="{00100D02-5DE0-EFC0-EC38-3DD094734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13" y="3449891"/>
            <a:ext cx="2508718" cy="20562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[ T-track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nn-NO" altLang="ja-JP" sz="1400" dirty="0">
                <a:latin typeface="Tahoma" panose="020B0604030504040204" pitchFamily="34" charset="0"/>
              </a:rPr>
              <a:t> file = dose.out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nn-NO" altLang="ja-JP" sz="1400" dirty="0">
                <a:latin typeface="Tahoma" panose="020B0604030504040204" pitchFamily="34" charset="0"/>
              </a:rPr>
              <a:t> mesh = reg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nn-NO" altLang="ja-JP" sz="1400" dirty="0">
                <a:latin typeface="Tahoma" panose="020B0604030504040204" pitchFamily="34" charset="0"/>
              </a:rPr>
              <a:t>  reg = 10</a:t>
            </a:r>
            <a:endParaRPr lang="fr-FR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 multiplier =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 part = photon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 mat  mset1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 1    (1.0e-6*3600.0</a:t>
            </a:r>
            <a:r>
              <a:rPr lang="ja-JP" altLang="en-US" sz="1400" dirty="0">
                <a:latin typeface="Tahoma" panose="020B0604030504040204" pitchFamily="34" charset="0"/>
              </a:rPr>
              <a:t>　</a:t>
            </a:r>
            <a:r>
              <a:rPr lang="fr-FR" altLang="ja-JP" sz="1400" dirty="0">
                <a:latin typeface="Tahoma" panose="020B0604030504040204" pitchFamily="34" charset="0"/>
              </a:rPr>
              <a:t> -200)</a:t>
            </a:r>
            <a:endParaRPr lang="pt-BR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6A3A500-FE35-A29B-7982-A8C41B5692E0}"/>
              </a:ext>
            </a:extLst>
          </p:cNvPr>
          <p:cNvSpPr/>
          <p:nvPr/>
        </p:nvSpPr>
        <p:spPr>
          <a:xfrm>
            <a:off x="2123728" y="5198429"/>
            <a:ext cx="432048" cy="2460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A3E073D-F789-02E9-D9FA-AB73C1E92C5C}"/>
              </a:ext>
            </a:extLst>
          </p:cNvPr>
          <p:cNvSpPr/>
          <p:nvPr/>
        </p:nvSpPr>
        <p:spPr>
          <a:xfrm>
            <a:off x="386794" y="4584571"/>
            <a:ext cx="2240990" cy="92153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19DA2AB4-9699-9DD5-FE99-DC0246638F93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2627784" y="4373463"/>
            <a:ext cx="1540342" cy="2102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11EB3A84-986A-8558-38C0-4821FBA093CA}"/>
              </a:ext>
            </a:extLst>
          </p:cNvPr>
          <p:cNvCxnSpPr>
            <a:cxnSpLocks/>
            <a:stCxn id="3" idx="1"/>
            <a:endCxn id="4" idx="3"/>
          </p:cNvCxnSpPr>
          <p:nvPr/>
        </p:nvCxnSpPr>
        <p:spPr>
          <a:xfrm flipH="1" flipV="1">
            <a:off x="2555776" y="5321437"/>
            <a:ext cx="1489511" cy="4532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65FD8F87-AC56-8DBC-3EAF-4F59954499BE}"/>
              </a:ext>
            </a:extLst>
          </p:cNvPr>
          <p:cNvSpPr/>
          <p:nvPr/>
        </p:nvSpPr>
        <p:spPr>
          <a:xfrm>
            <a:off x="820046" y="5202341"/>
            <a:ext cx="1159666" cy="2460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B8CCCC6-0297-9B38-90B6-EAEB46BAB1C1}"/>
              </a:ext>
            </a:extLst>
          </p:cNvPr>
          <p:cNvSpPr txBox="1"/>
          <p:nvPr/>
        </p:nvSpPr>
        <p:spPr>
          <a:xfrm>
            <a:off x="386794" y="5805130"/>
            <a:ext cx="317709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Conversion</a:t>
            </a:r>
            <a:r>
              <a:rPr lang="ja-JP" altLang="en-US" dirty="0"/>
              <a:t> </a:t>
            </a:r>
            <a:r>
              <a:rPr lang="en-US" altLang="ja-JP" dirty="0"/>
              <a:t>coefficient 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pSv</a:t>
            </a:r>
            <a:r>
              <a:rPr kumimoji="1" lang="en-US" altLang="ja-JP" dirty="0"/>
              <a:t> cm</a:t>
            </a:r>
            <a:r>
              <a:rPr kumimoji="1" lang="en-US" altLang="ja-JP" baseline="30000" dirty="0"/>
              <a:t>2</a:t>
            </a:r>
            <a:r>
              <a:rPr lang="en-US" altLang="ja-JP" dirty="0"/>
              <a:t>)</a:t>
            </a:r>
          </a:p>
          <a:p>
            <a:pPr algn="ctr"/>
            <a:r>
              <a:rPr lang="en-US" altLang="ja-JP" dirty="0"/>
              <a:t>x 10</a:t>
            </a:r>
            <a:r>
              <a:rPr lang="en-US" altLang="ja-JP" baseline="30000" dirty="0"/>
              <a:t>-6</a:t>
            </a:r>
            <a:r>
              <a:rPr lang="en-US" altLang="ja-JP" dirty="0"/>
              <a:t>*3600 =&gt; </a:t>
            </a:r>
            <a:r>
              <a:rPr lang="en-US" altLang="ja-JP" dirty="0">
                <a:sym typeface="Symbol" panose="05050102010706020507" pitchFamily="18" charset="2"/>
              </a:rPr>
              <a:t></a:t>
            </a:r>
            <a:r>
              <a:rPr lang="en-US" altLang="ja-JP" dirty="0" err="1">
                <a:sym typeface="Symbol" panose="05050102010706020507" pitchFamily="18" charset="2"/>
              </a:rPr>
              <a:t>Sv</a:t>
            </a:r>
            <a:r>
              <a:rPr lang="en-US" altLang="ja-JP" dirty="0">
                <a:sym typeface="Symbol" panose="05050102010706020507" pitchFamily="18" charset="2"/>
              </a:rPr>
              <a:t>/h</a:t>
            </a:r>
            <a:endParaRPr kumimoji="1" lang="ja-JP" altLang="en-US" dirty="0"/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1E198168-B7C2-F0C0-39AE-56FBE191C835}"/>
              </a:ext>
            </a:extLst>
          </p:cNvPr>
          <p:cNvCxnSpPr>
            <a:cxnSpLocks/>
          </p:cNvCxnSpPr>
          <p:nvPr/>
        </p:nvCxnSpPr>
        <p:spPr>
          <a:xfrm flipV="1">
            <a:off x="1343401" y="5473073"/>
            <a:ext cx="0" cy="332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タイトル 1">
            <a:extLst>
              <a:ext uri="{FF2B5EF4-FFF2-40B4-BE49-F238E27FC236}">
                <a16:creationId xmlns:a16="http://schemas.microsoft.com/office/drawing/2014/main" id="{4DFE8B95-5D96-3419-5CB8-609449DDA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ja-JP" dirty="0">
                <a:latin typeface="Arial" pitchFamily="18"/>
              </a:rPr>
              <a:t>Semi-infinite ground (continue)</a:t>
            </a:r>
            <a:endParaRPr kumimoji="1" lang="ja-JP" altLang="en-US" dirty="0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3C46CC7-B59B-0597-02D1-59A13043D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2174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89F56-5675-7501-2D9F-8FD2B9178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4461C7-4088-8C55-9985-92690F9C4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>
                <a:latin typeface="Arial" pitchFamily="18"/>
              </a:rPr>
              <a:t>Step </a:t>
            </a:r>
            <a:r>
              <a:rPr lang="ja-JP" altLang="ja-JP" dirty="0">
                <a:latin typeface="Arial" pitchFamily="18"/>
              </a:rPr>
              <a:t>1</a:t>
            </a:r>
            <a:r>
              <a:rPr lang="en-US" altLang="ja-JP" dirty="0">
                <a:latin typeface="Arial" pitchFamily="18"/>
              </a:rPr>
              <a:t> (Semi-infinite ground)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A9F24D9-67EE-38FD-BA91-3ACD761AE290}"/>
              </a:ext>
            </a:extLst>
          </p:cNvPr>
          <p:cNvSpPr txBox="1"/>
          <p:nvPr/>
        </p:nvSpPr>
        <p:spPr>
          <a:xfrm>
            <a:off x="1061864" y="1823339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rgbClr val="FF0000"/>
                </a:solidFill>
              </a:rPr>
              <a:t>Let’s execute PHITS with </a:t>
            </a:r>
            <a:r>
              <a:rPr kumimoji="1" lang="en-US" altLang="ja-JP" sz="2800" dirty="0" err="1">
                <a:solidFill>
                  <a:srgbClr val="FF0000"/>
                </a:solidFill>
              </a:rPr>
              <a:t>groundsource.inp</a:t>
            </a:r>
            <a:endParaRPr kumimoji="1" lang="ja-JP" altLang="en-US" sz="2800" dirty="0">
              <a:solidFill>
                <a:srgbClr val="FF00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DC9E85-74C3-EC2F-0D28-4EF9274938EA}"/>
              </a:ext>
            </a:extLst>
          </p:cNvPr>
          <p:cNvSpPr txBox="1"/>
          <p:nvPr/>
        </p:nvSpPr>
        <p:spPr>
          <a:xfrm>
            <a:off x="1359756" y="3044859"/>
            <a:ext cx="74607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Then check</a:t>
            </a:r>
          </a:p>
          <a:p>
            <a:r>
              <a:rPr lang="ja-JP" altLang="en-US" sz="2400" dirty="0"/>
              <a:t>　</a:t>
            </a:r>
            <a:r>
              <a:rPr lang="en-US" altLang="ja-JP" sz="2400" dirty="0"/>
              <a:t>Fluence distribution in wide area (</a:t>
            </a:r>
            <a:r>
              <a:rPr lang="en-US" altLang="ja-JP" sz="2400" dirty="0" err="1"/>
              <a:t>track.eps</a:t>
            </a:r>
            <a:r>
              <a:rPr lang="en-US" altLang="ja-JP" sz="2400" dirty="0"/>
              <a:t>)</a:t>
            </a:r>
          </a:p>
          <a:p>
            <a:r>
              <a:rPr kumimoji="1" lang="en-US" altLang="ja-JP" sz="2400" dirty="0"/>
              <a:t>   Fluence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distribution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around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the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target</a:t>
            </a:r>
            <a:r>
              <a:rPr kumimoji="1" lang="ja-JP" altLang="en-US" sz="2400" dirty="0"/>
              <a:t> </a:t>
            </a:r>
            <a:r>
              <a:rPr lang="en-US" altLang="ja-JP" sz="2400" dirty="0"/>
              <a:t>(</a:t>
            </a:r>
            <a:r>
              <a:rPr lang="en-US" altLang="ja-JP" sz="2400" dirty="0" err="1"/>
              <a:t>track_inside.eps</a:t>
            </a:r>
            <a:r>
              <a:rPr lang="en-US" altLang="ja-JP" sz="2400" dirty="0"/>
              <a:t>)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CC0E78D-13DF-D0E2-7896-23C377176A43}"/>
              </a:ext>
            </a:extLst>
          </p:cNvPr>
          <p:cNvSpPr txBox="1"/>
          <p:nvPr/>
        </p:nvSpPr>
        <p:spPr>
          <a:xfrm>
            <a:off x="1367644" y="4773051"/>
            <a:ext cx="6408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In addition, check</a:t>
            </a:r>
          </a:p>
          <a:p>
            <a:r>
              <a:rPr lang="ja-JP" altLang="en-US" sz="2400" dirty="0"/>
              <a:t>　</a:t>
            </a:r>
            <a:r>
              <a:rPr lang="en-US" altLang="ja-JP" sz="2400" dirty="0"/>
              <a:t>Dose value at the evaluation point (</a:t>
            </a:r>
            <a:r>
              <a:rPr lang="en-US" altLang="ja-JP" sz="2400" dirty="0" err="1"/>
              <a:t>dose.out</a:t>
            </a:r>
            <a:r>
              <a:rPr lang="en-US" altLang="ja-JP" sz="2400" dirty="0"/>
              <a:t>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348379-77ED-A139-F3E5-7E53C9B0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5673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17F63-6FD5-A761-0FF5-359792798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864577AB-C10D-3BA2-7496-16B6D2EF5A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5" t="8000" r="3286" b="1701"/>
          <a:stretch/>
        </p:blipFill>
        <p:spPr>
          <a:xfrm>
            <a:off x="5601228" y="1399987"/>
            <a:ext cx="3527244" cy="44928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9E5872A-5149-EDE1-D22C-1CA97E83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225" y="50618"/>
            <a:ext cx="8387159" cy="1143000"/>
          </a:xfr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Arial" pitchFamily="18"/>
              </a:rPr>
              <a:t>Step 1 (Semi-infinite ground) Result</a:t>
            </a:r>
            <a:endParaRPr kumimoji="1"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DCC3D15-956E-3D7F-8F95-DBB8601594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64" t="15259" r="5396" b="6920"/>
          <a:stretch/>
        </p:blipFill>
        <p:spPr>
          <a:xfrm>
            <a:off x="107503" y="1359932"/>
            <a:ext cx="5520185" cy="3816424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BAD2007-BFB1-DFA6-3E81-896F6CEA9D3A}"/>
              </a:ext>
            </a:extLst>
          </p:cNvPr>
          <p:cNvSpPr txBox="1"/>
          <p:nvPr/>
        </p:nvSpPr>
        <p:spPr>
          <a:xfrm>
            <a:off x="322225" y="5225620"/>
            <a:ext cx="4572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altLang="ja-JP" dirty="0"/>
              <a:t>#  num    reg     volume       all       r.err </a:t>
            </a:r>
          </a:p>
          <a:p>
            <a:r>
              <a:rPr lang="pt-BR" altLang="ja-JP" dirty="0"/>
              <a:t>    1      10   4.1888E+03   0.0000E+00  0.0000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F31E9C4-C589-A6C5-6CF1-DF2710B71BB3}"/>
              </a:ext>
            </a:extLst>
          </p:cNvPr>
          <p:cNvSpPr txBox="1"/>
          <p:nvPr/>
        </p:nvSpPr>
        <p:spPr>
          <a:xfrm>
            <a:off x="1856054" y="2060848"/>
            <a:ext cx="1506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err="1"/>
              <a:t>track.eps</a:t>
            </a:r>
            <a:endParaRPr kumimoji="1" lang="ja-JP" altLang="en-US" sz="28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E809A50-B9F6-AE98-DBCA-B4ECF97C9EA3}"/>
              </a:ext>
            </a:extLst>
          </p:cNvPr>
          <p:cNvSpPr txBox="1"/>
          <p:nvPr/>
        </p:nvSpPr>
        <p:spPr>
          <a:xfrm>
            <a:off x="6252071" y="5854439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err="1"/>
              <a:t>track_inside.eps</a:t>
            </a:r>
            <a:endParaRPr kumimoji="1" lang="ja-JP" altLang="en-US" sz="28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3D1C13C-F33A-BDC1-6C4F-DD48EAB284D8}"/>
              </a:ext>
            </a:extLst>
          </p:cNvPr>
          <p:cNvSpPr txBox="1"/>
          <p:nvPr/>
        </p:nvSpPr>
        <p:spPr>
          <a:xfrm>
            <a:off x="1390130" y="5874941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/>
              <a:t>dose</a:t>
            </a:r>
            <a:r>
              <a:rPr kumimoji="1" lang="en-US" altLang="ja-JP" sz="2800" dirty="0" err="1"/>
              <a:t>.out</a:t>
            </a:r>
            <a:r>
              <a:rPr kumimoji="1" lang="en-US" altLang="ja-JP" sz="2800" dirty="0"/>
              <a:t> (Line 38)</a:t>
            </a:r>
            <a:endParaRPr kumimoji="1" lang="ja-JP" altLang="en-US" sz="28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1878341-B52C-5A31-1C5A-A4EC36EAA751}"/>
              </a:ext>
            </a:extLst>
          </p:cNvPr>
          <p:cNvSpPr txBox="1"/>
          <p:nvPr/>
        </p:nvSpPr>
        <p:spPr>
          <a:xfrm>
            <a:off x="3464207" y="868023"/>
            <a:ext cx="2961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 err="1">
                <a:solidFill>
                  <a:srgbClr val="FF0000"/>
                </a:solidFill>
              </a:rPr>
              <a:t>maxcas</a:t>
            </a:r>
            <a:r>
              <a:rPr kumimoji="1" lang="en-US" altLang="ja-JP" sz="3200" dirty="0">
                <a:solidFill>
                  <a:srgbClr val="FF0000"/>
                </a:solidFill>
              </a:rPr>
              <a:t>=100,000</a:t>
            </a:r>
            <a:endParaRPr kumimoji="1" lang="ja-JP" altLang="en-US" sz="3200" dirty="0">
              <a:solidFill>
                <a:srgbClr val="FF0000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9A73686-073A-38E1-4407-BD971DCF1401}"/>
              </a:ext>
            </a:extLst>
          </p:cNvPr>
          <p:cNvSpPr txBox="1"/>
          <p:nvPr/>
        </p:nvSpPr>
        <p:spPr>
          <a:xfrm>
            <a:off x="1390130" y="6284690"/>
            <a:ext cx="7296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>
                <a:solidFill>
                  <a:srgbClr val="FF0000"/>
                </a:solidFill>
              </a:rPr>
              <a:t>No gamma reaches to the evaluation point</a:t>
            </a:r>
            <a:endParaRPr kumimoji="1" lang="ja-JP" altLang="en-US" sz="3200" dirty="0">
              <a:solidFill>
                <a:srgbClr val="FF0000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A1A8B4B-2E4E-F3AD-FEE4-FECDE8B59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110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2C044-26D7-D104-612C-40023B19B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0BB278-3D6B-18BC-822B-71A86F139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752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Arial" pitchFamily="18"/>
              </a:rPr>
              <a:t>Step 1 (Semi-infinite ground) Continued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E3E6719-0C62-CDA3-55AC-95AC7453BB00}"/>
              </a:ext>
            </a:extLst>
          </p:cNvPr>
          <p:cNvSpPr txBox="1"/>
          <p:nvPr/>
        </p:nvSpPr>
        <p:spPr>
          <a:xfrm>
            <a:off x="445126" y="1597585"/>
            <a:ext cx="7799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rgbClr val="FF0000"/>
                </a:solidFill>
              </a:rPr>
              <a:t>Increase the histories 10 times (</a:t>
            </a:r>
            <a:r>
              <a:rPr kumimoji="1" lang="en-US" altLang="ja-JP" sz="2800" dirty="0" err="1">
                <a:solidFill>
                  <a:srgbClr val="FF0000"/>
                </a:solidFill>
              </a:rPr>
              <a:t>maxcas</a:t>
            </a:r>
            <a:r>
              <a:rPr kumimoji="1" lang="en-US" altLang="ja-JP" sz="2800" dirty="0">
                <a:solidFill>
                  <a:srgbClr val="FF0000"/>
                </a:solidFill>
              </a:rPr>
              <a:t>=1,000,000)</a:t>
            </a:r>
            <a:endParaRPr kumimoji="1" lang="ja-JP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0084ED1-CD12-1A63-5529-CD7789D9AB2A}"/>
              </a:ext>
            </a:extLst>
          </p:cNvPr>
          <p:cNvSpPr txBox="1"/>
          <p:nvPr/>
        </p:nvSpPr>
        <p:spPr>
          <a:xfrm>
            <a:off x="1359756" y="3044859"/>
            <a:ext cx="74607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Then check</a:t>
            </a:r>
          </a:p>
          <a:p>
            <a:r>
              <a:rPr lang="ja-JP" altLang="en-US" sz="2400" dirty="0"/>
              <a:t>　</a:t>
            </a:r>
            <a:r>
              <a:rPr lang="en-US" altLang="ja-JP" sz="2400" dirty="0"/>
              <a:t>Fluence distribution in wide area (</a:t>
            </a:r>
            <a:r>
              <a:rPr lang="en-US" altLang="ja-JP" sz="2400" dirty="0" err="1"/>
              <a:t>track.eps</a:t>
            </a:r>
            <a:r>
              <a:rPr lang="en-US" altLang="ja-JP" sz="2400" dirty="0"/>
              <a:t>)</a:t>
            </a:r>
          </a:p>
          <a:p>
            <a:r>
              <a:rPr kumimoji="1" lang="en-US" altLang="ja-JP" sz="2400" dirty="0"/>
              <a:t>   Fluence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distribution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around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the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target</a:t>
            </a:r>
            <a:r>
              <a:rPr kumimoji="1" lang="ja-JP" altLang="en-US" sz="2400" dirty="0"/>
              <a:t> </a:t>
            </a:r>
            <a:r>
              <a:rPr lang="en-US" altLang="ja-JP" sz="2400" dirty="0"/>
              <a:t>(</a:t>
            </a:r>
            <a:r>
              <a:rPr lang="en-US" altLang="ja-JP" sz="2400" dirty="0" err="1"/>
              <a:t>track_inside.eps</a:t>
            </a:r>
            <a:r>
              <a:rPr lang="en-US" altLang="ja-JP" sz="2400" dirty="0"/>
              <a:t>)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D5F162C-9768-C0CB-2352-76F475D02CDE}"/>
              </a:ext>
            </a:extLst>
          </p:cNvPr>
          <p:cNvSpPr txBox="1"/>
          <p:nvPr/>
        </p:nvSpPr>
        <p:spPr>
          <a:xfrm>
            <a:off x="1367644" y="4773051"/>
            <a:ext cx="6408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In addition, check</a:t>
            </a:r>
          </a:p>
          <a:p>
            <a:r>
              <a:rPr lang="ja-JP" altLang="en-US" sz="2400" dirty="0"/>
              <a:t>　</a:t>
            </a:r>
            <a:r>
              <a:rPr lang="en-US" altLang="ja-JP" sz="2400" dirty="0"/>
              <a:t>Dose value at the evaluation point (</a:t>
            </a:r>
            <a:r>
              <a:rPr lang="en-US" altLang="ja-JP" sz="2400" dirty="0" err="1"/>
              <a:t>dose.out</a:t>
            </a:r>
            <a:r>
              <a:rPr lang="en-US" altLang="ja-JP" sz="2400" dirty="0"/>
              <a:t>)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5A85DE0-87E9-A74A-8E32-4D486EBA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4067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27A88-8A2B-9F75-9526-E4178EA5F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092AC20-D9EF-6189-4D1F-62120CE45A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1" t="6706" r="1972" b="2751"/>
          <a:stretch/>
        </p:blipFill>
        <p:spPr>
          <a:xfrm>
            <a:off x="5525116" y="1278203"/>
            <a:ext cx="3618884" cy="44928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CF5E6251-616C-89C9-A5CD-5587FB021F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8" t="15274" r="6862" b="8508"/>
          <a:stretch/>
        </p:blipFill>
        <p:spPr>
          <a:xfrm>
            <a:off x="162599" y="1316126"/>
            <a:ext cx="5407390" cy="3816000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276A245-449B-ECA5-A96B-0298B44BD80E}"/>
              </a:ext>
            </a:extLst>
          </p:cNvPr>
          <p:cNvSpPr txBox="1"/>
          <p:nvPr/>
        </p:nvSpPr>
        <p:spPr>
          <a:xfrm>
            <a:off x="1856054" y="2060848"/>
            <a:ext cx="1506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err="1"/>
              <a:t>track.eps</a:t>
            </a:r>
            <a:endParaRPr kumimoji="1" lang="ja-JP" altLang="en-US" sz="28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00F5710-2990-CB24-EE07-C807D5DEE3EF}"/>
              </a:ext>
            </a:extLst>
          </p:cNvPr>
          <p:cNvSpPr txBox="1"/>
          <p:nvPr/>
        </p:nvSpPr>
        <p:spPr>
          <a:xfrm>
            <a:off x="5844743" y="5728367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err="1"/>
              <a:t>track_inside.eps</a:t>
            </a:r>
            <a:endParaRPr kumimoji="1" lang="ja-JP" altLang="en-US" sz="28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2882506-9C88-91E4-2D79-72AAD58550CA}"/>
              </a:ext>
            </a:extLst>
          </p:cNvPr>
          <p:cNvSpPr txBox="1"/>
          <p:nvPr/>
        </p:nvSpPr>
        <p:spPr>
          <a:xfrm>
            <a:off x="1390130" y="5874941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/>
              <a:t>dose</a:t>
            </a:r>
            <a:r>
              <a:rPr kumimoji="1" lang="en-US" altLang="ja-JP" sz="2800" dirty="0" err="1"/>
              <a:t>.out</a:t>
            </a:r>
            <a:r>
              <a:rPr kumimoji="1" lang="en-US" altLang="ja-JP" sz="2800" dirty="0"/>
              <a:t> (</a:t>
            </a:r>
            <a:r>
              <a:rPr lang="en-US" altLang="ja-JP" sz="2800" dirty="0"/>
              <a:t>Line </a:t>
            </a:r>
            <a:r>
              <a:rPr kumimoji="1" lang="en-US" altLang="ja-JP" sz="2800" dirty="0"/>
              <a:t>38)</a:t>
            </a:r>
            <a:endParaRPr kumimoji="1" lang="ja-JP" altLang="en-US" sz="28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A2BAE3C-BD67-B8E0-7573-084E55ECEDD2}"/>
              </a:ext>
            </a:extLst>
          </p:cNvPr>
          <p:cNvSpPr txBox="1"/>
          <p:nvPr/>
        </p:nvSpPr>
        <p:spPr>
          <a:xfrm>
            <a:off x="3131840" y="868023"/>
            <a:ext cx="3294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 err="1">
                <a:solidFill>
                  <a:srgbClr val="FF0000"/>
                </a:solidFill>
              </a:rPr>
              <a:t>maxcas</a:t>
            </a:r>
            <a:r>
              <a:rPr kumimoji="1" lang="en-US" altLang="ja-JP" sz="3200" dirty="0">
                <a:solidFill>
                  <a:srgbClr val="FF0000"/>
                </a:solidFill>
              </a:rPr>
              <a:t>=1,000,000</a:t>
            </a:r>
            <a:endParaRPr kumimoji="1" lang="ja-JP" altLang="en-US" sz="3200" dirty="0">
              <a:solidFill>
                <a:srgbClr val="FF0000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7CAAC7F-B806-EFFE-4106-0AA2561774D4}"/>
              </a:ext>
            </a:extLst>
          </p:cNvPr>
          <p:cNvSpPr txBox="1"/>
          <p:nvPr/>
        </p:nvSpPr>
        <p:spPr>
          <a:xfrm>
            <a:off x="0" y="6334780"/>
            <a:ext cx="92372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rgbClr val="FF0000"/>
                </a:solidFill>
              </a:rPr>
              <a:t>One gamma reaches the target =&gt; Needs much more histories</a:t>
            </a:r>
            <a:endParaRPr kumimoji="1" lang="ja-JP" altLang="en-US" sz="2800" dirty="0">
              <a:solidFill>
                <a:srgbClr val="FF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98497BF-5E2B-B6F5-CBF3-FCD2D6E7E5E8}"/>
              </a:ext>
            </a:extLst>
          </p:cNvPr>
          <p:cNvSpPr txBox="1"/>
          <p:nvPr/>
        </p:nvSpPr>
        <p:spPr>
          <a:xfrm>
            <a:off x="299641" y="5239211"/>
            <a:ext cx="4572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altLang="ja-JP" dirty="0"/>
              <a:t>#  num    reg     volume       all       r.err </a:t>
            </a:r>
          </a:p>
          <a:p>
            <a:r>
              <a:rPr lang="pt-BR" altLang="ja-JP" dirty="0"/>
              <a:t>    1      10   4.1888E+03   6.2302E-02  1.0000</a:t>
            </a:r>
            <a:endParaRPr lang="ja-JP" altLang="en-US" dirty="0"/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45178714-B6E6-B44E-964A-13A2610FC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225" y="50618"/>
            <a:ext cx="8387159" cy="1143000"/>
          </a:xfr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Arial" pitchFamily="18"/>
              </a:rPr>
              <a:t>Step 1 (Semi-infinite ground) Result</a:t>
            </a:r>
            <a:endParaRPr kumimoji="1" lang="ja-JP" altLang="en-US" dirty="0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7454831-3E4B-BEB5-66A2-C6C0E2D2D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0712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B2F8E-2B18-73A2-0CC6-2DFDDAC9D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4572143F-E91F-C0C5-480C-9B022021BECD}"/>
              </a:ext>
            </a:extLst>
          </p:cNvPr>
          <p:cNvGrpSpPr/>
          <p:nvPr/>
        </p:nvGrpSpPr>
        <p:grpSpPr>
          <a:xfrm>
            <a:off x="287524" y="2696576"/>
            <a:ext cx="8568952" cy="2672415"/>
            <a:chOff x="287524" y="3015506"/>
            <a:chExt cx="8568952" cy="2672415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09DDBFF3-A271-7314-E373-77A2897AC511}"/>
                </a:ext>
              </a:extLst>
            </p:cNvPr>
            <p:cNvSpPr/>
            <p:nvPr/>
          </p:nvSpPr>
          <p:spPr>
            <a:xfrm>
              <a:off x="287524" y="4552004"/>
              <a:ext cx="8568952" cy="39588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テキスト ボックス 71">
              <a:extLst>
                <a:ext uri="{FF2B5EF4-FFF2-40B4-BE49-F238E27FC236}">
                  <a16:creationId xmlns:a16="http://schemas.microsoft.com/office/drawing/2014/main" id="{70AE0FBA-02FE-40F8-0CD4-31058B3981ED}"/>
                </a:ext>
              </a:extLst>
            </p:cNvPr>
            <p:cNvSpPr txBox="1"/>
            <p:nvPr/>
          </p:nvSpPr>
          <p:spPr>
            <a:xfrm>
              <a:off x="8285838" y="3015506"/>
              <a:ext cx="457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200" dirty="0"/>
                <a:t>…</a:t>
              </a:r>
              <a:endParaRPr kumimoji="1" lang="ja-JP" altLang="en-US" sz="3200" dirty="0"/>
            </a:p>
          </p:txBody>
        </p:sp>
        <p:sp>
          <p:nvSpPr>
            <p:cNvPr id="73" name="テキスト ボックス 72">
              <a:extLst>
                <a:ext uri="{FF2B5EF4-FFF2-40B4-BE49-F238E27FC236}">
                  <a16:creationId xmlns:a16="http://schemas.microsoft.com/office/drawing/2014/main" id="{ACB6E909-D235-D9B1-E65D-AC7401A20F85}"/>
                </a:ext>
              </a:extLst>
            </p:cNvPr>
            <p:cNvSpPr txBox="1"/>
            <p:nvPr/>
          </p:nvSpPr>
          <p:spPr>
            <a:xfrm>
              <a:off x="350788" y="3025406"/>
              <a:ext cx="457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200" dirty="0"/>
                <a:t>…</a:t>
              </a:r>
              <a:endParaRPr kumimoji="1" lang="ja-JP" altLang="en-US" sz="3200" dirty="0"/>
            </a:p>
          </p:txBody>
        </p:sp>
        <p:sp>
          <p:nvSpPr>
            <p:cNvPr id="82" name="テキスト ボックス 81">
              <a:extLst>
                <a:ext uri="{FF2B5EF4-FFF2-40B4-BE49-F238E27FC236}">
                  <a16:creationId xmlns:a16="http://schemas.microsoft.com/office/drawing/2014/main" id="{ED4DBD27-5F00-B81C-C516-15AEB5B2968E}"/>
                </a:ext>
              </a:extLst>
            </p:cNvPr>
            <p:cNvSpPr txBox="1"/>
            <p:nvPr/>
          </p:nvSpPr>
          <p:spPr>
            <a:xfrm>
              <a:off x="4016153" y="5226256"/>
              <a:ext cx="11319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dirty="0">
                  <a:solidFill>
                    <a:srgbClr val="FF0000"/>
                  </a:solidFill>
                </a:rPr>
                <a:t>Infinite</a:t>
              </a:r>
              <a:endParaRPr kumimoji="1" lang="ja-JP" alt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3A7C2FF3-B0A1-4C50-E174-58139956EA2C}"/>
              </a:ext>
            </a:extLst>
          </p:cNvPr>
          <p:cNvGrpSpPr/>
          <p:nvPr/>
        </p:nvGrpSpPr>
        <p:grpSpPr>
          <a:xfrm>
            <a:off x="971600" y="1453886"/>
            <a:ext cx="7200800" cy="3384376"/>
            <a:chOff x="971600" y="1772816"/>
            <a:chExt cx="7200800" cy="3384376"/>
          </a:xfrm>
        </p:grpSpPr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E699F9D1-C58A-275B-46F1-ACCC5D21AE2F}"/>
                </a:ext>
              </a:extLst>
            </p:cNvPr>
            <p:cNvSpPr/>
            <p:nvPr/>
          </p:nvSpPr>
          <p:spPr>
            <a:xfrm>
              <a:off x="971600" y="4552004"/>
              <a:ext cx="7200799" cy="38299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DFF62F67-1CAF-2594-A7AB-B3E2284E3C05}"/>
                </a:ext>
              </a:extLst>
            </p:cNvPr>
            <p:cNvCxnSpPr>
              <a:cxnSpLocks/>
            </p:cNvCxnSpPr>
            <p:nvPr/>
          </p:nvCxnSpPr>
          <p:spPr>
            <a:xfrm>
              <a:off x="8172400" y="1772816"/>
              <a:ext cx="0" cy="3384376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4225FC0B-6E2A-02FE-5CA4-97DFB420131E}"/>
                </a:ext>
              </a:extLst>
            </p:cNvPr>
            <p:cNvCxnSpPr>
              <a:cxnSpLocks/>
            </p:cNvCxnSpPr>
            <p:nvPr/>
          </p:nvCxnSpPr>
          <p:spPr>
            <a:xfrm>
              <a:off x="971600" y="1772816"/>
              <a:ext cx="0" cy="3384376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テキスト ボックス 77">
              <a:extLst>
                <a:ext uri="{FF2B5EF4-FFF2-40B4-BE49-F238E27FC236}">
                  <a16:creationId xmlns:a16="http://schemas.microsoft.com/office/drawing/2014/main" id="{750E9341-E20E-C4E0-4697-E683F6AE391B}"/>
                </a:ext>
              </a:extLst>
            </p:cNvPr>
            <p:cNvSpPr txBox="1"/>
            <p:nvPr/>
          </p:nvSpPr>
          <p:spPr>
            <a:xfrm>
              <a:off x="7062314" y="1787503"/>
              <a:ext cx="7980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Mirror</a:t>
              </a:r>
              <a:r>
                <a:rPr kumimoji="1" lang="ja-JP" altLang="en-US" dirty="0"/>
                <a:t> </a:t>
              </a:r>
              <a:r>
                <a:rPr kumimoji="1" lang="en-US" altLang="ja-JP" dirty="0"/>
                <a:t>image</a:t>
              </a:r>
              <a:endParaRPr kumimoji="1" lang="ja-JP" altLang="en-US" dirty="0"/>
            </a:p>
          </p:txBody>
        </p:sp>
        <p:sp>
          <p:nvSpPr>
            <p:cNvPr id="79" name="テキスト ボックス 78">
              <a:extLst>
                <a:ext uri="{FF2B5EF4-FFF2-40B4-BE49-F238E27FC236}">
                  <a16:creationId xmlns:a16="http://schemas.microsoft.com/office/drawing/2014/main" id="{AB891789-352A-3E65-CA06-FCEFED6E5145}"/>
                </a:ext>
              </a:extLst>
            </p:cNvPr>
            <p:cNvSpPr txBox="1"/>
            <p:nvPr/>
          </p:nvSpPr>
          <p:spPr>
            <a:xfrm>
              <a:off x="1294050" y="1781944"/>
              <a:ext cx="7980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Mirror</a:t>
              </a:r>
              <a:r>
                <a:rPr kumimoji="1" lang="ja-JP" altLang="en-US" dirty="0"/>
                <a:t> </a:t>
              </a:r>
              <a:r>
                <a:rPr kumimoji="1" lang="en-US" altLang="ja-JP" dirty="0"/>
                <a:t>image</a:t>
              </a:r>
              <a:endParaRPr kumimoji="1" lang="ja-JP" altLang="en-US" dirty="0"/>
            </a:p>
          </p:txBody>
        </p:sp>
      </p:grpSp>
      <p:grpSp>
        <p:nvGrpSpPr>
          <p:cNvPr id="80" name="グループ化 79">
            <a:extLst>
              <a:ext uri="{FF2B5EF4-FFF2-40B4-BE49-F238E27FC236}">
                <a16:creationId xmlns:a16="http://schemas.microsoft.com/office/drawing/2014/main" id="{E15A5140-8EF6-0F19-9A08-598A8A809260}"/>
              </a:ext>
            </a:extLst>
          </p:cNvPr>
          <p:cNvGrpSpPr/>
          <p:nvPr/>
        </p:nvGrpSpPr>
        <p:grpSpPr>
          <a:xfrm>
            <a:off x="2401603" y="1424762"/>
            <a:ext cx="4340799" cy="3384376"/>
            <a:chOff x="2401603" y="1743692"/>
            <a:chExt cx="4340799" cy="3384376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FC916259-5AC8-559B-EA6B-E1AD09913066}"/>
                </a:ext>
              </a:extLst>
            </p:cNvPr>
            <p:cNvSpPr/>
            <p:nvPr/>
          </p:nvSpPr>
          <p:spPr>
            <a:xfrm>
              <a:off x="2401603" y="4557127"/>
              <a:ext cx="4330638" cy="39075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B4C9378D-3675-8028-CA68-33EFF4732E3E}"/>
                </a:ext>
              </a:extLst>
            </p:cNvPr>
            <p:cNvCxnSpPr>
              <a:cxnSpLocks/>
            </p:cNvCxnSpPr>
            <p:nvPr/>
          </p:nvCxnSpPr>
          <p:spPr>
            <a:xfrm>
              <a:off x="2411760" y="1743692"/>
              <a:ext cx="0" cy="3384376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BF3C11F7-9E2E-49E1-2577-F5A140CFD912}"/>
                </a:ext>
              </a:extLst>
            </p:cNvPr>
            <p:cNvCxnSpPr>
              <a:cxnSpLocks/>
            </p:cNvCxnSpPr>
            <p:nvPr/>
          </p:nvCxnSpPr>
          <p:spPr>
            <a:xfrm>
              <a:off x="6742402" y="1743692"/>
              <a:ext cx="0" cy="3384376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テキスト ボックス 75">
              <a:extLst>
                <a:ext uri="{FF2B5EF4-FFF2-40B4-BE49-F238E27FC236}">
                  <a16:creationId xmlns:a16="http://schemas.microsoft.com/office/drawing/2014/main" id="{27DC2B59-06F8-8644-E5AA-8BE5C546B464}"/>
                </a:ext>
              </a:extLst>
            </p:cNvPr>
            <p:cNvSpPr txBox="1"/>
            <p:nvPr/>
          </p:nvSpPr>
          <p:spPr>
            <a:xfrm>
              <a:off x="2737890" y="1768493"/>
              <a:ext cx="7980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Mirror</a:t>
              </a:r>
              <a:r>
                <a:rPr kumimoji="1" lang="ja-JP" altLang="en-US" dirty="0"/>
                <a:t> </a:t>
              </a:r>
              <a:r>
                <a:rPr kumimoji="1" lang="en-US" altLang="ja-JP" dirty="0"/>
                <a:t>image</a:t>
              </a:r>
              <a:endParaRPr kumimoji="1" lang="ja-JP" altLang="en-US" dirty="0"/>
            </a:p>
          </p:txBody>
        </p:sp>
        <p:sp>
          <p:nvSpPr>
            <p:cNvPr id="77" name="テキスト ボックス 76">
              <a:extLst>
                <a:ext uri="{FF2B5EF4-FFF2-40B4-BE49-F238E27FC236}">
                  <a16:creationId xmlns:a16="http://schemas.microsoft.com/office/drawing/2014/main" id="{E8314E3C-1197-00B4-DE8E-C19D8EA49929}"/>
                </a:ext>
              </a:extLst>
            </p:cNvPr>
            <p:cNvSpPr txBox="1"/>
            <p:nvPr/>
          </p:nvSpPr>
          <p:spPr>
            <a:xfrm>
              <a:off x="5608047" y="1787503"/>
              <a:ext cx="7980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Mirro</a:t>
              </a:r>
              <a:r>
                <a:rPr lang="en-US" altLang="ja-JP" dirty="0"/>
                <a:t>r image</a:t>
              </a:r>
              <a:endParaRPr kumimoji="1" lang="ja-JP" altLang="en-US" dirty="0"/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BFDD58C7-BE5B-097B-9C05-EAB65007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" y="53752"/>
            <a:ext cx="9036495" cy="1143000"/>
          </a:xfr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Arial" pitchFamily="18"/>
              </a:rPr>
              <a:t>Calculation using reflection boundaries</a:t>
            </a:r>
            <a:endParaRPr kumimoji="1" lang="ja-JP" altLang="en-US" dirty="0"/>
          </a:p>
        </p:txBody>
      </p: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E840575D-816A-EA6A-2D5E-7D7196B50065}"/>
              </a:ext>
            </a:extLst>
          </p:cNvPr>
          <p:cNvGrpSpPr/>
          <p:nvPr/>
        </p:nvGrpSpPr>
        <p:grpSpPr>
          <a:xfrm>
            <a:off x="3851920" y="2432874"/>
            <a:ext cx="1440160" cy="1528081"/>
            <a:chOff x="3851920" y="2751804"/>
            <a:chExt cx="1440160" cy="1528081"/>
          </a:xfrm>
        </p:grpSpPr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FAB1F708-E462-E952-31F3-0F25B660DC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1920" y="3725229"/>
              <a:ext cx="1440160" cy="554656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5F08DF8D-8259-E212-E58F-8BBC10C3C6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5711" y="2751804"/>
              <a:ext cx="1391194" cy="473142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70D04C0C-095F-C081-022E-9455F625B9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86933" y="3204780"/>
              <a:ext cx="1405147" cy="520449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楕円 27">
            <a:extLst>
              <a:ext uri="{FF2B5EF4-FFF2-40B4-BE49-F238E27FC236}">
                <a16:creationId xmlns:a16="http://schemas.microsoft.com/office/drawing/2014/main" id="{3AD24003-1402-A6D6-EFEE-2ADB01F192EA}"/>
              </a:ext>
            </a:extLst>
          </p:cNvPr>
          <p:cNvSpPr/>
          <p:nvPr/>
        </p:nvSpPr>
        <p:spPr>
          <a:xfrm>
            <a:off x="4446482" y="3406299"/>
            <a:ext cx="216024" cy="216619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7BC68DBB-75B4-5AFC-74E3-B2EB8D9490B8}"/>
              </a:ext>
            </a:extLst>
          </p:cNvPr>
          <p:cNvSpPr/>
          <p:nvPr/>
        </p:nvSpPr>
        <p:spPr>
          <a:xfrm>
            <a:off x="3841758" y="4239634"/>
            <a:ext cx="1475169" cy="389322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131D1DD-ABAC-D983-8732-3974E126A39E}"/>
              </a:ext>
            </a:extLst>
          </p:cNvPr>
          <p:cNvCxnSpPr>
            <a:cxnSpLocks/>
          </p:cNvCxnSpPr>
          <p:nvPr/>
        </p:nvCxnSpPr>
        <p:spPr>
          <a:xfrm>
            <a:off x="3851920" y="1424762"/>
            <a:ext cx="0" cy="33843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1BC158AB-6349-ED1D-DB52-092E14EBA598}"/>
              </a:ext>
            </a:extLst>
          </p:cNvPr>
          <p:cNvCxnSpPr>
            <a:cxnSpLocks/>
          </p:cNvCxnSpPr>
          <p:nvPr/>
        </p:nvCxnSpPr>
        <p:spPr>
          <a:xfrm>
            <a:off x="5292080" y="1424762"/>
            <a:ext cx="0" cy="33843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6C3B4B40-7F4D-60D4-1ED8-231C55CF7BA2}"/>
              </a:ext>
            </a:extLst>
          </p:cNvPr>
          <p:cNvSpPr txBox="1"/>
          <p:nvPr/>
        </p:nvSpPr>
        <p:spPr>
          <a:xfrm>
            <a:off x="3265697" y="912427"/>
            <a:ext cx="1152122" cy="48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ja-JP" dirty="0"/>
              <a:t>Reflection</a:t>
            </a:r>
            <a:r>
              <a:rPr lang="ja-JP" altLang="en-US" dirty="0"/>
              <a:t> </a:t>
            </a:r>
            <a:r>
              <a:rPr lang="en-US" altLang="ja-JP" dirty="0"/>
              <a:t>boundary</a:t>
            </a:r>
            <a:endParaRPr kumimoji="1" lang="ja-JP" altLang="en-US" dirty="0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6600E794-0907-256F-1797-FE27FB345D6C}"/>
              </a:ext>
            </a:extLst>
          </p:cNvPr>
          <p:cNvSpPr txBox="1"/>
          <p:nvPr/>
        </p:nvSpPr>
        <p:spPr>
          <a:xfrm>
            <a:off x="4244133" y="4190648"/>
            <a:ext cx="645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solidFill>
                  <a:schemeClr val="bg1"/>
                </a:solidFill>
              </a:rPr>
              <a:t>Soil</a:t>
            </a:r>
            <a:endParaRPr kumimoji="1"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E017A52E-8109-B87F-C973-33BF68BA209C}"/>
              </a:ext>
            </a:extLst>
          </p:cNvPr>
          <p:cNvSpPr txBox="1"/>
          <p:nvPr/>
        </p:nvSpPr>
        <p:spPr>
          <a:xfrm>
            <a:off x="4289049" y="1575301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Air</a:t>
            </a:r>
          </a:p>
        </p:txBody>
      </p: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99FD4C65-7592-8A55-D4C4-A9A6B222AD1A}"/>
              </a:ext>
            </a:extLst>
          </p:cNvPr>
          <p:cNvGrpSpPr/>
          <p:nvPr/>
        </p:nvGrpSpPr>
        <p:grpSpPr>
          <a:xfrm>
            <a:off x="3851920" y="3785402"/>
            <a:ext cx="1435077" cy="419773"/>
            <a:chOff x="3851920" y="3955687"/>
            <a:chExt cx="1435077" cy="419773"/>
          </a:xfrm>
        </p:grpSpPr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4E2DAA59-E4D1-63C7-41B7-A16F1B16BB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1920" y="4103341"/>
              <a:ext cx="720080" cy="272119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テキスト ボックス 83">
              <a:extLst>
                <a:ext uri="{FF2B5EF4-FFF2-40B4-BE49-F238E27FC236}">
                  <a16:creationId xmlns:a16="http://schemas.microsoft.com/office/drawing/2014/main" id="{B9080043-296F-7064-CFB8-35012950B03C}"/>
                </a:ext>
              </a:extLst>
            </p:cNvPr>
            <p:cNvSpPr txBox="1"/>
            <p:nvPr/>
          </p:nvSpPr>
          <p:spPr>
            <a:xfrm>
              <a:off x="4135444" y="3955687"/>
              <a:ext cx="11515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/>
                <a:t>Transport</a:t>
              </a:r>
              <a:endParaRPr kumimoji="1" lang="ja-JP" altLang="en-US" dirty="0"/>
            </a:p>
          </p:txBody>
        </p:sp>
      </p:grpSp>
      <p:grpSp>
        <p:nvGrpSpPr>
          <p:cNvPr id="92" name="グループ化 91">
            <a:extLst>
              <a:ext uri="{FF2B5EF4-FFF2-40B4-BE49-F238E27FC236}">
                <a16:creationId xmlns:a16="http://schemas.microsoft.com/office/drawing/2014/main" id="{8C87B963-9205-9E23-5E75-D0299CB09255}"/>
              </a:ext>
            </a:extLst>
          </p:cNvPr>
          <p:cNvGrpSpPr/>
          <p:nvPr/>
        </p:nvGrpSpPr>
        <p:grpSpPr>
          <a:xfrm>
            <a:off x="287524" y="2936930"/>
            <a:ext cx="8784465" cy="2772363"/>
            <a:chOff x="287524" y="3084584"/>
            <a:chExt cx="8784465" cy="2772363"/>
          </a:xfrm>
        </p:grpSpPr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DECA0775-CDFE-A5A7-65C2-B87B901BCF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4944" y="4117990"/>
              <a:ext cx="701509" cy="262738"/>
            </a:xfrm>
            <a:prstGeom prst="straightConnector1">
              <a:avLst/>
            </a:prstGeom>
            <a:ln w="38100">
              <a:solidFill>
                <a:srgbClr val="FFC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矢印コネクタ 50">
              <a:extLst>
                <a:ext uri="{FF2B5EF4-FFF2-40B4-BE49-F238E27FC236}">
                  <a16:creationId xmlns:a16="http://schemas.microsoft.com/office/drawing/2014/main" id="{BAC1FB6E-16F8-FC8C-99F5-E4258B333D3B}"/>
                </a:ext>
              </a:extLst>
            </p:cNvPr>
            <p:cNvCxnSpPr>
              <a:cxnSpLocks/>
            </p:cNvCxnSpPr>
            <p:nvPr/>
          </p:nvCxnSpPr>
          <p:spPr>
            <a:xfrm>
              <a:off x="5292080" y="3553953"/>
              <a:ext cx="2161377" cy="826775"/>
            </a:xfrm>
            <a:prstGeom prst="straightConnector1">
              <a:avLst/>
            </a:prstGeom>
            <a:ln w="38100">
              <a:solidFill>
                <a:srgbClr val="FFC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63AB6D1F-AF2B-3DFE-C2B5-2A20B71124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524" y="3084584"/>
              <a:ext cx="3529384" cy="1197956"/>
            </a:xfrm>
            <a:prstGeom prst="straightConnector1">
              <a:avLst/>
            </a:prstGeom>
            <a:ln w="38100">
              <a:solidFill>
                <a:srgbClr val="FFC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テキスト ボックス 88">
              <a:extLst>
                <a:ext uri="{FF2B5EF4-FFF2-40B4-BE49-F238E27FC236}">
                  <a16:creationId xmlns:a16="http://schemas.microsoft.com/office/drawing/2014/main" id="{884C45AD-74DC-5835-0E52-B0C9EF4A51A8}"/>
                </a:ext>
              </a:extLst>
            </p:cNvPr>
            <p:cNvSpPr txBox="1"/>
            <p:nvPr/>
          </p:nvSpPr>
          <p:spPr>
            <a:xfrm>
              <a:off x="314463" y="5487615"/>
              <a:ext cx="87575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/>
                <a:t>Radiations reflected at the boundary = Independent radiations injected from mirror regions</a:t>
              </a:r>
              <a:endParaRPr kumimoji="1" lang="ja-JP" altLang="en-US" dirty="0"/>
            </a:p>
          </p:txBody>
        </p:sp>
      </p:grp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BDBBEE3D-D88A-BFD4-FEF9-10A7821A3897}"/>
              </a:ext>
            </a:extLst>
          </p:cNvPr>
          <p:cNvGrpSpPr/>
          <p:nvPr/>
        </p:nvGrpSpPr>
        <p:grpSpPr>
          <a:xfrm>
            <a:off x="35496" y="5805264"/>
            <a:ext cx="9118375" cy="1150281"/>
            <a:chOff x="35496" y="5805264"/>
            <a:chExt cx="9118375" cy="1150281"/>
          </a:xfrm>
        </p:grpSpPr>
        <p:sp>
          <p:nvSpPr>
            <p:cNvPr id="90" name="矢印: 下 89">
              <a:extLst>
                <a:ext uri="{FF2B5EF4-FFF2-40B4-BE49-F238E27FC236}">
                  <a16:creationId xmlns:a16="http://schemas.microsoft.com/office/drawing/2014/main" id="{D3D8BE68-67BB-18BF-C8E3-4F313B753A85}"/>
                </a:ext>
              </a:extLst>
            </p:cNvPr>
            <p:cNvSpPr/>
            <p:nvPr/>
          </p:nvSpPr>
          <p:spPr>
            <a:xfrm>
              <a:off x="4339901" y="5805264"/>
              <a:ext cx="520131" cy="257095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テキスト ボックス 90">
              <a:extLst>
                <a:ext uri="{FF2B5EF4-FFF2-40B4-BE49-F238E27FC236}">
                  <a16:creationId xmlns:a16="http://schemas.microsoft.com/office/drawing/2014/main" id="{047468DA-4C09-99C7-8725-F2A9165A68A4}"/>
                </a:ext>
              </a:extLst>
            </p:cNvPr>
            <p:cNvSpPr txBox="1"/>
            <p:nvPr/>
          </p:nvSpPr>
          <p:spPr>
            <a:xfrm>
              <a:off x="35496" y="6124548"/>
              <a:ext cx="91183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dirty="0">
                  <a:solidFill>
                    <a:srgbClr val="FF0000"/>
                  </a:solidFill>
                </a:rPr>
                <a:t>Simulation only following radiations injected to the objective region from infinite radiation field =&gt; Very efficient</a:t>
              </a:r>
            </a:p>
          </p:txBody>
        </p:sp>
      </p:grp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3C17E8C-BB7C-EC25-BBD5-4F87B36C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D627F5A-9C5D-6EF2-6353-BDE40C4B9B58}"/>
              </a:ext>
            </a:extLst>
          </p:cNvPr>
          <p:cNvSpPr txBox="1"/>
          <p:nvPr/>
        </p:nvSpPr>
        <p:spPr>
          <a:xfrm>
            <a:off x="4740866" y="912427"/>
            <a:ext cx="1152122" cy="48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ja-JP" dirty="0"/>
              <a:t>Reflection</a:t>
            </a:r>
            <a:r>
              <a:rPr lang="ja-JP" altLang="en-US" dirty="0"/>
              <a:t> </a:t>
            </a:r>
            <a:r>
              <a:rPr lang="en-US" altLang="ja-JP" dirty="0"/>
              <a:t>boundary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931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B88B4-EC15-B839-E7FA-5C21026EA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BAAD4F-CE8B-8C7F-1B9E-D5111D42A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>
                <a:latin typeface="Arial" pitchFamily="18"/>
              </a:rPr>
              <a:t>Step 2 (Reflection boundary)</a:t>
            </a:r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53BB485-A593-B16E-8766-30A19D6EA689}"/>
              </a:ext>
            </a:extLst>
          </p:cNvPr>
          <p:cNvSpPr/>
          <p:nvPr/>
        </p:nvSpPr>
        <p:spPr>
          <a:xfrm>
            <a:off x="323528" y="2742683"/>
            <a:ext cx="8568952" cy="395882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390786C7-2CA3-9CB0-4771-F7E2D4935821}"/>
              </a:ext>
            </a:extLst>
          </p:cNvPr>
          <p:cNvSpPr/>
          <p:nvPr/>
        </p:nvSpPr>
        <p:spPr>
          <a:xfrm>
            <a:off x="4482486" y="1915908"/>
            <a:ext cx="216024" cy="216619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Text Box 1031">
            <a:extLst>
              <a:ext uri="{FF2B5EF4-FFF2-40B4-BE49-F238E27FC236}">
                <a16:creationId xmlns:a16="http://schemas.microsoft.com/office/drawing/2014/main" id="{E148601D-848B-ADCA-4007-041FBDA52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128" y="1124744"/>
            <a:ext cx="3168352" cy="13150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set:c3[1000] $ Reflection box size </a:t>
            </a:r>
            <a:r>
              <a:rPr lang="en-US" altLang="ja-JP" sz="1400" dirty="0" err="1">
                <a:latin typeface="Tahoma" panose="020B0604030504040204" pitchFamily="34" charset="0"/>
              </a:rPr>
              <a:t>xy</a:t>
            </a:r>
            <a:endParaRPr lang="en-US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[ Surface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*101  </a:t>
            </a:r>
            <a:r>
              <a:rPr lang="en-US" altLang="ja-JP" sz="1400" dirty="0" err="1">
                <a:latin typeface="Tahoma" panose="020B0604030504040204" pitchFamily="34" charset="0"/>
              </a:rPr>
              <a:t>px</a:t>
            </a:r>
            <a:r>
              <a:rPr lang="en-US" altLang="ja-JP" sz="1400" dirty="0">
                <a:latin typeface="Tahoma" panose="020B0604030504040204" pitchFamily="34" charset="0"/>
              </a:rPr>
              <a:t> -0.5*c3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*102  </a:t>
            </a:r>
            <a:r>
              <a:rPr lang="en-US" altLang="ja-JP" sz="1400" dirty="0" err="1">
                <a:latin typeface="Tahoma" panose="020B0604030504040204" pitchFamily="34" charset="0"/>
              </a:rPr>
              <a:t>px</a:t>
            </a:r>
            <a:r>
              <a:rPr lang="en-US" altLang="ja-JP" sz="1400" dirty="0">
                <a:latin typeface="Tahoma" panose="020B0604030504040204" pitchFamily="34" charset="0"/>
              </a:rPr>
              <a:t>  0.5*c3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*103  </a:t>
            </a:r>
            <a:r>
              <a:rPr lang="en-US" altLang="ja-JP" sz="1400" dirty="0" err="1">
                <a:latin typeface="Tahoma" panose="020B0604030504040204" pitchFamily="34" charset="0"/>
              </a:rPr>
              <a:t>py</a:t>
            </a:r>
            <a:r>
              <a:rPr lang="en-US" altLang="ja-JP" sz="1400" dirty="0">
                <a:latin typeface="Tahoma" panose="020B0604030504040204" pitchFamily="34" charset="0"/>
              </a:rPr>
              <a:t> -0.5*c3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*104  </a:t>
            </a:r>
            <a:r>
              <a:rPr lang="en-US" altLang="ja-JP" sz="1400" dirty="0" err="1">
                <a:latin typeface="Tahoma" panose="020B0604030504040204" pitchFamily="34" charset="0"/>
              </a:rPr>
              <a:t>py</a:t>
            </a:r>
            <a:r>
              <a:rPr lang="en-US" altLang="ja-JP" sz="1400" dirty="0">
                <a:latin typeface="Tahoma" panose="020B0604030504040204" pitchFamily="34" charset="0"/>
              </a:rPr>
              <a:t>  0.5*c3</a:t>
            </a:r>
            <a:endParaRPr lang="pt-BR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3A16DD1-557C-F196-82DE-7865EE8DB0ED}"/>
              </a:ext>
            </a:extLst>
          </p:cNvPr>
          <p:cNvCxnSpPr>
            <a:cxnSpLocks/>
          </p:cNvCxnSpPr>
          <p:nvPr/>
        </p:nvCxnSpPr>
        <p:spPr>
          <a:xfrm>
            <a:off x="3851920" y="1640786"/>
            <a:ext cx="0" cy="14977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9A9E42A-F55A-1AE7-9D8F-8D4844CCE22C}"/>
              </a:ext>
            </a:extLst>
          </p:cNvPr>
          <p:cNvCxnSpPr>
            <a:cxnSpLocks/>
          </p:cNvCxnSpPr>
          <p:nvPr/>
        </p:nvCxnSpPr>
        <p:spPr>
          <a:xfrm>
            <a:off x="5292080" y="1640786"/>
            <a:ext cx="0" cy="14977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E8467AB-B0C5-5DC3-FC4D-3C5DCCFCD7C6}"/>
              </a:ext>
            </a:extLst>
          </p:cNvPr>
          <p:cNvSpPr txBox="1"/>
          <p:nvPr/>
        </p:nvSpPr>
        <p:spPr>
          <a:xfrm>
            <a:off x="211385" y="3204348"/>
            <a:ext cx="169631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Geometry</a:t>
            </a:r>
            <a:endParaRPr kumimoji="1" lang="ja-JP" altLang="en-US" sz="28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833AE00-04C5-DC02-CA52-19AF2D8E15A7}"/>
              </a:ext>
            </a:extLst>
          </p:cNvPr>
          <p:cNvSpPr txBox="1"/>
          <p:nvPr/>
        </p:nvSpPr>
        <p:spPr>
          <a:xfrm>
            <a:off x="4990085" y="3226843"/>
            <a:ext cx="123809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Source</a:t>
            </a:r>
            <a:endParaRPr kumimoji="1" lang="ja-JP" altLang="en-US" sz="2800" dirty="0"/>
          </a:p>
        </p:txBody>
      </p:sp>
      <p:sp>
        <p:nvSpPr>
          <p:cNvPr id="25" name="Text Box 1031">
            <a:extLst>
              <a:ext uri="{FF2B5EF4-FFF2-40B4-BE49-F238E27FC236}">
                <a16:creationId xmlns:a16="http://schemas.microsoft.com/office/drawing/2014/main" id="{1FA61929-1623-9D34-E645-F33CBBB56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168" y="3825411"/>
            <a:ext cx="2286750" cy="248390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[ Source ] </a:t>
            </a:r>
            <a:r>
              <a:rPr lang="fr-F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off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[ Source ]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totfact =     c3*c3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   s-type =    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     proj =   photon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       x0 =    -0.5*c3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       x1 =     0.5*c3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       y0 =    -0.5*c3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       y1 =     0.5*c3</a:t>
            </a:r>
            <a:endParaRPr lang="pt-BR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0" name="Text Box 1031">
            <a:extLst>
              <a:ext uri="{FF2B5EF4-FFF2-40B4-BE49-F238E27FC236}">
                <a16:creationId xmlns:a16="http://schemas.microsoft.com/office/drawing/2014/main" id="{8F850E5C-D43D-1407-1315-26E3893EC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683" y="3876772"/>
            <a:ext cx="4648646" cy="15491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[ Cell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100  1 -1.2e-3  -910 901 -902 10 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#(101 -102 103 -104)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101  1 -1.2e-3   101 -102 103 -104 901 -902 10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200  2 -c2     -910 900 -901 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#(101 -102 103 -104)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201  2 -c2      101 -102 103 -104 900 -901 </a:t>
            </a:r>
            <a:endParaRPr lang="pt-BR" altLang="ja-JP" sz="1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901B43B-0977-50E4-4D86-563A074F5B84}"/>
              </a:ext>
            </a:extLst>
          </p:cNvPr>
          <p:cNvSpPr txBox="1"/>
          <p:nvPr/>
        </p:nvSpPr>
        <p:spPr>
          <a:xfrm>
            <a:off x="6948264" y="4427820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Remove “off”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DC8BAFB5-94DD-6DEC-50DE-87CE76019771}"/>
              </a:ext>
            </a:extLst>
          </p:cNvPr>
          <p:cNvSpPr txBox="1"/>
          <p:nvPr/>
        </p:nvSpPr>
        <p:spPr>
          <a:xfrm>
            <a:off x="3992938" y="908720"/>
            <a:ext cx="1227134" cy="564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ja-JP" sz="2000" dirty="0">
                <a:solidFill>
                  <a:srgbClr val="FF0000"/>
                </a:solidFill>
              </a:rPr>
              <a:t>Reflection</a:t>
            </a:r>
            <a:r>
              <a:rPr lang="ja-JP" altLang="en-US" sz="2000" dirty="0">
                <a:solidFill>
                  <a:srgbClr val="FF0000"/>
                </a:solidFill>
              </a:rPr>
              <a:t> </a:t>
            </a:r>
            <a:r>
              <a:rPr lang="en-US" altLang="ja-JP" sz="2000" dirty="0">
                <a:solidFill>
                  <a:srgbClr val="FF0000"/>
                </a:solidFill>
              </a:rPr>
              <a:t>boundary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4D3D549E-3A92-0D6D-4C23-E327CED63033}"/>
              </a:ext>
            </a:extLst>
          </p:cNvPr>
          <p:cNvCxnSpPr>
            <a:cxnSpLocks/>
          </p:cNvCxnSpPr>
          <p:nvPr/>
        </p:nvCxnSpPr>
        <p:spPr>
          <a:xfrm flipH="1">
            <a:off x="3859266" y="1460578"/>
            <a:ext cx="212352" cy="2402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E361A5CA-51E8-973F-595D-79A80E4D2423}"/>
              </a:ext>
            </a:extLst>
          </p:cNvPr>
          <p:cNvCxnSpPr>
            <a:cxnSpLocks/>
          </p:cNvCxnSpPr>
          <p:nvPr/>
        </p:nvCxnSpPr>
        <p:spPr>
          <a:xfrm>
            <a:off x="5072383" y="1445048"/>
            <a:ext cx="219697" cy="1889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2C533F78-491F-1C2B-67D5-6A8583EA5134}"/>
              </a:ext>
            </a:extLst>
          </p:cNvPr>
          <p:cNvCxnSpPr>
            <a:cxnSpLocks/>
          </p:cNvCxnSpPr>
          <p:nvPr/>
        </p:nvCxnSpPr>
        <p:spPr>
          <a:xfrm>
            <a:off x="5174886" y="1305947"/>
            <a:ext cx="621250" cy="4616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F7FE0E86-FCD6-3009-D3D1-B70C0C9EE1CF}"/>
              </a:ext>
            </a:extLst>
          </p:cNvPr>
          <p:cNvSpPr/>
          <p:nvPr/>
        </p:nvSpPr>
        <p:spPr>
          <a:xfrm>
            <a:off x="5796136" y="1571574"/>
            <a:ext cx="122824" cy="8503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0D6B09FC-B7BE-09B3-33CC-B939843BEC2C}"/>
              </a:ext>
            </a:extLst>
          </p:cNvPr>
          <p:cNvSpPr txBox="1"/>
          <p:nvPr/>
        </p:nvSpPr>
        <p:spPr>
          <a:xfrm>
            <a:off x="5756957" y="2396037"/>
            <a:ext cx="270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Add * in front of surface #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7041231E-6A8D-CC91-BCF4-C5851B011183}"/>
              </a:ext>
            </a:extLst>
          </p:cNvPr>
          <p:cNvCxnSpPr>
            <a:cxnSpLocks/>
          </p:cNvCxnSpPr>
          <p:nvPr/>
        </p:nvCxnSpPr>
        <p:spPr>
          <a:xfrm flipH="1" flipV="1">
            <a:off x="4071618" y="2383078"/>
            <a:ext cx="212344" cy="369864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2AC4CF13-8BCE-6329-F7ED-C420382B7A54}"/>
              </a:ext>
            </a:extLst>
          </p:cNvPr>
          <p:cNvCxnSpPr>
            <a:cxnSpLocks/>
          </p:cNvCxnSpPr>
          <p:nvPr/>
        </p:nvCxnSpPr>
        <p:spPr>
          <a:xfrm flipV="1">
            <a:off x="4650356" y="2435462"/>
            <a:ext cx="48154" cy="304709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ED296B65-3AEA-BCA4-88A8-8D4B1EF2F198}"/>
              </a:ext>
            </a:extLst>
          </p:cNvPr>
          <p:cNvCxnSpPr>
            <a:cxnSpLocks/>
          </p:cNvCxnSpPr>
          <p:nvPr/>
        </p:nvCxnSpPr>
        <p:spPr>
          <a:xfrm flipV="1">
            <a:off x="4866379" y="2622495"/>
            <a:ext cx="315852" cy="136865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1917881B-A555-154F-16F4-D1ED74BBB0E2}"/>
              </a:ext>
            </a:extLst>
          </p:cNvPr>
          <p:cNvCxnSpPr>
            <a:cxnSpLocks/>
          </p:cNvCxnSpPr>
          <p:nvPr/>
        </p:nvCxnSpPr>
        <p:spPr>
          <a:xfrm flipV="1">
            <a:off x="3943685" y="2507342"/>
            <a:ext cx="34882" cy="234085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005C5D5E-4F15-F3CF-0562-3D099E065DA5}"/>
              </a:ext>
            </a:extLst>
          </p:cNvPr>
          <p:cNvSpPr txBox="1"/>
          <p:nvPr/>
        </p:nvSpPr>
        <p:spPr>
          <a:xfrm>
            <a:off x="358696" y="5748618"/>
            <a:ext cx="48161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rgbClr val="FF0000"/>
                </a:solidFill>
              </a:rPr>
              <a:t>Execute PHITS and check </a:t>
            </a:r>
            <a:r>
              <a:rPr kumimoji="1" lang="en-US" altLang="ja-JP" sz="2400" dirty="0" err="1">
                <a:solidFill>
                  <a:srgbClr val="FF0000"/>
                </a:solidFill>
              </a:rPr>
              <a:t>track_inside.eps</a:t>
            </a:r>
            <a:r>
              <a:rPr kumimoji="1" lang="en-US" altLang="ja-JP" sz="2400" dirty="0">
                <a:solidFill>
                  <a:srgbClr val="FF0000"/>
                </a:solidFill>
              </a:rPr>
              <a:t> and </a:t>
            </a:r>
            <a:r>
              <a:rPr kumimoji="1" lang="en-US" altLang="ja-JP" sz="2400" dirty="0" err="1">
                <a:solidFill>
                  <a:srgbClr val="FF0000"/>
                </a:solidFill>
              </a:rPr>
              <a:t>dose.out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026D8C-4493-7B66-B731-5C4C97A63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6030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57C27-9599-ABF5-91E4-A68A803F4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4D9829-6855-20A8-E32A-0CBF8A1C1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398768" cy="1143000"/>
          </a:xfr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Arial" pitchFamily="18"/>
              </a:rPr>
              <a:t>Step 2 (Reflection boundary) Result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405FFA8-91AE-AB05-A1E1-AF6654611116}"/>
              </a:ext>
            </a:extLst>
          </p:cNvPr>
          <p:cNvSpPr txBox="1"/>
          <p:nvPr/>
        </p:nvSpPr>
        <p:spPr>
          <a:xfrm>
            <a:off x="4283968" y="2204864"/>
            <a:ext cx="4572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altLang="ja-JP" dirty="0"/>
              <a:t>#  num    reg     volume       all       r.err </a:t>
            </a:r>
          </a:p>
          <a:p>
            <a:r>
              <a:rPr lang="pt-BR" altLang="ja-JP" dirty="0"/>
              <a:t>    1      10   4.1888E+03   2.0340E-02  0.0648</a:t>
            </a:r>
            <a:endParaRPr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68BBFCB-B4F0-EF45-E949-AD497F0B504B}"/>
              </a:ext>
            </a:extLst>
          </p:cNvPr>
          <p:cNvSpPr txBox="1"/>
          <p:nvPr/>
        </p:nvSpPr>
        <p:spPr>
          <a:xfrm>
            <a:off x="457200" y="5949280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err="1"/>
              <a:t>track_inside.eps</a:t>
            </a:r>
            <a:endParaRPr kumimoji="1" lang="ja-JP" altLang="en-US" sz="28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BD7A0A6-C208-3592-4A85-6502A8C82DFF}"/>
              </a:ext>
            </a:extLst>
          </p:cNvPr>
          <p:cNvSpPr txBox="1"/>
          <p:nvPr/>
        </p:nvSpPr>
        <p:spPr>
          <a:xfrm>
            <a:off x="5093804" y="2851195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/>
              <a:t>dose</a:t>
            </a:r>
            <a:r>
              <a:rPr kumimoji="1" lang="en-US" altLang="ja-JP" sz="2800" dirty="0" err="1"/>
              <a:t>.out</a:t>
            </a:r>
            <a:r>
              <a:rPr kumimoji="1" lang="en-US" altLang="ja-JP" sz="2800" dirty="0"/>
              <a:t> (Line 38)</a:t>
            </a:r>
            <a:endParaRPr kumimoji="1" lang="ja-JP" altLang="en-US" sz="2800" dirty="0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9A0574C2-740C-1A78-9666-8C2DB3F669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9" t="9051" r="3909" b="5621"/>
          <a:stretch/>
        </p:blipFill>
        <p:spPr>
          <a:xfrm>
            <a:off x="107504" y="1251002"/>
            <a:ext cx="3593526" cy="4492800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0442FEA-3246-9CD0-E9B0-CC8C2E064C11}"/>
              </a:ext>
            </a:extLst>
          </p:cNvPr>
          <p:cNvSpPr txBox="1"/>
          <p:nvPr/>
        </p:nvSpPr>
        <p:spPr>
          <a:xfrm>
            <a:off x="4250804" y="3497402"/>
            <a:ext cx="43451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>
                <a:solidFill>
                  <a:srgbClr val="FF0000"/>
                </a:solidFill>
              </a:rPr>
              <a:t>Statistics becomes much better even though calculation time becomes a bit longer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ACE2BDF-D894-48BC-A6E3-8C3AD3D68F89}"/>
              </a:ext>
            </a:extLst>
          </p:cNvPr>
          <p:cNvSpPr txBox="1"/>
          <p:nvPr/>
        </p:nvSpPr>
        <p:spPr>
          <a:xfrm>
            <a:off x="4038460" y="4941168"/>
            <a:ext cx="5063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Statistics improves with narrower area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A7237AE-0F24-4501-1B2B-5BFC390D3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3984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64122-07C1-4168-31BA-1CAF9C0E3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75D0BED-D2F9-7909-C350-6EFA5913A2A0}"/>
              </a:ext>
            </a:extLst>
          </p:cNvPr>
          <p:cNvSpPr/>
          <p:nvPr/>
        </p:nvSpPr>
        <p:spPr>
          <a:xfrm>
            <a:off x="208337" y="4886158"/>
            <a:ext cx="8684139" cy="216038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2DA47918-611F-421E-A524-26166312C8F7}"/>
              </a:ext>
            </a:extLst>
          </p:cNvPr>
          <p:cNvCxnSpPr/>
          <p:nvPr/>
        </p:nvCxnSpPr>
        <p:spPr>
          <a:xfrm flipV="1">
            <a:off x="6941368" y="1618745"/>
            <a:ext cx="366936" cy="81437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D83C54A5-0D75-0E9F-CC72-FF865D2AA6EC}"/>
              </a:ext>
            </a:extLst>
          </p:cNvPr>
          <p:cNvCxnSpPr/>
          <p:nvPr/>
        </p:nvCxnSpPr>
        <p:spPr>
          <a:xfrm flipH="1" flipV="1">
            <a:off x="4997152" y="1929073"/>
            <a:ext cx="366936" cy="497613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87AD5464-A67B-EA14-7507-26885D4C8805}"/>
              </a:ext>
            </a:extLst>
          </p:cNvPr>
          <p:cNvCxnSpPr/>
          <p:nvPr/>
        </p:nvCxnSpPr>
        <p:spPr>
          <a:xfrm flipH="1" flipV="1">
            <a:off x="3707904" y="1799729"/>
            <a:ext cx="216024" cy="633386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C3E0BB14-84EC-D6C0-F412-75C25584DC41}"/>
              </a:ext>
            </a:extLst>
          </p:cNvPr>
          <p:cNvCxnSpPr/>
          <p:nvPr/>
        </p:nvCxnSpPr>
        <p:spPr>
          <a:xfrm flipV="1">
            <a:off x="4997152" y="1618745"/>
            <a:ext cx="546956" cy="81437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DD65B25-6684-6F8E-2DED-1952B604F88D}"/>
              </a:ext>
            </a:extLst>
          </p:cNvPr>
          <p:cNvSpPr/>
          <p:nvPr/>
        </p:nvSpPr>
        <p:spPr>
          <a:xfrm>
            <a:off x="323528" y="2433115"/>
            <a:ext cx="8568952" cy="216038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24F750AE-FAE3-B9F6-AF6F-9C8775B12DF6}"/>
              </a:ext>
            </a:extLst>
          </p:cNvPr>
          <p:cNvCxnSpPr/>
          <p:nvPr/>
        </p:nvCxnSpPr>
        <p:spPr>
          <a:xfrm flipV="1">
            <a:off x="1403648" y="1814415"/>
            <a:ext cx="504056" cy="618714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9C245DC4-550E-B58A-D64F-FBF88CC3050A}"/>
              </a:ext>
            </a:extLst>
          </p:cNvPr>
          <p:cNvCxnSpPr/>
          <p:nvPr/>
        </p:nvCxnSpPr>
        <p:spPr>
          <a:xfrm flipH="1" flipV="1">
            <a:off x="323528" y="1382367"/>
            <a:ext cx="288032" cy="1050762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77B154F0-611A-B7ED-BDF9-B75C30B764B8}"/>
              </a:ext>
            </a:extLst>
          </p:cNvPr>
          <p:cNvCxnSpPr/>
          <p:nvPr/>
        </p:nvCxnSpPr>
        <p:spPr>
          <a:xfrm flipH="1" flipV="1">
            <a:off x="7452320" y="2252148"/>
            <a:ext cx="929208" cy="180969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272E6CB-3E99-B479-3B01-F5E415321FDB}"/>
              </a:ext>
            </a:extLst>
          </p:cNvPr>
          <p:cNvCxnSpPr/>
          <p:nvPr/>
        </p:nvCxnSpPr>
        <p:spPr>
          <a:xfrm flipH="1" flipV="1">
            <a:off x="2411760" y="1929073"/>
            <a:ext cx="432048" cy="491201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14142207-E55D-C0E1-04C6-9B964D7CD394}"/>
              </a:ext>
            </a:extLst>
          </p:cNvPr>
          <p:cNvCxnSpPr/>
          <p:nvPr/>
        </p:nvCxnSpPr>
        <p:spPr>
          <a:xfrm flipV="1">
            <a:off x="6228184" y="1425017"/>
            <a:ext cx="72008" cy="100167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B844D55A-99D5-8027-4EE7-8835A4C34F4E}"/>
              </a:ext>
            </a:extLst>
          </p:cNvPr>
          <p:cNvCxnSpPr/>
          <p:nvPr/>
        </p:nvCxnSpPr>
        <p:spPr>
          <a:xfrm flipH="1" flipV="1">
            <a:off x="6941368" y="1382367"/>
            <a:ext cx="366936" cy="236379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A356E9-63ED-C72C-4D2D-1299F1D65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>
                <a:latin typeface="Arial" pitchFamily="18"/>
              </a:rPr>
              <a:t>A building standing alone</a:t>
            </a:r>
            <a:endParaRPr kumimoji="1" lang="ja-JP" altLang="en-US" dirty="0"/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200CE55B-E17D-3F07-5AB5-2B4FACFF9DFC}"/>
              </a:ext>
            </a:extLst>
          </p:cNvPr>
          <p:cNvCxnSpPr/>
          <p:nvPr/>
        </p:nvCxnSpPr>
        <p:spPr>
          <a:xfrm flipH="1" flipV="1">
            <a:off x="4001503" y="4015400"/>
            <a:ext cx="63006" cy="8466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00CEA828-8D4F-3E74-ED80-9DA4E7DD348E}"/>
              </a:ext>
            </a:extLst>
          </p:cNvPr>
          <p:cNvCxnSpPr/>
          <p:nvPr/>
        </p:nvCxnSpPr>
        <p:spPr>
          <a:xfrm flipH="1" flipV="1">
            <a:off x="5072386" y="4471291"/>
            <a:ext cx="125967" cy="3907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AF194A1B-65E9-9230-B8DF-9E945FCED631}"/>
              </a:ext>
            </a:extLst>
          </p:cNvPr>
          <p:cNvCxnSpPr/>
          <p:nvPr/>
        </p:nvCxnSpPr>
        <p:spPr>
          <a:xfrm flipH="1" flipV="1">
            <a:off x="3749571" y="4406149"/>
            <a:ext cx="188972" cy="45590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DE8966D3-664D-F5D2-DB7B-91421F0D00A9}"/>
              </a:ext>
            </a:extLst>
          </p:cNvPr>
          <p:cNvCxnSpPr/>
          <p:nvPr/>
        </p:nvCxnSpPr>
        <p:spPr>
          <a:xfrm flipV="1">
            <a:off x="5072386" y="4564919"/>
            <a:ext cx="254964" cy="29713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9EAC21F1-1C31-F686-2B8F-4D1B87A19D2B}"/>
              </a:ext>
            </a:extLst>
          </p:cNvPr>
          <p:cNvGrpSpPr/>
          <p:nvPr/>
        </p:nvGrpSpPr>
        <p:grpSpPr>
          <a:xfrm>
            <a:off x="3998533" y="3801377"/>
            <a:ext cx="1136845" cy="1060698"/>
            <a:chOff x="4064518" y="3799793"/>
            <a:chExt cx="1299592" cy="1172733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FB639188-79D4-C382-7929-625BF209C017}"/>
                </a:ext>
              </a:extLst>
            </p:cNvPr>
            <p:cNvSpPr/>
            <p:nvPr/>
          </p:nvSpPr>
          <p:spPr>
            <a:xfrm>
              <a:off x="4283960" y="4005093"/>
              <a:ext cx="846102" cy="87287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二等辺三角形 33">
              <a:extLst>
                <a:ext uri="{FF2B5EF4-FFF2-40B4-BE49-F238E27FC236}">
                  <a16:creationId xmlns:a16="http://schemas.microsoft.com/office/drawing/2014/main" id="{ABE7AB32-1E18-02B3-F660-5FCD8B40239A}"/>
                </a:ext>
              </a:extLst>
            </p:cNvPr>
            <p:cNvSpPr/>
            <p:nvPr/>
          </p:nvSpPr>
          <p:spPr>
            <a:xfrm>
              <a:off x="4064518" y="3799793"/>
              <a:ext cx="1299592" cy="205287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6FFC20BB-A90A-CC72-AE01-C29B9C4C785B}"/>
                </a:ext>
              </a:extLst>
            </p:cNvPr>
            <p:cNvSpPr/>
            <p:nvPr/>
          </p:nvSpPr>
          <p:spPr>
            <a:xfrm>
              <a:off x="4316526" y="4149100"/>
              <a:ext cx="327484" cy="216030"/>
            </a:xfrm>
            <a:prstGeom prst="rect">
              <a:avLst/>
            </a:prstGeom>
            <a:solidFill>
              <a:srgbClr val="00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61AF0CAE-3C27-BF41-704E-DAFAAA2157DB}"/>
                </a:ext>
              </a:extLst>
            </p:cNvPr>
            <p:cNvSpPr/>
            <p:nvPr/>
          </p:nvSpPr>
          <p:spPr>
            <a:xfrm>
              <a:off x="4590018" y="4509150"/>
              <a:ext cx="486052" cy="368822"/>
            </a:xfrm>
            <a:prstGeom prst="rect">
              <a:avLst/>
            </a:prstGeom>
            <a:solidFill>
              <a:srgbClr val="00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F78A7F39-2161-764F-73A0-540996B3E0F3}"/>
                </a:ext>
              </a:extLst>
            </p:cNvPr>
            <p:cNvSpPr/>
            <p:nvPr/>
          </p:nvSpPr>
          <p:spPr>
            <a:xfrm>
              <a:off x="4211950" y="4877972"/>
              <a:ext cx="990110" cy="9455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0EF413C6-D765-8BD3-96A9-59FF9734DCBE}"/>
              </a:ext>
            </a:extLst>
          </p:cNvPr>
          <p:cNvGrpSpPr/>
          <p:nvPr/>
        </p:nvGrpSpPr>
        <p:grpSpPr>
          <a:xfrm>
            <a:off x="221179" y="3492668"/>
            <a:ext cx="8671301" cy="1385737"/>
            <a:chOff x="149171" y="5108662"/>
            <a:chExt cx="8671301" cy="1385737"/>
          </a:xfrm>
        </p:grpSpPr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8B23E051-0327-7AA4-A3C9-039540474FE0}"/>
                </a:ext>
              </a:extLst>
            </p:cNvPr>
            <p:cNvSpPr/>
            <p:nvPr/>
          </p:nvSpPr>
          <p:spPr>
            <a:xfrm>
              <a:off x="1908235" y="5114209"/>
              <a:ext cx="1759064" cy="138015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91584242-37A1-D56E-F29B-E260D6590A16}"/>
                </a:ext>
              </a:extLst>
            </p:cNvPr>
            <p:cNvSpPr/>
            <p:nvPr/>
          </p:nvSpPr>
          <p:spPr>
            <a:xfrm>
              <a:off x="149171" y="5108662"/>
              <a:ext cx="1759064" cy="138570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3" name="直線矢印コネクタ 42">
              <a:extLst>
                <a:ext uri="{FF2B5EF4-FFF2-40B4-BE49-F238E27FC236}">
                  <a16:creationId xmlns:a16="http://schemas.microsoft.com/office/drawing/2014/main" id="{89A0D828-6114-2AD0-97B8-AA43E93B819C}"/>
                </a:ext>
              </a:extLst>
            </p:cNvPr>
            <p:cNvCxnSpPr/>
            <p:nvPr/>
          </p:nvCxnSpPr>
          <p:spPr>
            <a:xfrm flipV="1">
              <a:off x="3329017" y="6065486"/>
              <a:ext cx="307693" cy="42891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A26EBA4D-2E76-7FF0-F87D-BAEAFB2D7F3C}"/>
                </a:ext>
              </a:extLst>
            </p:cNvPr>
            <p:cNvSpPr/>
            <p:nvPr/>
          </p:nvSpPr>
          <p:spPr>
            <a:xfrm flipH="1">
              <a:off x="2398698" y="5607887"/>
              <a:ext cx="794969" cy="79986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二等辺三角形 64">
              <a:extLst>
                <a:ext uri="{FF2B5EF4-FFF2-40B4-BE49-F238E27FC236}">
                  <a16:creationId xmlns:a16="http://schemas.microsoft.com/office/drawing/2014/main" id="{93AA9871-6A97-D19D-289D-FEDFA8CB6DCE}"/>
                </a:ext>
              </a:extLst>
            </p:cNvPr>
            <p:cNvSpPr/>
            <p:nvPr/>
          </p:nvSpPr>
          <p:spPr>
            <a:xfrm flipH="1">
              <a:off x="2178794" y="5419759"/>
              <a:ext cx="1221053" cy="188116"/>
            </a:xfrm>
            <a:prstGeom prst="triangl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AC712A4F-F430-9E86-795B-C9F3386404DF}"/>
                </a:ext>
              </a:extLst>
            </p:cNvPr>
            <p:cNvSpPr/>
            <p:nvPr/>
          </p:nvSpPr>
          <p:spPr>
            <a:xfrm flipH="1">
              <a:off x="2855376" y="5739848"/>
              <a:ext cx="307693" cy="197960"/>
            </a:xfrm>
            <a:prstGeom prst="rect">
              <a:avLst/>
            </a:prstGeom>
            <a:solidFill>
              <a:srgbClr val="00FFCC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512CE2BC-CAE8-FDA0-7622-BB00DF2CF7B4}"/>
                </a:ext>
              </a:extLst>
            </p:cNvPr>
            <p:cNvSpPr/>
            <p:nvPr/>
          </p:nvSpPr>
          <p:spPr>
            <a:xfrm flipH="1">
              <a:off x="2449427" y="6069782"/>
              <a:ext cx="456678" cy="337972"/>
            </a:xfrm>
            <a:prstGeom prst="rect">
              <a:avLst/>
            </a:prstGeom>
            <a:solidFill>
              <a:srgbClr val="00FFCC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00390BE8-CC28-BDE0-984C-1BA062F10060}"/>
                </a:ext>
              </a:extLst>
            </p:cNvPr>
            <p:cNvSpPr/>
            <p:nvPr/>
          </p:nvSpPr>
          <p:spPr>
            <a:xfrm flipH="1">
              <a:off x="2331051" y="6407754"/>
              <a:ext cx="930274" cy="866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8EAFF0CD-CCA6-D926-A9FD-9C9CE05D47A3}"/>
                </a:ext>
              </a:extLst>
            </p:cNvPr>
            <p:cNvSpPr/>
            <p:nvPr/>
          </p:nvSpPr>
          <p:spPr>
            <a:xfrm>
              <a:off x="558203" y="5607887"/>
              <a:ext cx="794969" cy="79986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二等辺三角形 59">
              <a:extLst>
                <a:ext uri="{FF2B5EF4-FFF2-40B4-BE49-F238E27FC236}">
                  <a16:creationId xmlns:a16="http://schemas.microsoft.com/office/drawing/2014/main" id="{60D4912F-80D0-18E7-1BB6-B643313C2B43}"/>
                </a:ext>
              </a:extLst>
            </p:cNvPr>
            <p:cNvSpPr/>
            <p:nvPr/>
          </p:nvSpPr>
          <p:spPr>
            <a:xfrm>
              <a:off x="352023" y="5419759"/>
              <a:ext cx="1221053" cy="188116"/>
            </a:xfrm>
            <a:prstGeom prst="triangl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39F8B205-51DE-3AA0-16BF-011684FDB61B}"/>
                </a:ext>
              </a:extLst>
            </p:cNvPr>
            <p:cNvSpPr/>
            <p:nvPr/>
          </p:nvSpPr>
          <p:spPr>
            <a:xfrm>
              <a:off x="588801" y="5739848"/>
              <a:ext cx="307693" cy="197960"/>
            </a:xfrm>
            <a:prstGeom prst="rect">
              <a:avLst/>
            </a:prstGeom>
            <a:solidFill>
              <a:srgbClr val="00FFCC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9EE2740B-76B3-2F90-2815-DC53D527C262}"/>
                </a:ext>
              </a:extLst>
            </p:cNvPr>
            <p:cNvSpPr/>
            <p:nvPr/>
          </p:nvSpPr>
          <p:spPr>
            <a:xfrm>
              <a:off x="845765" y="6069782"/>
              <a:ext cx="456678" cy="337972"/>
            </a:xfrm>
            <a:prstGeom prst="rect">
              <a:avLst/>
            </a:prstGeom>
            <a:solidFill>
              <a:srgbClr val="00FFCC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298CAB7A-DA12-42D1-9E81-298A92FD7645}"/>
                </a:ext>
              </a:extLst>
            </p:cNvPr>
            <p:cNvSpPr/>
            <p:nvPr/>
          </p:nvSpPr>
          <p:spPr>
            <a:xfrm>
              <a:off x="490545" y="6407754"/>
              <a:ext cx="930274" cy="866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A6BF3FF7-2A85-9827-6172-BC74C4E596BE}"/>
                </a:ext>
              </a:extLst>
            </p:cNvPr>
            <p:cNvSpPr/>
            <p:nvPr/>
          </p:nvSpPr>
          <p:spPr>
            <a:xfrm>
              <a:off x="5302418" y="5108662"/>
              <a:ext cx="1759064" cy="138570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7E0C6745-B289-1EFD-06CC-BFE9EA0971A5}"/>
                </a:ext>
              </a:extLst>
            </p:cNvPr>
            <p:cNvSpPr/>
            <p:nvPr/>
          </p:nvSpPr>
          <p:spPr>
            <a:xfrm>
              <a:off x="7061408" y="5108662"/>
              <a:ext cx="1759064" cy="138570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ｚ</a:t>
              </a:r>
            </a:p>
          </p:txBody>
        </p:sp>
        <p:cxnSp>
          <p:nvCxnSpPr>
            <p:cNvPr id="44" name="直線矢印コネクタ 43">
              <a:extLst>
                <a:ext uri="{FF2B5EF4-FFF2-40B4-BE49-F238E27FC236}">
                  <a16:creationId xmlns:a16="http://schemas.microsoft.com/office/drawing/2014/main" id="{1A8E9705-18D1-277A-336A-F591B85BAFF6}"/>
                </a:ext>
              </a:extLst>
            </p:cNvPr>
            <p:cNvCxnSpPr/>
            <p:nvPr/>
          </p:nvCxnSpPr>
          <p:spPr>
            <a:xfrm flipH="1" flipV="1">
              <a:off x="5299116" y="6193338"/>
              <a:ext cx="206227" cy="301048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D682703F-ACB5-4BF5-8162-3FE1C2A6C46D}"/>
                </a:ext>
              </a:extLst>
            </p:cNvPr>
            <p:cNvGrpSpPr/>
            <p:nvPr/>
          </p:nvGrpSpPr>
          <p:grpSpPr>
            <a:xfrm>
              <a:off x="7332114" y="5419759"/>
              <a:ext cx="1221053" cy="1074640"/>
              <a:chOff x="4064518" y="3799793"/>
              <a:chExt cx="1299592" cy="1172733"/>
            </a:xfrm>
          </p:grpSpPr>
          <p:sp>
            <p:nvSpPr>
              <p:cNvPr id="54" name="正方形/長方形 53">
                <a:extLst>
                  <a:ext uri="{FF2B5EF4-FFF2-40B4-BE49-F238E27FC236}">
                    <a16:creationId xmlns:a16="http://schemas.microsoft.com/office/drawing/2014/main" id="{E6BA32D7-5043-DE0C-EC25-A90922666070}"/>
                  </a:ext>
                </a:extLst>
              </p:cNvPr>
              <p:cNvSpPr/>
              <p:nvPr/>
            </p:nvSpPr>
            <p:spPr>
              <a:xfrm>
                <a:off x="4283960" y="4005093"/>
                <a:ext cx="846102" cy="87287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5" name="二等辺三角形 54">
                <a:extLst>
                  <a:ext uri="{FF2B5EF4-FFF2-40B4-BE49-F238E27FC236}">
                    <a16:creationId xmlns:a16="http://schemas.microsoft.com/office/drawing/2014/main" id="{E47607B0-1630-B5BC-EE10-BDDB6F39D1C2}"/>
                  </a:ext>
                </a:extLst>
              </p:cNvPr>
              <p:cNvSpPr/>
              <p:nvPr/>
            </p:nvSpPr>
            <p:spPr>
              <a:xfrm>
                <a:off x="4064518" y="3799793"/>
                <a:ext cx="1299592" cy="205287"/>
              </a:xfrm>
              <a:prstGeom prst="triangl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6" name="正方形/長方形 55">
                <a:extLst>
                  <a:ext uri="{FF2B5EF4-FFF2-40B4-BE49-F238E27FC236}">
                    <a16:creationId xmlns:a16="http://schemas.microsoft.com/office/drawing/2014/main" id="{E20446D6-F306-E962-382B-26BB5562DE55}"/>
                  </a:ext>
                </a:extLst>
              </p:cNvPr>
              <p:cNvSpPr/>
              <p:nvPr/>
            </p:nvSpPr>
            <p:spPr>
              <a:xfrm>
                <a:off x="4316526" y="4149100"/>
                <a:ext cx="327484" cy="216030"/>
              </a:xfrm>
              <a:prstGeom prst="rect">
                <a:avLst/>
              </a:prstGeom>
              <a:solidFill>
                <a:srgbClr val="00FFCC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正方形/長方形 56">
                <a:extLst>
                  <a:ext uri="{FF2B5EF4-FFF2-40B4-BE49-F238E27FC236}">
                    <a16:creationId xmlns:a16="http://schemas.microsoft.com/office/drawing/2014/main" id="{A12C397E-E98D-1139-F94A-3571C67091B0}"/>
                  </a:ext>
                </a:extLst>
              </p:cNvPr>
              <p:cNvSpPr/>
              <p:nvPr/>
            </p:nvSpPr>
            <p:spPr>
              <a:xfrm>
                <a:off x="4590018" y="4509150"/>
                <a:ext cx="486052" cy="368822"/>
              </a:xfrm>
              <a:prstGeom prst="rect">
                <a:avLst/>
              </a:prstGeom>
              <a:solidFill>
                <a:srgbClr val="00FFCC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356832D1-68A2-C3D8-9923-BD4A730E8475}"/>
                  </a:ext>
                </a:extLst>
              </p:cNvPr>
              <p:cNvSpPr/>
              <p:nvPr/>
            </p:nvSpPr>
            <p:spPr>
              <a:xfrm>
                <a:off x="4211950" y="4877972"/>
                <a:ext cx="990110" cy="945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E2B7C63E-3193-7620-26B1-30075960CC17}"/>
                </a:ext>
              </a:extLst>
            </p:cNvPr>
            <p:cNvGrpSpPr/>
            <p:nvPr/>
          </p:nvGrpSpPr>
          <p:grpSpPr>
            <a:xfrm flipH="1">
              <a:off x="5505343" y="5419759"/>
              <a:ext cx="1221053" cy="1074640"/>
              <a:chOff x="4064518" y="3799793"/>
              <a:chExt cx="1299592" cy="1172733"/>
            </a:xfrm>
          </p:grpSpPr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8864F1AE-3875-E94E-C91A-2EB3972C458F}"/>
                  </a:ext>
                </a:extLst>
              </p:cNvPr>
              <p:cNvSpPr/>
              <p:nvPr/>
            </p:nvSpPr>
            <p:spPr>
              <a:xfrm>
                <a:off x="4283960" y="4005093"/>
                <a:ext cx="846102" cy="87287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0" name="二等辺三角形 49">
                <a:extLst>
                  <a:ext uri="{FF2B5EF4-FFF2-40B4-BE49-F238E27FC236}">
                    <a16:creationId xmlns:a16="http://schemas.microsoft.com/office/drawing/2014/main" id="{FA21A5F8-C0BA-64B4-5131-8BC81A3C1ADE}"/>
                  </a:ext>
                </a:extLst>
              </p:cNvPr>
              <p:cNvSpPr/>
              <p:nvPr/>
            </p:nvSpPr>
            <p:spPr>
              <a:xfrm>
                <a:off x="4064518" y="3799793"/>
                <a:ext cx="1299592" cy="205287"/>
              </a:xfrm>
              <a:prstGeom prst="triangl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1" name="正方形/長方形 50">
                <a:extLst>
                  <a:ext uri="{FF2B5EF4-FFF2-40B4-BE49-F238E27FC236}">
                    <a16:creationId xmlns:a16="http://schemas.microsoft.com/office/drawing/2014/main" id="{446B6D75-BDAA-C73E-701E-D4AB74830D38}"/>
                  </a:ext>
                </a:extLst>
              </p:cNvPr>
              <p:cNvSpPr/>
              <p:nvPr/>
            </p:nvSpPr>
            <p:spPr>
              <a:xfrm>
                <a:off x="4316526" y="4149100"/>
                <a:ext cx="327484" cy="216030"/>
              </a:xfrm>
              <a:prstGeom prst="rect">
                <a:avLst/>
              </a:prstGeom>
              <a:solidFill>
                <a:srgbClr val="00FFCC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55274A62-E2C0-D2DE-7C8B-DFBCC90C2F6A}"/>
                  </a:ext>
                </a:extLst>
              </p:cNvPr>
              <p:cNvSpPr/>
              <p:nvPr/>
            </p:nvSpPr>
            <p:spPr>
              <a:xfrm>
                <a:off x="4590018" y="4509150"/>
                <a:ext cx="486052" cy="368822"/>
              </a:xfrm>
              <a:prstGeom prst="rect">
                <a:avLst/>
              </a:prstGeom>
              <a:solidFill>
                <a:srgbClr val="00FFCC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705CE507-E673-8F83-7506-07911B6D1C09}"/>
                  </a:ext>
                </a:extLst>
              </p:cNvPr>
              <p:cNvSpPr/>
              <p:nvPr/>
            </p:nvSpPr>
            <p:spPr>
              <a:xfrm>
                <a:off x="4211950" y="4877972"/>
                <a:ext cx="990110" cy="945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69" name="グループ化 5">
            <a:extLst>
              <a:ext uri="{FF2B5EF4-FFF2-40B4-BE49-F238E27FC236}">
                <a16:creationId xmlns:a16="http://schemas.microsoft.com/office/drawing/2014/main" id="{CEDECB52-D5F9-AA7D-DDD2-19902E2EC846}"/>
              </a:ext>
            </a:extLst>
          </p:cNvPr>
          <p:cNvGrpSpPr/>
          <p:nvPr/>
        </p:nvGrpSpPr>
        <p:grpSpPr>
          <a:xfrm>
            <a:off x="3121379" y="2852936"/>
            <a:ext cx="2993062" cy="2020471"/>
            <a:chOff x="2993194" y="4504873"/>
            <a:chExt cx="2993062" cy="2020471"/>
          </a:xfrm>
        </p:grpSpPr>
        <p:cxnSp>
          <p:nvCxnSpPr>
            <p:cNvPr id="70" name="直線コネクタ 69">
              <a:extLst>
                <a:ext uri="{FF2B5EF4-FFF2-40B4-BE49-F238E27FC236}">
                  <a16:creationId xmlns:a16="http://schemas.microsoft.com/office/drawing/2014/main" id="{CDF33F82-0246-A402-3F3B-191CB885BC59}"/>
                </a:ext>
              </a:extLst>
            </p:cNvPr>
            <p:cNvCxnSpPr/>
            <p:nvPr/>
          </p:nvCxnSpPr>
          <p:spPr>
            <a:xfrm>
              <a:off x="3621342" y="5013176"/>
              <a:ext cx="0" cy="15121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コネクタ 70">
              <a:extLst>
                <a:ext uri="{FF2B5EF4-FFF2-40B4-BE49-F238E27FC236}">
                  <a16:creationId xmlns:a16="http://schemas.microsoft.com/office/drawing/2014/main" id="{781CC6E1-0C4F-A05C-1B69-65049427579E}"/>
                </a:ext>
              </a:extLst>
            </p:cNvPr>
            <p:cNvCxnSpPr/>
            <p:nvPr/>
          </p:nvCxnSpPr>
          <p:spPr>
            <a:xfrm>
              <a:off x="5260516" y="5013176"/>
              <a:ext cx="0" cy="15121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テキスト ボックス 71">
              <a:extLst>
                <a:ext uri="{FF2B5EF4-FFF2-40B4-BE49-F238E27FC236}">
                  <a16:creationId xmlns:a16="http://schemas.microsoft.com/office/drawing/2014/main" id="{A45749C7-F43A-D113-4157-0994AADDEB96}"/>
                </a:ext>
              </a:extLst>
            </p:cNvPr>
            <p:cNvSpPr txBox="1"/>
            <p:nvPr/>
          </p:nvSpPr>
          <p:spPr>
            <a:xfrm>
              <a:off x="2993194" y="4504873"/>
              <a:ext cx="1231032" cy="564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kumimoji="1" lang="en-US" altLang="ja-JP" sz="2000" dirty="0">
                  <a:solidFill>
                    <a:srgbClr val="FF0000"/>
                  </a:solidFill>
                </a:rPr>
                <a:t>Reflection</a:t>
              </a:r>
              <a:r>
                <a:rPr kumimoji="1" lang="ja-JP" altLang="en-US" sz="2000" dirty="0">
                  <a:solidFill>
                    <a:srgbClr val="FF0000"/>
                  </a:solidFill>
                </a:rPr>
                <a:t> </a:t>
              </a:r>
              <a:r>
                <a:rPr kumimoji="1" lang="en-US" altLang="ja-JP" sz="2000" dirty="0">
                  <a:solidFill>
                    <a:srgbClr val="FF0000"/>
                  </a:solidFill>
                </a:rPr>
                <a:t>boundary</a:t>
              </a:r>
              <a:endParaRPr kumimoji="1" lang="ja-JP" alt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73" name="テキスト ボックス 72">
              <a:extLst>
                <a:ext uri="{FF2B5EF4-FFF2-40B4-BE49-F238E27FC236}">
                  <a16:creationId xmlns:a16="http://schemas.microsoft.com/office/drawing/2014/main" id="{D27813C5-EDE3-E34D-7F35-9514FBABCD8A}"/>
                </a:ext>
              </a:extLst>
            </p:cNvPr>
            <p:cNvSpPr txBox="1"/>
            <p:nvPr/>
          </p:nvSpPr>
          <p:spPr>
            <a:xfrm>
              <a:off x="4755224" y="4504873"/>
              <a:ext cx="1231032" cy="564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altLang="ja-JP" sz="2000" dirty="0">
                  <a:solidFill>
                    <a:srgbClr val="FF0000"/>
                  </a:solidFill>
                </a:rPr>
                <a:t>Reflection boundary</a:t>
              </a:r>
              <a:endParaRPr kumimoji="1" lang="ja-JP" altLang="en-US" sz="2000" dirty="0">
                <a:solidFill>
                  <a:srgbClr val="FF0000"/>
                </a:solidFill>
              </a:endParaRPr>
            </a:p>
          </p:txBody>
        </p:sp>
        <p:cxnSp>
          <p:nvCxnSpPr>
            <p:cNvPr id="74" name="直線矢印コネクタ 73">
              <a:extLst>
                <a:ext uri="{FF2B5EF4-FFF2-40B4-BE49-F238E27FC236}">
                  <a16:creationId xmlns:a16="http://schemas.microsoft.com/office/drawing/2014/main" id="{C4E83767-EE6F-EEDF-E3CD-FB9C23A2D1B2}"/>
                </a:ext>
              </a:extLst>
            </p:cNvPr>
            <p:cNvCxnSpPr/>
            <p:nvPr/>
          </p:nvCxnSpPr>
          <p:spPr>
            <a:xfrm flipV="1">
              <a:off x="3621342" y="5367996"/>
              <a:ext cx="302568" cy="653266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矢印コネクタ 74">
              <a:extLst>
                <a:ext uri="{FF2B5EF4-FFF2-40B4-BE49-F238E27FC236}">
                  <a16:creationId xmlns:a16="http://schemas.microsoft.com/office/drawing/2014/main" id="{113E62EB-F3D7-76CC-662B-90AC347DDFDD}"/>
                </a:ext>
              </a:extLst>
            </p:cNvPr>
            <p:cNvCxnSpPr/>
            <p:nvPr/>
          </p:nvCxnSpPr>
          <p:spPr>
            <a:xfrm flipH="1" flipV="1">
              <a:off x="4917530" y="5661212"/>
              <a:ext cx="309482" cy="46805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グループ化 130">
            <a:extLst>
              <a:ext uri="{FF2B5EF4-FFF2-40B4-BE49-F238E27FC236}">
                <a16:creationId xmlns:a16="http://schemas.microsoft.com/office/drawing/2014/main" id="{01659875-9CA2-F471-A74C-2AE6FFE78B2C}"/>
              </a:ext>
            </a:extLst>
          </p:cNvPr>
          <p:cNvGrpSpPr/>
          <p:nvPr/>
        </p:nvGrpSpPr>
        <p:grpSpPr>
          <a:xfrm>
            <a:off x="3995920" y="1370126"/>
            <a:ext cx="1139458" cy="1050762"/>
            <a:chOff x="4064518" y="3799793"/>
            <a:chExt cx="1299592" cy="1172733"/>
          </a:xfrm>
        </p:grpSpPr>
        <p:sp>
          <p:nvSpPr>
            <p:cNvPr id="133" name="正方形/長方形 132">
              <a:extLst>
                <a:ext uri="{FF2B5EF4-FFF2-40B4-BE49-F238E27FC236}">
                  <a16:creationId xmlns:a16="http://schemas.microsoft.com/office/drawing/2014/main" id="{81AAE77C-9BC9-3C50-C755-2D2BFEC0CDB8}"/>
                </a:ext>
              </a:extLst>
            </p:cNvPr>
            <p:cNvSpPr/>
            <p:nvPr/>
          </p:nvSpPr>
          <p:spPr>
            <a:xfrm>
              <a:off x="4283960" y="4005093"/>
              <a:ext cx="846102" cy="87287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4" name="二等辺三角形 133">
              <a:extLst>
                <a:ext uri="{FF2B5EF4-FFF2-40B4-BE49-F238E27FC236}">
                  <a16:creationId xmlns:a16="http://schemas.microsoft.com/office/drawing/2014/main" id="{FB6DD6F2-D4B9-0A4C-F595-9CE89D130C3E}"/>
                </a:ext>
              </a:extLst>
            </p:cNvPr>
            <p:cNvSpPr/>
            <p:nvPr/>
          </p:nvSpPr>
          <p:spPr>
            <a:xfrm>
              <a:off x="4064518" y="3799793"/>
              <a:ext cx="1299592" cy="205287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5" name="正方形/長方形 134">
              <a:extLst>
                <a:ext uri="{FF2B5EF4-FFF2-40B4-BE49-F238E27FC236}">
                  <a16:creationId xmlns:a16="http://schemas.microsoft.com/office/drawing/2014/main" id="{6236FCA2-1BB6-745C-14AF-F341D738D497}"/>
                </a:ext>
              </a:extLst>
            </p:cNvPr>
            <p:cNvSpPr/>
            <p:nvPr/>
          </p:nvSpPr>
          <p:spPr>
            <a:xfrm>
              <a:off x="4316526" y="4149100"/>
              <a:ext cx="327484" cy="216030"/>
            </a:xfrm>
            <a:prstGeom prst="rect">
              <a:avLst/>
            </a:prstGeom>
            <a:solidFill>
              <a:srgbClr val="00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6" name="正方形/長方形 135">
              <a:extLst>
                <a:ext uri="{FF2B5EF4-FFF2-40B4-BE49-F238E27FC236}">
                  <a16:creationId xmlns:a16="http://schemas.microsoft.com/office/drawing/2014/main" id="{6CBEDF98-D61F-3983-F411-A6840F62C618}"/>
                </a:ext>
              </a:extLst>
            </p:cNvPr>
            <p:cNvSpPr/>
            <p:nvPr/>
          </p:nvSpPr>
          <p:spPr>
            <a:xfrm>
              <a:off x="4590018" y="4509150"/>
              <a:ext cx="486052" cy="368822"/>
            </a:xfrm>
            <a:prstGeom prst="rect">
              <a:avLst/>
            </a:prstGeom>
            <a:solidFill>
              <a:srgbClr val="00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7" name="正方形/長方形 136">
              <a:extLst>
                <a:ext uri="{FF2B5EF4-FFF2-40B4-BE49-F238E27FC236}">
                  <a16:creationId xmlns:a16="http://schemas.microsoft.com/office/drawing/2014/main" id="{633ACD14-D3D8-50E0-CF8F-2D81A950D2CA}"/>
                </a:ext>
              </a:extLst>
            </p:cNvPr>
            <p:cNvSpPr/>
            <p:nvPr/>
          </p:nvSpPr>
          <p:spPr>
            <a:xfrm>
              <a:off x="4211950" y="4877972"/>
              <a:ext cx="990110" cy="9455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355DBD1-54AC-16E7-5954-2C0ECA0A11AE}"/>
              </a:ext>
            </a:extLst>
          </p:cNvPr>
          <p:cNvSpPr txBox="1"/>
          <p:nvPr/>
        </p:nvSpPr>
        <p:spPr>
          <a:xfrm>
            <a:off x="774000" y="5271591"/>
            <a:ext cx="7542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Buildings aligned in urban area</a:t>
            </a:r>
            <a:r>
              <a:rPr lang="ja-JP" altLang="en-US" sz="2400" dirty="0"/>
              <a:t> </a:t>
            </a:r>
            <a:r>
              <a:rPr lang="ja-JP" altLang="en-US" sz="2400" dirty="0">
                <a:sym typeface="Symbol" panose="05050102010706020507" pitchFamily="18" charset="2"/>
              </a:rPr>
              <a:t> </a:t>
            </a:r>
            <a:r>
              <a:rPr lang="en-US" altLang="ja-JP" sz="2400" dirty="0">
                <a:sym typeface="Symbol" panose="05050102010706020507" pitchFamily="18" charset="2"/>
              </a:rPr>
              <a:t>A building standing alone</a:t>
            </a:r>
            <a:r>
              <a:rPr lang="ja-JP" altLang="en-US" sz="2400" dirty="0">
                <a:sym typeface="Symbol" panose="05050102010706020507" pitchFamily="18" charset="2"/>
              </a:rPr>
              <a:t> </a:t>
            </a:r>
            <a:endParaRPr lang="en-US" altLang="ja-JP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B4ACDFC-C7C9-38AC-B951-8AE1D7760B3E}"/>
              </a:ext>
            </a:extLst>
          </p:cNvPr>
          <p:cNvSpPr txBox="1"/>
          <p:nvPr/>
        </p:nvSpPr>
        <p:spPr>
          <a:xfrm>
            <a:off x="795922" y="5943224"/>
            <a:ext cx="7676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>
                <a:solidFill>
                  <a:srgbClr val="FF0000"/>
                </a:solidFill>
              </a:rPr>
              <a:t>How to compute the situation of a building standing alone ?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4CAF59D5-CDF5-4D2B-63C2-2A019FD05CF8}"/>
              </a:ext>
            </a:extLst>
          </p:cNvPr>
          <p:cNvSpPr/>
          <p:nvPr/>
        </p:nvSpPr>
        <p:spPr>
          <a:xfrm>
            <a:off x="107504" y="2755718"/>
            <a:ext cx="8928992" cy="297753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E658F2-9226-4DD0-F62B-0B5B06CA3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4454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78169-5982-D21C-9136-AC9670AC7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90BD83CC-48A3-04E8-2168-367B71C65A60}"/>
              </a:ext>
            </a:extLst>
          </p:cNvPr>
          <p:cNvSpPr/>
          <p:nvPr/>
        </p:nvSpPr>
        <p:spPr>
          <a:xfrm>
            <a:off x="1218623" y="2994761"/>
            <a:ext cx="2016220" cy="134932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2A80BA83-3267-77C5-538F-EF0B3666BBE8}"/>
              </a:ext>
            </a:extLst>
          </p:cNvPr>
          <p:cNvCxnSpPr>
            <a:cxnSpLocks/>
          </p:cNvCxnSpPr>
          <p:nvPr/>
        </p:nvCxnSpPr>
        <p:spPr>
          <a:xfrm flipH="1" flipV="1">
            <a:off x="3060262" y="3111761"/>
            <a:ext cx="501088" cy="202242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B1C2FF07-CEB5-6A6B-11CA-E524C8E77375}"/>
              </a:ext>
            </a:extLst>
          </p:cNvPr>
          <p:cNvCxnSpPr>
            <a:cxnSpLocks/>
          </p:cNvCxnSpPr>
          <p:nvPr/>
        </p:nvCxnSpPr>
        <p:spPr>
          <a:xfrm flipV="1">
            <a:off x="874546" y="3182484"/>
            <a:ext cx="1012859" cy="261337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3FE9E11-F094-3EEF-FBCC-DE2E22589122}"/>
              </a:ext>
            </a:extLst>
          </p:cNvPr>
          <p:cNvSpPr/>
          <p:nvPr/>
        </p:nvSpPr>
        <p:spPr>
          <a:xfrm>
            <a:off x="531515" y="4337536"/>
            <a:ext cx="3528546" cy="239221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A6F1886-4409-83CF-BD9A-99FF59467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3752"/>
            <a:ext cx="8623283" cy="1143000"/>
          </a:xfr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Arial" pitchFamily="18"/>
              </a:rPr>
              <a:t>A building standing alone (continued)</a:t>
            </a:r>
            <a:endParaRPr kumimoji="1" lang="ja-JP" altLang="en-US" dirty="0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57905149-AC18-8595-E056-1044469A1116}"/>
              </a:ext>
            </a:extLst>
          </p:cNvPr>
          <p:cNvCxnSpPr/>
          <p:nvPr/>
        </p:nvCxnSpPr>
        <p:spPr>
          <a:xfrm>
            <a:off x="864703" y="2814784"/>
            <a:ext cx="0" cy="151216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3E45847-C052-10FB-5072-C596F146E781}"/>
              </a:ext>
            </a:extLst>
          </p:cNvPr>
          <p:cNvCxnSpPr/>
          <p:nvPr/>
        </p:nvCxnSpPr>
        <p:spPr>
          <a:xfrm>
            <a:off x="3601007" y="2814784"/>
            <a:ext cx="0" cy="151216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8C4BA123-F5AD-397A-D89A-BB0BEADC0C4E}"/>
              </a:ext>
            </a:extLst>
          </p:cNvPr>
          <p:cNvCxnSpPr>
            <a:cxnSpLocks/>
          </p:cNvCxnSpPr>
          <p:nvPr/>
        </p:nvCxnSpPr>
        <p:spPr>
          <a:xfrm flipV="1">
            <a:off x="1684987" y="3977797"/>
            <a:ext cx="1916020" cy="359733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F8092C87-B356-D267-26E1-F74CB0475B58}"/>
              </a:ext>
            </a:extLst>
          </p:cNvPr>
          <p:cNvCxnSpPr>
            <a:cxnSpLocks/>
          </p:cNvCxnSpPr>
          <p:nvPr/>
        </p:nvCxnSpPr>
        <p:spPr>
          <a:xfrm>
            <a:off x="854860" y="3441580"/>
            <a:ext cx="2721522" cy="551239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24AE8A99-7B61-BABB-0694-959AD8BF98A8}"/>
              </a:ext>
            </a:extLst>
          </p:cNvPr>
          <p:cNvCxnSpPr>
            <a:cxnSpLocks/>
          </p:cNvCxnSpPr>
          <p:nvPr/>
        </p:nvCxnSpPr>
        <p:spPr>
          <a:xfrm>
            <a:off x="854861" y="3904923"/>
            <a:ext cx="1706477" cy="432613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0970DE46-47A0-4F29-053A-DA7B31D76A56}"/>
              </a:ext>
            </a:extLst>
          </p:cNvPr>
          <p:cNvCxnSpPr>
            <a:cxnSpLocks/>
          </p:cNvCxnSpPr>
          <p:nvPr/>
        </p:nvCxnSpPr>
        <p:spPr>
          <a:xfrm flipV="1">
            <a:off x="864703" y="3348760"/>
            <a:ext cx="2696647" cy="55332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6DC6384D-AF86-C84E-2867-0092D6651C96}"/>
              </a:ext>
            </a:extLst>
          </p:cNvPr>
          <p:cNvCxnSpPr>
            <a:cxnSpLocks/>
          </p:cNvCxnSpPr>
          <p:nvPr/>
        </p:nvCxnSpPr>
        <p:spPr>
          <a:xfrm flipV="1">
            <a:off x="272871" y="3464027"/>
            <a:ext cx="630289" cy="185871"/>
          </a:xfrm>
          <a:prstGeom prst="straightConnector1">
            <a:avLst/>
          </a:prstGeom>
          <a:ln w="3810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55A8FCF9-F702-F59D-4AC2-7C842569EEE9}"/>
              </a:ext>
            </a:extLst>
          </p:cNvPr>
          <p:cNvCxnSpPr>
            <a:cxnSpLocks/>
          </p:cNvCxnSpPr>
          <p:nvPr/>
        </p:nvCxnSpPr>
        <p:spPr>
          <a:xfrm flipV="1">
            <a:off x="338737" y="3897954"/>
            <a:ext cx="623553" cy="129407"/>
          </a:xfrm>
          <a:prstGeom prst="straightConnector1">
            <a:avLst/>
          </a:prstGeom>
          <a:ln w="3810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2A8E9186-D137-EB47-9212-ECCBC3BB220F}"/>
              </a:ext>
            </a:extLst>
          </p:cNvPr>
          <p:cNvCxnSpPr>
            <a:cxnSpLocks/>
          </p:cNvCxnSpPr>
          <p:nvPr/>
        </p:nvCxnSpPr>
        <p:spPr>
          <a:xfrm>
            <a:off x="3593428" y="3975218"/>
            <a:ext cx="668405" cy="156241"/>
          </a:xfrm>
          <a:prstGeom prst="straightConnector1">
            <a:avLst/>
          </a:prstGeom>
          <a:ln w="3810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87FAA142-7A1E-829C-0033-0A0E68936005}"/>
              </a:ext>
            </a:extLst>
          </p:cNvPr>
          <p:cNvCxnSpPr>
            <a:cxnSpLocks/>
          </p:cNvCxnSpPr>
          <p:nvPr/>
        </p:nvCxnSpPr>
        <p:spPr>
          <a:xfrm>
            <a:off x="3582006" y="3331680"/>
            <a:ext cx="666452" cy="301400"/>
          </a:xfrm>
          <a:prstGeom prst="straightConnector1">
            <a:avLst/>
          </a:prstGeom>
          <a:ln w="3810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楕円 95">
            <a:extLst>
              <a:ext uri="{FF2B5EF4-FFF2-40B4-BE49-F238E27FC236}">
                <a16:creationId xmlns:a16="http://schemas.microsoft.com/office/drawing/2014/main" id="{24A0F56F-912B-5D89-4655-A746142B52C8}"/>
              </a:ext>
            </a:extLst>
          </p:cNvPr>
          <p:cNvSpPr/>
          <p:nvPr/>
        </p:nvSpPr>
        <p:spPr>
          <a:xfrm>
            <a:off x="3168959" y="3108920"/>
            <a:ext cx="133429" cy="12243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楕円 96">
            <a:extLst>
              <a:ext uri="{FF2B5EF4-FFF2-40B4-BE49-F238E27FC236}">
                <a16:creationId xmlns:a16="http://schemas.microsoft.com/office/drawing/2014/main" id="{D9C3A787-D2AA-1AA6-97F2-BDAED3BC9864}"/>
              </a:ext>
            </a:extLst>
          </p:cNvPr>
          <p:cNvSpPr/>
          <p:nvPr/>
        </p:nvSpPr>
        <p:spPr>
          <a:xfrm>
            <a:off x="1152735" y="3272732"/>
            <a:ext cx="133429" cy="12243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楕円 97">
            <a:extLst>
              <a:ext uri="{FF2B5EF4-FFF2-40B4-BE49-F238E27FC236}">
                <a16:creationId xmlns:a16="http://schemas.microsoft.com/office/drawing/2014/main" id="{4BAEB849-AA2D-5B40-A015-07A7CC781D78}"/>
              </a:ext>
            </a:extLst>
          </p:cNvPr>
          <p:cNvSpPr/>
          <p:nvPr/>
        </p:nvSpPr>
        <p:spPr>
          <a:xfrm>
            <a:off x="3168959" y="3858134"/>
            <a:ext cx="133429" cy="12243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9" name="楕円 98">
            <a:extLst>
              <a:ext uri="{FF2B5EF4-FFF2-40B4-BE49-F238E27FC236}">
                <a16:creationId xmlns:a16="http://schemas.microsoft.com/office/drawing/2014/main" id="{6BCC77A1-2AB9-C6BD-B12F-4128F80DF155}"/>
              </a:ext>
            </a:extLst>
          </p:cNvPr>
          <p:cNvSpPr/>
          <p:nvPr/>
        </p:nvSpPr>
        <p:spPr>
          <a:xfrm>
            <a:off x="1163322" y="3769950"/>
            <a:ext cx="133429" cy="12243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DB54AAC2-F6D6-A2A3-96EF-B62FCCFDA575}"/>
              </a:ext>
            </a:extLst>
          </p:cNvPr>
          <p:cNvSpPr txBox="1"/>
          <p:nvPr/>
        </p:nvSpPr>
        <p:spPr>
          <a:xfrm>
            <a:off x="183878" y="2121778"/>
            <a:ext cx="1341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>
                <a:solidFill>
                  <a:srgbClr val="FF0000"/>
                </a:solidFill>
              </a:rPr>
              <a:t>Reflection</a:t>
            </a:r>
            <a:r>
              <a:rPr lang="ja-JP" altLang="en-US" sz="2000" dirty="0">
                <a:solidFill>
                  <a:srgbClr val="FF0000"/>
                </a:solidFill>
              </a:rPr>
              <a:t> </a:t>
            </a:r>
            <a:r>
              <a:rPr lang="en-US" altLang="ja-JP" sz="2000" dirty="0">
                <a:solidFill>
                  <a:srgbClr val="FF0000"/>
                </a:solidFill>
              </a:rPr>
              <a:t>boundary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3D59D9F6-E304-699D-177C-1B6E93EDC6BA}"/>
              </a:ext>
            </a:extLst>
          </p:cNvPr>
          <p:cNvSpPr/>
          <p:nvPr/>
        </p:nvSpPr>
        <p:spPr>
          <a:xfrm>
            <a:off x="4925955" y="3837851"/>
            <a:ext cx="3528546" cy="239221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9AC945EF-4182-C21C-D38C-3DED1BAE2257}"/>
              </a:ext>
            </a:extLst>
          </p:cNvPr>
          <p:cNvSpPr/>
          <p:nvPr/>
        </p:nvSpPr>
        <p:spPr>
          <a:xfrm>
            <a:off x="5695935" y="2488525"/>
            <a:ext cx="2016220" cy="134932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205BD1AD-D7B3-309B-0BEA-0794BE31347A}"/>
              </a:ext>
            </a:extLst>
          </p:cNvPr>
          <p:cNvGrpSpPr/>
          <p:nvPr/>
        </p:nvGrpSpPr>
        <p:grpSpPr>
          <a:xfrm>
            <a:off x="6156176" y="3038143"/>
            <a:ext cx="1010839" cy="770319"/>
            <a:chOff x="4064518" y="3799793"/>
            <a:chExt cx="1299592" cy="1172733"/>
          </a:xfrm>
        </p:grpSpPr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61E651D5-AE2E-89E5-6082-101FF9DE97A7}"/>
                </a:ext>
              </a:extLst>
            </p:cNvPr>
            <p:cNvSpPr/>
            <p:nvPr/>
          </p:nvSpPr>
          <p:spPr>
            <a:xfrm>
              <a:off x="4283960" y="4005093"/>
              <a:ext cx="846102" cy="87287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" name="二等辺三角形 105">
              <a:extLst>
                <a:ext uri="{FF2B5EF4-FFF2-40B4-BE49-F238E27FC236}">
                  <a16:creationId xmlns:a16="http://schemas.microsoft.com/office/drawing/2014/main" id="{4EF3E934-4319-D841-C9AF-CD520B4A5AA5}"/>
                </a:ext>
              </a:extLst>
            </p:cNvPr>
            <p:cNvSpPr/>
            <p:nvPr/>
          </p:nvSpPr>
          <p:spPr>
            <a:xfrm>
              <a:off x="4064518" y="3799793"/>
              <a:ext cx="1299592" cy="205287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正方形/長方形 106">
              <a:extLst>
                <a:ext uri="{FF2B5EF4-FFF2-40B4-BE49-F238E27FC236}">
                  <a16:creationId xmlns:a16="http://schemas.microsoft.com/office/drawing/2014/main" id="{655CD0DF-3454-8362-F74C-41249163E5F3}"/>
                </a:ext>
              </a:extLst>
            </p:cNvPr>
            <p:cNvSpPr/>
            <p:nvPr/>
          </p:nvSpPr>
          <p:spPr>
            <a:xfrm>
              <a:off x="4316526" y="4149100"/>
              <a:ext cx="327484" cy="216030"/>
            </a:xfrm>
            <a:prstGeom prst="rect">
              <a:avLst/>
            </a:prstGeom>
            <a:solidFill>
              <a:srgbClr val="00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8" name="正方形/長方形 107">
              <a:extLst>
                <a:ext uri="{FF2B5EF4-FFF2-40B4-BE49-F238E27FC236}">
                  <a16:creationId xmlns:a16="http://schemas.microsoft.com/office/drawing/2014/main" id="{B981F6DD-A687-4172-B82D-2F2872CFA2A7}"/>
                </a:ext>
              </a:extLst>
            </p:cNvPr>
            <p:cNvSpPr/>
            <p:nvPr/>
          </p:nvSpPr>
          <p:spPr>
            <a:xfrm>
              <a:off x="4590018" y="4509150"/>
              <a:ext cx="486052" cy="368822"/>
            </a:xfrm>
            <a:prstGeom prst="rect">
              <a:avLst/>
            </a:prstGeom>
            <a:solidFill>
              <a:srgbClr val="00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9" name="正方形/長方形 108">
              <a:extLst>
                <a:ext uri="{FF2B5EF4-FFF2-40B4-BE49-F238E27FC236}">
                  <a16:creationId xmlns:a16="http://schemas.microsoft.com/office/drawing/2014/main" id="{1A91D3DB-8F08-A1B8-B81A-2ECAFAFC2204}"/>
                </a:ext>
              </a:extLst>
            </p:cNvPr>
            <p:cNvSpPr/>
            <p:nvPr/>
          </p:nvSpPr>
          <p:spPr>
            <a:xfrm>
              <a:off x="4211950" y="4877972"/>
              <a:ext cx="990110" cy="9455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14" name="直線矢印コネクタ 113">
            <a:extLst>
              <a:ext uri="{FF2B5EF4-FFF2-40B4-BE49-F238E27FC236}">
                <a16:creationId xmlns:a16="http://schemas.microsoft.com/office/drawing/2014/main" id="{5A3F4EBE-2ACC-26D1-3B89-0CD03313B1D9}"/>
              </a:ext>
            </a:extLst>
          </p:cNvPr>
          <p:cNvCxnSpPr>
            <a:cxnSpLocks/>
          </p:cNvCxnSpPr>
          <p:nvPr/>
        </p:nvCxnSpPr>
        <p:spPr>
          <a:xfrm flipV="1">
            <a:off x="5673542" y="3277963"/>
            <a:ext cx="309854" cy="6709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C25F65C1-6E4B-CF5F-C917-793F328E66C1}"/>
              </a:ext>
            </a:extLst>
          </p:cNvPr>
          <p:cNvCxnSpPr>
            <a:cxnSpLocks/>
          </p:cNvCxnSpPr>
          <p:nvPr/>
        </p:nvCxnSpPr>
        <p:spPr>
          <a:xfrm flipV="1">
            <a:off x="5954734" y="6201002"/>
            <a:ext cx="214590" cy="407815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A8636479-ED3B-2D8A-670C-5AA1513E2133}"/>
              </a:ext>
            </a:extLst>
          </p:cNvPr>
          <p:cNvCxnSpPr>
            <a:cxnSpLocks/>
          </p:cNvCxnSpPr>
          <p:nvPr/>
        </p:nvCxnSpPr>
        <p:spPr>
          <a:xfrm flipV="1">
            <a:off x="5711754" y="2745117"/>
            <a:ext cx="279667" cy="101267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C15B92FF-D63F-FA93-6174-F63D66D74D2A}"/>
              </a:ext>
            </a:extLst>
          </p:cNvPr>
          <p:cNvCxnSpPr>
            <a:cxnSpLocks/>
          </p:cNvCxnSpPr>
          <p:nvPr/>
        </p:nvCxnSpPr>
        <p:spPr>
          <a:xfrm flipH="1" flipV="1">
            <a:off x="7483646" y="2569993"/>
            <a:ext cx="278612" cy="119538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FDD81DBD-E3D2-3DA6-0160-1CF213E77772}"/>
              </a:ext>
            </a:extLst>
          </p:cNvPr>
          <p:cNvCxnSpPr>
            <a:cxnSpLocks/>
          </p:cNvCxnSpPr>
          <p:nvPr/>
        </p:nvCxnSpPr>
        <p:spPr>
          <a:xfrm flipH="1" flipV="1">
            <a:off x="7452320" y="3350440"/>
            <a:ext cx="330996" cy="67176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矢印コネクタ 126">
            <a:extLst>
              <a:ext uri="{FF2B5EF4-FFF2-40B4-BE49-F238E27FC236}">
                <a16:creationId xmlns:a16="http://schemas.microsoft.com/office/drawing/2014/main" id="{D6AA6DDE-6D42-8A70-76B9-DCDA06540A1B}"/>
              </a:ext>
            </a:extLst>
          </p:cNvPr>
          <p:cNvCxnSpPr>
            <a:cxnSpLocks/>
          </p:cNvCxnSpPr>
          <p:nvPr/>
        </p:nvCxnSpPr>
        <p:spPr>
          <a:xfrm flipH="1" flipV="1">
            <a:off x="7177209" y="6176278"/>
            <a:ext cx="103993" cy="433875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楕円 145">
            <a:extLst>
              <a:ext uri="{FF2B5EF4-FFF2-40B4-BE49-F238E27FC236}">
                <a16:creationId xmlns:a16="http://schemas.microsoft.com/office/drawing/2014/main" id="{C6BFECB6-8BD3-D0CE-21DA-643B31E2F1DA}"/>
              </a:ext>
            </a:extLst>
          </p:cNvPr>
          <p:cNvSpPr/>
          <p:nvPr/>
        </p:nvSpPr>
        <p:spPr>
          <a:xfrm>
            <a:off x="7678931" y="2622804"/>
            <a:ext cx="133429" cy="12243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7" name="楕円 146">
            <a:extLst>
              <a:ext uri="{FF2B5EF4-FFF2-40B4-BE49-F238E27FC236}">
                <a16:creationId xmlns:a16="http://schemas.microsoft.com/office/drawing/2014/main" id="{2C9F31C7-E957-32FC-6E50-7F76D4162D81}"/>
              </a:ext>
            </a:extLst>
          </p:cNvPr>
          <p:cNvSpPr/>
          <p:nvPr/>
        </p:nvSpPr>
        <p:spPr>
          <a:xfrm>
            <a:off x="5662707" y="2786616"/>
            <a:ext cx="133429" cy="12243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8" name="楕円 147">
            <a:extLst>
              <a:ext uri="{FF2B5EF4-FFF2-40B4-BE49-F238E27FC236}">
                <a16:creationId xmlns:a16="http://schemas.microsoft.com/office/drawing/2014/main" id="{3AD77303-5E65-E816-2AA6-08768A5D5EEA}"/>
              </a:ext>
            </a:extLst>
          </p:cNvPr>
          <p:cNvSpPr/>
          <p:nvPr/>
        </p:nvSpPr>
        <p:spPr>
          <a:xfrm>
            <a:off x="7657757" y="3372018"/>
            <a:ext cx="133429" cy="12243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9" name="楕円 148">
            <a:extLst>
              <a:ext uri="{FF2B5EF4-FFF2-40B4-BE49-F238E27FC236}">
                <a16:creationId xmlns:a16="http://schemas.microsoft.com/office/drawing/2014/main" id="{D174314D-A157-08DA-61AC-35A889347FE3}"/>
              </a:ext>
            </a:extLst>
          </p:cNvPr>
          <p:cNvSpPr/>
          <p:nvPr/>
        </p:nvSpPr>
        <p:spPr>
          <a:xfrm>
            <a:off x="5652120" y="3283834"/>
            <a:ext cx="133429" cy="12243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0CD41EB9-15C7-DE37-4253-65073C791466}"/>
              </a:ext>
            </a:extLst>
          </p:cNvPr>
          <p:cNvSpPr/>
          <p:nvPr/>
        </p:nvSpPr>
        <p:spPr>
          <a:xfrm>
            <a:off x="4931886" y="6574155"/>
            <a:ext cx="3528546" cy="239221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5" name="正方形/長方形 154">
            <a:extLst>
              <a:ext uri="{FF2B5EF4-FFF2-40B4-BE49-F238E27FC236}">
                <a16:creationId xmlns:a16="http://schemas.microsoft.com/office/drawing/2014/main" id="{3A73F043-BF4B-A2E4-832D-9062E2E8F6B4}"/>
              </a:ext>
            </a:extLst>
          </p:cNvPr>
          <p:cNvSpPr/>
          <p:nvPr/>
        </p:nvSpPr>
        <p:spPr>
          <a:xfrm>
            <a:off x="5701866" y="5224829"/>
            <a:ext cx="2016220" cy="134932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56" name="グループ化 155">
            <a:extLst>
              <a:ext uri="{FF2B5EF4-FFF2-40B4-BE49-F238E27FC236}">
                <a16:creationId xmlns:a16="http://schemas.microsoft.com/office/drawing/2014/main" id="{9E093A37-D1FF-076C-88A6-39F19CC2A20F}"/>
              </a:ext>
            </a:extLst>
          </p:cNvPr>
          <p:cNvGrpSpPr/>
          <p:nvPr/>
        </p:nvGrpSpPr>
        <p:grpSpPr>
          <a:xfrm>
            <a:off x="6162107" y="5829656"/>
            <a:ext cx="1010839" cy="770319"/>
            <a:chOff x="4064518" y="3799793"/>
            <a:chExt cx="1299592" cy="1172733"/>
          </a:xfrm>
        </p:grpSpPr>
        <p:sp>
          <p:nvSpPr>
            <p:cNvPr id="157" name="正方形/長方形 156">
              <a:extLst>
                <a:ext uri="{FF2B5EF4-FFF2-40B4-BE49-F238E27FC236}">
                  <a16:creationId xmlns:a16="http://schemas.microsoft.com/office/drawing/2014/main" id="{F9457032-E11B-E22D-E1B7-40BEB4DA0924}"/>
                </a:ext>
              </a:extLst>
            </p:cNvPr>
            <p:cNvSpPr/>
            <p:nvPr/>
          </p:nvSpPr>
          <p:spPr>
            <a:xfrm>
              <a:off x="4283960" y="4005093"/>
              <a:ext cx="846102" cy="87287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8" name="二等辺三角形 157">
              <a:extLst>
                <a:ext uri="{FF2B5EF4-FFF2-40B4-BE49-F238E27FC236}">
                  <a16:creationId xmlns:a16="http://schemas.microsoft.com/office/drawing/2014/main" id="{FBD820C0-24BA-EFB6-3F30-E4C1D25C9375}"/>
                </a:ext>
              </a:extLst>
            </p:cNvPr>
            <p:cNvSpPr/>
            <p:nvPr/>
          </p:nvSpPr>
          <p:spPr>
            <a:xfrm>
              <a:off x="4064518" y="3799793"/>
              <a:ext cx="1299592" cy="205287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9" name="正方形/長方形 158">
              <a:extLst>
                <a:ext uri="{FF2B5EF4-FFF2-40B4-BE49-F238E27FC236}">
                  <a16:creationId xmlns:a16="http://schemas.microsoft.com/office/drawing/2014/main" id="{2B6A0776-E54D-1C9A-0C3A-9225E8C35F3C}"/>
                </a:ext>
              </a:extLst>
            </p:cNvPr>
            <p:cNvSpPr/>
            <p:nvPr/>
          </p:nvSpPr>
          <p:spPr>
            <a:xfrm>
              <a:off x="4316526" y="4149100"/>
              <a:ext cx="327484" cy="216030"/>
            </a:xfrm>
            <a:prstGeom prst="rect">
              <a:avLst/>
            </a:prstGeom>
            <a:solidFill>
              <a:srgbClr val="00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0" name="正方形/長方形 159">
              <a:extLst>
                <a:ext uri="{FF2B5EF4-FFF2-40B4-BE49-F238E27FC236}">
                  <a16:creationId xmlns:a16="http://schemas.microsoft.com/office/drawing/2014/main" id="{F690B798-434C-8D11-9559-994CB5355FCA}"/>
                </a:ext>
              </a:extLst>
            </p:cNvPr>
            <p:cNvSpPr/>
            <p:nvPr/>
          </p:nvSpPr>
          <p:spPr>
            <a:xfrm>
              <a:off x="4590018" y="4509150"/>
              <a:ext cx="486052" cy="368822"/>
            </a:xfrm>
            <a:prstGeom prst="rect">
              <a:avLst/>
            </a:prstGeom>
            <a:solidFill>
              <a:srgbClr val="00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1" name="正方形/長方形 160">
              <a:extLst>
                <a:ext uri="{FF2B5EF4-FFF2-40B4-BE49-F238E27FC236}">
                  <a16:creationId xmlns:a16="http://schemas.microsoft.com/office/drawing/2014/main" id="{C7AC0A26-AF24-ACD3-DEC5-F34C4AD402F5}"/>
                </a:ext>
              </a:extLst>
            </p:cNvPr>
            <p:cNvSpPr/>
            <p:nvPr/>
          </p:nvSpPr>
          <p:spPr>
            <a:xfrm>
              <a:off x="4211950" y="4877972"/>
              <a:ext cx="990110" cy="9455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F155677E-4EE7-4DFD-9E2C-774B1F2029F8}"/>
              </a:ext>
            </a:extLst>
          </p:cNvPr>
          <p:cNvCxnSpPr>
            <a:cxnSpLocks/>
          </p:cNvCxnSpPr>
          <p:nvPr/>
        </p:nvCxnSpPr>
        <p:spPr>
          <a:xfrm flipV="1">
            <a:off x="7511796" y="6223578"/>
            <a:ext cx="84876" cy="339274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95C911A-312F-CD9C-3007-5957777BD573}"/>
              </a:ext>
            </a:extLst>
          </p:cNvPr>
          <p:cNvSpPr txBox="1"/>
          <p:nvPr/>
        </p:nvSpPr>
        <p:spPr>
          <a:xfrm>
            <a:off x="72008" y="4883297"/>
            <a:ext cx="45720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/>
              <a:t>Take a dump for radiations passing through surfaces of the scoring box</a:t>
            </a:r>
            <a:endParaRPr kumimoji="1" lang="en-US" altLang="ja-JP" sz="24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CBBAFBF-2F2D-D95B-38EC-D1C7ECCEDF3A}"/>
              </a:ext>
            </a:extLst>
          </p:cNvPr>
          <p:cNvSpPr txBox="1"/>
          <p:nvPr/>
        </p:nvSpPr>
        <p:spPr>
          <a:xfrm>
            <a:off x="3109787" y="2121778"/>
            <a:ext cx="1346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Reflection boundary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13189F8-737C-E2DF-A822-7E2BB1398FEC}"/>
              </a:ext>
            </a:extLst>
          </p:cNvPr>
          <p:cNvSpPr txBox="1"/>
          <p:nvPr/>
        </p:nvSpPr>
        <p:spPr>
          <a:xfrm>
            <a:off x="1344703" y="2564904"/>
            <a:ext cx="17871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Scoring</a:t>
            </a:r>
            <a:r>
              <a:rPr kumimoji="1" lang="ja-JP" altLang="en-US" sz="2000" dirty="0"/>
              <a:t> </a:t>
            </a:r>
            <a:r>
              <a:rPr kumimoji="1" lang="en-US" altLang="ja-JP" sz="2000" dirty="0"/>
              <a:t>box</a:t>
            </a:r>
            <a:endParaRPr kumimoji="1" lang="ja-JP" altLang="en-US" sz="20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BF9FA3E-84F7-C1A1-6312-105F182E9AEF}"/>
              </a:ext>
            </a:extLst>
          </p:cNvPr>
          <p:cNvSpPr txBox="1"/>
          <p:nvPr/>
        </p:nvSpPr>
        <p:spPr>
          <a:xfrm>
            <a:off x="0" y="6018658"/>
            <a:ext cx="4889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dirty="0">
                <a:solidFill>
                  <a:srgbClr val="FF0000"/>
                </a:solidFill>
              </a:rPr>
              <a:t>Dump data = Radiations injected from infinite field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0D49CEA-BF43-EFF0-BFD0-4B445B1465C9}"/>
              </a:ext>
            </a:extLst>
          </p:cNvPr>
          <p:cNvSpPr txBox="1"/>
          <p:nvPr/>
        </p:nvSpPr>
        <p:spPr>
          <a:xfrm>
            <a:off x="1472582" y="1589997"/>
            <a:ext cx="1215759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1</a:t>
            </a:r>
            <a:r>
              <a:rPr kumimoji="1" lang="en-US" altLang="ja-JP" sz="2400" baseline="30000" dirty="0"/>
              <a:t>st</a:t>
            </a:r>
            <a:r>
              <a:rPr kumimoji="1" lang="ja-JP" altLang="en-US" sz="2400" dirty="0"/>
              <a:t> </a:t>
            </a:r>
            <a:r>
              <a:rPr lang="en-US" altLang="ja-JP" sz="2400" dirty="0"/>
              <a:t>s</a:t>
            </a:r>
            <a:r>
              <a:rPr kumimoji="1" lang="en-US" altLang="ja-JP" sz="2400" dirty="0"/>
              <a:t>tep</a:t>
            </a:r>
            <a:endParaRPr kumimoji="1" lang="ja-JP" altLang="en-US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F950379-A917-CBC7-0116-3ADC625D3A3F}"/>
              </a:ext>
            </a:extLst>
          </p:cNvPr>
          <p:cNvSpPr txBox="1"/>
          <p:nvPr/>
        </p:nvSpPr>
        <p:spPr>
          <a:xfrm>
            <a:off x="5932462" y="1589996"/>
            <a:ext cx="134874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/>
              <a:t>2</a:t>
            </a:r>
            <a:r>
              <a:rPr lang="en-US" altLang="ja-JP" sz="2400" baseline="30000" dirty="0"/>
              <a:t>nd</a:t>
            </a:r>
            <a:r>
              <a:rPr kumimoji="1" lang="ja-JP" altLang="en-US" sz="2400" dirty="0"/>
              <a:t> </a:t>
            </a:r>
            <a:r>
              <a:rPr lang="en-US" altLang="ja-JP" sz="2400" dirty="0"/>
              <a:t>s</a:t>
            </a:r>
            <a:r>
              <a:rPr kumimoji="1" lang="en-US" altLang="ja-JP" sz="2400" dirty="0"/>
              <a:t>tep</a:t>
            </a:r>
            <a:endParaRPr kumimoji="1" lang="ja-JP" altLang="en-US" sz="24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A4833FC-E526-51B5-E3B2-B3D9076A7FE8}"/>
              </a:ext>
            </a:extLst>
          </p:cNvPr>
          <p:cNvSpPr txBox="1"/>
          <p:nvPr/>
        </p:nvSpPr>
        <p:spPr>
          <a:xfrm>
            <a:off x="6538599" y="4218458"/>
            <a:ext cx="459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+</a:t>
            </a:r>
            <a:endParaRPr kumimoji="1" lang="ja-JP" altLang="en-US" sz="36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B029DA0-804C-2202-93DC-4E162844E8D9}"/>
              </a:ext>
            </a:extLst>
          </p:cNvPr>
          <p:cNvSpPr txBox="1"/>
          <p:nvPr/>
        </p:nvSpPr>
        <p:spPr>
          <a:xfrm>
            <a:off x="5220072" y="2113908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External source (</a:t>
            </a:r>
            <a:r>
              <a:rPr lang="en-US" altLang="ja-JP" dirty="0">
                <a:solidFill>
                  <a:srgbClr val="FF0000"/>
                </a:solidFill>
              </a:rPr>
              <a:t>Dump data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0D1E0AC-A6B3-C3CC-65F5-70DD2C659215}"/>
              </a:ext>
            </a:extLst>
          </p:cNvPr>
          <p:cNvSpPr txBox="1"/>
          <p:nvPr/>
        </p:nvSpPr>
        <p:spPr>
          <a:xfrm>
            <a:off x="4716016" y="4865802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Internal source (Internal ground source)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A0BC27E-8604-A30D-0CE9-4DA183424F1D}"/>
              </a:ext>
            </a:extLst>
          </p:cNvPr>
          <p:cNvSpPr txBox="1"/>
          <p:nvPr/>
        </p:nvSpPr>
        <p:spPr>
          <a:xfrm>
            <a:off x="1806637" y="876494"/>
            <a:ext cx="40664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dirty="0">
                <a:solidFill>
                  <a:srgbClr val="FF0000"/>
                </a:solidFill>
              </a:rPr>
              <a:t>Two-step calculation</a:t>
            </a:r>
            <a:endParaRPr kumimoji="1" lang="en-US" altLang="ja-JP" sz="3600" dirty="0">
              <a:solidFill>
                <a:srgbClr val="FF0000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DA22BBA-7085-607C-DB10-D2854D28EC31}"/>
              </a:ext>
            </a:extLst>
          </p:cNvPr>
          <p:cNvSpPr txBox="1"/>
          <p:nvPr/>
        </p:nvSpPr>
        <p:spPr>
          <a:xfrm>
            <a:off x="5796136" y="1091942"/>
            <a:ext cx="3284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T. Furuta, RPD167(2015)392-398</a:t>
            </a:r>
            <a:endParaRPr kumimoji="1"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49BC85-464E-A968-A195-3D3B4820B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8385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8247-88CB-D6CA-31BA-084743C6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AB11D3-3405-198C-8366-878B1281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>
                <a:latin typeface="Arial" pitchFamily="18"/>
              </a:rPr>
              <a:t>Step 3 (Obtain dump data)</a:t>
            </a:r>
            <a:endParaRPr kumimoji="1" lang="ja-JP" altLang="en-US" dirty="0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27410F2A-69DE-0F7D-A843-EC528453A787}"/>
              </a:ext>
            </a:extLst>
          </p:cNvPr>
          <p:cNvGrpSpPr/>
          <p:nvPr/>
        </p:nvGrpSpPr>
        <p:grpSpPr>
          <a:xfrm>
            <a:off x="2555775" y="908720"/>
            <a:ext cx="4027145" cy="2327453"/>
            <a:chOff x="2533035" y="908720"/>
            <a:chExt cx="4027145" cy="2327453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76738A48-E661-EAE5-36E9-F6F09D8A83BE}"/>
                </a:ext>
              </a:extLst>
            </p:cNvPr>
            <p:cNvSpPr/>
            <p:nvPr/>
          </p:nvSpPr>
          <p:spPr>
            <a:xfrm>
              <a:off x="3494835" y="1654177"/>
              <a:ext cx="2016220" cy="1349325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6B0C26EE-4132-BE78-29E5-A440C4667A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6474" y="1771177"/>
              <a:ext cx="501088" cy="202242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52E4F094-C8B0-AFDF-D276-6BCC330DD8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0758" y="1841900"/>
              <a:ext cx="1012859" cy="261337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5977774-1B2E-4A65-0BD8-CA0AEB0BB3EB}"/>
                </a:ext>
              </a:extLst>
            </p:cNvPr>
            <p:cNvSpPr/>
            <p:nvPr/>
          </p:nvSpPr>
          <p:spPr>
            <a:xfrm>
              <a:off x="2807727" y="2996952"/>
              <a:ext cx="3528546" cy="239221"/>
            </a:xfrm>
            <a:prstGeom prst="rect">
              <a:avLst/>
            </a:prstGeom>
            <a:solidFill>
              <a:srgbClr val="808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B20B9D7F-05DD-5A1E-32CD-94AE4D63D32B}"/>
                </a:ext>
              </a:extLst>
            </p:cNvPr>
            <p:cNvCxnSpPr/>
            <p:nvPr/>
          </p:nvCxnSpPr>
          <p:spPr>
            <a:xfrm>
              <a:off x="3140915" y="1474200"/>
              <a:ext cx="0" cy="15121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DEBC9136-CE30-35CF-85E6-8F63B25605C0}"/>
                </a:ext>
              </a:extLst>
            </p:cNvPr>
            <p:cNvCxnSpPr/>
            <p:nvPr/>
          </p:nvCxnSpPr>
          <p:spPr>
            <a:xfrm>
              <a:off x="5877219" y="1474200"/>
              <a:ext cx="0" cy="15121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5BA89A8D-2024-07EE-EFD9-461346915C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1199" y="2637213"/>
              <a:ext cx="1916020" cy="359733"/>
            </a:xfrm>
            <a:prstGeom prst="straightConnector1">
              <a:avLst/>
            </a:prstGeom>
            <a:ln w="38100"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67609EF5-B943-5F04-51C7-5DF42D6FCB98}"/>
                </a:ext>
              </a:extLst>
            </p:cNvPr>
            <p:cNvCxnSpPr>
              <a:cxnSpLocks/>
            </p:cNvCxnSpPr>
            <p:nvPr/>
          </p:nvCxnSpPr>
          <p:spPr>
            <a:xfrm>
              <a:off x="3131072" y="2100996"/>
              <a:ext cx="2721522" cy="551239"/>
            </a:xfrm>
            <a:prstGeom prst="straightConnector1">
              <a:avLst/>
            </a:prstGeom>
            <a:ln w="38100"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A10914EB-C570-A3E7-CC52-6AAFC3E74EA2}"/>
                </a:ext>
              </a:extLst>
            </p:cNvPr>
            <p:cNvCxnSpPr>
              <a:cxnSpLocks/>
            </p:cNvCxnSpPr>
            <p:nvPr/>
          </p:nvCxnSpPr>
          <p:spPr>
            <a:xfrm>
              <a:off x="3131073" y="2564339"/>
              <a:ext cx="1706477" cy="432613"/>
            </a:xfrm>
            <a:prstGeom prst="straightConnector1">
              <a:avLst/>
            </a:prstGeom>
            <a:ln w="38100"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08685C30-551D-AF91-964A-E20CEDFB58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0915" y="2008176"/>
              <a:ext cx="2696647" cy="553322"/>
            </a:xfrm>
            <a:prstGeom prst="straightConnector1">
              <a:avLst/>
            </a:prstGeom>
            <a:ln w="38100"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E3E42293-269C-4D93-44DB-7DF80353C2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9083" y="2123443"/>
              <a:ext cx="630289" cy="185871"/>
            </a:xfrm>
            <a:prstGeom prst="straightConnector1">
              <a:avLst/>
            </a:prstGeom>
            <a:ln w="38100">
              <a:solidFill>
                <a:srgbClr val="FFC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B09C99CF-3DEE-6B6B-30E9-695408907C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4949" y="2557370"/>
              <a:ext cx="623553" cy="129407"/>
            </a:xfrm>
            <a:prstGeom prst="straightConnector1">
              <a:avLst/>
            </a:prstGeom>
            <a:ln w="38100">
              <a:solidFill>
                <a:srgbClr val="FFC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45111803-FF51-9BA7-ABE7-7124DADCDC98}"/>
                </a:ext>
              </a:extLst>
            </p:cNvPr>
            <p:cNvCxnSpPr>
              <a:cxnSpLocks/>
            </p:cNvCxnSpPr>
            <p:nvPr/>
          </p:nvCxnSpPr>
          <p:spPr>
            <a:xfrm>
              <a:off x="5869640" y="2634634"/>
              <a:ext cx="668405" cy="156241"/>
            </a:xfrm>
            <a:prstGeom prst="straightConnector1">
              <a:avLst/>
            </a:prstGeom>
            <a:ln w="38100">
              <a:solidFill>
                <a:srgbClr val="FFC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4F2FC158-4C73-DE3C-3757-5F626E7F8C85}"/>
                </a:ext>
              </a:extLst>
            </p:cNvPr>
            <p:cNvCxnSpPr>
              <a:cxnSpLocks/>
            </p:cNvCxnSpPr>
            <p:nvPr/>
          </p:nvCxnSpPr>
          <p:spPr>
            <a:xfrm>
              <a:off x="5858218" y="1991096"/>
              <a:ext cx="666452" cy="301400"/>
            </a:xfrm>
            <a:prstGeom prst="straightConnector1">
              <a:avLst/>
            </a:prstGeom>
            <a:ln w="38100">
              <a:solidFill>
                <a:srgbClr val="FFC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楕円 27">
              <a:extLst>
                <a:ext uri="{FF2B5EF4-FFF2-40B4-BE49-F238E27FC236}">
                  <a16:creationId xmlns:a16="http://schemas.microsoft.com/office/drawing/2014/main" id="{0973E0A6-EF2B-A6B7-0C97-CADA71F73F22}"/>
                </a:ext>
              </a:extLst>
            </p:cNvPr>
            <p:cNvSpPr/>
            <p:nvPr/>
          </p:nvSpPr>
          <p:spPr>
            <a:xfrm>
              <a:off x="5445171" y="1768336"/>
              <a:ext cx="133429" cy="122438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楕円 28">
              <a:extLst>
                <a:ext uri="{FF2B5EF4-FFF2-40B4-BE49-F238E27FC236}">
                  <a16:creationId xmlns:a16="http://schemas.microsoft.com/office/drawing/2014/main" id="{8598B4A4-01BC-D4DC-E3F3-506AF6A02C6A}"/>
                </a:ext>
              </a:extLst>
            </p:cNvPr>
            <p:cNvSpPr/>
            <p:nvPr/>
          </p:nvSpPr>
          <p:spPr>
            <a:xfrm>
              <a:off x="3428947" y="1932148"/>
              <a:ext cx="133429" cy="122438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楕円 29">
              <a:extLst>
                <a:ext uri="{FF2B5EF4-FFF2-40B4-BE49-F238E27FC236}">
                  <a16:creationId xmlns:a16="http://schemas.microsoft.com/office/drawing/2014/main" id="{0D083E48-145D-4934-8B27-C0ECFBA97D64}"/>
                </a:ext>
              </a:extLst>
            </p:cNvPr>
            <p:cNvSpPr/>
            <p:nvPr/>
          </p:nvSpPr>
          <p:spPr>
            <a:xfrm>
              <a:off x="5445171" y="2517550"/>
              <a:ext cx="133429" cy="122438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楕円 30">
              <a:extLst>
                <a:ext uri="{FF2B5EF4-FFF2-40B4-BE49-F238E27FC236}">
                  <a16:creationId xmlns:a16="http://schemas.microsoft.com/office/drawing/2014/main" id="{5BE5EF50-346C-55F2-5755-1A43FEBCFE71}"/>
                </a:ext>
              </a:extLst>
            </p:cNvPr>
            <p:cNvSpPr/>
            <p:nvPr/>
          </p:nvSpPr>
          <p:spPr>
            <a:xfrm>
              <a:off x="3439534" y="2429366"/>
              <a:ext cx="133429" cy="122438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CA97D493-220E-FC90-F0BD-CA629F525C6B}"/>
                </a:ext>
              </a:extLst>
            </p:cNvPr>
            <p:cNvSpPr txBox="1"/>
            <p:nvPr/>
          </p:nvSpPr>
          <p:spPr>
            <a:xfrm>
              <a:off x="2533035" y="908720"/>
              <a:ext cx="1229011" cy="564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altLang="ja-JP" sz="2000" dirty="0">
                  <a:solidFill>
                    <a:srgbClr val="FF0000"/>
                  </a:solidFill>
                </a:rPr>
                <a:t>Reflection</a:t>
              </a:r>
              <a:r>
                <a:rPr lang="ja-JP" altLang="en-US" sz="2000" dirty="0">
                  <a:solidFill>
                    <a:srgbClr val="FF0000"/>
                  </a:solidFill>
                </a:rPr>
                <a:t> </a:t>
              </a:r>
              <a:r>
                <a:rPr lang="en-US" altLang="ja-JP" sz="2000" dirty="0">
                  <a:solidFill>
                    <a:srgbClr val="FF0000"/>
                  </a:solidFill>
                </a:rPr>
                <a:t>boundary</a:t>
              </a:r>
              <a:endParaRPr kumimoji="1" lang="ja-JP" alt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5D4711D1-33B4-3A34-EA0B-BE4EDF9B4566}"/>
                </a:ext>
              </a:extLst>
            </p:cNvPr>
            <p:cNvSpPr txBox="1"/>
            <p:nvPr/>
          </p:nvSpPr>
          <p:spPr>
            <a:xfrm>
              <a:off x="5331169" y="908720"/>
              <a:ext cx="1229011" cy="564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altLang="ja-JP" sz="2000" dirty="0">
                  <a:solidFill>
                    <a:srgbClr val="FF0000"/>
                  </a:solidFill>
                </a:rPr>
                <a:t>Reflection</a:t>
              </a:r>
              <a:r>
                <a:rPr lang="ja-JP" altLang="en-US" sz="2000" dirty="0">
                  <a:solidFill>
                    <a:srgbClr val="FF0000"/>
                  </a:solidFill>
                </a:rPr>
                <a:t> </a:t>
              </a:r>
              <a:r>
                <a:rPr lang="en-US" altLang="ja-JP" sz="2000" dirty="0">
                  <a:solidFill>
                    <a:srgbClr val="FF0000"/>
                  </a:solidFill>
                </a:rPr>
                <a:t>boundary</a:t>
              </a:r>
              <a:endParaRPr kumimoji="1" lang="ja-JP" alt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D13C5FE8-6D33-60AC-16EE-5D2BE9DB5E58}"/>
                </a:ext>
              </a:extLst>
            </p:cNvPr>
            <p:cNvSpPr txBox="1"/>
            <p:nvPr/>
          </p:nvSpPr>
          <p:spPr>
            <a:xfrm>
              <a:off x="3658034" y="1228690"/>
              <a:ext cx="17871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dirty="0"/>
                <a:t>Scoring</a:t>
              </a:r>
              <a:r>
                <a:rPr kumimoji="1" lang="ja-JP" altLang="en-US" sz="2000" dirty="0"/>
                <a:t> </a:t>
              </a:r>
              <a:r>
                <a:rPr kumimoji="1" lang="en-US" altLang="ja-JP" sz="2000" dirty="0"/>
                <a:t>box</a:t>
              </a:r>
              <a:endParaRPr kumimoji="1" lang="ja-JP" altLang="en-US" sz="2000" dirty="0"/>
            </a:p>
          </p:txBody>
        </p:sp>
      </p:grpSp>
      <p:sp>
        <p:nvSpPr>
          <p:cNvPr id="8" name="Text Box 1031">
            <a:extLst>
              <a:ext uri="{FF2B5EF4-FFF2-40B4-BE49-F238E27FC236}">
                <a16:creationId xmlns:a16="http://schemas.microsoft.com/office/drawing/2014/main" id="{D0DB216E-B591-0492-2A03-5D73306A4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2301" y="3321355"/>
            <a:ext cx="2286750" cy="248390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[ T-cross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file = </a:t>
            </a:r>
            <a:r>
              <a:rPr lang="en-US" altLang="ja-JP" sz="1400" dirty="0" err="1">
                <a:latin typeface="Tahoma" panose="020B0604030504040204" pitchFamily="34" charset="0"/>
              </a:rPr>
              <a:t>cross.out</a:t>
            </a:r>
            <a:endParaRPr lang="en-US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mesh = reg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reg =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r-from  r-to      area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(101 201) (102 202) 1.0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output = current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unit = 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axis = reg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dump = -8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 1 2 3 4 5 6 7 8 </a:t>
            </a:r>
            <a:endParaRPr lang="pt-BR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1785DBF-FD25-AEBE-0190-F6A168D08E26}"/>
              </a:ext>
            </a:extLst>
          </p:cNvPr>
          <p:cNvSpPr txBox="1"/>
          <p:nvPr/>
        </p:nvSpPr>
        <p:spPr>
          <a:xfrm>
            <a:off x="6816396" y="3310310"/>
            <a:ext cx="1572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Remove “off”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0" name="Text Box 1031">
            <a:extLst>
              <a:ext uri="{FF2B5EF4-FFF2-40B4-BE49-F238E27FC236}">
                <a16:creationId xmlns:a16="http://schemas.microsoft.com/office/drawing/2014/main" id="{5C69094F-7E9A-694F-5CB9-F787DA825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642" y="3317193"/>
            <a:ext cx="4740614" cy="29035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set:c4[800]   $ Scoring box size </a:t>
            </a:r>
            <a:r>
              <a:rPr lang="en-US" altLang="ja-JP" sz="1400" dirty="0" err="1">
                <a:latin typeface="Tahoma" panose="020B0604030504040204" pitchFamily="34" charset="0"/>
              </a:rPr>
              <a:t>xy</a:t>
            </a:r>
            <a:endParaRPr lang="fr-FR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set:c5[1000]  $ Scoring box height</a:t>
            </a:r>
            <a:endParaRPr lang="fr-FR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[ Surface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 100  rpp -0.5*c4 0.5*c4 -0.5*c4 0.5*c4 -50 c5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[ Cell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100  1 -1.2e-3  -910 901 -902 10 #(101 -102 103 -104)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101  1 -1.2e-3   101 -102 103 -104 901 -902 10 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100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102  1 -1.2e-3  -100  901 10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200  2 -c2     -910 900 -901 #(101 -102 103 -104)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201  2 -c2      101 -102 103 -104 900 -901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 100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202  2 -c2      -100 -901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91AB4B3-D69B-8BFA-204B-934B12D84950}"/>
              </a:ext>
            </a:extLst>
          </p:cNvPr>
          <p:cNvSpPr txBox="1"/>
          <p:nvPr/>
        </p:nvSpPr>
        <p:spPr>
          <a:xfrm>
            <a:off x="2860033" y="5232308"/>
            <a:ext cx="1404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</a:rPr>
              <a:t>Sc</a:t>
            </a:r>
            <a:r>
              <a:rPr lang="en-US" altLang="ja-JP" b="1" dirty="0">
                <a:solidFill>
                  <a:srgbClr val="FF0000"/>
                </a:solidFill>
              </a:rPr>
              <a:t>oring box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45E268B-E009-45FD-AAF2-2951C8160D6B}"/>
              </a:ext>
            </a:extLst>
          </p:cNvPr>
          <p:cNvSpPr txBox="1"/>
          <p:nvPr/>
        </p:nvSpPr>
        <p:spPr>
          <a:xfrm>
            <a:off x="2848243" y="5867980"/>
            <a:ext cx="1293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</a:rPr>
              <a:t>Scoring</a:t>
            </a:r>
            <a:r>
              <a:rPr kumimoji="1" lang="ja-JP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ja-JP" b="1" dirty="0">
                <a:solidFill>
                  <a:srgbClr val="FF0000"/>
                </a:solidFill>
              </a:rPr>
              <a:t>box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6497DFC-CE02-1F57-E5A5-E434FDAD9375}"/>
              </a:ext>
            </a:extLst>
          </p:cNvPr>
          <p:cNvSpPr txBox="1"/>
          <p:nvPr/>
        </p:nvSpPr>
        <p:spPr>
          <a:xfrm>
            <a:off x="827584" y="6352812"/>
            <a:ext cx="7450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rgbClr val="FF0000"/>
                </a:solidFill>
              </a:rPr>
              <a:t>Execute PHITS and check </a:t>
            </a:r>
            <a:r>
              <a:rPr kumimoji="1" lang="en-US" altLang="ja-JP" sz="2400" dirty="0" err="1">
                <a:solidFill>
                  <a:srgbClr val="FF0000"/>
                </a:solidFill>
              </a:rPr>
              <a:t>cross.out</a:t>
            </a:r>
            <a:r>
              <a:rPr kumimoji="1" lang="ja-JP" altLang="en-US" sz="2400" dirty="0">
                <a:solidFill>
                  <a:srgbClr val="FF0000"/>
                </a:solidFill>
              </a:rPr>
              <a:t> </a:t>
            </a:r>
            <a:r>
              <a:rPr kumimoji="1" lang="en-US" altLang="ja-JP" sz="2400" dirty="0">
                <a:solidFill>
                  <a:srgbClr val="FF0000"/>
                </a:solidFill>
              </a:rPr>
              <a:t>and </a:t>
            </a:r>
            <a:r>
              <a:rPr lang="en-US" altLang="ja-JP" sz="2400" dirty="0" err="1">
                <a:solidFill>
                  <a:srgbClr val="FF0000"/>
                </a:solidFill>
              </a:rPr>
              <a:t>cross_dmp.out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14" name="スライド番号プレースホルダー 13">
            <a:extLst>
              <a:ext uri="{FF2B5EF4-FFF2-40B4-BE49-F238E27FC236}">
                <a16:creationId xmlns:a16="http://schemas.microsoft.com/office/drawing/2014/main" id="{1120028A-11D8-73AA-55D4-BBECCCE56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3421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8247-88CB-D6CA-31BA-084743C6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AB11D3-3405-198C-8366-878B1281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Arial" pitchFamily="18"/>
              </a:rPr>
              <a:t>Step 3 (Obtain dump data) Result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DD1F53C-B0FB-A197-34A4-3901F9854654}"/>
              </a:ext>
            </a:extLst>
          </p:cNvPr>
          <p:cNvSpPr txBox="1"/>
          <p:nvPr/>
        </p:nvSpPr>
        <p:spPr>
          <a:xfrm>
            <a:off x="457200" y="3565266"/>
            <a:ext cx="82296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2.200000000000000D+01   4.349391048283195D+01   3.999999999997351D+02 … 2.200000000000000D+01   3.999999999990466D+02   2.453495348295788D+02 …</a:t>
            </a:r>
          </a:p>
          <a:p>
            <a:r>
              <a:rPr lang="en-US" altLang="ja-JP" dirty="0"/>
              <a:t>…</a:t>
            </a:r>
            <a:endParaRPr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4DBA0C4-778A-87FA-DA0E-E51E79BB5AA0}"/>
              </a:ext>
            </a:extLst>
          </p:cNvPr>
          <p:cNvSpPr txBox="1"/>
          <p:nvPr/>
        </p:nvSpPr>
        <p:spPr>
          <a:xfrm>
            <a:off x="1259632" y="4546909"/>
            <a:ext cx="6554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1,022,972 </a:t>
            </a:r>
            <a:r>
              <a:rPr kumimoji="1" lang="en-US" altLang="ja-JP" dirty="0" err="1">
                <a:solidFill>
                  <a:srgbClr val="FF0000"/>
                </a:solidFill>
              </a:rPr>
              <a:t>gmma</a:t>
            </a:r>
            <a:r>
              <a:rPr lang="en-US" altLang="ja-JP" dirty="0">
                <a:solidFill>
                  <a:srgbClr val="FF0000"/>
                </a:solidFill>
              </a:rPr>
              <a:t>-ray data = Radiations scored by 1,000,000 histories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7DB3786-8875-87F3-ECAD-BA8AE1F448B1}"/>
              </a:ext>
            </a:extLst>
          </p:cNvPr>
          <p:cNvSpPr txBox="1"/>
          <p:nvPr/>
        </p:nvSpPr>
        <p:spPr>
          <a:xfrm>
            <a:off x="1439263" y="4102499"/>
            <a:ext cx="5137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>
                <a:solidFill>
                  <a:srgbClr val="FF0000"/>
                </a:solidFill>
              </a:rPr>
              <a:t>kf</a:t>
            </a:r>
            <a:r>
              <a:rPr lang="en-US" altLang="ja-JP" dirty="0">
                <a:solidFill>
                  <a:srgbClr val="FF0000"/>
                </a:solidFill>
              </a:rPr>
              <a:t>-code                           x                                              y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546A0A6-F3EA-CD6B-D00A-6E05D0EE4E32}"/>
              </a:ext>
            </a:extLst>
          </p:cNvPr>
          <p:cNvSpPr txBox="1"/>
          <p:nvPr/>
        </p:nvSpPr>
        <p:spPr>
          <a:xfrm>
            <a:off x="3275856" y="3068960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/>
              <a:t>cross</a:t>
            </a:r>
            <a:r>
              <a:rPr kumimoji="1" lang="en-US" altLang="ja-JP" sz="2800" dirty="0" err="1"/>
              <a:t>_dmp.out</a:t>
            </a:r>
            <a:endParaRPr kumimoji="1" lang="ja-JP" altLang="en-US" sz="28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1A6DBF1-FC93-2989-94EB-FEB287BDC631}"/>
              </a:ext>
            </a:extLst>
          </p:cNvPr>
          <p:cNvSpPr txBox="1"/>
          <p:nvPr/>
        </p:nvSpPr>
        <p:spPr>
          <a:xfrm>
            <a:off x="3079406" y="1185247"/>
            <a:ext cx="2858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/>
              <a:t>cross</a:t>
            </a:r>
            <a:r>
              <a:rPr kumimoji="1" lang="en-US" altLang="ja-JP" sz="2800" dirty="0" err="1"/>
              <a:t>.out</a:t>
            </a:r>
            <a:r>
              <a:rPr kumimoji="1" lang="en-US" altLang="ja-JP" sz="2800" dirty="0"/>
              <a:t> (Line 29)</a:t>
            </a:r>
            <a:endParaRPr kumimoji="1" lang="ja-JP" altLang="en-US" sz="28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2CE1BF3-1E55-2FB9-3C2C-BF181871AD41}"/>
              </a:ext>
            </a:extLst>
          </p:cNvPr>
          <p:cNvSpPr txBox="1"/>
          <p:nvPr/>
        </p:nvSpPr>
        <p:spPr>
          <a:xfrm>
            <a:off x="1943009" y="1766780"/>
            <a:ext cx="4572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altLang="ja-JP" dirty="0"/>
              <a:t>#  num     area         all     </a:t>
            </a:r>
          </a:p>
          <a:p>
            <a:r>
              <a:rPr lang="pt-BR" altLang="ja-JP" dirty="0"/>
              <a:t>     1     1.0000E+00   2.2713E+06  0.0027</a:t>
            </a:r>
            <a:endParaRPr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325C5EF-6EDA-4FF6-19CB-324E351F8830}"/>
              </a:ext>
            </a:extLst>
          </p:cNvPr>
          <p:cNvSpPr txBox="1"/>
          <p:nvPr/>
        </p:nvSpPr>
        <p:spPr>
          <a:xfrm>
            <a:off x="1618216" y="2483604"/>
            <a:ext cx="5906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Number of photons per second injected to the scoring box from infinite field contaminated by Cs-137 in 1 </a:t>
            </a:r>
            <a:r>
              <a:rPr kumimoji="1" lang="en-US" altLang="ja-JP" dirty="0" err="1">
                <a:solidFill>
                  <a:srgbClr val="FF0000"/>
                </a:solidFill>
              </a:rPr>
              <a:t>Bq</a:t>
            </a:r>
            <a:r>
              <a:rPr kumimoji="1" lang="en-US" altLang="ja-JP" dirty="0">
                <a:solidFill>
                  <a:srgbClr val="FF0000"/>
                </a:solidFill>
              </a:rPr>
              <a:t>/cm2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AB9F2B3-4079-90DF-17FF-17E75047F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7142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8247-88CB-D6CA-31BA-084743C6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AB11D3-3405-198C-8366-878B1281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>
                <a:latin typeface="Arial" pitchFamily="18"/>
              </a:rPr>
              <a:t>Step 4 (Dump data source)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6738A48-E661-EAE5-36E9-F6F09D8A83BE}"/>
              </a:ext>
            </a:extLst>
          </p:cNvPr>
          <p:cNvSpPr/>
          <p:nvPr/>
        </p:nvSpPr>
        <p:spPr>
          <a:xfrm>
            <a:off x="3494835" y="1654177"/>
            <a:ext cx="2016220" cy="134932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6B0C26EE-4132-BE78-29E5-A440C4667A54}"/>
              </a:ext>
            </a:extLst>
          </p:cNvPr>
          <p:cNvCxnSpPr>
            <a:cxnSpLocks/>
          </p:cNvCxnSpPr>
          <p:nvPr/>
        </p:nvCxnSpPr>
        <p:spPr>
          <a:xfrm flipH="1" flipV="1">
            <a:off x="5042909" y="1667215"/>
            <a:ext cx="501088" cy="202242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52E4F094-C8B0-AFDF-D276-6BCC330DD880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3448487" y="1882116"/>
            <a:ext cx="494509" cy="154539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5977774-1B2E-4A65-0BD8-CA0AEB0BB3EB}"/>
              </a:ext>
            </a:extLst>
          </p:cNvPr>
          <p:cNvSpPr/>
          <p:nvPr/>
        </p:nvSpPr>
        <p:spPr>
          <a:xfrm>
            <a:off x="2807727" y="2996952"/>
            <a:ext cx="3528546" cy="239221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B20B9D7F-05DD-5A1E-32CD-94AE4D63D32B}"/>
              </a:ext>
            </a:extLst>
          </p:cNvPr>
          <p:cNvCxnSpPr/>
          <p:nvPr/>
        </p:nvCxnSpPr>
        <p:spPr>
          <a:xfrm>
            <a:off x="3140915" y="1474200"/>
            <a:ext cx="0" cy="1512168"/>
          </a:xfrm>
          <a:prstGeom prst="line">
            <a:avLst/>
          </a:prstGeom>
          <a:ln w="571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DEBC9136-CE30-35CF-85E6-8F63B25605C0}"/>
              </a:ext>
            </a:extLst>
          </p:cNvPr>
          <p:cNvCxnSpPr/>
          <p:nvPr/>
        </p:nvCxnSpPr>
        <p:spPr>
          <a:xfrm>
            <a:off x="5877219" y="1474200"/>
            <a:ext cx="0" cy="1512168"/>
          </a:xfrm>
          <a:prstGeom prst="line">
            <a:avLst/>
          </a:prstGeom>
          <a:ln w="571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0973E0A6-EF2B-A6B7-0C97-CADA71F73F22}"/>
              </a:ext>
            </a:extLst>
          </p:cNvPr>
          <p:cNvSpPr/>
          <p:nvPr/>
        </p:nvSpPr>
        <p:spPr>
          <a:xfrm>
            <a:off x="5445171" y="1768336"/>
            <a:ext cx="133429" cy="12243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8598B4A4-01BC-D4DC-E3F3-506AF6A02C6A}"/>
              </a:ext>
            </a:extLst>
          </p:cNvPr>
          <p:cNvSpPr/>
          <p:nvPr/>
        </p:nvSpPr>
        <p:spPr>
          <a:xfrm>
            <a:off x="3428947" y="1932148"/>
            <a:ext cx="133429" cy="12243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0D083E48-145D-4934-8B27-C0ECFBA97D64}"/>
              </a:ext>
            </a:extLst>
          </p:cNvPr>
          <p:cNvSpPr/>
          <p:nvPr/>
        </p:nvSpPr>
        <p:spPr>
          <a:xfrm>
            <a:off x="5445171" y="2517550"/>
            <a:ext cx="133429" cy="12243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5BE5EF50-346C-55F2-5755-1A43FEBCFE71}"/>
              </a:ext>
            </a:extLst>
          </p:cNvPr>
          <p:cNvSpPr/>
          <p:nvPr/>
        </p:nvSpPr>
        <p:spPr>
          <a:xfrm>
            <a:off x="3439534" y="2429366"/>
            <a:ext cx="133429" cy="12243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13C5FE8-6D33-60AC-16EE-5D2BE9DB5E58}"/>
              </a:ext>
            </a:extLst>
          </p:cNvPr>
          <p:cNvSpPr txBox="1"/>
          <p:nvPr/>
        </p:nvSpPr>
        <p:spPr>
          <a:xfrm>
            <a:off x="3658034" y="1228690"/>
            <a:ext cx="17871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Scoring</a:t>
            </a:r>
            <a:r>
              <a:rPr kumimoji="1" lang="ja-JP" altLang="en-US" sz="2000" dirty="0"/>
              <a:t> </a:t>
            </a:r>
            <a:r>
              <a:rPr kumimoji="1" lang="en-US" altLang="ja-JP" sz="2000" dirty="0"/>
              <a:t>box</a:t>
            </a:r>
            <a:endParaRPr kumimoji="1" lang="ja-JP" altLang="en-US" sz="2000" dirty="0"/>
          </a:p>
        </p:txBody>
      </p:sp>
      <p:sp>
        <p:nvSpPr>
          <p:cNvPr id="8" name="Text Box 1031">
            <a:extLst>
              <a:ext uri="{FF2B5EF4-FFF2-40B4-BE49-F238E27FC236}">
                <a16:creationId xmlns:a16="http://schemas.microsoft.com/office/drawing/2014/main" id="{070DD947-7A50-8B00-3EAB-C18EAD53C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980" y="3947983"/>
            <a:ext cx="2286750" cy="196741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[ Source ] 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off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[ Source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</a:t>
            </a:r>
            <a:r>
              <a:rPr lang="en-US" altLang="ja-JP" sz="1400" dirty="0" err="1">
                <a:latin typeface="Tahoma" panose="020B0604030504040204" pitchFamily="34" charset="0"/>
              </a:rPr>
              <a:t>totfact</a:t>
            </a:r>
            <a:r>
              <a:rPr lang="en-US" altLang="ja-JP" sz="1400" dirty="0">
                <a:latin typeface="Tahoma" panose="020B0604030504040204" pitchFamily="34" charset="0"/>
              </a:rPr>
              <a:t> =   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2.2713E+06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s-type =     17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file = </a:t>
            </a:r>
            <a:r>
              <a:rPr lang="en-US" altLang="ja-JP" sz="1400" dirty="0" err="1">
                <a:latin typeface="Tahoma" panose="020B0604030504040204" pitchFamily="34" charset="0"/>
              </a:rPr>
              <a:t>cross_dmp.out</a:t>
            </a:r>
            <a:r>
              <a:rPr lang="en-US" altLang="ja-JP" sz="1400" dirty="0">
                <a:latin typeface="Tahoma" panose="020B060403050404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</a:t>
            </a:r>
            <a:r>
              <a:rPr lang="en-US" altLang="ja-JP" sz="1400" dirty="0" err="1">
                <a:latin typeface="Tahoma" panose="020B0604030504040204" pitchFamily="34" charset="0"/>
              </a:rPr>
              <a:t>proj</a:t>
            </a:r>
            <a:r>
              <a:rPr lang="en-US" altLang="ja-JP" sz="1400" dirty="0">
                <a:latin typeface="Tahoma" panose="020B0604030504040204" pitchFamily="34" charset="0"/>
              </a:rPr>
              <a:t> =   photon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dump = -8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        1 2 3 4 5 6 7 8</a:t>
            </a:r>
            <a:endParaRPr lang="pt-BR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0E2B62F-0851-01F7-684E-4C1A394FBA9E}"/>
              </a:ext>
            </a:extLst>
          </p:cNvPr>
          <p:cNvSpPr txBox="1"/>
          <p:nvPr/>
        </p:nvSpPr>
        <p:spPr>
          <a:xfrm>
            <a:off x="1112362" y="4331219"/>
            <a:ext cx="1568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Remove “off”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0" name="Text Box 1031">
            <a:extLst>
              <a:ext uri="{FF2B5EF4-FFF2-40B4-BE49-F238E27FC236}">
                <a16:creationId xmlns:a16="http://schemas.microsoft.com/office/drawing/2014/main" id="{81F9A865-60BB-3396-5015-B8AE47B1C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0806" y="3458596"/>
            <a:ext cx="1842264" cy="248390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[ T-cross ] 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off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file = </a:t>
            </a:r>
            <a:r>
              <a:rPr lang="en-US" altLang="ja-JP" sz="1400" dirty="0" err="1">
                <a:latin typeface="Tahoma" panose="020B0604030504040204" pitchFamily="34" charset="0"/>
              </a:rPr>
              <a:t>cross.out</a:t>
            </a:r>
            <a:endParaRPr lang="en-US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[ T-product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 file = source.out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 output = source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 mesh = xyz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 x-type =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 nx     =  100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...</a:t>
            </a:r>
          </a:p>
        </p:txBody>
      </p:sp>
      <p:sp>
        <p:nvSpPr>
          <p:cNvPr id="11" name="Text Box 1031">
            <a:extLst>
              <a:ext uri="{FF2B5EF4-FFF2-40B4-BE49-F238E27FC236}">
                <a16:creationId xmlns:a16="http://schemas.microsoft.com/office/drawing/2014/main" id="{45479C12-95E1-AF56-9101-192DBA12E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566" y="1484784"/>
            <a:ext cx="1667830" cy="132825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[ Surface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101  </a:t>
            </a:r>
            <a:r>
              <a:rPr lang="en-US" altLang="ja-JP" sz="1400" dirty="0" err="1">
                <a:latin typeface="Tahoma" panose="020B0604030504040204" pitchFamily="34" charset="0"/>
              </a:rPr>
              <a:t>px</a:t>
            </a:r>
            <a:r>
              <a:rPr lang="en-US" altLang="ja-JP" sz="1400" dirty="0">
                <a:latin typeface="Tahoma" panose="020B0604030504040204" pitchFamily="34" charset="0"/>
              </a:rPr>
              <a:t> -0.5*c3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102  </a:t>
            </a:r>
            <a:r>
              <a:rPr lang="en-US" altLang="ja-JP" sz="1400" dirty="0" err="1">
                <a:latin typeface="Tahoma" panose="020B0604030504040204" pitchFamily="34" charset="0"/>
              </a:rPr>
              <a:t>px</a:t>
            </a:r>
            <a:r>
              <a:rPr lang="en-US" altLang="ja-JP" sz="1400" dirty="0">
                <a:latin typeface="Tahoma" panose="020B0604030504040204" pitchFamily="34" charset="0"/>
              </a:rPr>
              <a:t>  0.5*c3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103  </a:t>
            </a:r>
            <a:r>
              <a:rPr lang="en-US" altLang="ja-JP" sz="1400" dirty="0" err="1">
                <a:latin typeface="Tahoma" panose="020B0604030504040204" pitchFamily="34" charset="0"/>
              </a:rPr>
              <a:t>py</a:t>
            </a:r>
            <a:r>
              <a:rPr lang="en-US" altLang="ja-JP" sz="1400" dirty="0">
                <a:latin typeface="Tahoma" panose="020B0604030504040204" pitchFamily="34" charset="0"/>
              </a:rPr>
              <a:t> -0.5*c3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104  </a:t>
            </a:r>
            <a:r>
              <a:rPr lang="en-US" altLang="ja-JP" sz="1400" dirty="0" err="1">
                <a:latin typeface="Tahoma" panose="020B0604030504040204" pitchFamily="34" charset="0"/>
              </a:rPr>
              <a:t>py</a:t>
            </a:r>
            <a:r>
              <a:rPr lang="en-US" altLang="ja-JP" sz="1400" dirty="0">
                <a:latin typeface="Tahoma" panose="020B0604030504040204" pitchFamily="34" charset="0"/>
              </a:rPr>
              <a:t>  0.5*c3</a:t>
            </a:r>
            <a:endParaRPr lang="pt-BR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E45B0AE-697E-BE55-0EC1-E846CD069A48}"/>
              </a:ext>
            </a:extLst>
          </p:cNvPr>
          <p:cNvSpPr/>
          <p:nvPr/>
        </p:nvSpPr>
        <p:spPr>
          <a:xfrm>
            <a:off x="395536" y="1998132"/>
            <a:ext cx="133429" cy="78279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98039D0-1574-C968-2FDB-D38E30C8E155}"/>
              </a:ext>
            </a:extLst>
          </p:cNvPr>
          <p:cNvSpPr txBox="1"/>
          <p:nvPr/>
        </p:nvSpPr>
        <p:spPr>
          <a:xfrm>
            <a:off x="109520" y="2904029"/>
            <a:ext cx="2662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Remove * to make them normal boundary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71D1937D-1B0E-8E8B-D640-D3D3A9D6389C}"/>
              </a:ext>
            </a:extLst>
          </p:cNvPr>
          <p:cNvCxnSpPr>
            <a:cxnSpLocks/>
          </p:cNvCxnSpPr>
          <p:nvPr/>
        </p:nvCxnSpPr>
        <p:spPr>
          <a:xfrm flipV="1">
            <a:off x="3457207" y="2380715"/>
            <a:ext cx="545430" cy="117638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00856ED9-8390-C3B1-E856-51716EC011B9}"/>
              </a:ext>
            </a:extLst>
          </p:cNvPr>
          <p:cNvCxnSpPr>
            <a:cxnSpLocks/>
          </p:cNvCxnSpPr>
          <p:nvPr/>
        </p:nvCxnSpPr>
        <p:spPr>
          <a:xfrm flipH="1" flipV="1">
            <a:off x="5028016" y="2462358"/>
            <a:ext cx="456345" cy="94843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F9CDDA22-1A89-D6DB-704E-489C7ACC6F6B}"/>
              </a:ext>
            </a:extLst>
          </p:cNvPr>
          <p:cNvSpPr/>
          <p:nvPr/>
        </p:nvSpPr>
        <p:spPr>
          <a:xfrm>
            <a:off x="3724878" y="4591284"/>
            <a:ext cx="1440160" cy="44791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9C2138E-65BD-4A1B-901A-2D6785A2F2EB}"/>
              </a:ext>
            </a:extLst>
          </p:cNvPr>
          <p:cNvSpPr txBox="1"/>
          <p:nvPr/>
        </p:nvSpPr>
        <p:spPr>
          <a:xfrm>
            <a:off x="5715775" y="3874513"/>
            <a:ext cx="29710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rgbClr val="FF0000"/>
                </a:solidFill>
              </a:rPr>
              <a:t>Copy [T-track] tally with</a:t>
            </a:r>
          </a:p>
          <a:p>
            <a:pPr algn="ctr"/>
            <a:r>
              <a:rPr kumimoji="1" lang="en-US" altLang="ja-JP" sz="2000" dirty="0">
                <a:solidFill>
                  <a:srgbClr val="FF0000"/>
                </a:solidFill>
              </a:rPr>
              <a:t>file=</a:t>
            </a:r>
            <a:r>
              <a:rPr kumimoji="1" lang="en-US" altLang="ja-JP" sz="2000" dirty="0" err="1">
                <a:solidFill>
                  <a:srgbClr val="FF0000"/>
                </a:solidFill>
              </a:rPr>
              <a:t>track_inside.out</a:t>
            </a:r>
            <a:endParaRPr kumimoji="1" lang="en-US" altLang="ja-JP" sz="2000" dirty="0">
              <a:solidFill>
                <a:srgbClr val="FF0000"/>
              </a:solidFill>
            </a:endParaRPr>
          </a:p>
          <a:p>
            <a:pPr algn="ctr"/>
            <a:r>
              <a:rPr lang="en-US" altLang="ja-JP" sz="2000" dirty="0">
                <a:solidFill>
                  <a:srgbClr val="FF0000"/>
                </a:solidFill>
              </a:rPr>
              <a:t>and modify the contents in red frame</a:t>
            </a:r>
          </a:p>
          <a:p>
            <a:pPr algn="ctr"/>
            <a:r>
              <a:rPr lang="en-US" altLang="ja-JP" sz="2000" dirty="0">
                <a:solidFill>
                  <a:srgbClr val="FF0000"/>
                </a:solidFill>
              </a:rPr>
              <a:t>output=source to display source positions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9F5A411-D388-9D15-949B-2224E1E7C4F7}"/>
              </a:ext>
            </a:extLst>
          </p:cNvPr>
          <p:cNvSpPr txBox="1"/>
          <p:nvPr/>
        </p:nvSpPr>
        <p:spPr>
          <a:xfrm>
            <a:off x="2101703" y="6291983"/>
            <a:ext cx="4940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rgbClr val="FF0000"/>
                </a:solidFill>
              </a:rPr>
              <a:t>Execute PHITS and check </a:t>
            </a:r>
            <a:r>
              <a:rPr lang="en-US" altLang="ja-JP" sz="2400" dirty="0" err="1">
                <a:solidFill>
                  <a:srgbClr val="FF0000"/>
                </a:solidFill>
              </a:rPr>
              <a:t>source.eps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15" name="スライド番号プレースホルダー 14">
            <a:extLst>
              <a:ext uri="{FF2B5EF4-FFF2-40B4-BE49-F238E27FC236}">
                <a16:creationId xmlns:a16="http://schemas.microsoft.com/office/drawing/2014/main" id="{C027AAA4-5AEC-69BD-0085-B2539032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257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8247-88CB-D6CA-31BA-084743C6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AB11D3-3405-198C-8366-878B1281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Arial" pitchFamily="18"/>
              </a:rPr>
              <a:t>Step 4 (Dump data source) Result</a:t>
            </a:r>
            <a:endParaRPr kumimoji="1"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1158D26-4EBC-7234-FED6-0CCFE0E3AC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9051" r="4743" b="3801"/>
          <a:stretch/>
        </p:blipFill>
        <p:spPr>
          <a:xfrm>
            <a:off x="2691746" y="908720"/>
            <a:ext cx="3760508" cy="4634115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8546968-18F2-1725-9D7D-EC5CC5DBC75D}"/>
              </a:ext>
            </a:extLst>
          </p:cNvPr>
          <p:cNvSpPr txBox="1"/>
          <p:nvPr/>
        </p:nvSpPr>
        <p:spPr>
          <a:xfrm>
            <a:off x="3606249" y="5454619"/>
            <a:ext cx="1931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err="1"/>
              <a:t>source.eps</a:t>
            </a:r>
            <a:endParaRPr kumimoji="1" lang="ja-JP" altLang="en-US" sz="28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B577D4C-E4CA-85EC-9A1D-254E85AFB125}"/>
              </a:ext>
            </a:extLst>
          </p:cNvPr>
          <p:cNvSpPr txBox="1"/>
          <p:nvPr/>
        </p:nvSpPr>
        <p:spPr>
          <a:xfrm>
            <a:off x="827584" y="6074132"/>
            <a:ext cx="7416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>
                <a:solidFill>
                  <a:srgbClr val="FF0000"/>
                </a:solidFill>
              </a:rPr>
              <a:t>Source positions are shown along the scoring</a:t>
            </a:r>
            <a:r>
              <a:rPr lang="ja-JP" altLang="en-US" sz="2800" dirty="0">
                <a:solidFill>
                  <a:srgbClr val="FF0000"/>
                </a:solidFill>
              </a:rPr>
              <a:t> </a:t>
            </a:r>
            <a:r>
              <a:rPr lang="en-US" altLang="ja-JP" sz="2800" dirty="0">
                <a:solidFill>
                  <a:srgbClr val="FF0000"/>
                </a:solidFill>
              </a:rPr>
              <a:t>box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1167D1-B50F-B11C-86BE-09C1B58A4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5203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8247-88CB-D6CA-31BA-084743C6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AB11D3-3405-198C-8366-878B1281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>
                <a:latin typeface="Arial" pitchFamily="18"/>
              </a:rPr>
              <a:t>Step 5 (External source)</a:t>
            </a:r>
            <a:endParaRPr kumimoji="1" lang="ja-JP" altLang="en-US" dirty="0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C421AC81-3A61-C11F-5737-8798159F5172}"/>
              </a:ext>
            </a:extLst>
          </p:cNvPr>
          <p:cNvGrpSpPr/>
          <p:nvPr/>
        </p:nvGrpSpPr>
        <p:grpSpPr>
          <a:xfrm>
            <a:off x="2807727" y="1443543"/>
            <a:ext cx="3528546" cy="1963164"/>
            <a:chOff x="2807727" y="912969"/>
            <a:chExt cx="3528546" cy="1963164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D8BB5EE-08E2-EF48-858A-BEA2EEFA2A9C}"/>
                </a:ext>
              </a:extLst>
            </p:cNvPr>
            <p:cNvSpPr/>
            <p:nvPr/>
          </p:nvSpPr>
          <p:spPr>
            <a:xfrm>
              <a:off x="2807727" y="2636912"/>
              <a:ext cx="3528546" cy="239221"/>
            </a:xfrm>
            <a:prstGeom prst="rect">
              <a:avLst/>
            </a:prstGeom>
            <a:solidFill>
              <a:srgbClr val="808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98DEF17-96D3-20F7-C52C-EA91D11567FD}"/>
                </a:ext>
              </a:extLst>
            </p:cNvPr>
            <p:cNvSpPr/>
            <p:nvPr/>
          </p:nvSpPr>
          <p:spPr>
            <a:xfrm>
              <a:off x="3577707" y="1287586"/>
              <a:ext cx="2016220" cy="1349325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AFDAF2DD-C138-37FC-AD0C-752D199D867D}"/>
                </a:ext>
              </a:extLst>
            </p:cNvPr>
            <p:cNvSpPr/>
            <p:nvPr/>
          </p:nvSpPr>
          <p:spPr>
            <a:xfrm>
              <a:off x="4208632" y="1916833"/>
              <a:ext cx="723408" cy="72008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E06CE2F7-E5FB-B4AB-F46C-C345C94525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55314" y="2077024"/>
              <a:ext cx="309854" cy="6709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0E4B4FB8-4999-A7BC-5435-53206D21A9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3526" y="1544178"/>
              <a:ext cx="279667" cy="101267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30A88072-DAC5-FE8A-9ED6-032975A418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65418" y="1369054"/>
              <a:ext cx="278612" cy="11953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CE73A57A-EEC3-5D7C-644F-A2FCCFBF6B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4092" y="2149501"/>
              <a:ext cx="330996" cy="67176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楕円 35">
              <a:extLst>
                <a:ext uri="{FF2B5EF4-FFF2-40B4-BE49-F238E27FC236}">
                  <a16:creationId xmlns:a16="http://schemas.microsoft.com/office/drawing/2014/main" id="{51E2A503-445F-8688-DC79-CB2EDC93ECC0}"/>
                </a:ext>
              </a:extLst>
            </p:cNvPr>
            <p:cNvSpPr/>
            <p:nvPr/>
          </p:nvSpPr>
          <p:spPr>
            <a:xfrm>
              <a:off x="5560703" y="1421865"/>
              <a:ext cx="133429" cy="122438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楕円 36">
              <a:extLst>
                <a:ext uri="{FF2B5EF4-FFF2-40B4-BE49-F238E27FC236}">
                  <a16:creationId xmlns:a16="http://schemas.microsoft.com/office/drawing/2014/main" id="{9DA64FA4-38B8-1B7C-1DFA-1FC3E29D193E}"/>
                </a:ext>
              </a:extLst>
            </p:cNvPr>
            <p:cNvSpPr/>
            <p:nvPr/>
          </p:nvSpPr>
          <p:spPr>
            <a:xfrm>
              <a:off x="3544479" y="1585677"/>
              <a:ext cx="133429" cy="122438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楕円 37">
              <a:extLst>
                <a:ext uri="{FF2B5EF4-FFF2-40B4-BE49-F238E27FC236}">
                  <a16:creationId xmlns:a16="http://schemas.microsoft.com/office/drawing/2014/main" id="{4BDBB2DB-5D7C-BA80-5001-E1A2D6275E45}"/>
                </a:ext>
              </a:extLst>
            </p:cNvPr>
            <p:cNvSpPr/>
            <p:nvPr/>
          </p:nvSpPr>
          <p:spPr>
            <a:xfrm>
              <a:off x="5539529" y="2171079"/>
              <a:ext cx="133429" cy="122438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楕円 38">
              <a:extLst>
                <a:ext uri="{FF2B5EF4-FFF2-40B4-BE49-F238E27FC236}">
                  <a16:creationId xmlns:a16="http://schemas.microsoft.com/office/drawing/2014/main" id="{E428236E-6C6A-E3BB-4DC3-D6C854A407BD}"/>
                </a:ext>
              </a:extLst>
            </p:cNvPr>
            <p:cNvSpPr/>
            <p:nvPr/>
          </p:nvSpPr>
          <p:spPr>
            <a:xfrm>
              <a:off x="3533892" y="2082895"/>
              <a:ext cx="133429" cy="122438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BB7023CD-F06E-FF92-270F-62DEE6F84EFE}"/>
                </a:ext>
              </a:extLst>
            </p:cNvPr>
            <p:cNvSpPr txBox="1"/>
            <p:nvPr/>
          </p:nvSpPr>
          <p:spPr>
            <a:xfrm>
              <a:off x="3124694" y="912969"/>
              <a:ext cx="29179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/>
                <a:t>External source (</a:t>
              </a:r>
              <a:r>
                <a:rPr lang="en-US" altLang="ja-JP" dirty="0">
                  <a:solidFill>
                    <a:srgbClr val="FF0000"/>
                  </a:solidFill>
                </a:rPr>
                <a:t>Dump data</a:t>
              </a:r>
              <a:r>
                <a:rPr lang="en-US" altLang="ja-JP" dirty="0"/>
                <a:t>)</a:t>
              </a:r>
              <a:endParaRPr kumimoji="1" lang="ja-JP" altLang="en-US" dirty="0"/>
            </a:p>
          </p:txBody>
        </p:sp>
      </p:grpSp>
      <p:sp>
        <p:nvSpPr>
          <p:cNvPr id="3" name="Text Box 1031">
            <a:extLst>
              <a:ext uri="{FF2B5EF4-FFF2-40B4-BE49-F238E27FC236}">
                <a16:creationId xmlns:a16="http://schemas.microsoft.com/office/drawing/2014/main" id="{36DFE66D-9184-45B1-21D7-7DEB53D03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980" y="3525063"/>
            <a:ext cx="3928652" cy="28562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[ Surface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50  </a:t>
            </a:r>
            <a:r>
              <a:rPr lang="en-US" altLang="ja-JP" sz="1400" dirty="0" err="1">
                <a:latin typeface="Tahoma" panose="020B0604030504040204" pitchFamily="34" charset="0"/>
              </a:rPr>
              <a:t>rpp</a:t>
            </a:r>
            <a:r>
              <a:rPr lang="en-US" altLang="ja-JP" sz="1400" dirty="0">
                <a:latin typeface="Tahoma" panose="020B0604030504040204" pitchFamily="34" charset="0"/>
              </a:rPr>
              <a:t> -248.0 248.0 -248.0 248.0  2.0 498.0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51  </a:t>
            </a:r>
            <a:r>
              <a:rPr lang="en-US" altLang="ja-JP" sz="1400" dirty="0" err="1">
                <a:latin typeface="Tahoma" panose="020B0604030504040204" pitchFamily="34" charset="0"/>
              </a:rPr>
              <a:t>rpp</a:t>
            </a:r>
            <a:r>
              <a:rPr lang="en-US" altLang="ja-JP" sz="1400" dirty="0">
                <a:latin typeface="Tahoma" panose="020B0604030504040204" pitchFamily="34" charset="0"/>
              </a:rPr>
              <a:t> -250.0 250.0 -250.0 250.0  0.0 500.0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52  </a:t>
            </a:r>
            <a:r>
              <a:rPr lang="en-US" altLang="ja-JP" sz="1400" dirty="0" err="1">
                <a:latin typeface="Tahoma" panose="020B0604030504040204" pitchFamily="34" charset="0"/>
              </a:rPr>
              <a:t>rpp</a:t>
            </a:r>
            <a:r>
              <a:rPr lang="en-US" altLang="ja-JP" sz="1400" dirty="0">
                <a:latin typeface="Tahoma" panose="020B0604030504040204" pitchFamily="34" charset="0"/>
              </a:rPr>
              <a:t> -250.0 250.0 -250.0 250.0 -50.0  0.0 </a:t>
            </a:r>
            <a:endParaRPr lang="pt-BR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[ Cell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10  1 -1.2e-3  -10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11  1 -1.2e-3   10 -50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50  3 -0.64     50 -51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20  2 -c2     -910 900 -901 -52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100  1 -1.2e-3  -910 901 -902 51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200  2 -c2     -910 900 -901  52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900 -1           910:-900:902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ja-JP" sz="1400" dirty="0">
              <a:latin typeface="Tahoma" panose="020B0604030504040204" pitchFamily="34" charset="0"/>
            </a:endParaRPr>
          </a:p>
        </p:txBody>
      </p:sp>
      <p:sp>
        <p:nvSpPr>
          <p:cNvPr id="4" name="Text Box 1031">
            <a:extLst>
              <a:ext uri="{FF2B5EF4-FFF2-40B4-BE49-F238E27FC236}">
                <a16:creationId xmlns:a16="http://schemas.microsoft.com/office/drawing/2014/main" id="{82D1F0F4-AF76-8F7B-B8C4-F140D48BF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7088" y="3522937"/>
            <a:ext cx="3928652" cy="167748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[ Source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</a:t>
            </a:r>
            <a:r>
              <a:rPr lang="en-US" altLang="ja-JP" sz="1400" dirty="0" err="1">
                <a:latin typeface="Tahoma" panose="020B0604030504040204" pitchFamily="34" charset="0"/>
              </a:rPr>
              <a:t>totfact</a:t>
            </a:r>
            <a:r>
              <a:rPr lang="en-US" altLang="ja-JP" sz="1400" dirty="0">
                <a:latin typeface="Tahoma" panose="020B0604030504040204" pitchFamily="34" charset="0"/>
              </a:rPr>
              <a:t> = 2.2713E+06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s-type =     17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file = </a:t>
            </a:r>
            <a:r>
              <a:rPr lang="en-US" altLang="ja-JP" sz="1400" dirty="0" err="1">
                <a:latin typeface="Tahoma" panose="020B0604030504040204" pitchFamily="34" charset="0"/>
              </a:rPr>
              <a:t>cross_dmp.out</a:t>
            </a:r>
            <a:r>
              <a:rPr lang="en-US" altLang="ja-JP" sz="1400" dirty="0">
                <a:latin typeface="Tahoma" panose="020B060403050404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</a:t>
            </a:r>
            <a:r>
              <a:rPr lang="en-US" altLang="ja-JP" sz="1400" dirty="0" err="1">
                <a:latin typeface="Tahoma" panose="020B0604030504040204" pitchFamily="34" charset="0"/>
              </a:rPr>
              <a:t>proj</a:t>
            </a:r>
            <a:r>
              <a:rPr lang="en-US" altLang="ja-JP" sz="1400" dirty="0">
                <a:latin typeface="Tahoma" panose="020B0604030504040204" pitchFamily="34" charset="0"/>
              </a:rPr>
              <a:t> =   photon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dump = -8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        1 2 3 4 5 6 7 8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FEB0617-82C4-974C-1CBF-A62360CD345E}"/>
              </a:ext>
            </a:extLst>
          </p:cNvPr>
          <p:cNvSpPr txBox="1"/>
          <p:nvPr/>
        </p:nvSpPr>
        <p:spPr>
          <a:xfrm>
            <a:off x="3124694" y="812199"/>
            <a:ext cx="291798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2800" u="sng" dirty="0" err="1">
                <a:solidFill>
                  <a:srgbClr val="FF0000"/>
                </a:solidFill>
              </a:rPr>
              <a:t>external</a:t>
            </a:r>
            <a:r>
              <a:rPr kumimoji="1" lang="en-US" altLang="ja-JP" sz="2800" u="sng" dirty="0" err="1">
                <a:solidFill>
                  <a:srgbClr val="FF0000"/>
                </a:solidFill>
              </a:rPr>
              <a:t>source.inp</a:t>
            </a:r>
            <a:endParaRPr kumimoji="1" lang="ja-JP" altLang="en-US" sz="2800" u="sng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EA57932-5723-956B-68C1-E64A463E6383}"/>
              </a:ext>
            </a:extLst>
          </p:cNvPr>
          <p:cNvSpPr txBox="1"/>
          <p:nvPr/>
        </p:nvSpPr>
        <p:spPr>
          <a:xfrm>
            <a:off x="-135087" y="6397366"/>
            <a:ext cx="9279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rgbClr val="FF0000"/>
                </a:solidFill>
              </a:rPr>
              <a:t>Execute with </a:t>
            </a:r>
            <a:r>
              <a:rPr kumimoji="1" lang="en-US" altLang="ja-JP" sz="2000" dirty="0" err="1">
                <a:solidFill>
                  <a:srgbClr val="FF0000"/>
                </a:solidFill>
              </a:rPr>
              <a:t>externalsource.inp</a:t>
            </a:r>
            <a:r>
              <a:rPr kumimoji="1" lang="en-US" altLang="ja-JP" sz="2000" dirty="0">
                <a:solidFill>
                  <a:srgbClr val="FF0000"/>
                </a:solidFill>
              </a:rPr>
              <a:t> and then check track_inside1.eps</a:t>
            </a:r>
            <a:r>
              <a:rPr lang="ja-JP" altLang="en-US" sz="2000" dirty="0">
                <a:solidFill>
                  <a:srgbClr val="FF0000"/>
                </a:solidFill>
              </a:rPr>
              <a:t> </a:t>
            </a:r>
            <a:r>
              <a:rPr lang="en-US" altLang="ja-JP" sz="2000" dirty="0">
                <a:solidFill>
                  <a:srgbClr val="FF0000"/>
                </a:solidFill>
              </a:rPr>
              <a:t>and </a:t>
            </a:r>
            <a:r>
              <a:rPr kumimoji="1" lang="en-US" altLang="ja-JP" sz="2000" dirty="0">
                <a:solidFill>
                  <a:srgbClr val="FF0000"/>
                </a:solidFill>
              </a:rPr>
              <a:t>dose1.out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3868EAB-EE6C-D763-5694-94C6E074A79E}"/>
              </a:ext>
            </a:extLst>
          </p:cNvPr>
          <p:cNvSpPr txBox="1"/>
          <p:nvPr/>
        </p:nvSpPr>
        <p:spPr>
          <a:xfrm>
            <a:off x="6125384" y="2013658"/>
            <a:ext cx="1903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Hut</a:t>
            </a:r>
            <a:r>
              <a:rPr lang="ja-JP" altLang="en-US" dirty="0"/>
              <a:t> </a:t>
            </a:r>
            <a:r>
              <a:rPr lang="en-US" altLang="ja-JP" dirty="0"/>
              <a:t>made</a:t>
            </a:r>
            <a:r>
              <a:rPr lang="ja-JP" altLang="en-US" dirty="0"/>
              <a:t> </a:t>
            </a:r>
            <a:r>
              <a:rPr lang="en-US" altLang="ja-JP" dirty="0"/>
              <a:t>by</a:t>
            </a:r>
            <a:r>
              <a:rPr lang="ja-JP" altLang="en-US" dirty="0"/>
              <a:t> </a:t>
            </a:r>
            <a:r>
              <a:rPr lang="en-US" altLang="ja-JP" dirty="0"/>
              <a:t>2</a:t>
            </a:r>
            <a:r>
              <a:rPr kumimoji="1" lang="en-US" altLang="ja-JP" dirty="0"/>
              <a:t>cm wooden walls</a:t>
            </a:r>
            <a:endParaRPr kumimoji="1" lang="ja-JP" altLang="en-US" dirty="0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52BA29A3-72C4-2BD0-E12E-FE0EE9619ADF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033576" y="2336824"/>
            <a:ext cx="1091808" cy="214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35477651-2F33-FC85-4530-1056711F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411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8247-88CB-D6CA-31BA-084743C6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AB11D3-3405-198C-8366-878B1281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>
                <a:latin typeface="Arial" pitchFamily="18"/>
              </a:rPr>
              <a:t>Step 5 (External source) Result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F809736-B720-AA69-B1D6-E4FB64D32F0A}"/>
              </a:ext>
            </a:extLst>
          </p:cNvPr>
          <p:cNvSpPr txBox="1"/>
          <p:nvPr/>
        </p:nvSpPr>
        <p:spPr>
          <a:xfrm>
            <a:off x="4471944" y="2740573"/>
            <a:ext cx="442053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altLang="ja-JP" dirty="0"/>
              <a:t>#  num    reg     volume       all       r.err </a:t>
            </a:r>
          </a:p>
          <a:p>
            <a:r>
              <a:rPr lang="pt-BR" altLang="ja-JP" dirty="0"/>
              <a:t>    1      10   4.1888E+03   1.0774E-02  0.0874</a:t>
            </a:r>
            <a:endParaRPr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EC77FF1-6F92-817A-0261-CF1B9D61E571}"/>
              </a:ext>
            </a:extLst>
          </p:cNvPr>
          <p:cNvSpPr txBox="1"/>
          <p:nvPr/>
        </p:nvSpPr>
        <p:spPr>
          <a:xfrm>
            <a:off x="488796" y="6281028"/>
            <a:ext cx="2859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track_inside1.eps</a:t>
            </a:r>
            <a:endParaRPr kumimoji="1" lang="ja-JP" altLang="en-US" sz="28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D99F58E-6E9C-F110-BC08-201A620D74A2}"/>
              </a:ext>
            </a:extLst>
          </p:cNvPr>
          <p:cNvSpPr txBox="1"/>
          <p:nvPr/>
        </p:nvSpPr>
        <p:spPr>
          <a:xfrm>
            <a:off x="5089071" y="2217353"/>
            <a:ext cx="3168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dose1</a:t>
            </a:r>
            <a:r>
              <a:rPr kumimoji="1" lang="en-US" altLang="ja-JP" sz="2800" dirty="0"/>
              <a:t>.out (Line 38)</a:t>
            </a:r>
            <a:endParaRPr kumimoji="1" lang="ja-JP" altLang="en-US" sz="28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01420E9-996D-DEDB-4970-06D9BA5EC6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" t="9565" r="3352" b="3800"/>
          <a:stretch/>
        </p:blipFill>
        <p:spPr>
          <a:xfrm>
            <a:off x="131883" y="1172917"/>
            <a:ext cx="4031498" cy="5040000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EA20602-33FE-FFBA-C6E0-24758C73D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875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8247-88CB-D6CA-31BA-084743C6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AB11D3-3405-198C-8366-878B1281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>
                <a:latin typeface="Arial" pitchFamily="18"/>
              </a:rPr>
              <a:t>Step 6 (Internal source)</a:t>
            </a:r>
            <a:endParaRPr kumimoji="1" lang="ja-JP" altLang="en-US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8457211D-0B04-E222-988C-93D9FBBC13D7}"/>
              </a:ext>
            </a:extLst>
          </p:cNvPr>
          <p:cNvGrpSpPr/>
          <p:nvPr/>
        </p:nvGrpSpPr>
        <p:grpSpPr>
          <a:xfrm>
            <a:off x="2627784" y="1337410"/>
            <a:ext cx="3888432" cy="1947574"/>
            <a:chOff x="2627784" y="908720"/>
            <a:chExt cx="3888432" cy="1947574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D06AAA6A-7454-1FA1-FDF4-A1C26E9E9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4648" y="2243920"/>
              <a:ext cx="214590" cy="407815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EAE716E8-9ECD-2829-07A0-61F4725C0F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17123" y="2219196"/>
              <a:ext cx="103993" cy="433875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CEB3B424-63B3-09AE-733B-A588434E9E7F}"/>
                </a:ext>
              </a:extLst>
            </p:cNvPr>
            <p:cNvSpPr/>
            <p:nvPr/>
          </p:nvSpPr>
          <p:spPr>
            <a:xfrm>
              <a:off x="2771800" y="2617073"/>
              <a:ext cx="3528546" cy="239221"/>
            </a:xfrm>
            <a:prstGeom prst="rect">
              <a:avLst/>
            </a:prstGeom>
            <a:solidFill>
              <a:srgbClr val="808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F9A83F76-5DCF-64D2-4FE3-5BEB5DC58E60}"/>
                </a:ext>
              </a:extLst>
            </p:cNvPr>
            <p:cNvSpPr/>
            <p:nvPr/>
          </p:nvSpPr>
          <p:spPr>
            <a:xfrm>
              <a:off x="3541780" y="1267747"/>
              <a:ext cx="2016220" cy="1349325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E7C4691A-D0DE-CEAE-0F48-4899101372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1710" y="2266496"/>
              <a:ext cx="84876" cy="33927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0FB1BB82-E3EB-D27F-431C-B8E73B8ABFD3}"/>
                </a:ext>
              </a:extLst>
            </p:cNvPr>
            <p:cNvSpPr txBox="1"/>
            <p:nvPr/>
          </p:nvSpPr>
          <p:spPr>
            <a:xfrm>
              <a:off x="2627784" y="908720"/>
              <a:ext cx="38884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/>
                <a:t>Internal source (Internal ground source)</a:t>
              </a:r>
              <a:endParaRPr kumimoji="1" lang="ja-JP" altLang="en-US" dirty="0"/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40480EA8-3FF0-9D0C-F51B-75BB89BD3554}"/>
                </a:ext>
              </a:extLst>
            </p:cNvPr>
            <p:cNvSpPr/>
            <p:nvPr/>
          </p:nvSpPr>
          <p:spPr>
            <a:xfrm>
              <a:off x="4208632" y="1916833"/>
              <a:ext cx="723408" cy="72008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" name="Text Box 1031">
            <a:extLst>
              <a:ext uri="{FF2B5EF4-FFF2-40B4-BE49-F238E27FC236}">
                <a16:creationId xmlns:a16="http://schemas.microsoft.com/office/drawing/2014/main" id="{F33D2DE5-A2B9-05E3-D55D-00E938503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980" y="3453055"/>
            <a:ext cx="3928652" cy="28562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[ Surface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50  </a:t>
            </a:r>
            <a:r>
              <a:rPr lang="en-US" altLang="ja-JP" sz="1400" dirty="0" err="1">
                <a:latin typeface="Tahoma" panose="020B0604030504040204" pitchFamily="34" charset="0"/>
              </a:rPr>
              <a:t>rpp</a:t>
            </a:r>
            <a:r>
              <a:rPr lang="en-US" altLang="ja-JP" sz="1400" dirty="0">
                <a:latin typeface="Tahoma" panose="020B0604030504040204" pitchFamily="34" charset="0"/>
              </a:rPr>
              <a:t> -248.0 248.0 -248.0 248.0  2.0 498.0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51  </a:t>
            </a:r>
            <a:r>
              <a:rPr lang="en-US" altLang="ja-JP" sz="1400" dirty="0" err="1">
                <a:latin typeface="Tahoma" panose="020B0604030504040204" pitchFamily="34" charset="0"/>
              </a:rPr>
              <a:t>rpp</a:t>
            </a:r>
            <a:r>
              <a:rPr lang="en-US" altLang="ja-JP" sz="1400" dirty="0">
                <a:latin typeface="Tahoma" panose="020B0604030504040204" pitchFamily="34" charset="0"/>
              </a:rPr>
              <a:t> -250.0 250.0 -250.0 250.0  0.0 500.0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52  </a:t>
            </a:r>
            <a:r>
              <a:rPr lang="en-US" altLang="ja-JP" sz="1400" dirty="0" err="1">
                <a:latin typeface="Tahoma" panose="020B0604030504040204" pitchFamily="34" charset="0"/>
              </a:rPr>
              <a:t>rpp</a:t>
            </a:r>
            <a:r>
              <a:rPr lang="en-US" altLang="ja-JP" sz="1400" dirty="0">
                <a:latin typeface="Tahoma" panose="020B0604030504040204" pitchFamily="34" charset="0"/>
              </a:rPr>
              <a:t> -250.0 250.0 -250.0 250.0 -50.0  0.0 </a:t>
            </a:r>
            <a:endParaRPr lang="pt-BR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[ Cell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10  1 -1.2e-3  -10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11  1 -1.2e-3   10 -50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50  3 -0.64     50 -51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20  2 -c2     -910 900 -901 -52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100  1 -1.2e-3  -910 901 -902 51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200  2 -c2     -910 900 -901  52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900 -1           910:-900:902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ja-JP" sz="1400" dirty="0">
              <a:latin typeface="Tahoma" panose="020B0604030504040204" pitchFamily="34" charset="0"/>
            </a:endParaRPr>
          </a:p>
        </p:txBody>
      </p:sp>
      <p:sp>
        <p:nvSpPr>
          <p:cNvPr id="8" name="Text Box 1031">
            <a:extLst>
              <a:ext uri="{FF2B5EF4-FFF2-40B4-BE49-F238E27FC236}">
                <a16:creationId xmlns:a16="http://schemas.microsoft.com/office/drawing/2014/main" id="{25EB9007-83B4-E796-0727-326A622CA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4794" y="3453055"/>
            <a:ext cx="2490192" cy="20609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[ Source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</a:t>
            </a:r>
            <a:r>
              <a:rPr lang="en-US" altLang="ja-JP" sz="1400" dirty="0" err="1">
                <a:latin typeface="Tahoma" panose="020B0604030504040204" pitchFamily="34" charset="0"/>
              </a:rPr>
              <a:t>totfact</a:t>
            </a:r>
            <a:r>
              <a:rPr lang="en-US" altLang="ja-JP" sz="1400" dirty="0">
                <a:latin typeface="Tahoma" panose="020B0604030504040204" pitchFamily="34" charset="0"/>
              </a:rPr>
              <a:t> =     c4*c4-500*500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     </a:t>
            </a:r>
            <a:r>
              <a:rPr lang="en-US" altLang="ja-JP" sz="1400" dirty="0">
                <a:latin typeface="Tahoma" panose="020B0604030504040204" pitchFamily="34" charset="0"/>
              </a:rPr>
              <a:t> reg =    200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s-type =    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</a:t>
            </a:r>
            <a:r>
              <a:rPr lang="en-US" altLang="ja-JP" sz="1400" dirty="0" err="1">
                <a:latin typeface="Tahoma" panose="020B0604030504040204" pitchFamily="34" charset="0"/>
              </a:rPr>
              <a:t>proj</a:t>
            </a:r>
            <a:r>
              <a:rPr lang="en-US" altLang="ja-JP" sz="1400" dirty="0">
                <a:latin typeface="Tahoma" panose="020B0604030504040204" pitchFamily="34" charset="0"/>
              </a:rPr>
              <a:t> =   photon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  x0 =    -0.5*c4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  x1 =     0.5*c4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  y0 =    -0.5*c4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  y1 =     0.5*c4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9E1232F-A2E1-0BA1-472B-97AC1D5DFFAB}"/>
              </a:ext>
            </a:extLst>
          </p:cNvPr>
          <p:cNvSpPr txBox="1"/>
          <p:nvPr/>
        </p:nvSpPr>
        <p:spPr>
          <a:xfrm>
            <a:off x="-1664" y="6374869"/>
            <a:ext cx="9143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>
                <a:solidFill>
                  <a:srgbClr val="FF0000"/>
                </a:solidFill>
              </a:rPr>
              <a:t>Execute with </a:t>
            </a:r>
            <a:r>
              <a:rPr lang="en-US" altLang="ja-JP" sz="2000" dirty="0" err="1">
                <a:solidFill>
                  <a:srgbClr val="FF0000"/>
                </a:solidFill>
              </a:rPr>
              <a:t>int</a:t>
            </a:r>
            <a:r>
              <a:rPr kumimoji="1" lang="en-US" altLang="ja-JP" sz="2000" dirty="0" err="1">
                <a:solidFill>
                  <a:srgbClr val="FF0000"/>
                </a:solidFill>
              </a:rPr>
              <a:t>ernalsource.inp</a:t>
            </a:r>
            <a:r>
              <a:rPr kumimoji="1" lang="en-US" altLang="ja-JP" sz="2000" dirty="0">
                <a:solidFill>
                  <a:srgbClr val="FF0000"/>
                </a:solidFill>
              </a:rPr>
              <a:t> and check</a:t>
            </a:r>
            <a:r>
              <a:rPr lang="ja-JP" altLang="en-US" sz="2000" dirty="0">
                <a:solidFill>
                  <a:srgbClr val="FF0000"/>
                </a:solidFill>
              </a:rPr>
              <a:t> </a:t>
            </a:r>
            <a:r>
              <a:rPr kumimoji="1" lang="en-US" altLang="ja-JP" sz="2000" dirty="0">
                <a:solidFill>
                  <a:srgbClr val="FF0000"/>
                </a:solidFill>
              </a:rPr>
              <a:t>track_inside2.eps and dose2.out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CC252D4-5AC7-EA92-EA3F-A071B5F8620E}"/>
              </a:ext>
            </a:extLst>
          </p:cNvPr>
          <p:cNvSpPr txBox="1"/>
          <p:nvPr/>
        </p:nvSpPr>
        <p:spPr>
          <a:xfrm>
            <a:off x="3124694" y="812199"/>
            <a:ext cx="291798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2800" u="sng" dirty="0" err="1">
                <a:solidFill>
                  <a:srgbClr val="FF0000"/>
                </a:solidFill>
              </a:rPr>
              <a:t>internal</a:t>
            </a:r>
            <a:r>
              <a:rPr kumimoji="1" lang="en-US" altLang="ja-JP" sz="2800" u="sng" dirty="0" err="1">
                <a:solidFill>
                  <a:srgbClr val="FF0000"/>
                </a:solidFill>
              </a:rPr>
              <a:t>source.inp</a:t>
            </a:r>
            <a:endParaRPr kumimoji="1" lang="ja-JP" altLang="en-US" sz="2800" u="sng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D6BE44F-3078-E6B0-D1BB-4AAA062DFE8B}"/>
              </a:ext>
            </a:extLst>
          </p:cNvPr>
          <p:cNvSpPr txBox="1"/>
          <p:nvPr/>
        </p:nvSpPr>
        <p:spPr>
          <a:xfrm>
            <a:off x="4514722" y="5601434"/>
            <a:ext cx="4570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>
                <a:solidFill>
                  <a:srgbClr val="FF0000"/>
                </a:solidFill>
              </a:rPr>
              <a:t>Set source only in reg=200 to account no contamination beneath the hut</a:t>
            </a:r>
            <a:endParaRPr kumimoji="1" lang="en-US" altLang="ja-JP" sz="2000" dirty="0">
              <a:solidFill>
                <a:srgbClr val="FF0000"/>
              </a:solidFill>
            </a:endParaRPr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0DD78565-2D7E-8533-9F4E-4426F7D71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21</a:t>
            </a:fld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5EDA4D84-45F2-4870-360E-7371457786E8}"/>
              </a:ext>
            </a:extLst>
          </p:cNvPr>
          <p:cNvSpPr/>
          <p:nvPr/>
        </p:nvSpPr>
        <p:spPr>
          <a:xfrm>
            <a:off x="454930" y="4142792"/>
            <a:ext cx="3554307" cy="2766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131E1ABA-5E4F-E48E-1CF8-06513687C270}"/>
              </a:ext>
            </a:extLst>
          </p:cNvPr>
          <p:cNvSpPr/>
          <p:nvPr/>
        </p:nvSpPr>
        <p:spPr>
          <a:xfrm>
            <a:off x="347637" y="5877271"/>
            <a:ext cx="2777058" cy="1685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C3EE727E-4363-ADFB-D1D6-82AE09EE6A88}"/>
              </a:ext>
            </a:extLst>
          </p:cNvPr>
          <p:cNvSpPr/>
          <p:nvPr/>
        </p:nvSpPr>
        <p:spPr>
          <a:xfrm>
            <a:off x="6614090" y="3750458"/>
            <a:ext cx="1430896" cy="1825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EDF5C1A3-1808-666D-07EF-4E70B0EB3088}"/>
              </a:ext>
            </a:extLst>
          </p:cNvPr>
          <p:cNvSpPr/>
          <p:nvPr/>
        </p:nvSpPr>
        <p:spPr>
          <a:xfrm>
            <a:off x="5882038" y="3974262"/>
            <a:ext cx="1092866" cy="1825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9463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8247-88CB-D6CA-31BA-084743C6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AB11D3-3405-198C-8366-878B1281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>
                <a:latin typeface="Arial" pitchFamily="18"/>
              </a:rPr>
              <a:t>Step 6 (Internal source) Result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E1D0979-26CB-C002-5ECE-C875DC1A3FAD}"/>
              </a:ext>
            </a:extLst>
          </p:cNvPr>
          <p:cNvSpPr txBox="1"/>
          <p:nvPr/>
        </p:nvSpPr>
        <p:spPr>
          <a:xfrm>
            <a:off x="488796" y="6281028"/>
            <a:ext cx="2859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track_inside1.eps</a:t>
            </a:r>
            <a:endParaRPr kumimoji="1" lang="ja-JP" altLang="en-US" sz="28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7D0F4C5-0392-AE51-48C8-3FC091B4F89F}"/>
              </a:ext>
            </a:extLst>
          </p:cNvPr>
          <p:cNvSpPr txBox="1"/>
          <p:nvPr/>
        </p:nvSpPr>
        <p:spPr>
          <a:xfrm>
            <a:off x="5089071" y="2217353"/>
            <a:ext cx="3168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dose1</a:t>
            </a:r>
            <a:r>
              <a:rPr kumimoji="1" lang="en-US" altLang="ja-JP" sz="2800" dirty="0"/>
              <a:t>.out (Line 38)</a:t>
            </a:r>
            <a:endParaRPr kumimoji="1" lang="ja-JP" altLang="en-US" sz="28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67CB7F4-3915-03E4-B557-E8BE3C724A00}"/>
              </a:ext>
            </a:extLst>
          </p:cNvPr>
          <p:cNvSpPr txBox="1"/>
          <p:nvPr/>
        </p:nvSpPr>
        <p:spPr>
          <a:xfrm>
            <a:off x="4446240" y="2747255"/>
            <a:ext cx="444624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altLang="ja-JP" dirty="0"/>
              <a:t>#  num    reg     volume       all       r.err </a:t>
            </a:r>
          </a:p>
          <a:p>
            <a:r>
              <a:rPr lang="pt-BR" altLang="ja-JP" dirty="0"/>
              <a:t>    1      10   4.1888E+03   2.0261E-03  0.1278</a:t>
            </a:r>
            <a:endParaRPr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53373070-E8EC-6EDE-3C6A-2C700914AF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5" t="9060" r="3352" b="3800"/>
          <a:stretch/>
        </p:blipFill>
        <p:spPr>
          <a:xfrm>
            <a:off x="107572" y="1106175"/>
            <a:ext cx="3947358" cy="5040000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0BF8605-52B5-155B-7C24-62DC733AC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1271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8247-88CB-D6CA-31BA-084743C6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AB11D3-3405-198C-8366-878B1281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>
                <a:latin typeface="Arial" pitchFamily="18"/>
              </a:rPr>
              <a:t>Step 7 (</a:t>
            </a:r>
            <a:r>
              <a:rPr lang="en-US" altLang="ja-JP" dirty="0" err="1">
                <a:latin typeface="Arial" pitchFamily="18"/>
              </a:rPr>
              <a:t>Sumtally</a:t>
            </a:r>
            <a:r>
              <a:rPr lang="en-US" altLang="ja-JP" dirty="0">
                <a:latin typeface="Arial" pitchFamily="18"/>
              </a:rPr>
              <a:t>)</a:t>
            </a:r>
            <a:endParaRPr kumimoji="1" lang="ja-JP" altLang="en-US" dirty="0"/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D06AAA6A-7454-1FA1-FDF4-A1C26E9E9292}"/>
              </a:ext>
            </a:extLst>
          </p:cNvPr>
          <p:cNvCxnSpPr>
            <a:cxnSpLocks/>
          </p:cNvCxnSpPr>
          <p:nvPr/>
        </p:nvCxnSpPr>
        <p:spPr>
          <a:xfrm flipV="1">
            <a:off x="6098750" y="2763566"/>
            <a:ext cx="214590" cy="407815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EAE716E8-9ECD-2829-07A0-61F4725C0F1B}"/>
              </a:ext>
            </a:extLst>
          </p:cNvPr>
          <p:cNvCxnSpPr>
            <a:cxnSpLocks/>
          </p:cNvCxnSpPr>
          <p:nvPr/>
        </p:nvCxnSpPr>
        <p:spPr>
          <a:xfrm flipH="1" flipV="1">
            <a:off x="7321225" y="2738842"/>
            <a:ext cx="103993" cy="433875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EB3B424-63B3-09AE-733B-A588434E9E7F}"/>
              </a:ext>
            </a:extLst>
          </p:cNvPr>
          <p:cNvSpPr/>
          <p:nvPr/>
        </p:nvSpPr>
        <p:spPr>
          <a:xfrm>
            <a:off x="5075902" y="3136719"/>
            <a:ext cx="3528546" cy="239221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9A83F76-5DCF-64D2-4FE3-5BEB5DC58E60}"/>
              </a:ext>
            </a:extLst>
          </p:cNvPr>
          <p:cNvSpPr/>
          <p:nvPr/>
        </p:nvSpPr>
        <p:spPr>
          <a:xfrm>
            <a:off x="5845882" y="1787393"/>
            <a:ext cx="2016220" cy="134932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E7C4691A-D0DE-CEAE-0F48-489910137249}"/>
              </a:ext>
            </a:extLst>
          </p:cNvPr>
          <p:cNvCxnSpPr>
            <a:cxnSpLocks/>
          </p:cNvCxnSpPr>
          <p:nvPr/>
        </p:nvCxnSpPr>
        <p:spPr>
          <a:xfrm flipV="1">
            <a:off x="7655812" y="2786142"/>
            <a:ext cx="84876" cy="339274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FB1BB82-E3EB-D27F-431C-B8E73B8ABFD3}"/>
              </a:ext>
            </a:extLst>
          </p:cNvPr>
          <p:cNvSpPr txBox="1"/>
          <p:nvPr/>
        </p:nvSpPr>
        <p:spPr>
          <a:xfrm>
            <a:off x="4932040" y="1428366"/>
            <a:ext cx="3960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Internal source (Internal ground source)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8CCD92B-4B59-9852-6545-2A7FE42B0D26}"/>
              </a:ext>
            </a:extLst>
          </p:cNvPr>
          <p:cNvSpPr/>
          <p:nvPr/>
        </p:nvSpPr>
        <p:spPr>
          <a:xfrm>
            <a:off x="589646" y="3136719"/>
            <a:ext cx="3528546" cy="239221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7C3AF5D-6D64-0C3A-65F9-748E85425799}"/>
              </a:ext>
            </a:extLst>
          </p:cNvPr>
          <p:cNvSpPr/>
          <p:nvPr/>
        </p:nvSpPr>
        <p:spPr>
          <a:xfrm>
            <a:off x="1359626" y="1787393"/>
            <a:ext cx="2016220" cy="134932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E9C980EF-7A5B-38F7-3785-7358961CABAC}"/>
              </a:ext>
            </a:extLst>
          </p:cNvPr>
          <p:cNvCxnSpPr>
            <a:cxnSpLocks/>
          </p:cNvCxnSpPr>
          <p:nvPr/>
        </p:nvCxnSpPr>
        <p:spPr>
          <a:xfrm flipV="1">
            <a:off x="1337233" y="2576831"/>
            <a:ext cx="309854" cy="6709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5DD1781D-ED47-52AF-003D-CAC05AF5B6B7}"/>
              </a:ext>
            </a:extLst>
          </p:cNvPr>
          <p:cNvCxnSpPr>
            <a:cxnSpLocks/>
          </p:cNvCxnSpPr>
          <p:nvPr/>
        </p:nvCxnSpPr>
        <p:spPr>
          <a:xfrm flipV="1">
            <a:off x="1375445" y="2043985"/>
            <a:ext cx="279667" cy="101267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3AB872C5-10CA-06DD-1DEC-8E454906807A}"/>
              </a:ext>
            </a:extLst>
          </p:cNvPr>
          <p:cNvCxnSpPr>
            <a:cxnSpLocks/>
          </p:cNvCxnSpPr>
          <p:nvPr/>
        </p:nvCxnSpPr>
        <p:spPr>
          <a:xfrm flipH="1" flipV="1">
            <a:off x="3147337" y="1868861"/>
            <a:ext cx="278612" cy="119538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BB0295ED-2D36-162A-8624-F6512A4E2316}"/>
              </a:ext>
            </a:extLst>
          </p:cNvPr>
          <p:cNvCxnSpPr>
            <a:cxnSpLocks/>
          </p:cNvCxnSpPr>
          <p:nvPr/>
        </p:nvCxnSpPr>
        <p:spPr>
          <a:xfrm flipH="1" flipV="1">
            <a:off x="3116011" y="2649308"/>
            <a:ext cx="330996" cy="67176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590061B0-F26D-7EEB-CD1C-D8E816B9D88D}"/>
              </a:ext>
            </a:extLst>
          </p:cNvPr>
          <p:cNvSpPr/>
          <p:nvPr/>
        </p:nvSpPr>
        <p:spPr>
          <a:xfrm>
            <a:off x="3342622" y="1921672"/>
            <a:ext cx="133429" cy="12243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2B0327BD-4D5E-888B-F075-545A9F457605}"/>
              </a:ext>
            </a:extLst>
          </p:cNvPr>
          <p:cNvSpPr/>
          <p:nvPr/>
        </p:nvSpPr>
        <p:spPr>
          <a:xfrm>
            <a:off x="1326398" y="2085484"/>
            <a:ext cx="133429" cy="12243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83B6B8B1-3F39-44A9-08CA-89D32B2C9CC3}"/>
              </a:ext>
            </a:extLst>
          </p:cNvPr>
          <p:cNvSpPr/>
          <p:nvPr/>
        </p:nvSpPr>
        <p:spPr>
          <a:xfrm>
            <a:off x="3321448" y="2670886"/>
            <a:ext cx="133429" cy="12243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1AFECAFE-6E03-12B9-BD47-72FA6D687B04}"/>
              </a:ext>
            </a:extLst>
          </p:cNvPr>
          <p:cNvSpPr/>
          <p:nvPr/>
        </p:nvSpPr>
        <p:spPr>
          <a:xfrm>
            <a:off x="1315811" y="2582702"/>
            <a:ext cx="133429" cy="12243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21E1E79-D686-F5F4-964F-9FE1D4717AC5}"/>
              </a:ext>
            </a:extLst>
          </p:cNvPr>
          <p:cNvSpPr txBox="1"/>
          <p:nvPr/>
        </p:nvSpPr>
        <p:spPr>
          <a:xfrm>
            <a:off x="827584" y="1412776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External source (</a:t>
            </a:r>
            <a:r>
              <a:rPr lang="en-US" altLang="ja-JP" dirty="0">
                <a:solidFill>
                  <a:srgbClr val="FF0000"/>
                </a:solidFill>
              </a:rPr>
              <a:t>Dump data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FF320E3-6510-D89A-73C1-F80997FE4B39}"/>
              </a:ext>
            </a:extLst>
          </p:cNvPr>
          <p:cNvSpPr txBox="1"/>
          <p:nvPr/>
        </p:nvSpPr>
        <p:spPr>
          <a:xfrm>
            <a:off x="4376351" y="2085774"/>
            <a:ext cx="459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+</a:t>
            </a:r>
            <a:endParaRPr kumimoji="1" lang="ja-JP" altLang="en-US" sz="3600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0A731061-BD0E-890E-00AD-E2C0F8D0D139}"/>
              </a:ext>
            </a:extLst>
          </p:cNvPr>
          <p:cNvSpPr/>
          <p:nvPr/>
        </p:nvSpPr>
        <p:spPr>
          <a:xfrm>
            <a:off x="2049515" y="2416639"/>
            <a:ext cx="723408" cy="72008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B9EDD48-77D4-0AA4-4340-285C20BD5C69}"/>
              </a:ext>
            </a:extLst>
          </p:cNvPr>
          <p:cNvSpPr/>
          <p:nvPr/>
        </p:nvSpPr>
        <p:spPr>
          <a:xfrm>
            <a:off x="6473214" y="2406142"/>
            <a:ext cx="723408" cy="72008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8AF9372-78D1-0FB9-CBB9-550CB070BCA6}"/>
              </a:ext>
            </a:extLst>
          </p:cNvPr>
          <p:cNvSpPr txBox="1"/>
          <p:nvPr/>
        </p:nvSpPr>
        <p:spPr>
          <a:xfrm>
            <a:off x="3538516" y="978519"/>
            <a:ext cx="206696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u="sng" dirty="0" err="1">
                <a:solidFill>
                  <a:srgbClr val="FF0000"/>
                </a:solidFill>
              </a:rPr>
              <a:t>sumtally.inp</a:t>
            </a:r>
            <a:endParaRPr kumimoji="1" lang="ja-JP" altLang="en-US" sz="2800" u="sng" dirty="0">
              <a:solidFill>
                <a:srgbClr val="FF0000"/>
              </a:solidFill>
            </a:endParaRPr>
          </a:p>
        </p:txBody>
      </p:sp>
      <p:sp>
        <p:nvSpPr>
          <p:cNvPr id="8" name="Text Box 1031">
            <a:extLst>
              <a:ext uri="{FF2B5EF4-FFF2-40B4-BE49-F238E27FC236}">
                <a16:creationId xmlns:a16="http://schemas.microsoft.com/office/drawing/2014/main" id="{799B7AF7-8F2B-5F74-49AC-8153177C9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58" y="4191913"/>
            <a:ext cx="2124402" cy="26214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[ T-track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file = </a:t>
            </a:r>
            <a:r>
              <a:rPr lang="en-US" altLang="ja-JP" sz="1400" dirty="0" err="1">
                <a:latin typeface="Tahoma" panose="020B0604030504040204" pitchFamily="34" charset="0"/>
              </a:rPr>
              <a:t>track_inside.out</a:t>
            </a:r>
            <a:endParaRPr lang="en-US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 err="1">
                <a:latin typeface="Tahoma" panose="020B0604030504040204" pitchFamily="34" charset="0"/>
              </a:rPr>
              <a:t>sumtally</a:t>
            </a:r>
            <a:r>
              <a:rPr lang="en-US" altLang="ja-JP" sz="1400" dirty="0">
                <a:latin typeface="Tahoma" panose="020B0604030504040204" pitchFamily="34" charset="0"/>
              </a:rPr>
              <a:t> start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 err="1">
                <a:latin typeface="Tahoma" panose="020B0604030504040204" pitchFamily="34" charset="0"/>
              </a:rPr>
              <a:t>isumtally</a:t>
            </a:r>
            <a:r>
              <a:rPr lang="en-US" altLang="ja-JP" sz="1400" dirty="0">
                <a:latin typeface="Tahoma" panose="020B0604030504040204" pitchFamily="34" charset="0"/>
              </a:rPr>
              <a:t> =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 err="1">
                <a:latin typeface="Tahoma" panose="020B0604030504040204" pitchFamily="34" charset="0"/>
              </a:rPr>
              <a:t>nfile</a:t>
            </a:r>
            <a:r>
              <a:rPr lang="en-US" altLang="ja-JP" sz="1400" dirty="0">
                <a:latin typeface="Tahoma" panose="020B0604030504040204" pitchFamily="34" charset="0"/>
              </a:rPr>
              <a:t> =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track_inside1.out 1.0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track_inside2.out 1.0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 err="1">
                <a:latin typeface="Tahoma" panose="020B0604030504040204" pitchFamily="34" charset="0"/>
              </a:rPr>
              <a:t>sfile</a:t>
            </a:r>
            <a:r>
              <a:rPr lang="en-US" altLang="ja-JP" sz="1400" dirty="0">
                <a:latin typeface="Tahoma" panose="020B0604030504040204" pitchFamily="34" charset="0"/>
              </a:rPr>
              <a:t> = </a:t>
            </a:r>
            <a:r>
              <a:rPr lang="en-US" altLang="ja-JP" sz="1400" dirty="0" err="1">
                <a:latin typeface="Tahoma" panose="020B0604030504040204" pitchFamily="34" charset="0"/>
              </a:rPr>
              <a:t>track_inside.out</a:t>
            </a:r>
            <a:endParaRPr lang="en-US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 err="1">
                <a:latin typeface="Tahoma" panose="020B0604030504040204" pitchFamily="34" charset="0"/>
              </a:rPr>
              <a:t>sumfactor</a:t>
            </a:r>
            <a:r>
              <a:rPr lang="en-US" altLang="ja-JP" sz="1400" dirty="0">
                <a:latin typeface="Tahoma" panose="020B0604030504040204" pitchFamily="34" charset="0"/>
              </a:rPr>
              <a:t> = 2.0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 err="1">
                <a:latin typeface="Tahoma" panose="020B0604030504040204" pitchFamily="34" charset="0"/>
              </a:rPr>
              <a:t>sumtally</a:t>
            </a:r>
            <a:r>
              <a:rPr lang="en-US" altLang="ja-JP" sz="1400" dirty="0">
                <a:latin typeface="Tahoma" panose="020B0604030504040204" pitchFamily="34" charset="0"/>
              </a:rPr>
              <a:t> end…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3684372A-566C-9D6E-5A81-AF3577B1DD1B}"/>
              </a:ext>
            </a:extLst>
          </p:cNvPr>
          <p:cNvSpPr/>
          <p:nvPr/>
        </p:nvSpPr>
        <p:spPr>
          <a:xfrm>
            <a:off x="322462" y="4828588"/>
            <a:ext cx="1873274" cy="181757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2CE1536-0034-2DAF-0A25-15EABC69AE17}"/>
              </a:ext>
            </a:extLst>
          </p:cNvPr>
          <p:cNvSpPr txBox="1"/>
          <p:nvPr/>
        </p:nvSpPr>
        <p:spPr>
          <a:xfrm>
            <a:off x="2877209" y="4213212"/>
            <a:ext cx="26664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 err="1">
                <a:solidFill>
                  <a:srgbClr val="FF0000"/>
                </a:solidFill>
              </a:rPr>
              <a:t>Sumtally</a:t>
            </a:r>
            <a:r>
              <a:rPr kumimoji="1" lang="en-US" altLang="ja-JP" sz="2000" dirty="0">
                <a:solidFill>
                  <a:srgbClr val="FF0000"/>
                </a:solidFill>
              </a:rPr>
              <a:t> subsection</a:t>
            </a:r>
          </a:p>
          <a:p>
            <a:r>
              <a:rPr kumimoji="1" lang="en-US" altLang="ja-JP" sz="2000" dirty="0">
                <a:solidFill>
                  <a:srgbClr val="FF0000"/>
                </a:solidFill>
              </a:rPr>
              <a:t>Average track_inside1.out and</a:t>
            </a:r>
          </a:p>
          <a:p>
            <a:r>
              <a:rPr kumimoji="1" lang="en-US" altLang="ja-JP" sz="2000" dirty="0">
                <a:solidFill>
                  <a:srgbClr val="FF0000"/>
                </a:solidFill>
              </a:rPr>
              <a:t>track_inside2.out in 1:1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3E9B3CC-4C9F-3399-9E57-EF3F0C48761E}"/>
              </a:ext>
            </a:extLst>
          </p:cNvPr>
          <p:cNvSpPr txBox="1"/>
          <p:nvPr/>
        </p:nvSpPr>
        <p:spPr>
          <a:xfrm>
            <a:off x="2794178" y="5759269"/>
            <a:ext cx="2832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>
                <a:solidFill>
                  <a:srgbClr val="FF0000"/>
                </a:solidFill>
              </a:rPr>
              <a:t>M</a:t>
            </a:r>
            <a:r>
              <a:rPr kumimoji="1" lang="en-US" altLang="ja-JP" sz="2000" dirty="0">
                <a:solidFill>
                  <a:srgbClr val="FF0000"/>
                </a:solidFill>
              </a:rPr>
              <a:t>ultiply 2 to obtain sum</a:t>
            </a: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883797EF-B0F2-2ABA-E6E4-D74CC2C99370}"/>
              </a:ext>
            </a:extLst>
          </p:cNvPr>
          <p:cNvCxnSpPr>
            <a:cxnSpLocks/>
          </p:cNvCxnSpPr>
          <p:nvPr/>
        </p:nvCxnSpPr>
        <p:spPr>
          <a:xfrm flipH="1">
            <a:off x="1655112" y="5938275"/>
            <a:ext cx="1117811" cy="3270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47F922E9-65D4-8F76-7F5E-6715D8C439A2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2195736" y="4874932"/>
            <a:ext cx="681473" cy="2535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4479E78F-2E79-E9C0-8528-0BA893CA6A62}"/>
              </a:ext>
            </a:extLst>
          </p:cNvPr>
          <p:cNvSpPr txBox="1"/>
          <p:nvPr/>
        </p:nvSpPr>
        <p:spPr>
          <a:xfrm>
            <a:off x="5709624" y="4187236"/>
            <a:ext cx="297717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Setting of </a:t>
            </a:r>
            <a:r>
              <a:rPr lang="en-US" altLang="ja-JP" dirty="0" err="1"/>
              <a:t>Sumtally</a:t>
            </a:r>
            <a:endParaRPr kumimoji="1" lang="en-US" altLang="ja-JP" dirty="0"/>
          </a:p>
          <a:p>
            <a:r>
              <a:rPr kumimoji="1" lang="en-US" altLang="ja-JP" dirty="0" err="1"/>
              <a:t>phits</a:t>
            </a:r>
            <a:r>
              <a:rPr kumimoji="1" lang="en-US" altLang="ja-JP" dirty="0"/>
              <a:t>/lecture/</a:t>
            </a:r>
            <a:r>
              <a:rPr lang="en-US" altLang="ja-JP" dirty="0"/>
              <a:t>utility</a:t>
            </a:r>
            <a:r>
              <a:rPr kumimoji="1" lang="en-US" altLang="ja-JP" dirty="0"/>
              <a:t>/</a:t>
            </a:r>
            <a:r>
              <a:rPr lang="en-US" altLang="ja-JP" dirty="0" err="1"/>
              <a:t>s</a:t>
            </a:r>
            <a:r>
              <a:rPr kumimoji="1" lang="en-US" altLang="ja-JP" dirty="0" err="1"/>
              <a:t>umtally</a:t>
            </a:r>
            <a:endParaRPr kumimoji="1" lang="ja-JP" altLang="en-US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7541A6F-2230-4DC0-008E-285F46F69320}"/>
              </a:ext>
            </a:extLst>
          </p:cNvPr>
          <p:cNvSpPr txBox="1"/>
          <p:nvPr/>
        </p:nvSpPr>
        <p:spPr>
          <a:xfrm>
            <a:off x="267416" y="3453277"/>
            <a:ext cx="214434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[ Parameter ]</a:t>
            </a:r>
          </a:p>
          <a:p>
            <a:r>
              <a:rPr lang="en-US" altLang="ja-JP" dirty="0" err="1"/>
              <a:t>icntl</a:t>
            </a:r>
            <a:r>
              <a:rPr lang="en-US" altLang="ja-JP" dirty="0"/>
              <a:t>    =          13</a:t>
            </a:r>
            <a:endParaRPr lang="ja-JP" altLang="en-US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FA675F55-90C2-2A81-3781-426EBBFF640D}"/>
              </a:ext>
            </a:extLst>
          </p:cNvPr>
          <p:cNvSpPr txBox="1"/>
          <p:nvPr/>
        </p:nvSpPr>
        <p:spPr>
          <a:xfrm>
            <a:off x="2424721" y="6118973"/>
            <a:ext cx="673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>
                <a:solidFill>
                  <a:srgbClr val="FF0000"/>
                </a:solidFill>
              </a:rPr>
              <a:t>Execute with </a:t>
            </a:r>
            <a:r>
              <a:rPr lang="en-US" altLang="ja-JP" sz="2400" dirty="0" err="1">
                <a:solidFill>
                  <a:srgbClr val="FF0000"/>
                </a:solidFill>
              </a:rPr>
              <a:t>sumtally</a:t>
            </a:r>
            <a:r>
              <a:rPr kumimoji="1" lang="en-US" altLang="ja-JP" sz="2400" dirty="0" err="1">
                <a:solidFill>
                  <a:srgbClr val="FF0000"/>
                </a:solidFill>
              </a:rPr>
              <a:t>.inp</a:t>
            </a:r>
            <a:r>
              <a:rPr kumimoji="1" lang="en-US" altLang="ja-JP" sz="2400" dirty="0">
                <a:solidFill>
                  <a:srgbClr val="FF0000"/>
                </a:solidFill>
              </a:rPr>
              <a:t> and check </a:t>
            </a:r>
            <a:r>
              <a:rPr kumimoji="1" lang="en-US" altLang="ja-JP" sz="2400" dirty="0" err="1">
                <a:solidFill>
                  <a:srgbClr val="FF0000"/>
                </a:solidFill>
              </a:rPr>
              <a:t>track_inside.eps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22" name="スライド番号プレースホルダー 21">
            <a:extLst>
              <a:ext uri="{FF2B5EF4-FFF2-40B4-BE49-F238E27FC236}">
                <a16:creationId xmlns:a16="http://schemas.microsoft.com/office/drawing/2014/main" id="{09AC04E8-6F7B-D2DB-63E4-EA1B110C8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2485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8247-88CB-D6CA-31BA-084743C6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>
            <a:extLst>
              <a:ext uri="{FF2B5EF4-FFF2-40B4-BE49-F238E27FC236}">
                <a16:creationId xmlns:a16="http://schemas.microsoft.com/office/drawing/2014/main" id="{F9FF895B-7A8C-3992-1725-75255D0AD1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9" t="13250" r="1499" b="5901"/>
          <a:stretch/>
        </p:blipFill>
        <p:spPr>
          <a:xfrm>
            <a:off x="5076056" y="908720"/>
            <a:ext cx="3661034" cy="3064127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5CFCC06A-8952-E7E9-FA84-A9D14219958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851" y="3753144"/>
            <a:ext cx="4550673" cy="1718246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DBAB11D3-3405-198C-8366-878B1281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>
                <a:latin typeface="Arial" pitchFamily="18"/>
              </a:rPr>
              <a:t>Step 7 (</a:t>
            </a:r>
            <a:r>
              <a:rPr lang="en-US" altLang="ja-JP" dirty="0" err="1">
                <a:latin typeface="Arial" pitchFamily="18"/>
              </a:rPr>
              <a:t>Sumtally</a:t>
            </a:r>
            <a:r>
              <a:rPr lang="en-US" altLang="ja-JP" dirty="0">
                <a:latin typeface="Arial" pitchFamily="18"/>
              </a:rPr>
              <a:t>) Result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D84492A-D353-8E47-FFA8-6E7A1F6EB98A}"/>
              </a:ext>
            </a:extLst>
          </p:cNvPr>
          <p:cNvSpPr txBox="1"/>
          <p:nvPr/>
        </p:nvSpPr>
        <p:spPr>
          <a:xfrm>
            <a:off x="482076" y="4756378"/>
            <a:ext cx="2643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err="1"/>
              <a:t>track_inside.eps</a:t>
            </a:r>
            <a:endParaRPr kumimoji="1" lang="ja-JP" altLang="en-US" sz="28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62A49EA-AE0E-90E4-2E2C-6D649E803C53}"/>
              </a:ext>
            </a:extLst>
          </p:cNvPr>
          <p:cNvSpPr txBox="1"/>
          <p:nvPr/>
        </p:nvSpPr>
        <p:spPr>
          <a:xfrm>
            <a:off x="6378251" y="2947561"/>
            <a:ext cx="1706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/>
              <a:t>vdose</a:t>
            </a:r>
            <a:r>
              <a:rPr kumimoji="1" lang="en-US" altLang="ja-JP" sz="2800" dirty="0" err="1"/>
              <a:t>.eps</a:t>
            </a:r>
            <a:endParaRPr kumimoji="1" lang="ja-JP" altLang="en-US" sz="28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6A8420F-8039-BD6F-D151-28071E32A60D}"/>
              </a:ext>
            </a:extLst>
          </p:cNvPr>
          <p:cNvSpPr txBox="1"/>
          <p:nvPr/>
        </p:nvSpPr>
        <p:spPr>
          <a:xfrm>
            <a:off x="6155917" y="1812329"/>
            <a:ext cx="25157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/>
              <a:t>Dose distribution in vertical direction in center (1x1m</a:t>
            </a:r>
            <a:r>
              <a:rPr lang="en-US" altLang="ja-JP" sz="2000" baseline="30000" dirty="0"/>
              <a:t>2</a:t>
            </a:r>
            <a:r>
              <a:rPr lang="en-US" altLang="ja-JP" sz="2000" dirty="0"/>
              <a:t>)</a:t>
            </a:r>
            <a:endParaRPr kumimoji="1" lang="en-US" altLang="ja-JP" sz="20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8D1AA9D-14AF-618E-788D-8134AF4169A2}"/>
              </a:ext>
            </a:extLst>
          </p:cNvPr>
          <p:cNvSpPr txBox="1"/>
          <p:nvPr/>
        </p:nvSpPr>
        <p:spPr>
          <a:xfrm>
            <a:off x="4150430" y="3762292"/>
            <a:ext cx="28563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Dose increases with increasing height</a:t>
            </a:r>
          </a:p>
          <a:p>
            <a:pPr algn="ctr"/>
            <a:r>
              <a:rPr lang="en-US" altLang="ja-JP" dirty="0">
                <a:solidFill>
                  <a:srgbClr val="FF0000"/>
                </a:solidFill>
              </a:rPr>
              <a:t>=&gt; Higher dose in 2</a:t>
            </a:r>
            <a:r>
              <a:rPr lang="en-US" altLang="ja-JP" baseline="30000" dirty="0">
                <a:solidFill>
                  <a:srgbClr val="FF0000"/>
                </a:solidFill>
              </a:rPr>
              <a:t>nd</a:t>
            </a:r>
            <a:r>
              <a:rPr lang="en-US" altLang="ja-JP" dirty="0">
                <a:solidFill>
                  <a:srgbClr val="FF0000"/>
                </a:solidFill>
              </a:rPr>
              <a:t> floor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F6C50E21-3E8F-7499-309C-0F668E8D35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7" t="9340" r="2764" b="3908"/>
          <a:stretch/>
        </p:blipFill>
        <p:spPr>
          <a:xfrm>
            <a:off x="419629" y="1081165"/>
            <a:ext cx="3046704" cy="3790800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C48428C-FD38-C6A7-65D5-F153EDC61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24</a:t>
            </a:fld>
            <a:endParaRPr kumimoji="1" lang="ja-JP" altLang="en-US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8704D05-7490-39F6-8556-E3A10630E0D5}"/>
              </a:ext>
            </a:extLst>
          </p:cNvPr>
          <p:cNvGrpSpPr/>
          <p:nvPr/>
        </p:nvGrpSpPr>
        <p:grpSpPr>
          <a:xfrm>
            <a:off x="126038" y="5471390"/>
            <a:ext cx="8406401" cy="1345881"/>
            <a:chOff x="126038" y="5471390"/>
            <a:chExt cx="8406401" cy="1345881"/>
          </a:xfrm>
        </p:grpSpPr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66CA30F0-39FE-684B-DD26-D8876791FF12}"/>
                </a:ext>
              </a:extLst>
            </p:cNvPr>
            <p:cNvSpPr txBox="1"/>
            <p:nvPr/>
          </p:nvSpPr>
          <p:spPr>
            <a:xfrm>
              <a:off x="221481" y="5610800"/>
              <a:ext cx="4306370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pt-BR" altLang="ja-JP" dirty="0"/>
                <a:t>#  num    reg     volume       all       r.err </a:t>
              </a:r>
            </a:p>
            <a:p>
              <a:r>
                <a:rPr lang="pt-BR" altLang="ja-JP" dirty="0"/>
                <a:t>    1      10   4.1888E+03   1.2800E-02  0.0763</a:t>
              </a:r>
              <a:endParaRPr lang="ja-JP" altLang="en-US" dirty="0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DE975216-0039-4932-B663-8BD2D5598F4F}"/>
                </a:ext>
              </a:extLst>
            </p:cNvPr>
            <p:cNvSpPr txBox="1"/>
            <p:nvPr/>
          </p:nvSpPr>
          <p:spPr>
            <a:xfrm>
              <a:off x="924864" y="6281028"/>
              <a:ext cx="31683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800" dirty="0" err="1"/>
                <a:t>dose</a:t>
              </a:r>
              <a:r>
                <a:rPr kumimoji="1" lang="en-US" altLang="ja-JP" sz="2800" dirty="0" err="1"/>
                <a:t>.out</a:t>
              </a:r>
              <a:r>
                <a:rPr kumimoji="1" lang="en-US" altLang="ja-JP" sz="2800" dirty="0"/>
                <a:t> (Line 38)</a:t>
              </a:r>
              <a:endParaRPr kumimoji="1" lang="ja-JP" altLang="en-US" sz="2800" dirty="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32678AD5-7239-14CC-8605-FDA69BFA4120}"/>
                </a:ext>
              </a:extLst>
            </p:cNvPr>
            <p:cNvSpPr txBox="1"/>
            <p:nvPr/>
          </p:nvSpPr>
          <p:spPr>
            <a:xfrm>
              <a:off x="5141821" y="5634697"/>
              <a:ext cx="302433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dirty="0">
                  <a:solidFill>
                    <a:srgbClr val="FF0000"/>
                  </a:solidFill>
                </a:rPr>
                <a:t>About a half of dose on infinite ground (2.0340E-02)</a:t>
              </a:r>
              <a:endParaRPr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BE28415F-6ED0-260A-E2E0-340A3705B798}"/>
                </a:ext>
              </a:extLst>
            </p:cNvPr>
            <p:cNvSpPr txBox="1"/>
            <p:nvPr/>
          </p:nvSpPr>
          <p:spPr>
            <a:xfrm>
              <a:off x="4891449" y="6396542"/>
              <a:ext cx="346419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000" dirty="0">
                  <a:solidFill>
                    <a:srgbClr val="FF0000"/>
                  </a:solidFill>
                </a:rPr>
                <a:t>Reason of the dose reduction ?</a:t>
              </a:r>
              <a:endParaRPr lang="ja-JP" alt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F23B4701-90D6-27F6-374D-4E8EAF59A761}"/>
                </a:ext>
              </a:extLst>
            </p:cNvPr>
            <p:cNvSpPr/>
            <p:nvPr/>
          </p:nvSpPr>
          <p:spPr>
            <a:xfrm>
              <a:off x="126038" y="5471390"/>
              <a:ext cx="8406401" cy="134588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9834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8247-88CB-D6CA-31BA-084743C6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AB11D3-3405-198C-8366-878B1281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>
                <a:latin typeface="Arial" pitchFamily="18"/>
              </a:rPr>
              <a:t>Step 8 (Shielding effect)</a:t>
            </a:r>
            <a:endParaRPr kumimoji="1" lang="ja-JP" altLang="en-US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FF320E3-6510-D89A-73C1-F80997FE4B39}"/>
              </a:ext>
            </a:extLst>
          </p:cNvPr>
          <p:cNvSpPr txBox="1"/>
          <p:nvPr/>
        </p:nvSpPr>
        <p:spPr>
          <a:xfrm>
            <a:off x="4376351" y="2085774"/>
            <a:ext cx="459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+</a:t>
            </a:r>
            <a:endParaRPr kumimoji="1" lang="ja-JP" altLang="en-US" sz="3600" dirty="0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CF58BC58-EC6A-CCB1-9468-8343AA7C15CC}"/>
              </a:ext>
            </a:extLst>
          </p:cNvPr>
          <p:cNvGrpSpPr/>
          <p:nvPr/>
        </p:nvGrpSpPr>
        <p:grpSpPr>
          <a:xfrm>
            <a:off x="589646" y="1412776"/>
            <a:ext cx="3528546" cy="1963164"/>
            <a:chOff x="589646" y="893130"/>
            <a:chExt cx="3528546" cy="1963164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B8CCD92B-4B59-9852-6545-2A7FE42B0D26}"/>
                </a:ext>
              </a:extLst>
            </p:cNvPr>
            <p:cNvSpPr/>
            <p:nvPr/>
          </p:nvSpPr>
          <p:spPr>
            <a:xfrm>
              <a:off x="589646" y="2617073"/>
              <a:ext cx="3528546" cy="239221"/>
            </a:xfrm>
            <a:prstGeom prst="rect">
              <a:avLst/>
            </a:prstGeom>
            <a:solidFill>
              <a:srgbClr val="808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77C3AF5D-6D64-0C3A-65F9-748E85425799}"/>
                </a:ext>
              </a:extLst>
            </p:cNvPr>
            <p:cNvSpPr/>
            <p:nvPr/>
          </p:nvSpPr>
          <p:spPr>
            <a:xfrm>
              <a:off x="1359626" y="1267747"/>
              <a:ext cx="2016220" cy="1349325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E9C980EF-7A5B-38F7-3785-7358961CAB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7233" y="2057185"/>
              <a:ext cx="309854" cy="6709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5DD1781D-ED47-52AF-003D-CAC05AF5B6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5445" y="1524339"/>
              <a:ext cx="279667" cy="101267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3AB872C5-10CA-06DD-1DEC-8E45490680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7337" y="1349215"/>
              <a:ext cx="278612" cy="11953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BB0295ED-2D36-162A-8624-F6512A4E23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16011" y="2129662"/>
              <a:ext cx="330996" cy="67176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590061B0-F26D-7EEB-CD1C-D8E816B9D88D}"/>
                </a:ext>
              </a:extLst>
            </p:cNvPr>
            <p:cNvSpPr/>
            <p:nvPr/>
          </p:nvSpPr>
          <p:spPr>
            <a:xfrm>
              <a:off x="3342622" y="1402026"/>
              <a:ext cx="133429" cy="122438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2B0327BD-4D5E-888B-F075-545A9F457605}"/>
                </a:ext>
              </a:extLst>
            </p:cNvPr>
            <p:cNvSpPr/>
            <p:nvPr/>
          </p:nvSpPr>
          <p:spPr>
            <a:xfrm>
              <a:off x="1326398" y="1565838"/>
              <a:ext cx="133429" cy="122438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楕円 19">
              <a:extLst>
                <a:ext uri="{FF2B5EF4-FFF2-40B4-BE49-F238E27FC236}">
                  <a16:creationId xmlns:a16="http://schemas.microsoft.com/office/drawing/2014/main" id="{83B6B8B1-3F39-44A9-08CA-89D32B2C9CC3}"/>
                </a:ext>
              </a:extLst>
            </p:cNvPr>
            <p:cNvSpPr/>
            <p:nvPr/>
          </p:nvSpPr>
          <p:spPr>
            <a:xfrm>
              <a:off x="3321448" y="2151240"/>
              <a:ext cx="133429" cy="122438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楕円 26">
              <a:extLst>
                <a:ext uri="{FF2B5EF4-FFF2-40B4-BE49-F238E27FC236}">
                  <a16:creationId xmlns:a16="http://schemas.microsoft.com/office/drawing/2014/main" id="{1AFECAFE-6E03-12B9-BD47-72FA6D687B04}"/>
                </a:ext>
              </a:extLst>
            </p:cNvPr>
            <p:cNvSpPr/>
            <p:nvPr/>
          </p:nvSpPr>
          <p:spPr>
            <a:xfrm>
              <a:off x="1315811" y="2063056"/>
              <a:ext cx="133429" cy="122438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B21E1E79-D686-F5F4-964F-9FE1D4717AC5}"/>
                </a:ext>
              </a:extLst>
            </p:cNvPr>
            <p:cNvSpPr txBox="1"/>
            <p:nvPr/>
          </p:nvSpPr>
          <p:spPr>
            <a:xfrm>
              <a:off x="952225" y="893130"/>
              <a:ext cx="29179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/>
                <a:t>External source (</a:t>
              </a:r>
              <a:r>
                <a:rPr lang="en-US" altLang="ja-JP" dirty="0">
                  <a:solidFill>
                    <a:srgbClr val="FF0000"/>
                  </a:solidFill>
                </a:rPr>
                <a:t>Dump data</a:t>
              </a:r>
              <a:r>
                <a:rPr lang="en-US" altLang="ja-JP" dirty="0"/>
                <a:t>)</a:t>
              </a:r>
              <a:endParaRPr kumimoji="1" lang="ja-JP" altLang="en-US" dirty="0"/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A353FF9F-2DED-CD39-8504-9299B2173705}"/>
                </a:ext>
              </a:extLst>
            </p:cNvPr>
            <p:cNvSpPr/>
            <p:nvPr/>
          </p:nvSpPr>
          <p:spPr>
            <a:xfrm>
              <a:off x="2049515" y="1896993"/>
              <a:ext cx="723408" cy="720080"/>
            </a:xfrm>
            <a:prstGeom prst="rect">
              <a:avLst/>
            </a:prstGeom>
            <a:solidFill>
              <a:srgbClr val="F0EEE4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楕円 36">
              <a:extLst>
                <a:ext uri="{FF2B5EF4-FFF2-40B4-BE49-F238E27FC236}">
                  <a16:creationId xmlns:a16="http://schemas.microsoft.com/office/drawing/2014/main" id="{9CB3EEF1-DA52-D0F4-A906-7649AAB5D10F}"/>
                </a:ext>
              </a:extLst>
            </p:cNvPr>
            <p:cNvSpPr/>
            <p:nvPr/>
          </p:nvSpPr>
          <p:spPr>
            <a:xfrm>
              <a:off x="2303207" y="2334944"/>
              <a:ext cx="216024" cy="216619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51AE193B-B701-05E9-BEF7-3D407CED7200}"/>
              </a:ext>
            </a:extLst>
          </p:cNvPr>
          <p:cNvGrpSpPr/>
          <p:nvPr/>
        </p:nvGrpSpPr>
        <p:grpSpPr>
          <a:xfrm>
            <a:off x="4932040" y="1428366"/>
            <a:ext cx="3947572" cy="1947574"/>
            <a:chOff x="4932040" y="908720"/>
            <a:chExt cx="3947572" cy="1947574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D06AAA6A-7454-1FA1-FDF4-A1C26E9E9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8750" y="2243920"/>
              <a:ext cx="214590" cy="407815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EAE716E8-9ECD-2829-07A0-61F4725C0F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1225" y="2219196"/>
              <a:ext cx="103993" cy="433875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CEB3B424-63B3-09AE-733B-A588434E9E7F}"/>
                </a:ext>
              </a:extLst>
            </p:cNvPr>
            <p:cNvSpPr/>
            <p:nvPr/>
          </p:nvSpPr>
          <p:spPr>
            <a:xfrm>
              <a:off x="5075902" y="2617073"/>
              <a:ext cx="3528546" cy="239221"/>
            </a:xfrm>
            <a:prstGeom prst="rect">
              <a:avLst/>
            </a:prstGeom>
            <a:solidFill>
              <a:srgbClr val="808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F9A83F76-5DCF-64D2-4FE3-5BEB5DC58E60}"/>
                </a:ext>
              </a:extLst>
            </p:cNvPr>
            <p:cNvSpPr/>
            <p:nvPr/>
          </p:nvSpPr>
          <p:spPr>
            <a:xfrm>
              <a:off x="5845882" y="1267747"/>
              <a:ext cx="2016220" cy="1349325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E7C4691A-D0DE-CEAE-0F48-4899101372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5812" y="2266496"/>
              <a:ext cx="84876" cy="33927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0FB1BB82-E3EB-D27F-431C-B8E73B8ABFD3}"/>
                </a:ext>
              </a:extLst>
            </p:cNvPr>
            <p:cNvSpPr txBox="1"/>
            <p:nvPr/>
          </p:nvSpPr>
          <p:spPr>
            <a:xfrm>
              <a:off x="4932040" y="908720"/>
              <a:ext cx="39475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/>
                <a:t>Internal source (Internal ground source)</a:t>
              </a:r>
              <a:endParaRPr kumimoji="1" lang="ja-JP" altLang="en-US" dirty="0"/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E464E535-C3FE-53EF-6F0C-8C504D8158F5}"/>
                </a:ext>
              </a:extLst>
            </p:cNvPr>
            <p:cNvSpPr/>
            <p:nvPr/>
          </p:nvSpPr>
          <p:spPr>
            <a:xfrm>
              <a:off x="6492288" y="1916832"/>
              <a:ext cx="723408" cy="720080"/>
            </a:xfrm>
            <a:prstGeom prst="rect">
              <a:avLst/>
            </a:prstGeom>
            <a:solidFill>
              <a:srgbClr val="F0EEE4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楕円 37">
              <a:extLst>
                <a:ext uri="{FF2B5EF4-FFF2-40B4-BE49-F238E27FC236}">
                  <a16:creationId xmlns:a16="http://schemas.microsoft.com/office/drawing/2014/main" id="{4C72F0DA-5B93-BDB5-14F2-6939BF238843}"/>
                </a:ext>
              </a:extLst>
            </p:cNvPr>
            <p:cNvSpPr/>
            <p:nvPr/>
          </p:nvSpPr>
          <p:spPr>
            <a:xfrm>
              <a:off x="6745980" y="2319154"/>
              <a:ext cx="216024" cy="216619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" name="Text Box 1031">
            <a:extLst>
              <a:ext uri="{FF2B5EF4-FFF2-40B4-BE49-F238E27FC236}">
                <a16:creationId xmlns:a16="http://schemas.microsoft.com/office/drawing/2014/main" id="{C55C37E4-A4AF-119F-321A-72474252F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3750" y="3781933"/>
            <a:ext cx="2236500" cy="9492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[ Cell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50  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1 -1.2e-3   </a:t>
            </a:r>
            <a:r>
              <a:rPr lang="en-US" altLang="ja-JP" sz="1400" dirty="0">
                <a:latin typeface="Tahoma" panose="020B0604030504040204" pitchFamily="34" charset="0"/>
              </a:rPr>
              <a:t>50 -51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DCA41CB-EA32-3534-A7EA-A88C46D317A1}"/>
              </a:ext>
            </a:extLst>
          </p:cNvPr>
          <p:cNvSpPr txBox="1"/>
          <p:nvPr/>
        </p:nvSpPr>
        <p:spPr>
          <a:xfrm>
            <a:off x="5374038" y="940793"/>
            <a:ext cx="291798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2800" u="sng" dirty="0" err="1"/>
              <a:t>internal</a:t>
            </a:r>
            <a:r>
              <a:rPr kumimoji="1" lang="en-US" altLang="ja-JP" sz="2800" u="sng" dirty="0" err="1"/>
              <a:t>source.inp</a:t>
            </a:r>
            <a:endParaRPr kumimoji="1" lang="ja-JP" altLang="en-US" sz="2800" u="sng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EC01C59-0DF3-B50F-E829-8817D9D807DB}"/>
              </a:ext>
            </a:extLst>
          </p:cNvPr>
          <p:cNvSpPr txBox="1"/>
          <p:nvPr/>
        </p:nvSpPr>
        <p:spPr>
          <a:xfrm>
            <a:off x="952225" y="933719"/>
            <a:ext cx="291798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2800" u="sng" dirty="0" err="1"/>
              <a:t>external</a:t>
            </a:r>
            <a:r>
              <a:rPr kumimoji="1" lang="en-US" altLang="ja-JP" sz="2800" u="sng" dirty="0" err="1"/>
              <a:t>source.inp</a:t>
            </a:r>
            <a:endParaRPr kumimoji="1" lang="ja-JP" altLang="en-US" sz="2800" u="sng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7A67D2A-88F9-94BB-3051-7B06D27B6CBA}"/>
              </a:ext>
            </a:extLst>
          </p:cNvPr>
          <p:cNvSpPr txBox="1"/>
          <p:nvPr/>
        </p:nvSpPr>
        <p:spPr>
          <a:xfrm>
            <a:off x="2555776" y="4816498"/>
            <a:ext cx="3973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Change wall material and density to air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48EDA3A-A90F-279B-072D-5589B172F9E5}"/>
              </a:ext>
            </a:extLst>
          </p:cNvPr>
          <p:cNvSpPr txBox="1"/>
          <p:nvPr/>
        </p:nvSpPr>
        <p:spPr>
          <a:xfrm>
            <a:off x="33877" y="5362365"/>
            <a:ext cx="914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>
                <a:solidFill>
                  <a:srgbClr val="FF0000"/>
                </a:solidFill>
              </a:rPr>
              <a:t>Execute with </a:t>
            </a:r>
            <a:r>
              <a:rPr lang="en-US" altLang="ja-JP" sz="2400" dirty="0" err="1">
                <a:solidFill>
                  <a:srgbClr val="FF0000"/>
                </a:solidFill>
              </a:rPr>
              <a:t>externalsource.inp</a:t>
            </a:r>
            <a:r>
              <a:rPr lang="ja-JP" altLang="en-US" sz="2400" dirty="0">
                <a:solidFill>
                  <a:srgbClr val="FF0000"/>
                </a:solidFill>
              </a:rPr>
              <a:t> </a:t>
            </a:r>
            <a:r>
              <a:rPr lang="en-US" altLang="ja-JP" sz="2400" dirty="0">
                <a:solidFill>
                  <a:srgbClr val="FF0000"/>
                </a:solidFill>
              </a:rPr>
              <a:t>and</a:t>
            </a:r>
            <a:r>
              <a:rPr lang="ja-JP" altLang="en-US" sz="2400" dirty="0">
                <a:solidFill>
                  <a:srgbClr val="FF0000"/>
                </a:solidFill>
              </a:rPr>
              <a:t> </a:t>
            </a:r>
            <a:r>
              <a:rPr lang="en-US" altLang="ja-JP" sz="2400" dirty="0" err="1">
                <a:solidFill>
                  <a:srgbClr val="FF0000"/>
                </a:solidFill>
              </a:rPr>
              <a:t>int</a:t>
            </a:r>
            <a:r>
              <a:rPr kumimoji="1" lang="en-US" altLang="ja-JP" sz="2400" dirty="0" err="1">
                <a:solidFill>
                  <a:srgbClr val="FF0000"/>
                </a:solidFill>
              </a:rPr>
              <a:t>ernalsource.inp</a:t>
            </a:r>
            <a:r>
              <a:rPr kumimoji="1" lang="en-US" altLang="ja-JP" sz="2400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kumimoji="1" lang="en-US" altLang="ja-JP" sz="2400" dirty="0">
                <a:solidFill>
                  <a:srgbClr val="FF0000"/>
                </a:solidFill>
              </a:rPr>
              <a:t>and check </a:t>
            </a:r>
            <a:r>
              <a:rPr lang="en-US" altLang="ja-JP" sz="2400" dirty="0">
                <a:solidFill>
                  <a:srgbClr val="FF0000"/>
                </a:solidFill>
              </a:rPr>
              <a:t>dose1.out</a:t>
            </a:r>
            <a:r>
              <a:rPr lang="ja-JP" altLang="en-US" sz="2400" dirty="0">
                <a:solidFill>
                  <a:srgbClr val="FF0000"/>
                </a:solidFill>
              </a:rPr>
              <a:t> </a:t>
            </a:r>
            <a:r>
              <a:rPr lang="en-US" altLang="ja-JP" sz="2400" dirty="0">
                <a:solidFill>
                  <a:srgbClr val="FF0000"/>
                </a:solidFill>
              </a:rPr>
              <a:t>and</a:t>
            </a:r>
            <a:r>
              <a:rPr lang="ja-JP" altLang="en-US" sz="2400" dirty="0">
                <a:solidFill>
                  <a:srgbClr val="FF0000"/>
                </a:solidFill>
              </a:rPr>
              <a:t> </a:t>
            </a:r>
            <a:r>
              <a:rPr kumimoji="1" lang="en-US" altLang="ja-JP" sz="2400" dirty="0">
                <a:solidFill>
                  <a:srgbClr val="FF0000"/>
                </a:solidFill>
              </a:rPr>
              <a:t>dose2.out</a:t>
            </a:r>
          </a:p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Compare to dose inside hut</a:t>
            </a:r>
            <a:r>
              <a:rPr lang="ja-JP" altLang="en-US" dirty="0">
                <a:solidFill>
                  <a:srgbClr val="FF0000"/>
                </a:solidFill>
              </a:rPr>
              <a:t> </a:t>
            </a:r>
            <a:r>
              <a:rPr lang="en-US" altLang="ja-JP" dirty="0">
                <a:solidFill>
                  <a:srgbClr val="FF0000"/>
                </a:solidFill>
              </a:rPr>
              <a:t>(</a:t>
            </a:r>
            <a:r>
              <a:rPr kumimoji="1" lang="en-US" altLang="ja-JP" dirty="0">
                <a:solidFill>
                  <a:srgbClr val="FF0000"/>
                </a:solidFill>
              </a:rPr>
              <a:t>1.2800E-02</a:t>
            </a:r>
            <a:r>
              <a:rPr kumimoji="1" lang="en-US" altLang="ja-JP" dirty="0">
                <a:solidFill>
                  <a:srgbClr val="FF0000"/>
                </a:solidFill>
                <a:sym typeface="Symbol" panose="05050102010706020507" pitchFamily="18" charset="2"/>
              </a:rPr>
              <a:t>Sv/h</a:t>
            </a:r>
            <a:r>
              <a:rPr lang="en-US" altLang="ja-JP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kumimoji="1" lang="ja-JP" altLang="en-US" dirty="0">
                <a:solidFill>
                  <a:srgbClr val="FF0000"/>
                </a:solidFill>
              </a:rPr>
              <a:t> </a:t>
            </a:r>
            <a:r>
              <a:rPr kumimoji="1" lang="en-US" altLang="ja-JP" dirty="0">
                <a:solidFill>
                  <a:srgbClr val="FF0000"/>
                </a:solidFill>
              </a:rPr>
              <a:t>and dose on infinite field (2.0340E-02</a:t>
            </a:r>
            <a:r>
              <a:rPr kumimoji="1" lang="en-US" altLang="ja-JP" dirty="0">
                <a:solidFill>
                  <a:srgbClr val="FF0000"/>
                </a:solidFill>
                <a:sym typeface="Symbol" panose="05050102010706020507" pitchFamily="18" charset="2"/>
              </a:rPr>
              <a:t>Sv/h)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3001ABA2-F717-2C9C-3793-FB6EB04E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2002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8247-88CB-D6CA-31BA-084743C6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AB11D3-3405-198C-8366-878B1281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>
                <a:latin typeface="Arial" pitchFamily="18"/>
              </a:rPr>
              <a:t>Step 8 (Shielding effect) Result</a:t>
            </a:r>
            <a:endParaRPr kumimoji="1" lang="ja-JP" altLang="en-US" dirty="0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E038F2B0-A800-6713-D9B7-BB51D8F01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872852"/>
              </p:ext>
            </p:extLst>
          </p:nvPr>
        </p:nvGraphicFramePr>
        <p:xfrm>
          <a:off x="470729" y="1212049"/>
          <a:ext cx="8229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1071">
                  <a:extLst>
                    <a:ext uri="{9D8B030D-6E8A-4147-A177-3AD203B41FA5}">
                      <a16:colId xmlns:a16="http://schemas.microsoft.com/office/drawing/2014/main" val="1168048536"/>
                    </a:ext>
                  </a:extLst>
                </a:gridCol>
                <a:gridCol w="1813729">
                  <a:extLst>
                    <a:ext uri="{9D8B030D-6E8A-4147-A177-3AD203B41FA5}">
                      <a16:colId xmlns:a16="http://schemas.microsoft.com/office/drawing/2014/main" val="357052099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50977353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872953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External</a:t>
                      </a:r>
                      <a:r>
                        <a:rPr kumimoji="1" lang="ja-JP" altLang="en-US" dirty="0"/>
                        <a:t> </a:t>
                      </a:r>
                      <a:r>
                        <a:rPr kumimoji="1" lang="en-US" altLang="ja-JP" dirty="0"/>
                        <a:t>source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Internal</a:t>
                      </a:r>
                      <a:r>
                        <a:rPr kumimoji="1" lang="ja-JP" altLang="en-US" dirty="0"/>
                        <a:t> </a:t>
                      </a:r>
                      <a:r>
                        <a:rPr kumimoji="1" lang="en-US" altLang="ja-JP" dirty="0"/>
                        <a:t>source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Total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527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1. Infinite field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-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-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2.0340E-02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980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2.</a:t>
                      </a:r>
                      <a:r>
                        <a:rPr kumimoji="1" lang="ja-JP" altLang="en-US" dirty="0"/>
                        <a:t> </a:t>
                      </a:r>
                      <a:r>
                        <a:rPr kumimoji="1" lang="en-US" altLang="ja-JP" dirty="0"/>
                        <a:t>Inside</a:t>
                      </a:r>
                      <a:r>
                        <a:rPr kumimoji="1" lang="ja-JP" altLang="en-US" dirty="0"/>
                        <a:t> </a:t>
                      </a:r>
                      <a:r>
                        <a:rPr kumimoji="1" lang="en-US" altLang="ja-JP" dirty="0"/>
                        <a:t>hut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1.0774E-02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2.0261E-03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1.2800E-02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688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3.</a:t>
                      </a:r>
                      <a:r>
                        <a:rPr kumimoji="1" lang="ja-JP" altLang="en-US" dirty="0"/>
                        <a:t> </a:t>
                      </a:r>
                      <a:r>
                        <a:rPr kumimoji="1" lang="en-US" altLang="ja-JP" dirty="0"/>
                        <a:t>No</a:t>
                      </a:r>
                      <a:r>
                        <a:rPr kumimoji="1" lang="ja-JP" altLang="en-US" dirty="0"/>
                        <a:t> </a:t>
                      </a:r>
                      <a:r>
                        <a:rPr kumimoji="1" lang="en-US" altLang="ja-JP" dirty="0"/>
                        <a:t>wall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1.1288E-02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2.3418E-03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1.3630E-02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149808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1DF4BDA-C133-B191-BFEB-B6F2DC393932}"/>
              </a:ext>
            </a:extLst>
          </p:cNvPr>
          <p:cNvSpPr txBox="1"/>
          <p:nvPr/>
        </p:nvSpPr>
        <p:spPr>
          <a:xfrm>
            <a:off x="1118801" y="3253626"/>
            <a:ext cx="2949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Reduction</a:t>
            </a:r>
            <a:r>
              <a:rPr lang="ja-JP" altLang="en-US" sz="2800" dirty="0"/>
              <a:t> </a:t>
            </a:r>
            <a:r>
              <a:rPr lang="en-US" altLang="ja-JP" sz="2800" dirty="0"/>
              <a:t>factor</a:t>
            </a:r>
            <a:r>
              <a:rPr lang="ja-JP" altLang="en-US" sz="2800" dirty="0"/>
              <a:t> </a:t>
            </a:r>
            <a:r>
              <a:rPr lang="en-US" altLang="ja-JP" sz="2800" dirty="0"/>
              <a:t>=</a:t>
            </a:r>
            <a:endParaRPr kumimoji="1" lang="ja-JP" altLang="en-US" sz="28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A35585B-5537-5DCC-1A26-7C421A065BC0}"/>
              </a:ext>
            </a:extLst>
          </p:cNvPr>
          <p:cNvSpPr txBox="1"/>
          <p:nvPr/>
        </p:nvSpPr>
        <p:spPr>
          <a:xfrm>
            <a:off x="4067944" y="3068960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2. Inside hut</a:t>
            </a:r>
            <a:endParaRPr kumimoji="1" lang="ja-JP" altLang="en-US" sz="28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5ED926E-8E68-96BF-1078-902DFE86434D}"/>
              </a:ext>
            </a:extLst>
          </p:cNvPr>
          <p:cNvSpPr txBox="1"/>
          <p:nvPr/>
        </p:nvSpPr>
        <p:spPr>
          <a:xfrm>
            <a:off x="4067944" y="3438292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1.</a:t>
            </a:r>
            <a:r>
              <a:rPr kumimoji="1" lang="ja-JP" altLang="en-US" sz="2800" dirty="0"/>
              <a:t> </a:t>
            </a:r>
            <a:r>
              <a:rPr kumimoji="1" lang="en-US" altLang="ja-JP" sz="2800" dirty="0"/>
              <a:t>Infinite</a:t>
            </a:r>
            <a:r>
              <a:rPr kumimoji="1" lang="ja-JP" altLang="en-US" sz="2800" dirty="0"/>
              <a:t> </a:t>
            </a:r>
            <a:r>
              <a:rPr kumimoji="1" lang="en-US" altLang="ja-JP" sz="2800" dirty="0"/>
              <a:t>field</a:t>
            </a:r>
            <a:endParaRPr kumimoji="1" lang="ja-JP" altLang="en-US" sz="28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01DC1FD-012F-DB1E-D67E-B7F2FE147208}"/>
              </a:ext>
            </a:extLst>
          </p:cNvPr>
          <p:cNvSpPr txBox="1"/>
          <p:nvPr/>
        </p:nvSpPr>
        <p:spPr>
          <a:xfrm>
            <a:off x="1190809" y="4488655"/>
            <a:ext cx="2949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Shielding factor =</a:t>
            </a:r>
            <a:endParaRPr kumimoji="1" lang="ja-JP" altLang="en-US" sz="28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0EDAD51-1BB4-A129-968E-B090B4FE434D}"/>
              </a:ext>
            </a:extLst>
          </p:cNvPr>
          <p:cNvSpPr txBox="1"/>
          <p:nvPr/>
        </p:nvSpPr>
        <p:spPr>
          <a:xfrm>
            <a:off x="4067944" y="4215484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2.</a:t>
            </a:r>
            <a:r>
              <a:rPr lang="ja-JP" altLang="en-US" sz="2800" dirty="0"/>
              <a:t> </a:t>
            </a:r>
            <a:r>
              <a:rPr lang="en-US" altLang="ja-JP" sz="2800" dirty="0"/>
              <a:t>Inside</a:t>
            </a:r>
            <a:r>
              <a:rPr lang="ja-JP" altLang="en-US" sz="2800" dirty="0"/>
              <a:t> </a:t>
            </a:r>
            <a:r>
              <a:rPr lang="en-US" altLang="ja-JP" sz="2800" dirty="0"/>
              <a:t>hut</a:t>
            </a:r>
            <a:endParaRPr kumimoji="1" lang="ja-JP" altLang="en-US" sz="28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2451C43-EF81-7C02-73BB-901C8B528D0A}"/>
              </a:ext>
            </a:extLst>
          </p:cNvPr>
          <p:cNvSpPr txBox="1"/>
          <p:nvPr/>
        </p:nvSpPr>
        <p:spPr>
          <a:xfrm>
            <a:off x="4067944" y="4668479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3. No wall</a:t>
            </a:r>
            <a:endParaRPr kumimoji="1" lang="ja-JP" altLang="en-US" sz="2800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29B20B1-6DA3-DE75-C3E8-66FD51E16C5F}"/>
              </a:ext>
            </a:extLst>
          </p:cNvPr>
          <p:cNvSpPr txBox="1"/>
          <p:nvPr/>
        </p:nvSpPr>
        <p:spPr>
          <a:xfrm>
            <a:off x="6347534" y="3318964"/>
            <a:ext cx="1320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＝ </a:t>
            </a:r>
            <a:r>
              <a:rPr lang="en-US" altLang="ja-JP" sz="2800" dirty="0"/>
              <a:t>0.63</a:t>
            </a:r>
            <a:endParaRPr kumimoji="1" lang="ja-JP" altLang="en-US" sz="28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D2D41CB-34B7-662D-A313-0B069B565107}"/>
              </a:ext>
            </a:extLst>
          </p:cNvPr>
          <p:cNvSpPr txBox="1"/>
          <p:nvPr/>
        </p:nvSpPr>
        <p:spPr>
          <a:xfrm>
            <a:off x="6339646" y="4483813"/>
            <a:ext cx="1328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＝ </a:t>
            </a:r>
            <a:r>
              <a:rPr lang="en-US" altLang="ja-JP" sz="2800" dirty="0"/>
              <a:t>0.94</a:t>
            </a:r>
            <a:endParaRPr kumimoji="1" lang="ja-JP" altLang="en-US" sz="2800" dirty="0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E15EB912-35E2-6133-00C5-7D9628722553}"/>
              </a:ext>
            </a:extLst>
          </p:cNvPr>
          <p:cNvCxnSpPr/>
          <p:nvPr/>
        </p:nvCxnSpPr>
        <p:spPr>
          <a:xfrm>
            <a:off x="4067944" y="3514013"/>
            <a:ext cx="2160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F453D598-182F-B8CF-CA77-9CBC02E508A5}"/>
              </a:ext>
            </a:extLst>
          </p:cNvPr>
          <p:cNvCxnSpPr/>
          <p:nvPr/>
        </p:nvCxnSpPr>
        <p:spPr>
          <a:xfrm>
            <a:off x="4067944" y="4668479"/>
            <a:ext cx="2160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CF34AE7-9802-771A-E244-7DB52932B9B8}"/>
              </a:ext>
            </a:extLst>
          </p:cNvPr>
          <p:cNvSpPr txBox="1"/>
          <p:nvPr/>
        </p:nvSpPr>
        <p:spPr>
          <a:xfrm>
            <a:off x="914713" y="5521146"/>
            <a:ext cx="73416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>
                <a:solidFill>
                  <a:srgbClr val="FF0000"/>
                </a:solidFill>
              </a:rPr>
              <a:t>Main reason of dose reduction inside wooden house is not due to shielding effect of the wooden walls but no contamination beneath the house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43CFB83-A468-A837-D527-5022B90EB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5388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428C9-4B23-1018-234B-DC4639666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D802FE-C38A-B4FB-1248-EA3DA9537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>
                <a:latin typeface="Arial" pitchFamily="18"/>
              </a:rPr>
              <a:t>Summary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2A79048-139C-C018-1990-487BA50FD978}"/>
              </a:ext>
            </a:extLst>
          </p:cNvPr>
          <p:cNvSpPr txBox="1"/>
          <p:nvPr/>
        </p:nvSpPr>
        <p:spPr>
          <a:xfrm>
            <a:off x="2267744" y="5512696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T. Furuta, J. </a:t>
            </a:r>
            <a:r>
              <a:rPr kumimoji="1" lang="en-US" altLang="ja-JP" dirty="0" err="1"/>
              <a:t>Nucl</a:t>
            </a:r>
            <a:r>
              <a:rPr kumimoji="1" lang="en-US" altLang="ja-JP" dirty="0"/>
              <a:t> Sci. Technol. </a:t>
            </a:r>
            <a:r>
              <a:rPr lang="en-US" altLang="ja-JP" dirty="0"/>
              <a:t>52</a:t>
            </a:r>
            <a:r>
              <a:rPr kumimoji="1" lang="en-US" altLang="ja-JP" dirty="0"/>
              <a:t>(2015)897-904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83222B2-7E2A-0AE4-E689-1B99CCEA14D4}"/>
              </a:ext>
            </a:extLst>
          </p:cNvPr>
          <p:cNvSpPr txBox="1"/>
          <p:nvPr/>
        </p:nvSpPr>
        <p:spPr>
          <a:xfrm>
            <a:off x="2241972" y="4344178"/>
            <a:ext cx="489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T. Furuta, </a:t>
            </a:r>
            <a:r>
              <a:rPr kumimoji="1" lang="en-US" altLang="ja-JP" dirty="0" err="1"/>
              <a:t>Radiat</a:t>
            </a:r>
            <a:r>
              <a:rPr kumimoji="1" lang="en-US" altLang="ja-JP" dirty="0"/>
              <a:t>. Prot. </a:t>
            </a:r>
            <a:r>
              <a:rPr kumimoji="1" lang="en-US" altLang="ja-JP" dirty="0" err="1"/>
              <a:t>Dosim</a:t>
            </a:r>
            <a:r>
              <a:rPr kumimoji="1" lang="en-US" altLang="ja-JP" dirty="0"/>
              <a:t>. 167(2015)392-398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15ED2E-D0A0-31FD-9726-274813ECF8D2}"/>
              </a:ext>
            </a:extLst>
          </p:cNvPr>
          <p:cNvSpPr txBox="1"/>
          <p:nvPr/>
        </p:nvSpPr>
        <p:spPr>
          <a:xfrm>
            <a:off x="423912" y="1268760"/>
            <a:ext cx="8229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dirty="0"/>
              <a:t>Dose calculation in infinite radiation field required for dose evaluation for environmental radioactivity can be performed efficiently using two step calculation with reflection boundary  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AF82D8-9932-8D0B-13AC-DF548C5F3940}"/>
              </a:ext>
            </a:extLst>
          </p:cNvPr>
          <p:cNvSpPr txBox="1"/>
          <p:nvPr/>
        </p:nvSpPr>
        <p:spPr>
          <a:xfrm>
            <a:off x="575444" y="3736577"/>
            <a:ext cx="5904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Two step calculation with reflection boundary</a:t>
            </a:r>
            <a:endParaRPr kumimoji="1" lang="ja-JP" altLang="en-US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70DDED0-E3BA-D304-8434-9BB75E2B26B5}"/>
              </a:ext>
            </a:extLst>
          </p:cNvPr>
          <p:cNvSpPr txBox="1"/>
          <p:nvPr/>
        </p:nvSpPr>
        <p:spPr>
          <a:xfrm>
            <a:off x="575444" y="5005381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Study of radiation dose reduction of buildings using this method</a:t>
            </a:r>
            <a:endParaRPr kumimoji="1" lang="ja-JP" altLang="en-US" sz="2400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7DD69AB5-3BD6-DE97-A609-DF48598F3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611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標準デザイン">
  <a:themeElements>
    <a:clrScheme name="標準デザイン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標準デザイン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2294</TotalTime>
  <Words>2447</Words>
  <Application>Microsoft Office PowerPoint</Application>
  <PresentationFormat>画面に合わせる (4:3)</PresentationFormat>
  <Paragraphs>444</Paragraphs>
  <Slides>27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27</vt:i4>
      </vt:variant>
    </vt:vector>
  </HeadingPairs>
  <TitlesOfParts>
    <vt:vector size="36" baseType="lpstr">
      <vt:lpstr>ＭＳ Ｐゴシック</vt:lpstr>
      <vt:lpstr>メイリオ</vt:lpstr>
      <vt:lpstr>Arial</vt:lpstr>
      <vt:lpstr>Calibri</vt:lpstr>
      <vt:lpstr>Symbol</vt:lpstr>
      <vt:lpstr>Tahoma</vt:lpstr>
      <vt:lpstr>Times New Roman</vt:lpstr>
      <vt:lpstr>Office テーマ</vt:lpstr>
      <vt:lpstr>標準デザイン</vt:lpstr>
      <vt:lpstr>PHITS</vt:lpstr>
      <vt:lpstr>PowerPoint プレゼンテーション</vt:lpstr>
      <vt:lpstr>Semi-infinite ground</vt:lpstr>
      <vt:lpstr>Semi-infinite ground (continue)</vt:lpstr>
      <vt:lpstr>Semi-infinite ground (continue)</vt:lpstr>
      <vt:lpstr>Step 1 (Semi-infinite ground)</vt:lpstr>
      <vt:lpstr>Step 1 (Semi-infinite ground) Result</vt:lpstr>
      <vt:lpstr>Step 1 (Semi-infinite ground) Continued</vt:lpstr>
      <vt:lpstr>Step 1 (Semi-infinite ground) Result</vt:lpstr>
      <vt:lpstr>Calculation using reflection boundaries</vt:lpstr>
      <vt:lpstr>Step 2 (Reflection boundary)</vt:lpstr>
      <vt:lpstr>Step 2 (Reflection boundary) Result</vt:lpstr>
      <vt:lpstr>A building standing alone</vt:lpstr>
      <vt:lpstr>A building standing alone (continued)</vt:lpstr>
      <vt:lpstr>Step 3 (Obtain dump data)</vt:lpstr>
      <vt:lpstr>Step 3 (Obtain dump data) Result</vt:lpstr>
      <vt:lpstr>Step 4 (Dump data source)</vt:lpstr>
      <vt:lpstr>Step 4 (Dump data source) Result</vt:lpstr>
      <vt:lpstr>Step 5 (External source)</vt:lpstr>
      <vt:lpstr>Step 5 (External source) Result</vt:lpstr>
      <vt:lpstr>Step 6 (Internal source)</vt:lpstr>
      <vt:lpstr>Step 6 (Internal source) Result</vt:lpstr>
      <vt:lpstr>Step 7 (Sumtally)</vt:lpstr>
      <vt:lpstr>Step 7 (Sumtally) Result</vt:lpstr>
      <vt:lpstr>Step 8 (Shielding effect)</vt:lpstr>
      <vt:lpstr>Step 8 (Shielding effect) Result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</dc:title>
  <dc:creator>T_Ogawa</dc:creator>
  <cp:lastModifiedBy>Takuya Furuta</cp:lastModifiedBy>
  <cp:revision>73</cp:revision>
  <dcterms:created xsi:type="dcterms:W3CDTF">2017-07-03T00:57:10Z</dcterms:created>
  <dcterms:modified xsi:type="dcterms:W3CDTF">2024-10-10T01:00:33Z</dcterms:modified>
</cp:coreProperties>
</file>