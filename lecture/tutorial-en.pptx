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1"/>
  </p:notesMasterIdLst>
  <p:handoutMasterIdLst>
    <p:handoutMasterId r:id="rId22"/>
  </p:handoutMasterIdLst>
  <p:sldIdLst>
    <p:sldId id="256" r:id="rId2"/>
    <p:sldId id="712" r:id="rId3"/>
    <p:sldId id="705" r:id="rId4"/>
    <p:sldId id="624" r:id="rId5"/>
    <p:sldId id="743" r:id="rId6"/>
    <p:sldId id="718" r:id="rId7"/>
    <p:sldId id="736" r:id="rId8"/>
    <p:sldId id="740" r:id="rId9"/>
    <p:sldId id="744" r:id="rId10"/>
    <p:sldId id="717" r:id="rId11"/>
    <p:sldId id="745" r:id="rId12"/>
    <p:sldId id="706" r:id="rId13"/>
    <p:sldId id="708" r:id="rId14"/>
    <p:sldId id="707" r:id="rId15"/>
    <p:sldId id="711" r:id="rId16"/>
    <p:sldId id="749" r:id="rId17"/>
    <p:sldId id="746" r:id="rId18"/>
    <p:sldId id="747" r:id="rId19"/>
    <p:sldId id="748" r:id="rId20"/>
  </p:sldIdLst>
  <p:sldSz cx="9144000" cy="6858000" type="screen4x3"/>
  <p:notesSz cx="7099300" cy="10234613"/>
  <p:defaultTextStyle>
    <a:defPPr>
      <a:defRPr lang="ja-JP"/>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CC66FF"/>
    <a:srgbClr val="FF00FF"/>
    <a:srgbClr val="CCFFFF"/>
    <a:srgbClr val="996633"/>
    <a:srgbClr val="00FFFF"/>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51" autoAdjust="0"/>
    <p:restoredTop sz="96327" autoAdjust="0"/>
  </p:normalViewPr>
  <p:slideViewPr>
    <p:cSldViewPr>
      <p:cViewPr varScale="1">
        <p:scale>
          <a:sx n="106" d="100"/>
          <a:sy n="106" d="100"/>
        </p:scale>
        <p:origin x="1830" y="5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215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slide" Target="slides/slide2.xml"/><Relationship Id="rId1" Type="http://schemas.openxmlformats.org/officeDocument/2006/relationships/slide" Target="slides/slide1.xml"/><Relationship Id="rId5" Type="http://schemas.openxmlformats.org/officeDocument/2006/relationships/slide" Target="slides/slide17.xml"/><Relationship Id="rId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165C5F6-A9F6-4FCF-9CF1-5C5F1B4030B9}"/>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eaLnBrk="1" hangingPunct="1">
              <a:defRPr sz="1300">
                <a:latin typeface="Times New Roman" charset="0"/>
                <a:ea typeface="ＭＳ Ｐゴシック" pitchFamily="50" charset="-128"/>
              </a:defRPr>
            </a:lvl1pPr>
          </a:lstStyle>
          <a:p>
            <a:pPr>
              <a:defRPr/>
            </a:pPr>
            <a:endParaRPr lang="ja-JP" altLang="en-US"/>
          </a:p>
        </p:txBody>
      </p:sp>
      <p:sp>
        <p:nvSpPr>
          <p:cNvPr id="48131" name="Rectangle 3">
            <a:extLst>
              <a:ext uri="{FF2B5EF4-FFF2-40B4-BE49-F238E27FC236}">
                <a16:creationId xmlns:a16="http://schemas.microsoft.com/office/drawing/2014/main" id="{90F984E8-8516-4FAF-AFEE-A0B0B048CF92}"/>
              </a:ext>
            </a:extLst>
          </p:cNvPr>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eaLnBrk="1" hangingPunct="1">
              <a:defRPr sz="1300">
                <a:latin typeface="Times New Roman" charset="0"/>
                <a:ea typeface="ＭＳ Ｐゴシック" pitchFamily="50" charset="-128"/>
              </a:defRPr>
            </a:lvl1pPr>
          </a:lstStyle>
          <a:p>
            <a:pPr>
              <a:defRPr/>
            </a:pPr>
            <a:fld id="{0899D254-B4DF-4804-9283-D7A5A404B735}" type="datetimeFigureOut">
              <a:rPr lang="ja-JP" altLang="en-US"/>
              <a:pPr>
                <a:defRPr/>
              </a:pPr>
              <a:t>2025/4/10</a:t>
            </a:fld>
            <a:endParaRPr lang="ja-JP" altLang="en-US"/>
          </a:p>
        </p:txBody>
      </p:sp>
      <p:sp>
        <p:nvSpPr>
          <p:cNvPr id="48132" name="Rectangle 4">
            <a:extLst>
              <a:ext uri="{FF2B5EF4-FFF2-40B4-BE49-F238E27FC236}">
                <a16:creationId xmlns:a16="http://schemas.microsoft.com/office/drawing/2014/main" id="{795EF9D3-118D-4A63-8AE6-765885EAC19C}"/>
              </a:ext>
            </a:extLst>
          </p:cNvPr>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eaLnBrk="1" hangingPunct="1">
              <a:defRPr sz="1300">
                <a:latin typeface="Times New Roman" charset="0"/>
                <a:ea typeface="ＭＳ Ｐゴシック" pitchFamily="50" charset="-128"/>
              </a:defRPr>
            </a:lvl1pPr>
          </a:lstStyle>
          <a:p>
            <a:pPr>
              <a:defRPr/>
            </a:pPr>
            <a:endParaRPr lang="ja-JP" altLang="en-US"/>
          </a:p>
        </p:txBody>
      </p:sp>
      <p:sp>
        <p:nvSpPr>
          <p:cNvPr id="48133" name="Rectangle 5">
            <a:extLst>
              <a:ext uri="{FF2B5EF4-FFF2-40B4-BE49-F238E27FC236}">
                <a16:creationId xmlns:a16="http://schemas.microsoft.com/office/drawing/2014/main" id="{2C85D9E6-63F1-4FA3-B7B5-21030DB2118D}"/>
              </a:ext>
            </a:extLst>
          </p:cNvPr>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F7EFCB24-9486-4166-9DF4-0895EE427048}" type="slidenum">
              <a:rPr lang="ja-JP" altLang="en-US"/>
              <a:pPr>
                <a:defRPr/>
              </a:pPr>
              <a:t>‹#›</a:t>
            </a:fld>
            <a:endParaRPr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294E5F5-743F-403C-8F72-A62AE0C7AA72}"/>
              </a:ext>
            </a:extLst>
          </p:cNvPr>
          <p:cNvSpPr>
            <a:spLocks noGrp="1" noChangeArrowheads="1"/>
          </p:cNvSpPr>
          <p:nvPr>
            <p:ph type="hdr" sz="quarter"/>
          </p:nvPr>
        </p:nvSpPr>
        <p:spPr bwMode="auto">
          <a:xfrm>
            <a:off x="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ea typeface="ＭＳ Ｐゴシック" pitchFamily="50" charset="-128"/>
              </a:defRPr>
            </a:lvl1pPr>
          </a:lstStyle>
          <a:p>
            <a:pPr>
              <a:defRPr/>
            </a:pPr>
            <a:endParaRPr lang="ja-JP" altLang="en-US"/>
          </a:p>
        </p:txBody>
      </p:sp>
      <p:sp>
        <p:nvSpPr>
          <p:cNvPr id="51203" name="Rectangle 3">
            <a:extLst>
              <a:ext uri="{FF2B5EF4-FFF2-40B4-BE49-F238E27FC236}">
                <a16:creationId xmlns:a16="http://schemas.microsoft.com/office/drawing/2014/main" id="{78C147AE-0AFE-49A3-9C67-F8E09D360907}"/>
              </a:ext>
            </a:extLst>
          </p:cNvPr>
          <p:cNvSpPr>
            <a:spLocks noGrp="1" noChangeArrowheads="1"/>
          </p:cNvSpPr>
          <p:nvPr>
            <p:ph type="dt" idx="1"/>
          </p:nvPr>
        </p:nvSpPr>
        <p:spPr bwMode="auto">
          <a:xfrm>
            <a:off x="403860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ea typeface="ＭＳ Ｐゴシック" pitchFamily="50" charset="-128"/>
              </a:defRPr>
            </a:lvl1pPr>
          </a:lstStyle>
          <a:p>
            <a:pPr>
              <a:defRPr/>
            </a:pPr>
            <a:fld id="{FA136FDE-A4EB-46C4-B8E8-AE80BB6D982F}" type="datetimeFigureOut">
              <a:rPr lang="ja-JP" altLang="en-US"/>
              <a:pPr>
                <a:defRPr/>
              </a:pPr>
              <a:t>2025/4/10</a:t>
            </a:fld>
            <a:endParaRPr lang="ja-JP" altLang="en-US"/>
          </a:p>
        </p:txBody>
      </p:sp>
      <p:sp>
        <p:nvSpPr>
          <p:cNvPr id="15364" name="Rectangle 4">
            <a:extLst>
              <a:ext uri="{FF2B5EF4-FFF2-40B4-BE49-F238E27FC236}">
                <a16:creationId xmlns:a16="http://schemas.microsoft.com/office/drawing/2014/main" id="{92269AEC-208E-4728-978F-7DA3DB5495A6}"/>
              </a:ext>
            </a:extLst>
          </p:cNvPr>
          <p:cNvSpPr>
            <a:spLocks noGrp="1" noRot="1" noChangeAspect="1" noChangeArrowheads="1" noTextEdit="1"/>
          </p:cNvSpPr>
          <p:nvPr>
            <p:ph type="sldImg" idx="2"/>
          </p:nvPr>
        </p:nvSpPr>
        <p:spPr bwMode="auto">
          <a:xfrm>
            <a:off x="1041400" y="762000"/>
            <a:ext cx="5080000" cy="3810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a:extLst>
              <a:ext uri="{FF2B5EF4-FFF2-40B4-BE49-F238E27FC236}">
                <a16:creationId xmlns:a16="http://schemas.microsoft.com/office/drawing/2014/main" id="{445333EC-3BAF-4BF0-9064-674577096E75}"/>
              </a:ext>
            </a:extLst>
          </p:cNvPr>
          <p:cNvSpPr>
            <a:spLocks noGrp="1" noChangeArrowheads="1"/>
          </p:cNvSpPr>
          <p:nvPr>
            <p:ph type="body" sz="quarter" idx="3"/>
          </p:nvPr>
        </p:nvSpPr>
        <p:spPr bwMode="auto">
          <a:xfrm>
            <a:off x="914400" y="4876800"/>
            <a:ext cx="5257800" cy="457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2 レベル</a:t>
            </a:r>
          </a:p>
          <a:p>
            <a:pPr lvl="2"/>
            <a:r>
              <a:rPr lang="ja-JP" altLang="en-US" noProof="0"/>
              <a:t>第 3 レベル</a:t>
            </a:r>
          </a:p>
          <a:p>
            <a:pPr lvl="3"/>
            <a:r>
              <a:rPr lang="ja-JP" altLang="en-US" noProof="0"/>
              <a:t>第 4 レベル</a:t>
            </a:r>
          </a:p>
          <a:p>
            <a:pPr lvl="4"/>
            <a:r>
              <a:rPr lang="ja-JP" altLang="en-US" noProof="0"/>
              <a:t>第 5 レベル</a:t>
            </a:r>
          </a:p>
        </p:txBody>
      </p:sp>
      <p:sp>
        <p:nvSpPr>
          <p:cNvPr id="51206" name="Rectangle 6">
            <a:extLst>
              <a:ext uri="{FF2B5EF4-FFF2-40B4-BE49-F238E27FC236}">
                <a16:creationId xmlns:a16="http://schemas.microsoft.com/office/drawing/2014/main" id="{B3899665-A648-4075-B31C-7AA344D1123F}"/>
              </a:ext>
            </a:extLst>
          </p:cNvPr>
          <p:cNvSpPr>
            <a:spLocks noGrp="1" noChangeArrowheads="1"/>
          </p:cNvSpPr>
          <p:nvPr>
            <p:ph type="ftr" sz="quarter" idx="4"/>
          </p:nvPr>
        </p:nvSpPr>
        <p:spPr bwMode="auto">
          <a:xfrm>
            <a:off x="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charset="0"/>
                <a:ea typeface="ＭＳ Ｐゴシック" pitchFamily="50" charset="-128"/>
              </a:defRPr>
            </a:lvl1pPr>
          </a:lstStyle>
          <a:p>
            <a:pPr>
              <a:defRPr/>
            </a:pPr>
            <a:endParaRPr lang="ja-JP" altLang="en-US"/>
          </a:p>
        </p:txBody>
      </p:sp>
      <p:sp>
        <p:nvSpPr>
          <p:cNvPr id="51207" name="Rectangle 7">
            <a:extLst>
              <a:ext uri="{FF2B5EF4-FFF2-40B4-BE49-F238E27FC236}">
                <a16:creationId xmlns:a16="http://schemas.microsoft.com/office/drawing/2014/main" id="{E232439B-3C16-47A7-9306-A217D78D320D}"/>
              </a:ext>
            </a:extLst>
          </p:cNvPr>
          <p:cNvSpPr>
            <a:spLocks noGrp="1" noChangeArrowheads="1"/>
          </p:cNvSpPr>
          <p:nvPr>
            <p:ph type="sldNum" sz="quarter" idx="5"/>
          </p:nvPr>
        </p:nvSpPr>
        <p:spPr bwMode="auto">
          <a:xfrm>
            <a:off x="403860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6022CE6-D015-4900-A0E3-618AA0B9A12E}"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1pPr>
    <a:lvl2pPr marL="4572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2pPr>
    <a:lvl3pPr marL="9144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3pPr>
    <a:lvl4pPr marL="13716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4pPr>
    <a:lvl5pPr marL="18288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a:extLst>
              <a:ext uri="{FF2B5EF4-FFF2-40B4-BE49-F238E27FC236}">
                <a16:creationId xmlns:a16="http://schemas.microsoft.com/office/drawing/2014/main" id="{C38EBBAC-CB6D-455A-9A84-E591BBDD9641}"/>
              </a:ext>
            </a:extLst>
          </p:cNvPr>
          <p:cNvSpPr>
            <a:spLocks noGrp="1" noRot="1" noChangeAspect="1" noChangeArrowheads="1" noTextEdit="1"/>
          </p:cNvSpPr>
          <p:nvPr>
            <p:ph type="sldImg"/>
          </p:nvPr>
        </p:nvSpPr>
        <p:spPr>
          <a:ln/>
        </p:spPr>
      </p:sp>
      <p:sp>
        <p:nvSpPr>
          <p:cNvPr id="18435" name="Rectangle 1027">
            <a:extLst>
              <a:ext uri="{FF2B5EF4-FFF2-40B4-BE49-F238E27FC236}">
                <a16:creationId xmlns:a16="http://schemas.microsoft.com/office/drawing/2014/main" id="{DB09B258-5B4D-48DE-9ECC-0864D25389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6C488C6D-B6C5-42F1-AEB5-E28B0811D6BF}"/>
              </a:ext>
            </a:extLst>
          </p:cNvPr>
          <p:cNvSpPr>
            <a:spLocks noGrp="1" noRot="1" noChangeAspect="1" noChangeArrowheads="1" noTextEdit="1"/>
          </p:cNvSpPr>
          <p:nvPr>
            <p:ph type="sldImg"/>
          </p:nvPr>
        </p:nvSpPr>
        <p:spPr>
          <a:ln/>
        </p:spPr>
      </p:sp>
      <p:sp>
        <p:nvSpPr>
          <p:cNvPr id="22531" name="Rectangle 1027">
            <a:extLst>
              <a:ext uri="{FF2B5EF4-FFF2-40B4-BE49-F238E27FC236}">
                <a16:creationId xmlns:a16="http://schemas.microsoft.com/office/drawing/2014/main" id="{68C19E2E-5C22-4745-AAAD-C7CD79219C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BC70E40-D4BA-4A94-B4BF-2D448AA389B8}"/>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EEFFD5C1-3107-47BB-B23E-223F344518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E3253A6-571A-4599-8C1B-15A94BDBE757}"/>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3D36968A-382C-4B24-82E3-6618D36B3A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FBA3A98-3730-4D39-A467-666A35F80634}"/>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1F1308D-BEF4-496D-821B-86C57E0297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dirty="0">
              <a:solidFill>
                <a:srgbClr val="0000CC"/>
              </a:solidFill>
            </a:endParaRPr>
          </a:p>
        </p:txBody>
      </p:sp>
    </p:spTree>
    <p:extLst>
      <p:ext uri="{BB962C8B-B14F-4D97-AF65-F5344CB8AC3E}">
        <p14:creationId xmlns:p14="http://schemas.microsoft.com/office/powerpoint/2010/main" val="393548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A412817-3220-4238-9C8D-849AEC33FB9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C6175B22-8B75-422F-92D4-7CFD0E78B0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FBA3A98-3730-4D39-A467-666A35F80634}"/>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1F1308D-BEF4-496D-821B-86C57E0297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dirty="0">
              <a:solidFill>
                <a:srgbClr val="0000CC"/>
              </a:solidFill>
            </a:endParaRPr>
          </a:p>
        </p:txBody>
      </p:sp>
    </p:spTree>
    <p:extLst>
      <p:ext uri="{BB962C8B-B14F-4D97-AF65-F5344CB8AC3E}">
        <p14:creationId xmlns:p14="http://schemas.microsoft.com/office/powerpoint/2010/main" val="874359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FBA3A98-3730-4D39-A467-666A35F80634}"/>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1F1308D-BEF4-496D-821B-86C57E0297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dirty="0">
              <a:solidFill>
                <a:srgbClr val="0000CC"/>
              </a:solidFill>
            </a:endParaRPr>
          </a:p>
        </p:txBody>
      </p:sp>
    </p:spTree>
    <p:extLst>
      <p:ext uri="{BB962C8B-B14F-4D97-AF65-F5344CB8AC3E}">
        <p14:creationId xmlns:p14="http://schemas.microsoft.com/office/powerpoint/2010/main" val="1974750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6C488C6D-B6C5-42F1-AEB5-E28B0811D6BF}"/>
              </a:ext>
            </a:extLst>
          </p:cNvPr>
          <p:cNvSpPr>
            <a:spLocks noGrp="1" noRot="1" noChangeAspect="1" noChangeArrowheads="1" noTextEdit="1"/>
          </p:cNvSpPr>
          <p:nvPr>
            <p:ph type="sldImg"/>
          </p:nvPr>
        </p:nvSpPr>
        <p:spPr>
          <a:ln/>
        </p:spPr>
      </p:sp>
      <p:sp>
        <p:nvSpPr>
          <p:cNvPr id="22531" name="Rectangle 1027">
            <a:extLst>
              <a:ext uri="{FF2B5EF4-FFF2-40B4-BE49-F238E27FC236}">
                <a16:creationId xmlns:a16="http://schemas.microsoft.com/office/drawing/2014/main" id="{68C19E2E-5C22-4745-AAAD-C7CD79219C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2705636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9B5C231-08A8-4459-BC2C-E02A12085ADF}"/>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8101D12E-9411-4225-9DA2-49F2450BC1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6C488C6D-B6C5-42F1-AEB5-E28B0811D6BF}"/>
              </a:ext>
            </a:extLst>
          </p:cNvPr>
          <p:cNvSpPr>
            <a:spLocks noGrp="1" noRot="1" noChangeAspect="1" noChangeArrowheads="1" noTextEdit="1"/>
          </p:cNvSpPr>
          <p:nvPr>
            <p:ph type="sldImg"/>
          </p:nvPr>
        </p:nvSpPr>
        <p:spPr>
          <a:ln/>
        </p:spPr>
      </p:sp>
      <p:sp>
        <p:nvSpPr>
          <p:cNvPr id="22531" name="Rectangle 1027">
            <a:extLst>
              <a:ext uri="{FF2B5EF4-FFF2-40B4-BE49-F238E27FC236}">
                <a16:creationId xmlns:a16="http://schemas.microsoft.com/office/drawing/2014/main" id="{68C19E2E-5C22-4745-AAAD-C7CD79219C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1564123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0189659-3E6D-445A-A733-D1D4E5217FF2}"/>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9A806BC7-6C4D-49E6-8599-EE869570E0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ja-JP" altLang="en-US">
                <a:solidFill>
                  <a:srgbClr val="0000CC"/>
                </a:solidFill>
              </a:rPr>
              <a:t>マニュアルは辞書的に使ってください。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4E29B9E-72E9-4EAD-A465-05A3E91614A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75F8805-E46D-41AE-BD2A-B73EBB6F9E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ja-JP" altLang="en-US">
                <a:solidFill>
                  <a:srgbClr val="0000CC"/>
                </a:solidFill>
              </a:rPr>
              <a:t>マニュアルは辞書的に使ってください。</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DEA47A1-B277-482D-8CBA-A07D475C319B}"/>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9566340-A4A2-40B1-AA01-D115069EB7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A9ECED9-E507-4574-A6D3-78D45C25F70A}"/>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7DFDE00A-326E-4DA5-9D98-790B1FB94A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DEA47A1-B277-482D-8CBA-A07D475C319B}"/>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9566340-A4A2-40B1-AA01-D115069EB7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2784439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6C488C6D-B6C5-42F1-AEB5-E28B0811D6BF}"/>
              </a:ext>
            </a:extLst>
          </p:cNvPr>
          <p:cNvSpPr>
            <a:spLocks noGrp="1" noRot="1" noChangeAspect="1" noChangeArrowheads="1" noTextEdit="1"/>
          </p:cNvSpPr>
          <p:nvPr>
            <p:ph type="sldImg"/>
          </p:nvPr>
        </p:nvSpPr>
        <p:spPr>
          <a:ln/>
        </p:spPr>
      </p:sp>
      <p:sp>
        <p:nvSpPr>
          <p:cNvPr id="22531" name="Rectangle 1027">
            <a:extLst>
              <a:ext uri="{FF2B5EF4-FFF2-40B4-BE49-F238E27FC236}">
                <a16:creationId xmlns:a16="http://schemas.microsoft.com/office/drawing/2014/main" id="{68C19E2E-5C22-4745-AAAD-C7CD79219C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523432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9B5C231-08A8-4459-BC2C-E02A12085ADF}"/>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8101D12E-9411-4225-9DA2-49F2450BC1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16940580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9B5C231-08A8-4459-BC2C-E02A12085ADF}"/>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8101D12E-9411-4225-9DA2-49F2450BC1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1803697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a:extLst>
              <a:ext uri="{FF2B5EF4-FFF2-40B4-BE49-F238E27FC236}">
                <a16:creationId xmlns:a16="http://schemas.microsoft.com/office/drawing/2014/main" id="{23F58422-FFE8-422B-AD61-966998B71858}"/>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F8ECC7D-7EEB-4B64-B1F7-82FDA84DD7FA}"/>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C2F1A0A7-E149-48C3-879E-1E5842E01E0C}"/>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13386A06-76B6-46FE-85CB-4680A8C19D6E}" type="slidenum">
              <a:rPr lang="en-US" altLang="ja-JP"/>
              <a:pPr>
                <a:defRPr/>
              </a:pPr>
              <a:t>‹#›</a:t>
            </a:fld>
            <a:endParaRPr lang="en-US" altLang="ja-JP"/>
          </a:p>
        </p:txBody>
      </p:sp>
    </p:spTree>
    <p:extLst>
      <p:ext uri="{BB962C8B-B14F-4D97-AF65-F5344CB8AC3E}">
        <p14:creationId xmlns:p14="http://schemas.microsoft.com/office/powerpoint/2010/main" val="3998401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D29F5274-7D03-4CF3-9227-1DBA3D0F2590}"/>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574D8F66-8290-4D41-8834-2E5474AD111F}"/>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C509211F-DF64-4285-B153-E257E353CC56}"/>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19AEC360-5237-4324-9268-372BDD46749C}" type="slidenum">
              <a:rPr lang="en-US" altLang="ja-JP"/>
              <a:pPr>
                <a:defRPr/>
              </a:pPr>
              <a:t>‹#›</a:t>
            </a:fld>
            <a:endParaRPr lang="en-US" altLang="ja-JP"/>
          </a:p>
        </p:txBody>
      </p:sp>
    </p:spTree>
    <p:extLst>
      <p:ext uri="{BB962C8B-B14F-4D97-AF65-F5344CB8AC3E}">
        <p14:creationId xmlns:p14="http://schemas.microsoft.com/office/powerpoint/2010/main" val="4034982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a:extLst>
              <a:ext uri="{FF2B5EF4-FFF2-40B4-BE49-F238E27FC236}">
                <a16:creationId xmlns:a16="http://schemas.microsoft.com/office/drawing/2014/main" id="{4029F3DF-5F1E-44F5-8A0D-79465BAA9743}"/>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2DFB97D2-0506-4327-A283-2052B5DD2481}"/>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9FD81909-3788-40A5-BB32-B2C80F65714B}"/>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BF5F8859-E7A5-47DA-AC77-B6D1C6CA01B1}" type="slidenum">
              <a:rPr lang="en-US" altLang="ja-JP"/>
              <a:pPr>
                <a:defRPr/>
              </a:pPr>
              <a:t>‹#›</a:t>
            </a:fld>
            <a:endParaRPr lang="en-US" altLang="ja-JP"/>
          </a:p>
        </p:txBody>
      </p:sp>
    </p:spTree>
    <p:extLst>
      <p:ext uri="{BB962C8B-B14F-4D97-AF65-F5344CB8AC3E}">
        <p14:creationId xmlns:p14="http://schemas.microsoft.com/office/powerpoint/2010/main" val="1020983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Date Placeholder 4">
            <a:extLst>
              <a:ext uri="{FF2B5EF4-FFF2-40B4-BE49-F238E27FC236}">
                <a16:creationId xmlns:a16="http://schemas.microsoft.com/office/drawing/2014/main" id="{8B885F95-20EA-4196-BE74-57936D6D70C6}"/>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6" name="Footer Placeholder 5">
            <a:extLst>
              <a:ext uri="{FF2B5EF4-FFF2-40B4-BE49-F238E27FC236}">
                <a16:creationId xmlns:a16="http://schemas.microsoft.com/office/drawing/2014/main" id="{4D7848E9-CD3F-4B18-AD31-2394F737235B}"/>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7" name="Slide Number Placeholder 6">
            <a:extLst>
              <a:ext uri="{FF2B5EF4-FFF2-40B4-BE49-F238E27FC236}">
                <a16:creationId xmlns:a16="http://schemas.microsoft.com/office/drawing/2014/main" id="{829689BB-8F6A-412E-A1EE-241D101782A8}"/>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5B26D915-B9B5-448B-9E8A-63FEA587A1BF}" type="slidenum">
              <a:rPr lang="en-US" altLang="ja-JP"/>
              <a:pPr>
                <a:defRPr/>
              </a:pPr>
              <a:t>‹#›</a:t>
            </a:fld>
            <a:endParaRPr lang="en-US" altLang="ja-JP"/>
          </a:p>
        </p:txBody>
      </p:sp>
    </p:spTree>
    <p:extLst>
      <p:ext uri="{BB962C8B-B14F-4D97-AF65-F5344CB8AC3E}">
        <p14:creationId xmlns:p14="http://schemas.microsoft.com/office/powerpoint/2010/main" val="2098547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0493233E-B9A3-4155-95C7-BC34704C3D9D}"/>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8" name="Rectangle 5">
            <a:extLst>
              <a:ext uri="{FF2B5EF4-FFF2-40B4-BE49-F238E27FC236}">
                <a16:creationId xmlns:a16="http://schemas.microsoft.com/office/drawing/2014/main" id="{FE2C4DC8-4138-42D4-9D86-36C3381B0DE6}"/>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9" name="Rectangle 6">
            <a:extLst>
              <a:ext uri="{FF2B5EF4-FFF2-40B4-BE49-F238E27FC236}">
                <a16:creationId xmlns:a16="http://schemas.microsoft.com/office/drawing/2014/main" id="{0A1167E7-4903-422C-9B94-293B3C2D2FD5}"/>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D5DB30A5-2C6F-4156-8090-8068310071B7}" type="slidenum">
              <a:rPr lang="en-US" altLang="ja-JP"/>
              <a:pPr>
                <a:defRPr/>
              </a:pPr>
              <a:t>‹#›</a:t>
            </a:fld>
            <a:endParaRPr lang="en-US" altLang="ja-JP"/>
          </a:p>
        </p:txBody>
      </p:sp>
    </p:spTree>
    <p:extLst>
      <p:ext uri="{BB962C8B-B14F-4D97-AF65-F5344CB8AC3E}">
        <p14:creationId xmlns:p14="http://schemas.microsoft.com/office/powerpoint/2010/main" val="239148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a:extLst>
              <a:ext uri="{FF2B5EF4-FFF2-40B4-BE49-F238E27FC236}">
                <a16:creationId xmlns:a16="http://schemas.microsoft.com/office/drawing/2014/main" id="{429BA702-346E-4CF2-8398-5656BD2F764B}"/>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4" name="Rectangle 5">
            <a:extLst>
              <a:ext uri="{FF2B5EF4-FFF2-40B4-BE49-F238E27FC236}">
                <a16:creationId xmlns:a16="http://schemas.microsoft.com/office/drawing/2014/main" id="{8F5F2FAF-4313-4AAE-B8D7-7769E1B91237}"/>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5" name="Rectangle 6">
            <a:extLst>
              <a:ext uri="{FF2B5EF4-FFF2-40B4-BE49-F238E27FC236}">
                <a16:creationId xmlns:a16="http://schemas.microsoft.com/office/drawing/2014/main" id="{6EE63B83-2A60-4010-A7C4-A929C392B02D}"/>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3D8E7F6C-092A-4504-AB7F-B47FE6580087}" type="slidenum">
              <a:rPr lang="en-US" altLang="ja-JP"/>
              <a:pPr>
                <a:defRPr/>
              </a:pPr>
              <a:t>‹#›</a:t>
            </a:fld>
            <a:endParaRPr lang="en-US" altLang="ja-JP"/>
          </a:p>
        </p:txBody>
      </p:sp>
    </p:spTree>
    <p:extLst>
      <p:ext uri="{BB962C8B-B14F-4D97-AF65-F5344CB8AC3E}">
        <p14:creationId xmlns:p14="http://schemas.microsoft.com/office/powerpoint/2010/main" val="514696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0DE0DF3-C380-42E0-A502-FED913BBE9E7}"/>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3" name="Rectangle 5">
            <a:extLst>
              <a:ext uri="{FF2B5EF4-FFF2-40B4-BE49-F238E27FC236}">
                <a16:creationId xmlns:a16="http://schemas.microsoft.com/office/drawing/2014/main" id="{2692A038-3518-4985-A165-8D1BFEAC2A5D}"/>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46F7C580-CAA4-4100-B2BF-28B748AF6194}"/>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D6427337-F107-4E66-99B1-97B4E72EF74F}" type="slidenum">
              <a:rPr lang="en-US" altLang="ja-JP"/>
              <a:pPr>
                <a:defRPr/>
              </a:pPr>
              <a:t>‹#›</a:t>
            </a:fld>
            <a:endParaRPr lang="en-US" altLang="ja-JP"/>
          </a:p>
        </p:txBody>
      </p:sp>
    </p:spTree>
    <p:extLst>
      <p:ext uri="{BB962C8B-B14F-4D97-AF65-F5344CB8AC3E}">
        <p14:creationId xmlns:p14="http://schemas.microsoft.com/office/powerpoint/2010/main" val="3525576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Date Placeholder 4">
            <a:extLst>
              <a:ext uri="{FF2B5EF4-FFF2-40B4-BE49-F238E27FC236}">
                <a16:creationId xmlns:a16="http://schemas.microsoft.com/office/drawing/2014/main" id="{A08F3762-88E4-4C2E-A51E-B27A0A93A79B}"/>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6" name="Footer Placeholder 5">
            <a:extLst>
              <a:ext uri="{FF2B5EF4-FFF2-40B4-BE49-F238E27FC236}">
                <a16:creationId xmlns:a16="http://schemas.microsoft.com/office/drawing/2014/main" id="{90D96C85-B7A8-4BA2-811E-8AAEB60F8AA8}"/>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7" name="Slide Number Placeholder 6">
            <a:extLst>
              <a:ext uri="{FF2B5EF4-FFF2-40B4-BE49-F238E27FC236}">
                <a16:creationId xmlns:a16="http://schemas.microsoft.com/office/drawing/2014/main" id="{D4262BDD-20E2-4C93-AD36-058E70276510}"/>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472FF4B4-F4FD-4E75-A777-C0032C019623}" type="slidenum">
              <a:rPr lang="en-US" altLang="ja-JP"/>
              <a:pPr>
                <a:defRPr/>
              </a:pPr>
              <a:t>‹#›</a:t>
            </a:fld>
            <a:endParaRPr lang="en-US" altLang="ja-JP"/>
          </a:p>
        </p:txBody>
      </p:sp>
    </p:spTree>
    <p:extLst>
      <p:ext uri="{BB962C8B-B14F-4D97-AF65-F5344CB8AC3E}">
        <p14:creationId xmlns:p14="http://schemas.microsoft.com/office/powerpoint/2010/main" val="1057935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Date Placeholder 4">
            <a:extLst>
              <a:ext uri="{FF2B5EF4-FFF2-40B4-BE49-F238E27FC236}">
                <a16:creationId xmlns:a16="http://schemas.microsoft.com/office/drawing/2014/main" id="{5891C3D7-F854-43EC-94DA-639C1E8D5F03}"/>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6" name="Footer Placeholder 5">
            <a:extLst>
              <a:ext uri="{FF2B5EF4-FFF2-40B4-BE49-F238E27FC236}">
                <a16:creationId xmlns:a16="http://schemas.microsoft.com/office/drawing/2014/main" id="{2E796A23-9EA1-49CC-BFF2-3C2569179CDE}"/>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7" name="Slide Number Placeholder 6">
            <a:extLst>
              <a:ext uri="{FF2B5EF4-FFF2-40B4-BE49-F238E27FC236}">
                <a16:creationId xmlns:a16="http://schemas.microsoft.com/office/drawing/2014/main" id="{0E1AC124-F7A5-463F-A5CD-81F4F4FDEF4D}"/>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B19C39C9-8527-46B7-8411-B6A2C820E751}" type="slidenum">
              <a:rPr lang="en-US" altLang="ja-JP"/>
              <a:pPr>
                <a:defRPr/>
              </a:pPr>
              <a:t>‹#›</a:t>
            </a:fld>
            <a:endParaRPr lang="en-US" altLang="ja-JP"/>
          </a:p>
        </p:txBody>
      </p:sp>
    </p:spTree>
    <p:extLst>
      <p:ext uri="{BB962C8B-B14F-4D97-AF65-F5344CB8AC3E}">
        <p14:creationId xmlns:p14="http://schemas.microsoft.com/office/powerpoint/2010/main" val="3678845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A470708F-6205-449D-B04B-0E8F7D042CFB}"/>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7285DD8E-AA97-4159-808A-345AF4BEADB0}"/>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B3B836D1-6D9D-4486-9608-191B9FC23AE7}"/>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F465C64C-F227-4592-942F-7298A1FB394B}" type="slidenum">
              <a:rPr lang="en-US" altLang="ja-JP"/>
              <a:pPr>
                <a:defRPr/>
              </a:pPr>
              <a:t>‹#›</a:t>
            </a:fld>
            <a:endParaRPr lang="en-US" altLang="ja-JP"/>
          </a:p>
        </p:txBody>
      </p:sp>
    </p:spTree>
    <p:extLst>
      <p:ext uri="{BB962C8B-B14F-4D97-AF65-F5344CB8AC3E}">
        <p14:creationId xmlns:p14="http://schemas.microsoft.com/office/powerpoint/2010/main" val="3655771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609600"/>
            <a:ext cx="1943100"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85800" y="609600"/>
            <a:ext cx="5676900"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7E710E02-1746-4779-BD59-82EEE4538D46}"/>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0C1E2F12-C892-439D-9A98-370C03C3020D}"/>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998A2F5A-68FA-4339-964E-BA5D400976FC}"/>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A051ED1C-A3B6-4334-9F20-66D2E8A438EA}" type="slidenum">
              <a:rPr lang="en-US" altLang="ja-JP"/>
              <a:pPr>
                <a:defRPr/>
              </a:pPr>
              <a:t>‹#›</a:t>
            </a:fld>
            <a:endParaRPr lang="en-US" altLang="ja-JP"/>
          </a:p>
        </p:txBody>
      </p:sp>
    </p:spTree>
    <p:extLst>
      <p:ext uri="{BB962C8B-B14F-4D97-AF65-F5344CB8AC3E}">
        <p14:creationId xmlns:p14="http://schemas.microsoft.com/office/powerpoint/2010/main" val="327092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DE00DC9-B0C4-4DEC-895A-5070E8CBBDA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a:extLst>
              <a:ext uri="{FF2B5EF4-FFF2-40B4-BE49-F238E27FC236}">
                <a16:creationId xmlns:a16="http://schemas.microsoft.com/office/drawing/2014/main" id="{1E8FA62F-6789-4215-A9F1-F1FB2015A33C}"/>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5">
            <a:extLst>
              <a:ext uri="{FF2B5EF4-FFF2-40B4-BE49-F238E27FC236}">
                <a16:creationId xmlns:a16="http://schemas.microsoft.com/office/drawing/2014/main" id="{017CA784-5D29-462C-A223-E1B1BEA84669}"/>
              </a:ext>
            </a:extLst>
          </p:cNvPr>
          <p:cNvSpPr>
            <a:spLocks noChangeArrowheads="1"/>
          </p:cNvSpPr>
          <p:nvPr userDrawn="1"/>
        </p:nvSpPr>
        <p:spPr bwMode="auto">
          <a:xfrm>
            <a:off x="0" y="6329363"/>
            <a:ext cx="9105900" cy="71437"/>
          </a:xfrm>
          <a:prstGeom prst="rect">
            <a:avLst/>
          </a:prstGeom>
          <a:gradFill rotWithShape="0">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2400"/>
          </a:p>
        </p:txBody>
      </p:sp>
      <p:sp>
        <p:nvSpPr>
          <p:cNvPr id="8" name="Text Box 8">
            <a:extLst>
              <a:ext uri="{FF2B5EF4-FFF2-40B4-BE49-F238E27FC236}">
                <a16:creationId xmlns:a16="http://schemas.microsoft.com/office/drawing/2014/main" id="{1B5C21EB-6A01-4ACF-AB24-784B2E2499EE}"/>
              </a:ext>
            </a:extLst>
          </p:cNvPr>
          <p:cNvSpPr txBox="1">
            <a:spLocks noChangeArrowheads="1"/>
          </p:cNvSpPr>
          <p:nvPr userDrawn="1"/>
        </p:nvSpPr>
        <p:spPr bwMode="auto">
          <a:xfrm>
            <a:off x="8442564" y="6395272"/>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fld id="{AF90131B-4F96-472F-A509-C9EBFAFE72DB}" type="slidenum">
              <a:rPr lang="en-US" altLang="ja-JP" sz="2400">
                <a:latin typeface="Tahoma" panose="020B0604030504040204" pitchFamily="34" charset="0"/>
              </a:rPr>
              <a:pPr algn="ctr" eaLnBrk="1" hangingPunct="1">
                <a:spcBef>
                  <a:spcPct val="50000"/>
                </a:spcBef>
                <a:buFontTx/>
                <a:buNone/>
              </a:pPr>
              <a:t>‹#›</a:t>
            </a:fld>
            <a:endParaRPr lang="en-US" altLang="ja-JP" sz="2400">
              <a:latin typeface="Tahoma" panose="020B0604030504040204" pitchFamily="34" charset="0"/>
            </a:endParaRPr>
          </a:p>
        </p:txBody>
      </p:sp>
      <p:pic>
        <p:nvPicPr>
          <p:cNvPr id="9" name="図 8">
            <a:extLst>
              <a:ext uri="{FF2B5EF4-FFF2-40B4-BE49-F238E27FC236}">
                <a16:creationId xmlns:a16="http://schemas.microsoft.com/office/drawing/2014/main" id="{602C5EEE-7E92-4E18-BA64-2D7AE6EC3DB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3326" y="6405563"/>
            <a:ext cx="424763" cy="457200"/>
          </a:xfrm>
          <a:prstGeom prst="rect">
            <a:avLst/>
          </a:prstGeom>
        </p:spPr>
      </p:pic>
    </p:spTree>
  </p:cSld>
  <p:clrMap bg1="lt1" tx1="dk1" bg2="lt2" tx2="dk2" accent1="accent1" accent2="accent2" accent3="accent3" accent4="accent4" accent5="accent5" accent6="accent6" hlink="hlink" folHlink="folHlink"/>
  <p:sldLayoutIdLst>
    <p:sldLayoutId id="2147488889" r:id="rId1"/>
    <p:sldLayoutId id="2147488890" r:id="rId2"/>
    <p:sldLayoutId id="2147488891" r:id="rId3"/>
    <p:sldLayoutId id="2147488892" r:id="rId4"/>
    <p:sldLayoutId id="2147488893" r:id="rId5"/>
    <p:sldLayoutId id="2147488894" r:id="rId6"/>
    <p:sldLayoutId id="2147488895" r:id="rId7"/>
    <p:sldLayoutId id="2147488896" r:id="rId8"/>
    <p:sldLayoutId id="2147488897" r:id="rId9"/>
    <p:sldLayoutId id="2147488898" r:id="rId10"/>
    <p:sldLayoutId id="214748889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hyperlink" Target="https://www.youtube.com/watch?v=9_bs6g0n3Hg&amp;fbclid=IwAR3wloN3iNa_ettFEUSNTgDTuNf8MB4ND32YEDhNWVtSDZDgCyFZ7E3mX3w_aem_AWQCmq2D01D7UKsPcChuR0ZlG3et-X5E9RjI0mbj2MiqXF_bKgYMzQNvgG5S43Hn8yGMaI5cvU_ObmbwgmlFlQ7Y"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hyperlink" Target="https://www.youtube.com/playlist?list=PLe8Wrr-sE8vy-ygWoAqWVrvK89PfxUFYO" TargetMode="External"/><Relationship Id="rId10" Type="http://schemas.openxmlformats.org/officeDocument/2006/relationships/image" Target="../media/image10.jpg"/><Relationship Id="rId4" Type="http://schemas.openxmlformats.org/officeDocument/2006/relationships/hyperlink" Target="https://www.youtube.com/watch?v=G6-XTIctRgA" TargetMode="External"/><Relationship Id="rId9" Type="http://schemas.openxmlformats.org/officeDocument/2006/relationships/hyperlink" Target="https://www.youtube.com/watch?v=1WeaFPRXHWI&amp;t=331s"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hyperlink" Target="https://www.youtube.com/watch?v=G6-XTIctRgA"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facebook.com/phitscommunity" TargetMode="External"/><Relationship Id="rId5" Type="http://schemas.openxmlformats.org/officeDocument/2006/relationships/hyperlink" Target="https://meteor.nucl.kyushu-u.ac.jp/phitsforum/" TargetMode="External"/><Relationship Id="rId4" Type="http://schemas.openxmlformats.org/officeDocument/2006/relationships/hyperlink" Target="https://phits.jaea.go.jp/contact/edit/en"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3A6C348A-1FC3-4B09-AE79-60B850782874}"/>
              </a:ext>
            </a:extLst>
          </p:cNvPr>
          <p:cNvSpPr>
            <a:spLocks noGrp="1" noChangeArrowheads="1"/>
          </p:cNvSpPr>
          <p:nvPr>
            <p:ph type="subTitle" idx="1"/>
          </p:nvPr>
        </p:nvSpPr>
        <p:spPr>
          <a:xfrm>
            <a:off x="419100" y="3614311"/>
            <a:ext cx="8305800" cy="1168152"/>
          </a:xfrm>
        </p:spPr>
        <p:txBody>
          <a:bodyPr/>
          <a:lstStyle/>
          <a:p>
            <a:pPr eaLnBrk="1" hangingPunct="1">
              <a:defRPr/>
            </a:pPr>
            <a:r>
              <a:rPr lang="en-US" altLang="ja-JP" sz="4800" dirty="0">
                <a:solidFill>
                  <a:srgbClr val="010000"/>
                </a:solidFill>
                <a:latin typeface="+mj-ea"/>
                <a:ea typeface="+mj-ea"/>
              </a:rPr>
              <a:t>Quick Guidance</a:t>
            </a:r>
          </a:p>
        </p:txBody>
      </p:sp>
      <p:sp>
        <p:nvSpPr>
          <p:cNvPr id="17417" name="Text Box 15">
            <a:extLst>
              <a:ext uri="{FF2B5EF4-FFF2-40B4-BE49-F238E27FC236}">
                <a16:creationId xmlns:a16="http://schemas.microsoft.com/office/drawing/2014/main" id="{3D54ABAF-E881-4E76-9630-875221EF84FC}"/>
              </a:ext>
            </a:extLst>
          </p:cNvPr>
          <p:cNvSpPr txBox="1">
            <a:spLocks noChangeArrowheads="1"/>
          </p:cNvSpPr>
          <p:nvPr/>
        </p:nvSpPr>
        <p:spPr bwMode="auto">
          <a:xfrm>
            <a:off x="285750" y="5628521"/>
            <a:ext cx="857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2400" dirty="0">
                <a:solidFill>
                  <a:srgbClr val="FF0000"/>
                </a:solidFill>
                <a:latin typeface="Century Gothic" panose="020B0502020202020204" pitchFamily="34" charset="0"/>
              </a:rPr>
              <a:t>Revised Apr. 2024</a:t>
            </a:r>
          </a:p>
        </p:txBody>
      </p:sp>
      <p:pic>
        <p:nvPicPr>
          <p:cNvPr id="4" name="図 3">
            <a:extLst>
              <a:ext uri="{FF2B5EF4-FFF2-40B4-BE49-F238E27FC236}">
                <a16:creationId xmlns:a16="http://schemas.microsoft.com/office/drawing/2014/main" id="{A22421E7-A5DB-41D8-A2FD-716FC1DF04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717" y="542630"/>
            <a:ext cx="7560523" cy="2855443"/>
          </a:xfrm>
          <a:prstGeom prst="rect">
            <a:avLst/>
          </a:prstGeom>
        </p:spPr>
      </p:pic>
      <p:pic>
        <p:nvPicPr>
          <p:cNvPr id="6" name="図 5">
            <a:extLst>
              <a:ext uri="{FF2B5EF4-FFF2-40B4-BE49-F238E27FC236}">
                <a16:creationId xmlns:a16="http://schemas.microsoft.com/office/drawing/2014/main" id="{1B24E16C-2899-4634-B634-A52DB9DA3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2320" y="105971"/>
            <a:ext cx="1574530" cy="1307034"/>
          </a:xfrm>
          <a:prstGeom prst="rect">
            <a:avLst/>
          </a:prstGeom>
        </p:spPr>
      </p:pic>
      <p:sp>
        <p:nvSpPr>
          <p:cNvPr id="2" name="テキスト ボックス 1">
            <a:extLst>
              <a:ext uri="{FF2B5EF4-FFF2-40B4-BE49-F238E27FC236}">
                <a16:creationId xmlns:a16="http://schemas.microsoft.com/office/drawing/2014/main" id="{6549FA83-42F3-A4A1-5CE6-EF50FBE41F6C}"/>
              </a:ext>
            </a:extLst>
          </p:cNvPr>
          <p:cNvSpPr txBox="1"/>
          <p:nvPr/>
        </p:nvSpPr>
        <p:spPr>
          <a:xfrm>
            <a:off x="2051720" y="4583202"/>
            <a:ext cx="5245347" cy="830997"/>
          </a:xfrm>
          <a:prstGeom prst="rect">
            <a:avLst/>
          </a:prstGeom>
          <a:noFill/>
        </p:spPr>
        <p:txBody>
          <a:bodyPr wrap="none" rtlCol="0">
            <a:spAutoFit/>
          </a:bodyPr>
          <a:lstStyle/>
          <a:p>
            <a:pPr algn="ctr"/>
            <a:r>
              <a:rPr kumimoji="1" lang="en-US" altLang="ja-JP" dirty="0" err="1"/>
              <a:t>phits</a:t>
            </a:r>
            <a:r>
              <a:rPr kumimoji="1" lang="en-US" altLang="ja-JP" dirty="0"/>
              <a:t>/lecture/tutorial-en.pptx</a:t>
            </a:r>
          </a:p>
          <a:p>
            <a:pPr algn="ctr"/>
            <a:r>
              <a:rPr kumimoji="1" lang="en-US" altLang="ja-JP" dirty="0"/>
              <a:t>(This file is also included in the installer)</a:t>
            </a:r>
            <a:endParaRPr kumimoji="1" lang="ja-JP"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Text Box 7">
            <a:extLst>
              <a:ext uri="{FF2B5EF4-FFF2-40B4-BE49-F238E27FC236}">
                <a16:creationId xmlns:a16="http://schemas.microsoft.com/office/drawing/2014/main" id="{169130F1-5363-4A23-A7CA-69671690CCBA}"/>
              </a:ext>
            </a:extLst>
          </p:cNvPr>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Table of contents</a:t>
            </a:r>
          </a:p>
        </p:txBody>
      </p:sp>
      <p:sp>
        <p:nvSpPr>
          <p:cNvPr id="21512" name="Rectangle 2">
            <a:extLst>
              <a:ext uri="{FF2B5EF4-FFF2-40B4-BE49-F238E27FC236}">
                <a16:creationId xmlns:a16="http://schemas.microsoft.com/office/drawing/2014/main" id="{44CB8EAA-F585-4307-AA64-B0B378A2A617}"/>
              </a:ext>
            </a:extLst>
          </p:cNvPr>
          <p:cNvSpPr txBox="1">
            <a:spLocks noChangeArrowheads="1"/>
          </p:cNvSpPr>
          <p:nvPr/>
        </p:nvSpPr>
        <p:spPr bwMode="auto">
          <a:xfrm>
            <a:off x="511175" y="188913"/>
            <a:ext cx="81184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4800" dirty="0">
                <a:solidFill>
                  <a:srgbClr val="000000"/>
                </a:solidFill>
                <a:latin typeface="Times New Roman 見出し"/>
              </a:rPr>
              <a:t>Table of Contents</a:t>
            </a:r>
          </a:p>
        </p:txBody>
      </p:sp>
      <p:sp>
        <p:nvSpPr>
          <p:cNvPr id="2" name="Rectangle 8">
            <a:extLst>
              <a:ext uri="{FF2B5EF4-FFF2-40B4-BE49-F238E27FC236}">
                <a16:creationId xmlns:a16="http://schemas.microsoft.com/office/drawing/2014/main" id="{43B449B5-460F-1B2A-A678-09A0F8F64A95}"/>
              </a:ext>
            </a:extLst>
          </p:cNvPr>
          <p:cNvSpPr txBox="1">
            <a:spLocks noChangeArrowheads="1"/>
          </p:cNvSpPr>
          <p:nvPr/>
        </p:nvSpPr>
        <p:spPr bwMode="auto">
          <a:xfrm>
            <a:off x="755576" y="1628800"/>
            <a:ext cx="7835624" cy="3456384"/>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342900" indent="-342900" eaLnBrk="1" hangingPunct="1">
              <a:spcBef>
                <a:spcPts val="2400"/>
              </a:spcBef>
              <a:buFont typeface="Wingdings" panose="05000000000000000000" pitchFamily="2" charset="2"/>
              <a:buChar char="ü"/>
              <a:defRPr/>
            </a:pPr>
            <a:r>
              <a:rPr lang="en-US" altLang="ja-JP" dirty="0">
                <a:solidFill>
                  <a:srgbClr val="FF0000"/>
                </a:solidFill>
                <a:latin typeface="Century" pitchFamily="18" charset="0"/>
              </a:rPr>
              <a:t>Preparation for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Notes during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Remarks at the end of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Additional information for person who cannot attend PHITS tutorial</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E652562-2A92-493D-8376-2128D2DBC1F9}"/>
              </a:ext>
            </a:extLst>
          </p:cNvPr>
          <p:cNvSpPr>
            <a:spLocks noGrp="1" noChangeArrowheads="1"/>
          </p:cNvSpPr>
          <p:nvPr>
            <p:ph type="title"/>
          </p:nvPr>
        </p:nvSpPr>
        <p:spPr>
          <a:xfrm>
            <a:off x="2109788" y="-19050"/>
            <a:ext cx="4805362" cy="896938"/>
          </a:xfrm>
        </p:spPr>
        <p:txBody>
          <a:bodyPr/>
          <a:lstStyle/>
          <a:p>
            <a:pPr eaLnBrk="1" hangingPunct="1"/>
            <a:r>
              <a:rPr lang="en-US" altLang="ja-JP" sz="4000">
                <a:latin typeface="Times New Roman 見出し"/>
              </a:rPr>
              <a:t>PHITS</a:t>
            </a:r>
            <a:r>
              <a:rPr lang="ja-JP" altLang="en-US" sz="4000">
                <a:latin typeface="Times New Roman 見出し"/>
              </a:rPr>
              <a:t> </a:t>
            </a:r>
            <a:r>
              <a:rPr lang="en-US" altLang="ja-JP" sz="4000">
                <a:latin typeface="Times New Roman 見出し"/>
              </a:rPr>
              <a:t>installation</a:t>
            </a:r>
            <a:endParaRPr lang="ja-JP" altLang="en-US" sz="4000">
              <a:latin typeface="Times New Roman 見出し"/>
            </a:endParaRPr>
          </a:p>
        </p:txBody>
      </p:sp>
      <p:sp>
        <p:nvSpPr>
          <p:cNvPr id="23559" name="Rectangle 8">
            <a:extLst>
              <a:ext uri="{FF2B5EF4-FFF2-40B4-BE49-F238E27FC236}">
                <a16:creationId xmlns:a16="http://schemas.microsoft.com/office/drawing/2014/main" id="{E7DA6C01-6777-4217-A1B8-95EAD1712D90}"/>
              </a:ext>
            </a:extLst>
          </p:cNvPr>
          <p:cNvSpPr txBox="1">
            <a:spLocks noChangeArrowheads="1"/>
          </p:cNvSpPr>
          <p:nvPr/>
        </p:nvSpPr>
        <p:spPr bwMode="auto">
          <a:xfrm>
            <a:off x="595313" y="1260475"/>
            <a:ext cx="7886700"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ts val="600"/>
              </a:spcBef>
            </a:pPr>
            <a:r>
              <a:rPr lang="en-US" altLang="ja-JP" sz="2000" dirty="0">
                <a:solidFill>
                  <a:srgbClr val="000000"/>
                </a:solidFill>
                <a:latin typeface="Century" panose="02040604050505020304" pitchFamily="18" charset="0"/>
              </a:rPr>
              <a:t>Windows: Move to “</a:t>
            </a:r>
            <a:r>
              <a:rPr lang="en-US" altLang="ja-JP" sz="2000" dirty="0">
                <a:solidFill>
                  <a:srgbClr val="FF0000"/>
                </a:solidFill>
                <a:latin typeface="Century" panose="02040604050505020304" pitchFamily="18" charset="0"/>
              </a:rPr>
              <a:t>win</a:t>
            </a:r>
            <a:r>
              <a:rPr lang="en-US" altLang="ja-JP" sz="2000" dirty="0">
                <a:solidFill>
                  <a:srgbClr val="000000"/>
                </a:solidFill>
                <a:latin typeface="Century" panose="02040604050505020304" pitchFamily="18" charset="0"/>
              </a:rPr>
              <a:t>” folder and double-click </a:t>
            </a:r>
            <a:r>
              <a:rPr lang="en-US" altLang="ja-JP" sz="2000" dirty="0">
                <a:solidFill>
                  <a:srgbClr val="FF0000"/>
                </a:solidFill>
                <a:latin typeface="Century" panose="02040604050505020304" pitchFamily="18" charset="0"/>
              </a:rPr>
              <a:t>phits_setup_win.exe </a:t>
            </a:r>
            <a:r>
              <a:rPr lang="en-US" altLang="ja-JP" sz="2000" dirty="0">
                <a:latin typeface="Century" panose="02040604050505020304" pitchFamily="18" charset="0"/>
              </a:rPr>
              <a:t>(see </a:t>
            </a:r>
            <a:r>
              <a:rPr lang="en-US" altLang="ja-JP" sz="2000" dirty="0">
                <a:solidFill>
                  <a:srgbClr val="FF0000"/>
                </a:solidFill>
                <a:latin typeface="Century" panose="02040604050505020304" pitchFamily="18" charset="0"/>
              </a:rPr>
              <a:t>win/instruction-eng.pptx</a:t>
            </a:r>
            <a:r>
              <a:rPr lang="en-US" altLang="ja-JP" sz="2000" dirty="0">
                <a:latin typeface="Century" panose="02040604050505020304" pitchFamily="18" charset="0"/>
              </a:rPr>
              <a:t>)</a:t>
            </a:r>
            <a:r>
              <a:rPr lang="ja-JP" altLang="en-US" sz="2000" dirty="0">
                <a:latin typeface="Century" panose="02040604050505020304" pitchFamily="18" charset="0"/>
              </a:rPr>
              <a:t>*</a:t>
            </a:r>
            <a:endParaRPr lang="en-US" altLang="ja-JP" sz="2000" dirty="0">
              <a:latin typeface="Century" panose="02040604050505020304" pitchFamily="18" charset="0"/>
            </a:endParaRPr>
          </a:p>
          <a:p>
            <a:pPr eaLnBrk="1" hangingPunct="1">
              <a:spcBef>
                <a:spcPts val="600"/>
              </a:spcBef>
            </a:pPr>
            <a:r>
              <a:rPr lang="en-US" altLang="ja-JP" sz="2000" dirty="0">
                <a:solidFill>
                  <a:srgbClr val="000000"/>
                </a:solidFill>
                <a:latin typeface="Century" panose="02040604050505020304" pitchFamily="18" charset="0"/>
              </a:rPr>
              <a:t>Mac: Move to “</a:t>
            </a:r>
            <a:r>
              <a:rPr lang="en-US" altLang="ja-JP" sz="2000" dirty="0">
                <a:solidFill>
                  <a:srgbClr val="FF0000"/>
                </a:solidFill>
                <a:latin typeface="Century" panose="02040604050505020304" pitchFamily="18" charset="0"/>
              </a:rPr>
              <a:t>mac</a:t>
            </a:r>
            <a:r>
              <a:rPr lang="en-US" altLang="ja-JP" sz="2000" dirty="0">
                <a:solidFill>
                  <a:srgbClr val="000000"/>
                </a:solidFill>
                <a:latin typeface="Century" panose="02040604050505020304" pitchFamily="18" charset="0"/>
              </a:rPr>
              <a:t>” folder and right-click (or </a:t>
            </a:r>
            <a:r>
              <a:rPr lang="en-US" altLang="ja-JP" sz="2000" dirty="0" err="1">
                <a:solidFill>
                  <a:srgbClr val="000000"/>
                </a:solidFill>
                <a:latin typeface="Century" panose="02040604050505020304" pitchFamily="18" charset="0"/>
              </a:rPr>
              <a:t>Ctrl+click</a:t>
            </a:r>
            <a:r>
              <a:rPr lang="en-US" altLang="ja-JP" sz="2000" dirty="0">
                <a:solidFill>
                  <a:srgbClr val="000000"/>
                </a:solidFill>
                <a:latin typeface="Century" panose="02040604050505020304" pitchFamily="18" charset="0"/>
              </a:rPr>
              <a:t>) “</a:t>
            </a:r>
            <a:r>
              <a:rPr lang="en-US" altLang="ja-JP" sz="2000" dirty="0" err="1">
                <a:solidFill>
                  <a:srgbClr val="FF0000"/>
                </a:solidFill>
                <a:latin typeface="Century" panose="02040604050505020304" pitchFamily="18" charset="0"/>
              </a:rPr>
              <a:t>PHITS_Installer.command</a:t>
            </a:r>
            <a:r>
              <a:rPr lang="en-US" altLang="ja-JP" sz="2000" dirty="0">
                <a:solidFill>
                  <a:srgbClr val="FF0000"/>
                </a:solidFill>
                <a:latin typeface="Century" panose="02040604050505020304" pitchFamily="18" charset="0"/>
              </a:rPr>
              <a:t>” </a:t>
            </a:r>
            <a:r>
              <a:rPr lang="en-US" altLang="ja-JP" sz="2000" dirty="0">
                <a:solidFill>
                  <a:srgbClr val="000000"/>
                </a:solidFill>
                <a:latin typeface="Century" panose="02040604050505020304" pitchFamily="18" charset="0"/>
              </a:rPr>
              <a:t>and select “open” from the shortcut menu (see </a:t>
            </a:r>
            <a:r>
              <a:rPr lang="en-US" altLang="ja-JP" sz="2000" dirty="0">
                <a:solidFill>
                  <a:srgbClr val="FF0000"/>
                </a:solidFill>
                <a:latin typeface="Century" panose="02040604050505020304" pitchFamily="18" charset="0"/>
              </a:rPr>
              <a:t>mac/README-eng.pdf</a:t>
            </a:r>
            <a:r>
              <a:rPr lang="en-US" altLang="ja-JP" sz="2000" dirty="0">
                <a:solidFill>
                  <a:srgbClr val="000000"/>
                </a:solidFill>
                <a:latin typeface="Century" panose="02040604050505020304" pitchFamily="18" charset="0"/>
              </a:rPr>
              <a:t>)</a:t>
            </a:r>
          </a:p>
          <a:p>
            <a:pPr eaLnBrk="1" hangingPunct="1">
              <a:spcBef>
                <a:spcPts val="600"/>
              </a:spcBef>
            </a:pPr>
            <a:r>
              <a:rPr lang="en-US" altLang="ja-JP" sz="2000" dirty="0">
                <a:solidFill>
                  <a:srgbClr val="000000"/>
                </a:solidFill>
                <a:latin typeface="Century" panose="02040604050505020304" pitchFamily="18" charset="0"/>
              </a:rPr>
              <a:t>Linux: Move to “</a:t>
            </a:r>
            <a:r>
              <a:rPr lang="en-US" altLang="ja-JP" sz="2000" dirty="0" err="1">
                <a:solidFill>
                  <a:srgbClr val="FF0000"/>
                </a:solidFill>
                <a:latin typeface="Century" panose="02040604050505020304" pitchFamily="18" charset="0"/>
              </a:rPr>
              <a:t>linux</a:t>
            </a:r>
            <a:r>
              <a:rPr lang="en-US" altLang="ja-JP" sz="2000" dirty="0">
                <a:solidFill>
                  <a:srgbClr val="000000"/>
                </a:solidFill>
                <a:latin typeface="Century" panose="02040604050505020304" pitchFamily="18" charset="0"/>
              </a:rPr>
              <a:t>” folder and see </a:t>
            </a:r>
            <a:r>
              <a:rPr lang="en-US" altLang="ja-JP" sz="2000" dirty="0">
                <a:solidFill>
                  <a:srgbClr val="FF0000"/>
                </a:solidFill>
                <a:latin typeface="Century" panose="02040604050505020304" pitchFamily="18" charset="0"/>
              </a:rPr>
              <a:t>README-eng.txt</a:t>
            </a:r>
            <a:endParaRPr lang="en-US" altLang="ja-JP" sz="2000" dirty="0">
              <a:solidFill>
                <a:srgbClr val="000000"/>
              </a:solidFill>
              <a:latin typeface="Century" panose="02040604050505020304" pitchFamily="18" charset="0"/>
            </a:endParaRPr>
          </a:p>
        </p:txBody>
      </p:sp>
      <p:sp>
        <p:nvSpPr>
          <p:cNvPr id="23560" name="テキスト ボックス 10">
            <a:extLst>
              <a:ext uri="{FF2B5EF4-FFF2-40B4-BE49-F238E27FC236}">
                <a16:creationId xmlns:a16="http://schemas.microsoft.com/office/drawing/2014/main" id="{13247795-6D85-46F1-8F0A-AF5F82F2C173}"/>
              </a:ext>
            </a:extLst>
          </p:cNvPr>
          <p:cNvSpPr txBox="1">
            <a:spLocks noChangeArrowheads="1"/>
          </p:cNvSpPr>
          <p:nvPr/>
        </p:nvSpPr>
        <p:spPr bwMode="auto">
          <a:xfrm>
            <a:off x="623888" y="3940175"/>
            <a:ext cx="8050212" cy="209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ts val="600"/>
              </a:spcBef>
              <a:buFont typeface="Arial" panose="020B0604020202020204" pitchFamily="34" charset="0"/>
              <a:buChar char="•"/>
            </a:pPr>
            <a:r>
              <a:rPr lang="en-US" altLang="ja-JP" sz="2000" dirty="0">
                <a:solidFill>
                  <a:srgbClr val="000000"/>
                </a:solidFill>
                <a:latin typeface="Century" panose="02040604050505020304" pitchFamily="18" charset="0"/>
              </a:rPr>
              <a:t>Approximately 10 GB disk space is required. </a:t>
            </a:r>
          </a:p>
          <a:p>
            <a:pPr eaLnBrk="1" hangingPunct="1">
              <a:spcBef>
                <a:spcPts val="600"/>
              </a:spcBef>
              <a:buFont typeface="Arial" panose="020B0604020202020204" pitchFamily="34" charset="0"/>
              <a:buChar char="•"/>
            </a:pPr>
            <a:r>
              <a:rPr lang="en-US" altLang="ja-JP" sz="2000" dirty="0">
                <a:solidFill>
                  <a:srgbClr val="000000"/>
                </a:solidFill>
                <a:latin typeface="Century" panose="02040604050505020304" pitchFamily="18" charset="0"/>
              </a:rPr>
              <a:t>Please do not change the path (folder name) to install PHITS from its default setting (e.g. c:/ for Windows). </a:t>
            </a:r>
          </a:p>
          <a:p>
            <a:pPr eaLnBrk="1" hangingPunct="1">
              <a:spcBef>
                <a:spcPts val="600"/>
              </a:spcBef>
              <a:buFont typeface="Arial" panose="020B0604020202020204" pitchFamily="34" charset="0"/>
              <a:buChar char="•"/>
            </a:pPr>
            <a:r>
              <a:rPr lang="en-US" altLang="ja-JP" sz="2000" dirty="0">
                <a:solidFill>
                  <a:srgbClr val="000000"/>
                </a:solidFill>
                <a:latin typeface="Century" panose="02040604050505020304" pitchFamily="18" charset="0"/>
              </a:rPr>
              <a:t>If you have an older version of PHITS, please make a backup of your edited files and install the new version in the same folder (overwrite installation is recommended). </a:t>
            </a:r>
          </a:p>
        </p:txBody>
      </p:sp>
      <p:sp>
        <p:nvSpPr>
          <p:cNvPr id="23561" name="テキスト ボックス 12">
            <a:extLst>
              <a:ext uri="{FF2B5EF4-FFF2-40B4-BE49-F238E27FC236}">
                <a16:creationId xmlns:a16="http://schemas.microsoft.com/office/drawing/2014/main" id="{80D62352-3633-45B1-9308-23CA8D058925}"/>
              </a:ext>
            </a:extLst>
          </p:cNvPr>
          <p:cNvSpPr txBox="1">
            <a:spLocks noChangeArrowheads="1"/>
          </p:cNvSpPr>
          <p:nvPr/>
        </p:nvSpPr>
        <p:spPr bwMode="auto">
          <a:xfrm>
            <a:off x="623888" y="3429000"/>
            <a:ext cx="279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a:solidFill>
                  <a:schemeClr val="accent2"/>
                </a:solidFill>
                <a:latin typeface="Century" panose="02040604050505020304" pitchFamily="18" charset="0"/>
              </a:rPr>
              <a:t>Important notice</a:t>
            </a:r>
          </a:p>
        </p:txBody>
      </p:sp>
      <p:sp>
        <p:nvSpPr>
          <p:cNvPr id="23562" name="テキスト ボックス 14">
            <a:extLst>
              <a:ext uri="{FF2B5EF4-FFF2-40B4-BE49-F238E27FC236}">
                <a16:creationId xmlns:a16="http://schemas.microsoft.com/office/drawing/2014/main" id="{E805AB2D-A764-49C8-A643-FDAA635024FC}"/>
              </a:ext>
            </a:extLst>
          </p:cNvPr>
          <p:cNvSpPr txBox="1">
            <a:spLocks noChangeArrowheads="1"/>
          </p:cNvSpPr>
          <p:nvPr/>
        </p:nvSpPr>
        <p:spPr bwMode="auto">
          <a:xfrm>
            <a:off x="614363" y="725488"/>
            <a:ext cx="8051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a:solidFill>
                  <a:schemeClr val="accent2"/>
                </a:solidFill>
                <a:latin typeface="Century" panose="02040604050505020304" pitchFamily="18" charset="0"/>
              </a:rPr>
              <a:t>Installers for Windows, Mac, and Linux are available</a:t>
            </a:r>
          </a:p>
        </p:txBody>
      </p:sp>
      <p:sp>
        <p:nvSpPr>
          <p:cNvPr id="2" name="テキスト ボックス 1">
            <a:extLst>
              <a:ext uri="{FF2B5EF4-FFF2-40B4-BE49-F238E27FC236}">
                <a16:creationId xmlns:a16="http://schemas.microsoft.com/office/drawing/2014/main" id="{40D8E23C-275D-D2DA-A3DA-97E88F64F6F4}"/>
              </a:ext>
            </a:extLst>
          </p:cNvPr>
          <p:cNvSpPr txBox="1"/>
          <p:nvPr/>
        </p:nvSpPr>
        <p:spPr>
          <a:xfrm>
            <a:off x="396589" y="6480921"/>
            <a:ext cx="8355172" cy="307777"/>
          </a:xfrm>
          <a:prstGeom prst="rect">
            <a:avLst/>
          </a:prstGeom>
          <a:noFill/>
        </p:spPr>
        <p:txBody>
          <a:bodyPr wrap="none" rtlCol="0">
            <a:spAutoFit/>
          </a:bodyPr>
          <a:lstStyle/>
          <a:p>
            <a:r>
              <a:rPr kumimoji="1" lang="en-US" altLang="ja-JP" sz="1400" dirty="0"/>
              <a:t>*phits_setup_win.exe</a:t>
            </a:r>
            <a:r>
              <a:rPr lang="ja-JP" altLang="en-US" sz="1400" dirty="0"/>
              <a:t> </a:t>
            </a:r>
            <a:r>
              <a:rPr lang="en-US" altLang="ja-JP" sz="1400" dirty="0"/>
              <a:t>is</a:t>
            </a:r>
            <a:r>
              <a:rPr lang="ja-JP" altLang="en-US" sz="1400" dirty="0"/>
              <a:t> </a:t>
            </a:r>
            <a:r>
              <a:rPr lang="en-US" altLang="ja-JP" sz="1400" dirty="0"/>
              <a:t>occasionally</a:t>
            </a:r>
            <a:r>
              <a:rPr lang="ja-JP" altLang="en-US" sz="1400" dirty="0"/>
              <a:t> </a:t>
            </a:r>
            <a:r>
              <a:rPr lang="en-US" altLang="ja-JP" sz="1400" dirty="0"/>
              <a:t>quarantined by anti-virus software</a:t>
            </a:r>
            <a:r>
              <a:rPr kumimoji="1" lang="en-US" altLang="ja-JP" sz="1400" dirty="0"/>
              <a:t>. In that case, please restore it by yourself</a:t>
            </a:r>
            <a:endParaRPr kumimoji="1" lang="ja-JP"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95A2F13-2494-4A96-BE1F-0E59F94DDD57}"/>
              </a:ext>
            </a:extLst>
          </p:cNvPr>
          <p:cNvSpPr>
            <a:spLocks noGrp="1" noChangeArrowheads="1"/>
          </p:cNvSpPr>
          <p:nvPr>
            <p:ph type="title"/>
          </p:nvPr>
        </p:nvSpPr>
        <p:spPr>
          <a:xfrm>
            <a:off x="1270000" y="15875"/>
            <a:ext cx="6604000" cy="657225"/>
          </a:xfrm>
        </p:spPr>
        <p:txBody>
          <a:bodyPr/>
          <a:lstStyle/>
          <a:p>
            <a:pPr eaLnBrk="1" hangingPunct="1"/>
            <a:r>
              <a:rPr lang="en-US" altLang="ja-JP" sz="4000">
                <a:latin typeface="Times New Roman 見出し"/>
              </a:rPr>
              <a:t>Confirmation of Installation</a:t>
            </a:r>
            <a:endParaRPr lang="ja-JP" altLang="en-US" sz="4000">
              <a:latin typeface="Times New Roman 見出し"/>
            </a:endParaRPr>
          </a:p>
        </p:txBody>
      </p:sp>
      <p:sp>
        <p:nvSpPr>
          <p:cNvPr id="25607" name="Rectangle 8">
            <a:extLst>
              <a:ext uri="{FF2B5EF4-FFF2-40B4-BE49-F238E27FC236}">
                <a16:creationId xmlns:a16="http://schemas.microsoft.com/office/drawing/2014/main" id="{5646265B-192F-44BA-850B-4DADEFC9742A}"/>
              </a:ext>
            </a:extLst>
          </p:cNvPr>
          <p:cNvSpPr txBox="1">
            <a:spLocks noChangeArrowheads="1"/>
          </p:cNvSpPr>
          <p:nvPr/>
        </p:nvSpPr>
        <p:spPr bwMode="auto">
          <a:xfrm>
            <a:off x="446088" y="812800"/>
            <a:ext cx="8226425" cy="150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en-US" altLang="ja-JP" sz="2400">
                <a:solidFill>
                  <a:srgbClr val="000000"/>
                </a:solidFill>
                <a:latin typeface="Century" panose="02040604050505020304" pitchFamily="18" charset="0"/>
              </a:rPr>
              <a:t>When installation is completed, open </a:t>
            </a:r>
          </a:p>
          <a:p>
            <a:pPr eaLnBrk="1" hangingPunct="1">
              <a:buFontTx/>
              <a:buNone/>
            </a:pPr>
            <a:r>
              <a:rPr lang="en-US" altLang="ja-JP" sz="2400">
                <a:solidFill>
                  <a:srgbClr val="000000"/>
                </a:solidFill>
                <a:latin typeface="Century" panose="02040604050505020304" pitchFamily="18" charset="0"/>
              </a:rPr>
              <a:t>/phits/lecture/basic/lec01/ </a:t>
            </a:r>
          </a:p>
          <a:p>
            <a:pPr eaLnBrk="1" hangingPunct="1">
              <a:buFontTx/>
              <a:buNone/>
            </a:pPr>
            <a:r>
              <a:rPr lang="en-US" altLang="ja-JP" sz="2400">
                <a:solidFill>
                  <a:srgbClr val="000000"/>
                </a:solidFill>
                <a:latin typeface="Century" panose="02040604050505020304" pitchFamily="18" charset="0"/>
              </a:rPr>
              <a:t>folder and execute PHITS with an input file </a:t>
            </a:r>
            <a:r>
              <a:rPr lang="en-US" altLang="ja-JP" sz="2400">
                <a:solidFill>
                  <a:srgbClr val="FF0000"/>
                </a:solidFill>
                <a:latin typeface="Century" panose="02040604050505020304" pitchFamily="18" charset="0"/>
              </a:rPr>
              <a:t>lec01.inp</a:t>
            </a:r>
          </a:p>
          <a:p>
            <a:pPr eaLnBrk="1" hangingPunct="1">
              <a:buFontTx/>
              <a:buNone/>
            </a:pPr>
            <a:endParaRPr lang="en-US" altLang="ja-JP" sz="2400">
              <a:solidFill>
                <a:srgbClr val="000000"/>
              </a:solidFill>
              <a:latin typeface="Century" panose="02040604050505020304" pitchFamily="18" charset="0"/>
            </a:endParaRPr>
          </a:p>
        </p:txBody>
      </p:sp>
      <p:sp>
        <p:nvSpPr>
          <p:cNvPr id="10" name="テキスト ボックス 9">
            <a:extLst>
              <a:ext uri="{FF2B5EF4-FFF2-40B4-BE49-F238E27FC236}">
                <a16:creationId xmlns:a16="http://schemas.microsoft.com/office/drawing/2014/main" id="{192A03A5-CE48-4AE2-91CC-E951C9F36D94}"/>
              </a:ext>
            </a:extLst>
          </p:cNvPr>
          <p:cNvSpPr txBox="1"/>
          <p:nvPr/>
        </p:nvSpPr>
        <p:spPr>
          <a:xfrm>
            <a:off x="406400" y="3089275"/>
            <a:ext cx="8532813" cy="1724025"/>
          </a:xfrm>
          <a:prstGeom prst="rect">
            <a:avLst/>
          </a:prstGeom>
          <a:noFill/>
        </p:spPr>
        <p:txBody>
          <a:bodyPr>
            <a:spAutoFit/>
          </a:bodyPr>
          <a:lstStyle/>
          <a:p>
            <a:pPr marL="342900" indent="-342900" eaLnBrk="1" hangingPunct="1">
              <a:spcBef>
                <a:spcPts val="600"/>
              </a:spcBef>
              <a:buFont typeface="Wingdings" panose="05000000000000000000" pitchFamily="2" charset="2"/>
              <a:buChar char="ü"/>
              <a:defRPr/>
            </a:pPr>
            <a:r>
              <a:rPr lang="en-US" altLang="ja-JP" dirty="0">
                <a:latin typeface="+mj-lt"/>
              </a:rPr>
              <a:t>Windows: Select an input file -&gt; Right click -&gt; Send to* -&gt; Select PHITS</a:t>
            </a:r>
          </a:p>
          <a:p>
            <a:pPr marL="342900" indent="-342900" eaLnBrk="1" hangingPunct="1">
              <a:spcBef>
                <a:spcPts val="600"/>
              </a:spcBef>
              <a:buFont typeface="Wingdings" panose="05000000000000000000" pitchFamily="2" charset="2"/>
              <a:buChar char="ü"/>
              <a:defRPr/>
            </a:pPr>
            <a:r>
              <a:rPr lang="en-US" altLang="ja-JP" dirty="0">
                <a:latin typeface="+mj-lt"/>
              </a:rPr>
              <a:t>Mac: Drag &amp; drop in input file to a blue PHITS icon in the dock</a:t>
            </a:r>
          </a:p>
          <a:p>
            <a:pPr marL="342900" indent="-342900" eaLnBrk="1" hangingPunct="1">
              <a:spcBef>
                <a:spcPts val="600"/>
              </a:spcBef>
              <a:buFont typeface="Wingdings" panose="05000000000000000000" pitchFamily="2" charset="2"/>
              <a:buChar char="ü"/>
              <a:defRPr/>
            </a:pPr>
            <a:r>
              <a:rPr lang="en-US" altLang="ja-JP" dirty="0">
                <a:latin typeface="+mj-lt"/>
              </a:rPr>
              <a:t>Linux: type “phits.sh lec01.inp” in your console</a:t>
            </a:r>
          </a:p>
        </p:txBody>
      </p:sp>
      <p:sp>
        <p:nvSpPr>
          <p:cNvPr id="25609" name="テキスト ボックス 11">
            <a:extLst>
              <a:ext uri="{FF2B5EF4-FFF2-40B4-BE49-F238E27FC236}">
                <a16:creationId xmlns:a16="http://schemas.microsoft.com/office/drawing/2014/main" id="{AB60A467-AA96-46C8-BDCD-850CCBA16C19}"/>
              </a:ext>
            </a:extLst>
          </p:cNvPr>
          <p:cNvSpPr txBox="1">
            <a:spLocks noChangeArrowheads="1"/>
          </p:cNvSpPr>
          <p:nvPr/>
        </p:nvSpPr>
        <p:spPr bwMode="auto">
          <a:xfrm>
            <a:off x="2627313" y="2398713"/>
            <a:ext cx="3478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1" hangingPunct="1"/>
            <a:r>
              <a:rPr lang="en-US" altLang="ja-JP">
                <a:solidFill>
                  <a:schemeClr val="accent2"/>
                </a:solidFill>
                <a:latin typeface="Century" panose="02040604050505020304" pitchFamily="18" charset="0"/>
              </a:rPr>
              <a:t>How to run PHITS </a:t>
            </a:r>
          </a:p>
        </p:txBody>
      </p:sp>
      <p:sp>
        <p:nvSpPr>
          <p:cNvPr id="25610" name="テキスト ボックス 12">
            <a:extLst>
              <a:ext uri="{FF2B5EF4-FFF2-40B4-BE49-F238E27FC236}">
                <a16:creationId xmlns:a16="http://schemas.microsoft.com/office/drawing/2014/main" id="{78258A40-69D5-4B4E-8490-C56C8022A604}"/>
              </a:ext>
            </a:extLst>
          </p:cNvPr>
          <p:cNvSpPr txBox="1">
            <a:spLocks noChangeArrowheads="1"/>
          </p:cNvSpPr>
          <p:nvPr/>
        </p:nvSpPr>
        <p:spPr bwMode="auto">
          <a:xfrm>
            <a:off x="614363" y="5157788"/>
            <a:ext cx="82915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a:solidFill>
                  <a:srgbClr val="FF0000"/>
                </a:solidFill>
                <a:latin typeface="Century" panose="02040604050505020304" pitchFamily="18" charset="0"/>
              </a:rPr>
              <a:t>Please see instruction files in each folder in more detail</a:t>
            </a:r>
          </a:p>
        </p:txBody>
      </p:sp>
      <p:sp>
        <p:nvSpPr>
          <p:cNvPr id="5" name="テキスト ボックス 4">
            <a:extLst>
              <a:ext uri="{FF2B5EF4-FFF2-40B4-BE49-F238E27FC236}">
                <a16:creationId xmlns:a16="http://schemas.microsoft.com/office/drawing/2014/main" id="{D4AE2DFC-E3E3-21DF-A9AD-BB932BB61154}"/>
              </a:ext>
            </a:extLst>
          </p:cNvPr>
          <p:cNvSpPr txBox="1"/>
          <p:nvPr/>
        </p:nvSpPr>
        <p:spPr>
          <a:xfrm>
            <a:off x="824069" y="6418701"/>
            <a:ext cx="7844929" cy="400110"/>
          </a:xfrm>
          <a:prstGeom prst="rect">
            <a:avLst/>
          </a:prstGeom>
          <a:noFill/>
        </p:spPr>
        <p:txBody>
          <a:bodyPr wrap="square">
            <a:spAutoFit/>
          </a:bodyPr>
          <a:lstStyle/>
          <a:p>
            <a:r>
              <a:rPr kumimoji="1" lang="en-US" altLang="ja-JP" sz="20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50" charset="-128"/>
                <a:cs typeface="+mn-cs"/>
              </a:rPr>
              <a:t>*In Windows 11, “SEND TO” command is behind “Show More Options”. </a:t>
            </a:r>
            <a:endParaRPr lang="ja-JP"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75631170-2379-CEA6-A6A8-96A3A7150272}"/>
              </a:ext>
            </a:extLst>
          </p:cNvPr>
          <p:cNvPicPr>
            <a:picLocks noChangeAspect="1"/>
          </p:cNvPicPr>
          <p:nvPr/>
        </p:nvPicPr>
        <p:blipFill rotWithShape="1">
          <a:blip r:embed="rId3"/>
          <a:srcRect b="45086"/>
          <a:stretch/>
        </p:blipFill>
        <p:spPr>
          <a:xfrm>
            <a:off x="1794953" y="2492896"/>
            <a:ext cx="5554094" cy="2703256"/>
          </a:xfrm>
          <a:prstGeom prst="rect">
            <a:avLst/>
          </a:prstGeom>
        </p:spPr>
      </p:pic>
      <p:sp>
        <p:nvSpPr>
          <p:cNvPr id="39938" name="Rectangle 2">
            <a:extLst>
              <a:ext uri="{FF2B5EF4-FFF2-40B4-BE49-F238E27FC236}">
                <a16:creationId xmlns:a16="http://schemas.microsoft.com/office/drawing/2014/main" id="{ABB02DD5-DCDD-4F22-83BA-DB006F89E529}"/>
              </a:ext>
            </a:extLst>
          </p:cNvPr>
          <p:cNvSpPr>
            <a:spLocks noGrp="1" noChangeArrowheads="1"/>
          </p:cNvSpPr>
          <p:nvPr>
            <p:ph type="title"/>
          </p:nvPr>
        </p:nvSpPr>
        <p:spPr>
          <a:xfrm>
            <a:off x="208037" y="12477"/>
            <a:ext cx="8804993" cy="896938"/>
          </a:xfrm>
        </p:spPr>
        <p:txBody>
          <a:bodyPr/>
          <a:lstStyle/>
          <a:p>
            <a:pPr eaLnBrk="1" hangingPunct="1"/>
            <a:r>
              <a:rPr lang="en-US" altLang="ja-JP" sz="3600" dirty="0"/>
              <a:t>Confirmation of Installation using Text Editor</a:t>
            </a:r>
            <a:endParaRPr lang="ja-JP" altLang="en-US" sz="3600" dirty="0">
              <a:latin typeface="Century Gothic" panose="020B0502020202020204" pitchFamily="34" charset="0"/>
            </a:endParaRPr>
          </a:p>
        </p:txBody>
      </p:sp>
      <p:sp>
        <p:nvSpPr>
          <p:cNvPr id="40967" name="Rectangle 8">
            <a:extLst>
              <a:ext uri="{FF2B5EF4-FFF2-40B4-BE49-F238E27FC236}">
                <a16:creationId xmlns:a16="http://schemas.microsoft.com/office/drawing/2014/main" id="{1EB375E3-BBE0-4F3A-9FE9-EDD441402EEA}"/>
              </a:ext>
            </a:extLst>
          </p:cNvPr>
          <p:cNvSpPr txBox="1">
            <a:spLocks noChangeArrowheads="1"/>
          </p:cNvSpPr>
          <p:nvPr/>
        </p:nvSpPr>
        <p:spPr bwMode="auto">
          <a:xfrm>
            <a:off x="179512" y="953294"/>
            <a:ext cx="8804993" cy="1755626"/>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457200" indent="-457200" eaLnBrk="1" hangingPunct="1">
              <a:spcBef>
                <a:spcPts val="600"/>
              </a:spcBef>
              <a:buFont typeface="+mj-lt"/>
              <a:buAutoNum type="arabicPeriod"/>
              <a:defRPr/>
            </a:pPr>
            <a:r>
              <a:rPr lang="en-US" altLang="ja-JP" sz="2400" dirty="0">
                <a:solidFill>
                  <a:srgbClr val="000000"/>
                </a:solidFill>
                <a:latin typeface="Century" pitchFamily="18" charset="0"/>
              </a:rPr>
              <a:t>Open </a:t>
            </a:r>
            <a:r>
              <a:rPr lang="en-US" altLang="ja-JP" sz="2400" dirty="0">
                <a:solidFill>
                  <a:srgbClr val="FF0000"/>
                </a:solidFill>
                <a:latin typeface="Century" pitchFamily="18" charset="0"/>
              </a:rPr>
              <a:t>lec01.inp </a:t>
            </a:r>
            <a:r>
              <a:rPr lang="en-US" altLang="ja-JP" sz="2400" dirty="0">
                <a:solidFill>
                  <a:srgbClr val="000000"/>
                </a:solidFill>
                <a:latin typeface="Century" pitchFamily="18" charset="0"/>
              </a:rPr>
              <a:t>with PHITS-Pad or </a:t>
            </a:r>
            <a:r>
              <a:rPr lang="en-US" altLang="ja-JP" sz="2400" dirty="0" err="1">
                <a:solidFill>
                  <a:srgbClr val="000000"/>
                </a:solidFill>
                <a:latin typeface="Century" pitchFamily="18" charset="0"/>
              </a:rPr>
              <a:t>NotePad</a:t>
            </a:r>
            <a:r>
              <a:rPr lang="en-US" altLang="ja-JP" sz="2400" dirty="0">
                <a:solidFill>
                  <a:srgbClr val="000000"/>
                </a:solidFill>
                <a:latin typeface="Century" pitchFamily="18" charset="0"/>
              </a:rPr>
              <a:t>++</a:t>
            </a:r>
          </a:p>
          <a:p>
            <a:pPr marL="457200" indent="-457200" eaLnBrk="1" hangingPunct="1">
              <a:spcBef>
                <a:spcPts val="600"/>
              </a:spcBef>
              <a:buFont typeface="+mj-lt"/>
              <a:buAutoNum type="arabicPeriod"/>
              <a:defRPr/>
            </a:pPr>
            <a:r>
              <a:rPr lang="en-US" altLang="ja-JP" sz="2400" dirty="0">
                <a:latin typeface="Century" pitchFamily="18" charset="0"/>
              </a:rPr>
              <a:t>Select “PHITS” option in “Program” (PHITS-Pad) or “Run” (</a:t>
            </a:r>
            <a:r>
              <a:rPr lang="en-US" altLang="ja-JP" sz="2400" dirty="0" err="1">
                <a:latin typeface="Century" pitchFamily="18" charset="0"/>
              </a:rPr>
              <a:t>NotePad</a:t>
            </a:r>
            <a:r>
              <a:rPr lang="en-US" altLang="ja-JP" sz="2400" dirty="0">
                <a:latin typeface="Century" pitchFamily="18" charset="0"/>
              </a:rPr>
              <a:t>++) in the menu bar.</a:t>
            </a:r>
          </a:p>
        </p:txBody>
      </p:sp>
      <p:sp>
        <p:nvSpPr>
          <p:cNvPr id="3" name="楕円 2">
            <a:extLst>
              <a:ext uri="{FF2B5EF4-FFF2-40B4-BE49-F238E27FC236}">
                <a16:creationId xmlns:a16="http://schemas.microsoft.com/office/drawing/2014/main" id="{BF50520E-400A-24BA-3074-8AE21C1BC005}"/>
              </a:ext>
            </a:extLst>
          </p:cNvPr>
          <p:cNvSpPr/>
          <p:nvPr/>
        </p:nvSpPr>
        <p:spPr>
          <a:xfrm>
            <a:off x="2987824" y="2695946"/>
            <a:ext cx="566900" cy="27752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B51B484-0F25-591A-7358-232DC42E42F7}"/>
              </a:ext>
            </a:extLst>
          </p:cNvPr>
          <p:cNvSpPr txBox="1"/>
          <p:nvPr/>
        </p:nvSpPr>
        <p:spPr>
          <a:xfrm>
            <a:off x="840634" y="2834706"/>
            <a:ext cx="774613" cy="400110"/>
          </a:xfrm>
          <a:prstGeom prst="rect">
            <a:avLst/>
          </a:prstGeom>
          <a:noFill/>
        </p:spPr>
        <p:txBody>
          <a:bodyPr wrap="square" rtlCol="0">
            <a:spAutoFit/>
          </a:bodyPr>
          <a:lstStyle/>
          <a:p>
            <a:r>
              <a:rPr kumimoji="1" lang="en-US" altLang="ja-JP" sz="2000" dirty="0">
                <a:solidFill>
                  <a:srgbClr val="FF0000"/>
                </a:solidFill>
              </a:rPr>
              <a:t>Here!</a:t>
            </a:r>
            <a:endParaRPr kumimoji="1" lang="ja-JP" altLang="en-US" sz="2000" dirty="0">
              <a:solidFill>
                <a:srgbClr val="FF0000"/>
              </a:solidFill>
            </a:endParaRPr>
          </a:p>
        </p:txBody>
      </p:sp>
      <p:cxnSp>
        <p:nvCxnSpPr>
          <p:cNvPr id="7" name="直線矢印コネクタ 6">
            <a:extLst>
              <a:ext uri="{FF2B5EF4-FFF2-40B4-BE49-F238E27FC236}">
                <a16:creationId xmlns:a16="http://schemas.microsoft.com/office/drawing/2014/main" id="{7B521803-3D05-7A3C-E8A9-87626AB27C04}"/>
              </a:ext>
            </a:extLst>
          </p:cNvPr>
          <p:cNvCxnSpPr>
            <a:cxnSpLocks/>
            <a:stCxn id="4" idx="3"/>
            <a:endCxn id="3" idx="2"/>
          </p:cNvCxnSpPr>
          <p:nvPr/>
        </p:nvCxnSpPr>
        <p:spPr>
          <a:xfrm flipV="1">
            <a:off x="1615247" y="2834707"/>
            <a:ext cx="1372577" cy="2000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2">
            <a:extLst>
              <a:ext uri="{FF2B5EF4-FFF2-40B4-BE49-F238E27FC236}">
                <a16:creationId xmlns:a16="http://schemas.microsoft.com/office/drawing/2014/main" id="{590BDDDC-03C3-EB25-7E91-6AF3DDB9D555}"/>
              </a:ext>
            </a:extLst>
          </p:cNvPr>
          <p:cNvSpPr txBox="1">
            <a:spLocks noChangeArrowheads="1"/>
          </p:cNvSpPr>
          <p:nvPr/>
        </p:nvSpPr>
        <p:spPr bwMode="auto">
          <a:xfrm>
            <a:off x="256232" y="5584350"/>
            <a:ext cx="86515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dirty="0">
                <a:latin typeface="Century" panose="02040604050505020304" pitchFamily="18" charset="0"/>
              </a:rPr>
              <a:t>Please see instruction files in each folder if it does not work</a:t>
            </a:r>
          </a:p>
        </p:txBody>
      </p:sp>
    </p:spTree>
    <p:extLst>
      <p:ext uri="{BB962C8B-B14F-4D97-AF65-F5344CB8AC3E}">
        <p14:creationId xmlns:p14="http://schemas.microsoft.com/office/powerpoint/2010/main" val="2447271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7A2F7C7-3575-4912-BC97-104F918C26F5}"/>
              </a:ext>
            </a:extLst>
          </p:cNvPr>
          <p:cNvSpPr>
            <a:spLocks noGrp="1" noChangeArrowheads="1"/>
          </p:cNvSpPr>
          <p:nvPr>
            <p:ph type="title"/>
          </p:nvPr>
        </p:nvSpPr>
        <p:spPr>
          <a:xfrm>
            <a:off x="338138" y="22225"/>
            <a:ext cx="8477250" cy="896938"/>
          </a:xfrm>
        </p:spPr>
        <p:txBody>
          <a:bodyPr/>
          <a:lstStyle/>
          <a:p>
            <a:pPr eaLnBrk="1" hangingPunct="1"/>
            <a:r>
              <a:rPr lang="en-US" altLang="ja-JP" sz="4000">
                <a:latin typeface="Times New Roman 見出し"/>
              </a:rPr>
              <a:t>Check PHITS</a:t>
            </a:r>
            <a:r>
              <a:rPr lang="ja-JP" altLang="en-US" sz="4000">
                <a:latin typeface="Times New Roman 見出し"/>
              </a:rPr>
              <a:t> </a:t>
            </a:r>
            <a:r>
              <a:rPr lang="en-US" altLang="ja-JP" sz="4000">
                <a:latin typeface="Times New Roman 見出し"/>
              </a:rPr>
              <a:t>simulation results</a:t>
            </a:r>
            <a:endParaRPr lang="ja-JP" altLang="en-US" sz="4000">
              <a:latin typeface="Times New Roman 見出し"/>
            </a:endParaRPr>
          </a:p>
        </p:txBody>
      </p:sp>
      <p:sp>
        <p:nvSpPr>
          <p:cNvPr id="27654" name="テキスト ボックス 2">
            <a:extLst>
              <a:ext uri="{FF2B5EF4-FFF2-40B4-BE49-F238E27FC236}">
                <a16:creationId xmlns:a16="http://schemas.microsoft.com/office/drawing/2014/main" id="{D73A6EF8-4B1C-4D48-AB63-134DD9212643}"/>
              </a:ext>
            </a:extLst>
          </p:cNvPr>
          <p:cNvSpPr txBox="1">
            <a:spLocks noChangeArrowheads="1"/>
          </p:cNvSpPr>
          <p:nvPr/>
        </p:nvSpPr>
        <p:spPr bwMode="auto">
          <a:xfrm>
            <a:off x="827584" y="2287629"/>
            <a:ext cx="1730375" cy="4603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2400"/>
              <a:t>track_xz.eps</a:t>
            </a:r>
            <a:endParaRPr lang="ja-JP" altLang="en-US" sz="2400"/>
          </a:p>
        </p:txBody>
      </p:sp>
      <p:sp>
        <p:nvSpPr>
          <p:cNvPr id="27656" name="Rectangle 8">
            <a:extLst>
              <a:ext uri="{FF2B5EF4-FFF2-40B4-BE49-F238E27FC236}">
                <a16:creationId xmlns:a16="http://schemas.microsoft.com/office/drawing/2014/main" id="{C607F430-B987-4F92-90F8-B2512A62FFA8}"/>
              </a:ext>
            </a:extLst>
          </p:cNvPr>
          <p:cNvSpPr txBox="1">
            <a:spLocks noChangeArrowheads="1"/>
          </p:cNvSpPr>
          <p:nvPr/>
        </p:nvSpPr>
        <p:spPr bwMode="auto">
          <a:xfrm>
            <a:off x="539750" y="777875"/>
            <a:ext cx="82264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en-US" altLang="ja-JP" sz="2000">
                <a:solidFill>
                  <a:srgbClr val="000000"/>
                </a:solidFill>
                <a:latin typeface="Century" panose="02040604050505020304" pitchFamily="18" charset="0"/>
              </a:rPr>
              <a:t>When PHITS execution is finished, output files phits.out, track_xz.out, track_xz.eps, track_xz_err.out, track_xz_err.eps, batch.out are created. Open track_xz.eps and check whether eps file is shown or not.</a:t>
            </a:r>
          </a:p>
        </p:txBody>
      </p:sp>
      <p:sp>
        <p:nvSpPr>
          <p:cNvPr id="27657" name="テキスト ボックス 16">
            <a:extLst>
              <a:ext uri="{FF2B5EF4-FFF2-40B4-BE49-F238E27FC236}">
                <a16:creationId xmlns:a16="http://schemas.microsoft.com/office/drawing/2014/main" id="{62233057-99E1-4340-903F-2C63416795DC}"/>
              </a:ext>
            </a:extLst>
          </p:cNvPr>
          <p:cNvSpPr txBox="1">
            <a:spLocks noChangeArrowheads="1"/>
          </p:cNvSpPr>
          <p:nvPr/>
        </p:nvSpPr>
        <p:spPr bwMode="auto">
          <a:xfrm>
            <a:off x="407988" y="5602288"/>
            <a:ext cx="828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sz="2000">
                <a:solidFill>
                  <a:srgbClr val="FF0000"/>
                </a:solidFill>
                <a:latin typeface="Century" panose="02040604050505020304" pitchFamily="18" charset="0"/>
              </a:rPr>
              <a:t>If you cannot see this figure, please install software for opening EPS file by referring the instruction files in each folder</a:t>
            </a:r>
          </a:p>
        </p:txBody>
      </p:sp>
      <p:pic>
        <p:nvPicPr>
          <p:cNvPr id="4" name="図 3">
            <a:extLst>
              <a:ext uri="{FF2B5EF4-FFF2-40B4-BE49-F238E27FC236}">
                <a16:creationId xmlns:a16="http://schemas.microsoft.com/office/drawing/2014/main" id="{94C4CE01-B765-3706-FE15-482C028AD36F}"/>
              </a:ext>
            </a:extLst>
          </p:cNvPr>
          <p:cNvPicPr>
            <a:picLocks noChangeAspect="1"/>
          </p:cNvPicPr>
          <p:nvPr/>
        </p:nvPicPr>
        <p:blipFill>
          <a:blip r:embed="rId3"/>
          <a:srcRect l="16926" t="8977" r="16926" b="3117"/>
          <a:stretch/>
        </p:blipFill>
        <p:spPr>
          <a:xfrm>
            <a:off x="2699792" y="2278299"/>
            <a:ext cx="4514902" cy="32249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205D6E48-0491-B10F-B34B-63DE48C3C251}"/>
              </a:ext>
            </a:extLst>
          </p:cNvPr>
          <p:cNvPicPr>
            <a:picLocks noChangeAspect="1"/>
          </p:cNvPicPr>
          <p:nvPr/>
        </p:nvPicPr>
        <p:blipFill>
          <a:blip r:embed="rId3"/>
          <a:stretch>
            <a:fillRect/>
          </a:stretch>
        </p:blipFill>
        <p:spPr>
          <a:xfrm>
            <a:off x="2775507" y="3096117"/>
            <a:ext cx="3800413" cy="2422954"/>
          </a:xfrm>
          <a:prstGeom prst="rect">
            <a:avLst/>
          </a:prstGeom>
        </p:spPr>
      </p:pic>
      <p:sp>
        <p:nvSpPr>
          <p:cNvPr id="39938" name="Rectangle 2">
            <a:extLst>
              <a:ext uri="{FF2B5EF4-FFF2-40B4-BE49-F238E27FC236}">
                <a16:creationId xmlns:a16="http://schemas.microsoft.com/office/drawing/2014/main" id="{ABB02DD5-DCDD-4F22-83BA-DB006F89E529}"/>
              </a:ext>
            </a:extLst>
          </p:cNvPr>
          <p:cNvSpPr>
            <a:spLocks noGrp="1" noChangeArrowheads="1"/>
          </p:cNvSpPr>
          <p:nvPr>
            <p:ph type="title"/>
          </p:nvPr>
        </p:nvSpPr>
        <p:spPr>
          <a:xfrm>
            <a:off x="0" y="0"/>
            <a:ext cx="9144000" cy="896938"/>
          </a:xfrm>
        </p:spPr>
        <p:txBody>
          <a:bodyPr/>
          <a:lstStyle/>
          <a:p>
            <a:pPr eaLnBrk="1" hangingPunct="1"/>
            <a:r>
              <a:rPr lang="en-US" altLang="ja-JP" sz="3600" dirty="0"/>
              <a:t>Confirmation of Geometry Viewer: PHIG-3D</a:t>
            </a:r>
            <a:endParaRPr lang="ja-JP" altLang="en-US" sz="3600" dirty="0">
              <a:latin typeface="Century Gothic" panose="020B0502020202020204" pitchFamily="34" charset="0"/>
            </a:endParaRPr>
          </a:p>
        </p:txBody>
      </p:sp>
      <p:sp>
        <p:nvSpPr>
          <p:cNvPr id="40967" name="Rectangle 8">
            <a:extLst>
              <a:ext uri="{FF2B5EF4-FFF2-40B4-BE49-F238E27FC236}">
                <a16:creationId xmlns:a16="http://schemas.microsoft.com/office/drawing/2014/main" id="{1EB375E3-BBE0-4F3A-9FE9-EDD441402EEA}"/>
              </a:ext>
            </a:extLst>
          </p:cNvPr>
          <p:cNvSpPr txBox="1">
            <a:spLocks noChangeArrowheads="1"/>
          </p:cNvSpPr>
          <p:nvPr/>
        </p:nvSpPr>
        <p:spPr bwMode="auto">
          <a:xfrm>
            <a:off x="70817" y="1453101"/>
            <a:ext cx="8804993" cy="461665"/>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algn="ctr" eaLnBrk="1" hangingPunct="1">
              <a:spcBef>
                <a:spcPts val="600"/>
              </a:spcBef>
              <a:buNone/>
              <a:defRPr/>
            </a:pPr>
            <a:r>
              <a:rPr lang="en-US" altLang="ja-JP" sz="2000" dirty="0">
                <a:latin typeface="Century" pitchFamily="18" charset="0"/>
              </a:rPr>
              <a:t>In the folder of “/</a:t>
            </a:r>
            <a:r>
              <a:rPr lang="en-US" altLang="ja-JP" sz="2000" dirty="0" err="1">
                <a:latin typeface="Century" pitchFamily="18" charset="0"/>
              </a:rPr>
              <a:t>phits</a:t>
            </a:r>
            <a:r>
              <a:rPr lang="en-US" altLang="ja-JP" sz="2000" dirty="0">
                <a:latin typeface="Century" pitchFamily="18" charset="0"/>
              </a:rPr>
              <a:t>/lecture/basic/lec01”</a:t>
            </a:r>
          </a:p>
        </p:txBody>
      </p:sp>
      <p:sp>
        <p:nvSpPr>
          <p:cNvPr id="14" name="テキスト ボックス 13">
            <a:extLst>
              <a:ext uri="{FF2B5EF4-FFF2-40B4-BE49-F238E27FC236}">
                <a16:creationId xmlns:a16="http://schemas.microsoft.com/office/drawing/2014/main" id="{7758ECA1-818B-4C86-AC08-A50DA7E2F8B8}"/>
              </a:ext>
            </a:extLst>
          </p:cNvPr>
          <p:cNvSpPr txBox="1"/>
          <p:nvPr/>
        </p:nvSpPr>
        <p:spPr>
          <a:xfrm>
            <a:off x="277483" y="1872241"/>
            <a:ext cx="8697013" cy="1169551"/>
          </a:xfrm>
          <a:prstGeom prst="rect">
            <a:avLst/>
          </a:prstGeom>
          <a:noFill/>
        </p:spPr>
        <p:txBody>
          <a:bodyPr wrap="square">
            <a:spAutoFit/>
          </a:bodyPr>
          <a:lstStyle/>
          <a:p>
            <a:pPr marL="342900" marR="0" lvl="0" indent="-342900" defTabSz="914400" rtl="0" eaLnBrk="1" fontAlgn="base" latinLnBrk="0" hangingPunct="1">
              <a:lnSpc>
                <a:spcPct val="100000"/>
              </a:lnSpc>
              <a:spcBef>
                <a:spcPts val="600"/>
              </a:spcBef>
              <a:spcAft>
                <a:spcPct val="0"/>
              </a:spcAft>
              <a:buClrTx/>
              <a:buSzTx/>
              <a:buFont typeface="Wingdings" panose="05000000000000000000" pitchFamily="2" charset="2"/>
              <a:buChar char="ü"/>
              <a:tabLst/>
              <a:defRPr/>
            </a:pPr>
            <a:r>
              <a:rPr kumimoji="1" lang="en-US" altLang="ja-JP" sz="2000" b="0" i="0" u="none" strike="noStrike" kern="1200" cap="none" spc="0" normalizeH="0" baseline="0" noProof="0" dirty="0">
                <a:ln>
                  <a:noFill/>
                </a:ln>
                <a:solidFill>
                  <a:schemeClr val="accent2"/>
                </a:solidFill>
                <a:effectLst/>
                <a:uLnTx/>
                <a:uFillTx/>
                <a:latin typeface="Century" pitchFamily="18" charset="0"/>
                <a:ea typeface="ＭＳ Ｐゴシック" panose="020B0600070205080204" pitchFamily="50" charset="-128"/>
                <a:cs typeface="+mn-cs"/>
              </a:rPr>
              <a:t>Windows</a:t>
            </a:r>
            <a:r>
              <a:rPr kumimoji="1" lang="en-US" altLang="ja-JP" sz="2000" b="0" i="0" u="none" strike="noStrike" kern="1200" cap="none" spc="0" normalizeH="0" baseline="0" noProof="0" dirty="0">
                <a:ln>
                  <a:noFill/>
                </a:ln>
                <a:solidFill>
                  <a:srgbClr val="000000"/>
                </a:solidFill>
                <a:effectLst/>
                <a:uLnTx/>
                <a:uFillTx/>
                <a:latin typeface="Century" pitchFamily="18" charset="0"/>
                <a:ea typeface="ＭＳ Ｐゴシック" panose="020B0600070205080204" pitchFamily="50" charset="-128"/>
                <a:cs typeface="+mn-cs"/>
              </a:rPr>
              <a:t>: Right-click </a:t>
            </a:r>
            <a:r>
              <a:rPr kumimoji="1" lang="en-US" altLang="ja-JP" sz="2000" b="0" i="0" u="none" strike="noStrike" kern="1200" cap="none" spc="0" normalizeH="0" baseline="0" noProof="0" dirty="0">
                <a:ln>
                  <a:noFill/>
                </a:ln>
                <a:solidFill>
                  <a:srgbClr val="FF0000"/>
                </a:solidFill>
                <a:effectLst/>
                <a:uLnTx/>
                <a:uFillTx/>
                <a:latin typeface="Century" pitchFamily="18" charset="0"/>
                <a:ea typeface="ＭＳ Ｐゴシック" panose="020B0600070205080204" pitchFamily="50" charset="-128"/>
                <a:cs typeface="+mn-cs"/>
              </a:rPr>
              <a:t>lec01.inp</a:t>
            </a:r>
            <a:r>
              <a:rPr kumimoji="1" lang="en-US" altLang="ja-JP" sz="2000" b="0" i="0" u="none" strike="noStrike" kern="1200" cap="none" spc="0" normalizeH="0" baseline="0" noProof="0" dirty="0">
                <a:ln>
                  <a:noFill/>
                </a:ln>
                <a:solidFill>
                  <a:srgbClr val="000000"/>
                </a:solidFill>
                <a:effectLst/>
                <a:uLnTx/>
                <a:uFillTx/>
                <a:latin typeface="Century" pitchFamily="18" charset="0"/>
                <a:ea typeface="ＭＳ Ｐゴシック" panose="020B0600070205080204" pitchFamily="50" charset="-128"/>
                <a:cs typeface="+mn-cs"/>
              </a:rPr>
              <a:t> and select “SEND TO”</a:t>
            </a:r>
            <a:r>
              <a:rPr kumimoji="1" lang="ja-JP" altLang="en-US" sz="2000" b="0" i="0" u="none" strike="noStrike" kern="1200" cap="none" spc="0" normalizeH="0" baseline="0" noProof="0" dirty="0">
                <a:ln>
                  <a:noFill/>
                </a:ln>
                <a:solidFill>
                  <a:srgbClr val="000000"/>
                </a:solidFill>
                <a:effectLst/>
                <a:uLnTx/>
                <a:uFillTx/>
                <a:latin typeface="Century" pitchFamily="18" charset="0"/>
                <a:ea typeface="ＭＳ Ｐゴシック" panose="020B0600070205080204" pitchFamily="50" charset="-128"/>
                <a:cs typeface="+mn-cs"/>
              </a:rPr>
              <a:t>→ </a:t>
            </a:r>
            <a:r>
              <a:rPr kumimoji="1" lang="en-US" altLang="ja-JP" sz="2000" b="0" i="0" u="none" strike="noStrike" kern="1200" cap="none" spc="0" normalizeH="0" baseline="0" noProof="0" dirty="0">
                <a:ln>
                  <a:noFill/>
                </a:ln>
                <a:solidFill>
                  <a:srgbClr val="000000"/>
                </a:solidFill>
                <a:effectLst/>
                <a:uLnTx/>
                <a:uFillTx/>
                <a:latin typeface="Century" pitchFamily="18" charset="0"/>
                <a:ea typeface="ＭＳ Ｐゴシック" panose="020B0600070205080204" pitchFamily="50" charset="-128"/>
                <a:cs typeface="+mn-cs"/>
              </a:rPr>
              <a:t>”PHIG-3D”*</a:t>
            </a:r>
          </a:p>
          <a:p>
            <a:pPr marL="342900" indent="-342900" eaLnBrk="1" hangingPunct="1">
              <a:spcBef>
                <a:spcPts val="600"/>
              </a:spcBef>
              <a:buFont typeface="Wingdings" panose="05000000000000000000" pitchFamily="2" charset="2"/>
              <a:buChar char="ü"/>
              <a:defRPr/>
            </a:pPr>
            <a:r>
              <a:rPr kumimoji="1" lang="en-US" altLang="ja-JP" sz="2000" b="0" i="0" u="none" strike="noStrike" kern="1200" cap="none" spc="0" normalizeH="0" baseline="0" noProof="0" dirty="0">
                <a:ln>
                  <a:noFill/>
                </a:ln>
                <a:solidFill>
                  <a:schemeClr val="accent2"/>
                </a:solidFill>
                <a:effectLst/>
                <a:uLnTx/>
                <a:uFillTx/>
                <a:latin typeface="Century" pitchFamily="18" charset="0"/>
                <a:ea typeface="ＭＳ Ｐゴシック" panose="020B0600070205080204" pitchFamily="50" charset="-128"/>
                <a:cs typeface="+mn-cs"/>
              </a:rPr>
              <a:t>Mac</a:t>
            </a:r>
            <a:r>
              <a:rPr kumimoji="1" lang="en-US" altLang="ja-JP" sz="2000" b="0" i="0" u="none" strike="noStrike" kern="1200" cap="none" spc="0" normalizeH="0" baseline="0" noProof="0" dirty="0">
                <a:ln>
                  <a:noFill/>
                </a:ln>
                <a:solidFill>
                  <a:srgbClr val="000000"/>
                </a:solidFill>
                <a:effectLst/>
                <a:uLnTx/>
                <a:uFillTx/>
                <a:latin typeface="Century" pitchFamily="18" charset="0"/>
                <a:ea typeface="ＭＳ Ｐゴシック" panose="020B0600070205080204" pitchFamily="50" charset="-128"/>
                <a:cs typeface="+mn-cs"/>
              </a:rPr>
              <a:t>: Drag </a:t>
            </a:r>
            <a:r>
              <a:rPr kumimoji="1" lang="en-US" altLang="ja-JP" sz="2000" b="0" i="0" u="none" strike="noStrike" kern="1200" cap="none" spc="0" normalizeH="0" baseline="0" noProof="0" dirty="0">
                <a:ln>
                  <a:noFill/>
                </a:ln>
                <a:solidFill>
                  <a:srgbClr val="FF0000"/>
                </a:solidFill>
                <a:effectLst/>
                <a:uLnTx/>
                <a:uFillTx/>
                <a:latin typeface="Century" pitchFamily="18" charset="0"/>
                <a:ea typeface="ＭＳ Ｐゴシック" panose="020B0600070205080204" pitchFamily="50" charset="-128"/>
                <a:cs typeface="+mn-cs"/>
              </a:rPr>
              <a:t>lec01.inp</a:t>
            </a:r>
            <a:r>
              <a:rPr kumimoji="1" lang="en-US" altLang="ja-JP" sz="2000" b="0" i="0" u="none" strike="noStrike" kern="1200" cap="none" spc="0" normalizeH="0" baseline="0" noProof="0" dirty="0">
                <a:ln>
                  <a:noFill/>
                </a:ln>
                <a:solidFill>
                  <a:srgbClr val="000000"/>
                </a:solidFill>
                <a:effectLst/>
                <a:uLnTx/>
                <a:uFillTx/>
                <a:latin typeface="Century" pitchFamily="18" charset="0"/>
                <a:ea typeface="ＭＳ Ｐゴシック" panose="020B0600070205080204" pitchFamily="50" charset="-128"/>
                <a:cs typeface="+mn-cs"/>
              </a:rPr>
              <a:t> &amp; drop into the icon of ”PHIG-3D”</a:t>
            </a:r>
          </a:p>
          <a:p>
            <a:pPr marL="342900" indent="-342900" eaLnBrk="1" hangingPunct="1">
              <a:spcBef>
                <a:spcPts val="600"/>
              </a:spcBef>
              <a:buFont typeface="Wingdings" panose="05000000000000000000" pitchFamily="2" charset="2"/>
              <a:buChar char="ü"/>
              <a:defRPr/>
            </a:pPr>
            <a:r>
              <a:rPr lang="en-US" altLang="ja-JP" sz="2000" dirty="0">
                <a:solidFill>
                  <a:schemeClr val="accent2"/>
                </a:solidFill>
                <a:latin typeface="Century" pitchFamily="18" charset="0"/>
              </a:rPr>
              <a:t>Linux</a:t>
            </a:r>
            <a:r>
              <a:rPr lang="en-US" altLang="ja-JP" sz="2000" dirty="0">
                <a:solidFill>
                  <a:srgbClr val="000000"/>
                </a:solidFill>
                <a:latin typeface="Century" pitchFamily="18" charset="0"/>
              </a:rPr>
              <a:t>: T</a:t>
            </a:r>
            <a:r>
              <a:rPr lang="en-US" altLang="ja-JP" sz="2000" dirty="0">
                <a:latin typeface="+mj-lt"/>
              </a:rPr>
              <a:t>ype “phig3d.sh lec01.inp” in your console</a:t>
            </a:r>
            <a:endParaRPr kumimoji="1" lang="en-US" altLang="ja-JP" sz="2000" b="0" i="0" u="none" strike="noStrike" kern="1200" cap="none" spc="0" normalizeH="0" baseline="0" noProof="0" dirty="0">
              <a:ln>
                <a:noFill/>
              </a:ln>
              <a:solidFill>
                <a:srgbClr val="000000"/>
              </a:solidFill>
              <a:effectLst/>
              <a:uLnTx/>
              <a:uFillTx/>
              <a:latin typeface="Century" pitchFamily="18" charset="0"/>
              <a:ea typeface="ＭＳ Ｐゴシック" panose="020B0600070205080204" pitchFamily="50" charset="-128"/>
              <a:cs typeface="+mn-cs"/>
            </a:endParaRPr>
          </a:p>
        </p:txBody>
      </p:sp>
      <p:sp>
        <p:nvSpPr>
          <p:cNvPr id="3" name="楕円 2">
            <a:extLst>
              <a:ext uri="{FF2B5EF4-FFF2-40B4-BE49-F238E27FC236}">
                <a16:creationId xmlns:a16="http://schemas.microsoft.com/office/drawing/2014/main" id="{BDE737DF-B9E2-98D1-A10F-F1111B759F34}"/>
              </a:ext>
            </a:extLst>
          </p:cNvPr>
          <p:cNvSpPr/>
          <p:nvPr/>
        </p:nvSpPr>
        <p:spPr>
          <a:xfrm>
            <a:off x="3203392" y="5105078"/>
            <a:ext cx="504056" cy="27752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421E507D-75D3-732C-9ED7-910F2B07F812}"/>
              </a:ext>
            </a:extLst>
          </p:cNvPr>
          <p:cNvSpPr txBox="1"/>
          <p:nvPr/>
        </p:nvSpPr>
        <p:spPr>
          <a:xfrm>
            <a:off x="1735549" y="4914239"/>
            <a:ext cx="1473480" cy="400110"/>
          </a:xfrm>
          <a:prstGeom prst="rect">
            <a:avLst/>
          </a:prstGeom>
          <a:noFill/>
        </p:spPr>
        <p:txBody>
          <a:bodyPr wrap="none" rtlCol="0">
            <a:spAutoFit/>
          </a:bodyPr>
          <a:lstStyle/>
          <a:p>
            <a:r>
              <a:rPr kumimoji="1" lang="en-US" altLang="ja-JP" sz="2000" dirty="0">
                <a:solidFill>
                  <a:srgbClr val="FF0000"/>
                </a:solidFill>
              </a:rPr>
              <a:t>Draw button</a:t>
            </a:r>
            <a:endParaRPr kumimoji="1" lang="ja-JP" altLang="en-US" sz="2000" dirty="0">
              <a:solidFill>
                <a:srgbClr val="FF0000"/>
              </a:solidFill>
            </a:endParaRPr>
          </a:p>
        </p:txBody>
      </p:sp>
      <p:sp>
        <p:nvSpPr>
          <p:cNvPr id="7" name="テキスト ボックス 12">
            <a:extLst>
              <a:ext uri="{FF2B5EF4-FFF2-40B4-BE49-F238E27FC236}">
                <a16:creationId xmlns:a16="http://schemas.microsoft.com/office/drawing/2014/main" id="{944CAD5A-21C9-162B-74C2-17705A818C16}"/>
              </a:ext>
            </a:extLst>
          </p:cNvPr>
          <p:cNvSpPr txBox="1">
            <a:spLocks noChangeArrowheads="1"/>
          </p:cNvSpPr>
          <p:nvPr/>
        </p:nvSpPr>
        <p:spPr bwMode="auto">
          <a:xfrm>
            <a:off x="974802" y="5949280"/>
            <a:ext cx="74018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1" hangingPunct="1"/>
            <a:r>
              <a:rPr lang="en-US" altLang="ja-JP" sz="2000" dirty="0">
                <a:latin typeface="Century" panose="02040604050505020304" pitchFamily="18" charset="0"/>
              </a:rPr>
              <a:t>Please see instruction files in each folder if it does not work</a:t>
            </a:r>
          </a:p>
        </p:txBody>
      </p:sp>
      <p:sp>
        <p:nvSpPr>
          <p:cNvPr id="8" name="テキスト ボックス 12">
            <a:extLst>
              <a:ext uri="{FF2B5EF4-FFF2-40B4-BE49-F238E27FC236}">
                <a16:creationId xmlns:a16="http://schemas.microsoft.com/office/drawing/2014/main" id="{785FCB2A-3116-6DB2-1EA1-528345588A29}"/>
              </a:ext>
            </a:extLst>
          </p:cNvPr>
          <p:cNvSpPr txBox="1">
            <a:spLocks noChangeArrowheads="1"/>
          </p:cNvSpPr>
          <p:nvPr/>
        </p:nvSpPr>
        <p:spPr bwMode="auto">
          <a:xfrm>
            <a:off x="650999" y="5519071"/>
            <a:ext cx="80716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1" hangingPunct="1"/>
            <a:r>
              <a:rPr lang="en-US" altLang="ja-JP" dirty="0">
                <a:solidFill>
                  <a:srgbClr val="0000FF"/>
                </a:solidFill>
                <a:latin typeface="Century" panose="02040604050505020304" pitchFamily="18" charset="0"/>
              </a:rPr>
              <a:t>After pressing “Draw” button, you can see this picture </a:t>
            </a:r>
          </a:p>
        </p:txBody>
      </p:sp>
      <p:sp>
        <p:nvSpPr>
          <p:cNvPr id="2" name="テキスト ボックス 11">
            <a:extLst>
              <a:ext uri="{FF2B5EF4-FFF2-40B4-BE49-F238E27FC236}">
                <a16:creationId xmlns:a16="http://schemas.microsoft.com/office/drawing/2014/main" id="{4A682F4F-1036-3210-CFC5-B327CDB5CA1A}"/>
              </a:ext>
            </a:extLst>
          </p:cNvPr>
          <p:cNvSpPr txBox="1">
            <a:spLocks noChangeArrowheads="1"/>
          </p:cNvSpPr>
          <p:nvPr/>
        </p:nvSpPr>
        <p:spPr bwMode="auto">
          <a:xfrm>
            <a:off x="971024" y="856944"/>
            <a:ext cx="73499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1" hangingPunct="1"/>
            <a:r>
              <a:rPr lang="en-US" altLang="ja-JP" dirty="0">
                <a:solidFill>
                  <a:schemeClr val="accent2"/>
                </a:solidFill>
                <a:latin typeface="Century" panose="02040604050505020304" pitchFamily="18" charset="0"/>
              </a:rPr>
              <a:t>How to run PHIG-3D (similar to PHITS itself)</a:t>
            </a:r>
          </a:p>
        </p:txBody>
      </p:sp>
      <p:sp>
        <p:nvSpPr>
          <p:cNvPr id="4" name="テキスト ボックス 12">
            <a:extLst>
              <a:ext uri="{FF2B5EF4-FFF2-40B4-BE49-F238E27FC236}">
                <a16:creationId xmlns:a16="http://schemas.microsoft.com/office/drawing/2014/main" id="{841A788D-2346-B9BB-BB9C-D399AA751B4B}"/>
              </a:ext>
            </a:extLst>
          </p:cNvPr>
          <p:cNvSpPr txBox="1">
            <a:spLocks noChangeArrowheads="1"/>
          </p:cNvSpPr>
          <p:nvPr/>
        </p:nvSpPr>
        <p:spPr bwMode="auto">
          <a:xfrm>
            <a:off x="701265" y="6420230"/>
            <a:ext cx="78494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eaLnBrk="1" hangingPunct="1"/>
            <a:r>
              <a:rPr lang="en-US" altLang="ja-JP" sz="2000" dirty="0">
                <a:latin typeface="Century" panose="02040604050505020304" pitchFamily="18" charset="0"/>
              </a:rPr>
              <a:t>*You can also run PHIG-3D via PHITS-Pad or </a:t>
            </a:r>
            <a:r>
              <a:rPr lang="en-US" altLang="ja-JP" sz="2000" dirty="0" err="1">
                <a:latin typeface="Century" panose="02040604050505020304" pitchFamily="18" charset="0"/>
              </a:rPr>
              <a:t>NotePad</a:t>
            </a:r>
            <a:r>
              <a:rPr lang="en-US" altLang="ja-JP" sz="2000" dirty="0">
                <a:latin typeface="Century" panose="02040604050505020304" pitchFamily="18" charset="0"/>
              </a:rPr>
              <a:t>++</a:t>
            </a:r>
          </a:p>
        </p:txBody>
      </p:sp>
    </p:spTree>
    <p:extLst>
      <p:ext uri="{BB962C8B-B14F-4D97-AF65-F5344CB8AC3E}">
        <p14:creationId xmlns:p14="http://schemas.microsoft.com/office/powerpoint/2010/main" val="271479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BB02DD5-DCDD-4F22-83BA-DB006F89E529}"/>
              </a:ext>
            </a:extLst>
          </p:cNvPr>
          <p:cNvSpPr>
            <a:spLocks noGrp="1" noChangeArrowheads="1"/>
          </p:cNvSpPr>
          <p:nvPr>
            <p:ph type="title"/>
          </p:nvPr>
        </p:nvSpPr>
        <p:spPr>
          <a:xfrm>
            <a:off x="22796" y="-3392"/>
            <a:ext cx="9073008" cy="896938"/>
          </a:xfrm>
        </p:spPr>
        <p:txBody>
          <a:bodyPr/>
          <a:lstStyle/>
          <a:p>
            <a:pPr eaLnBrk="1" hangingPunct="1"/>
            <a:r>
              <a:rPr lang="en-US" altLang="ja-JP" sz="3600" dirty="0"/>
              <a:t>Preparation with YouTube (Not mandatory)</a:t>
            </a:r>
            <a:endParaRPr lang="ja-JP" altLang="en-US" sz="3600" dirty="0">
              <a:latin typeface="Century Gothic" panose="020B0502020202020204" pitchFamily="34" charset="0"/>
            </a:endParaRPr>
          </a:p>
        </p:txBody>
      </p:sp>
      <p:pic>
        <p:nvPicPr>
          <p:cNvPr id="5" name="図 4">
            <a:extLst>
              <a:ext uri="{FF2B5EF4-FFF2-40B4-BE49-F238E27FC236}">
                <a16:creationId xmlns:a16="http://schemas.microsoft.com/office/drawing/2014/main" id="{96800BFE-1EC7-81D9-3F21-E40471A86ACF}"/>
              </a:ext>
            </a:extLst>
          </p:cNvPr>
          <p:cNvPicPr>
            <a:picLocks noChangeAspect="1"/>
          </p:cNvPicPr>
          <p:nvPr/>
        </p:nvPicPr>
        <p:blipFill rotWithShape="1">
          <a:blip r:embed="rId3"/>
          <a:srcRect t="7300" b="11589"/>
          <a:stretch/>
        </p:blipFill>
        <p:spPr>
          <a:xfrm>
            <a:off x="251520" y="893546"/>
            <a:ext cx="2086560" cy="951986"/>
          </a:xfrm>
          <a:prstGeom prst="rect">
            <a:avLst/>
          </a:prstGeom>
        </p:spPr>
      </p:pic>
      <p:sp>
        <p:nvSpPr>
          <p:cNvPr id="16" name="テキスト ボックス 15">
            <a:extLst>
              <a:ext uri="{FF2B5EF4-FFF2-40B4-BE49-F238E27FC236}">
                <a16:creationId xmlns:a16="http://schemas.microsoft.com/office/drawing/2014/main" id="{05660D59-5D8D-5394-F647-9591BAAFF75E}"/>
              </a:ext>
            </a:extLst>
          </p:cNvPr>
          <p:cNvSpPr txBox="1"/>
          <p:nvPr/>
        </p:nvSpPr>
        <p:spPr>
          <a:xfrm>
            <a:off x="2585672" y="1047769"/>
            <a:ext cx="3835858" cy="615553"/>
          </a:xfrm>
          <a:prstGeom prst="rect">
            <a:avLst/>
          </a:prstGeom>
          <a:noFill/>
        </p:spPr>
        <p:txBody>
          <a:bodyPr wrap="none" rtlCol="0">
            <a:spAutoFit/>
          </a:bodyPr>
          <a:lstStyle/>
          <a:p>
            <a:r>
              <a:rPr kumimoji="1" lang="en-US" altLang="ja-JP" sz="2000" dirty="0">
                <a:latin typeface="Arial" panose="020B0604020202020204" pitchFamily="34" charset="0"/>
                <a:cs typeface="Arial" panose="020B0604020202020204" pitchFamily="34" charset="0"/>
              </a:rPr>
              <a:t>Promotion Movie</a:t>
            </a:r>
          </a:p>
          <a:p>
            <a:r>
              <a:rPr lang="en-US" altLang="ja-JP" sz="1400" dirty="0">
                <a:solidFill>
                  <a:srgbClr val="0000FF"/>
                </a:solidFill>
                <a:hlinkClick r:id="rId4">
                  <a:extLst>
                    <a:ext uri="{A12FA001-AC4F-418D-AE19-62706E023703}">
                      <ahyp:hlinkClr xmlns:ahyp="http://schemas.microsoft.com/office/drawing/2018/hyperlinkcolor" val="tx"/>
                    </a:ext>
                  </a:extLst>
                </a:hlinkClick>
              </a:rPr>
              <a:t>https://www.youtube.com/watch?v=G6-XTIctRgA</a:t>
            </a:r>
            <a:endParaRPr kumimoji="1" lang="ja-JP" altLang="en-US" sz="1400" dirty="0">
              <a:solidFill>
                <a:srgbClr val="0000FF"/>
              </a:solidFill>
            </a:endParaRPr>
          </a:p>
        </p:txBody>
      </p:sp>
      <p:sp>
        <p:nvSpPr>
          <p:cNvPr id="21" name="テキスト ボックス 20">
            <a:extLst>
              <a:ext uri="{FF2B5EF4-FFF2-40B4-BE49-F238E27FC236}">
                <a16:creationId xmlns:a16="http://schemas.microsoft.com/office/drawing/2014/main" id="{12403570-8A96-DA34-130A-2A7A83AD9E9F}"/>
              </a:ext>
            </a:extLst>
          </p:cNvPr>
          <p:cNvSpPr txBox="1"/>
          <p:nvPr/>
        </p:nvSpPr>
        <p:spPr>
          <a:xfrm>
            <a:off x="2555776" y="2333077"/>
            <a:ext cx="6371168" cy="615553"/>
          </a:xfrm>
          <a:prstGeom prst="rect">
            <a:avLst/>
          </a:prstGeom>
          <a:noFill/>
        </p:spPr>
        <p:txBody>
          <a:bodyPr wrap="none" rtlCol="0">
            <a:spAutoFit/>
          </a:bodyPr>
          <a:lstStyle/>
          <a:p>
            <a:r>
              <a:rPr kumimoji="1" lang="en-US" altLang="ja-JP" sz="2000" dirty="0">
                <a:latin typeface="Arial" panose="020B0604020202020204" pitchFamily="34" charset="0"/>
                <a:cs typeface="Arial" panose="020B0604020202020204" pitchFamily="34" charset="0"/>
              </a:rPr>
              <a:t>Basic lecture (with machine voice)</a:t>
            </a:r>
          </a:p>
          <a:p>
            <a:r>
              <a:rPr lang="en-US" altLang="ja-JP" sz="1400" dirty="0">
                <a:solidFill>
                  <a:srgbClr val="0000FF"/>
                </a:solidFill>
                <a:hlinkClick r:id="rId5">
                  <a:extLst>
                    <a:ext uri="{A12FA001-AC4F-418D-AE19-62706E023703}">
                      <ahyp:hlinkClr xmlns:ahyp="http://schemas.microsoft.com/office/drawing/2018/hyperlinkcolor" val="tx"/>
                    </a:ext>
                  </a:extLst>
                </a:hlinkClick>
              </a:rPr>
              <a:t>https://www.youtube.com/playlist?list=PLe8Wrr-sE8vy-ygWoAqWVrvK89PfxUFYO</a:t>
            </a:r>
            <a:endParaRPr lang="ja-JP" altLang="en-US" sz="1400" dirty="0">
              <a:solidFill>
                <a:srgbClr val="0000FF"/>
              </a:solidFill>
            </a:endParaRPr>
          </a:p>
        </p:txBody>
      </p:sp>
      <p:pic>
        <p:nvPicPr>
          <p:cNvPr id="27" name="図 26">
            <a:extLst>
              <a:ext uri="{FF2B5EF4-FFF2-40B4-BE49-F238E27FC236}">
                <a16:creationId xmlns:a16="http://schemas.microsoft.com/office/drawing/2014/main" id="{4AB828DF-EB62-8535-20C7-B3900C08B4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5536" y="3429000"/>
            <a:ext cx="1872208" cy="1170130"/>
          </a:xfrm>
          <a:prstGeom prst="rect">
            <a:avLst/>
          </a:prstGeom>
        </p:spPr>
      </p:pic>
      <p:sp>
        <p:nvSpPr>
          <p:cNvPr id="28" name="テキスト ボックス 27">
            <a:extLst>
              <a:ext uri="{FF2B5EF4-FFF2-40B4-BE49-F238E27FC236}">
                <a16:creationId xmlns:a16="http://schemas.microsoft.com/office/drawing/2014/main" id="{44635F71-F515-4C49-7C6F-6DCE60DD9DA5}"/>
              </a:ext>
            </a:extLst>
          </p:cNvPr>
          <p:cNvSpPr txBox="1"/>
          <p:nvPr/>
        </p:nvSpPr>
        <p:spPr>
          <a:xfrm>
            <a:off x="2557602" y="3706288"/>
            <a:ext cx="5641288" cy="615553"/>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50" charset="-128"/>
                <a:cs typeface="Arial" panose="020B0604020202020204" pitchFamily="34" charset="0"/>
              </a:rPr>
              <a:t>Monte Carlo simulation with dice! (in Japanese) </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ja-JP" sz="1400" b="0" i="0" u="sng" dirty="0">
                <a:solidFill>
                  <a:srgbClr val="0000FF"/>
                </a:solidFill>
                <a:effectLst/>
                <a:cs typeface="Times New Roman" panose="02020603050405020304" pitchFamily="18" charset="0"/>
                <a:hlinkClick r:id="rId7">
                  <a:extLst>
                    <a:ext uri="{A12FA001-AC4F-418D-AE19-62706E023703}">
                      <ahyp:hlinkClr xmlns:ahyp="http://schemas.microsoft.com/office/drawing/2018/hyperlinkcolor" val="tx"/>
                    </a:ext>
                  </a:extLst>
                </a:hlinkClick>
              </a:rPr>
              <a:t>https://www.youtube.com/watch?v=9_bs6g0n3Hg</a:t>
            </a:r>
            <a:endParaRPr lang="ja-JP" altLang="en-US" sz="1800" dirty="0">
              <a:solidFill>
                <a:srgbClr val="0000FF"/>
              </a:solidFill>
              <a:cs typeface="Times New Roman" panose="02020603050405020304" pitchFamily="18" charset="0"/>
            </a:endParaRPr>
          </a:p>
        </p:txBody>
      </p:sp>
      <p:pic>
        <p:nvPicPr>
          <p:cNvPr id="30" name="図 29">
            <a:extLst>
              <a:ext uri="{FF2B5EF4-FFF2-40B4-BE49-F238E27FC236}">
                <a16:creationId xmlns:a16="http://schemas.microsoft.com/office/drawing/2014/main" id="{EC6A8F14-4524-F097-090F-00BBC8507B6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3059" y="4794324"/>
            <a:ext cx="1872208" cy="1170130"/>
          </a:xfrm>
          <a:prstGeom prst="rect">
            <a:avLst/>
          </a:prstGeom>
        </p:spPr>
      </p:pic>
      <p:sp>
        <p:nvSpPr>
          <p:cNvPr id="31" name="テキスト ボックス 30">
            <a:extLst>
              <a:ext uri="{FF2B5EF4-FFF2-40B4-BE49-F238E27FC236}">
                <a16:creationId xmlns:a16="http://schemas.microsoft.com/office/drawing/2014/main" id="{6A176053-5755-462C-1505-5DBD581F2354}"/>
              </a:ext>
            </a:extLst>
          </p:cNvPr>
          <p:cNvSpPr txBox="1"/>
          <p:nvPr/>
        </p:nvSpPr>
        <p:spPr>
          <a:xfrm>
            <a:off x="2555776" y="5071612"/>
            <a:ext cx="6183103" cy="615553"/>
          </a:xfrm>
          <a:prstGeom prst="rect">
            <a:avLst/>
          </a:prstGeom>
          <a:noFill/>
        </p:spPr>
        <p:txBody>
          <a:bodyPr wrap="none" rtlCol="0">
            <a:spAutoFit/>
          </a:bodyPr>
          <a:lstStyle/>
          <a:p>
            <a:r>
              <a:rPr lang="en-US" altLang="ja-JP" sz="2000" i="0" dirty="0">
                <a:solidFill>
                  <a:srgbClr val="444444"/>
                </a:solidFill>
                <a:effectLst/>
                <a:latin typeface="Arial" panose="020B0604020202020204" pitchFamily="34" charset="0"/>
                <a:ea typeface="游ゴシック" panose="020B0400000000000000" pitchFamily="50" charset="-128"/>
                <a:cs typeface="Arial" panose="020B0604020202020204" pitchFamily="34" charset="0"/>
              </a:rPr>
              <a:t>PHITS introduction by puppet </a:t>
            </a:r>
            <a:r>
              <a:rPr lang="en-US" altLang="ja-JP" sz="2000" i="0" dirty="0" err="1">
                <a:solidFill>
                  <a:srgbClr val="444444"/>
                </a:solidFill>
                <a:effectLst/>
                <a:latin typeface="Arial" panose="020B0604020202020204" pitchFamily="34" charset="0"/>
                <a:ea typeface="游ゴシック" panose="020B0400000000000000" pitchFamily="50" charset="-128"/>
                <a:cs typeface="Arial" panose="020B0604020202020204" pitchFamily="34" charset="0"/>
              </a:rPr>
              <a:t>Rakugo</a:t>
            </a:r>
            <a:r>
              <a:rPr lang="en-US" altLang="ja-JP" sz="2000" i="0" dirty="0">
                <a:solidFill>
                  <a:srgbClr val="444444"/>
                </a:solidFill>
                <a:effectLst/>
                <a:latin typeface="Arial" panose="020B0604020202020204" pitchFamily="34" charset="0"/>
                <a:ea typeface="游ゴシック" panose="020B0400000000000000" pitchFamily="50" charset="-128"/>
                <a:cs typeface="Arial" panose="020B0604020202020204" pitchFamily="34" charset="0"/>
              </a:rPr>
              <a:t> (in Japanese) </a:t>
            </a:r>
          </a:p>
          <a:p>
            <a:r>
              <a:rPr lang="en-US" altLang="ja-JP" sz="1400" b="0" i="0" u="sng" dirty="0">
                <a:solidFill>
                  <a:srgbClr val="0000FF"/>
                </a:solidFill>
                <a:effectLst/>
                <a:cs typeface="Times New Roman" panose="02020603050405020304" pitchFamily="18" charset="0"/>
                <a:hlinkClick r:id="rId9">
                  <a:extLst>
                    <a:ext uri="{A12FA001-AC4F-418D-AE19-62706E023703}">
                      <ahyp:hlinkClr xmlns:ahyp="http://schemas.microsoft.com/office/drawing/2018/hyperlinkcolor" val="tx"/>
                    </a:ext>
                  </a:extLst>
                </a:hlinkClick>
              </a:rPr>
              <a:t>https://www.youtube.com/watch?v=1WeaFPRXHWI&amp;t=331s</a:t>
            </a:r>
            <a:endParaRPr lang="ja-JP" altLang="en-US" sz="1800" dirty="0">
              <a:solidFill>
                <a:srgbClr val="0000FF"/>
              </a:solidFill>
              <a:cs typeface="Times New Roman" panose="02020603050405020304" pitchFamily="18" charset="0"/>
            </a:endParaRPr>
          </a:p>
        </p:txBody>
      </p:sp>
      <p:pic>
        <p:nvPicPr>
          <p:cNvPr id="3" name="図 2">
            <a:extLst>
              <a:ext uri="{FF2B5EF4-FFF2-40B4-BE49-F238E27FC236}">
                <a16:creationId xmlns:a16="http://schemas.microsoft.com/office/drawing/2014/main" id="{A122B18D-4A2B-3C9E-6D0B-97904562F8D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51520" y="2019204"/>
            <a:ext cx="2086560" cy="1167480"/>
          </a:xfrm>
          <a:prstGeom prst="rect">
            <a:avLst/>
          </a:prstGeom>
        </p:spPr>
      </p:pic>
    </p:spTree>
    <p:extLst>
      <p:ext uri="{BB962C8B-B14F-4D97-AF65-F5344CB8AC3E}">
        <p14:creationId xmlns:p14="http://schemas.microsoft.com/office/powerpoint/2010/main" val="3854604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Text Box 7">
            <a:extLst>
              <a:ext uri="{FF2B5EF4-FFF2-40B4-BE49-F238E27FC236}">
                <a16:creationId xmlns:a16="http://schemas.microsoft.com/office/drawing/2014/main" id="{169130F1-5363-4A23-A7CA-69671690CCBA}"/>
              </a:ext>
            </a:extLst>
          </p:cNvPr>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Table of contents</a:t>
            </a:r>
          </a:p>
        </p:txBody>
      </p:sp>
      <p:sp>
        <p:nvSpPr>
          <p:cNvPr id="21512" name="Rectangle 2">
            <a:extLst>
              <a:ext uri="{FF2B5EF4-FFF2-40B4-BE49-F238E27FC236}">
                <a16:creationId xmlns:a16="http://schemas.microsoft.com/office/drawing/2014/main" id="{44CB8EAA-F585-4307-AA64-B0B378A2A617}"/>
              </a:ext>
            </a:extLst>
          </p:cNvPr>
          <p:cNvSpPr txBox="1">
            <a:spLocks noChangeArrowheads="1"/>
          </p:cNvSpPr>
          <p:nvPr/>
        </p:nvSpPr>
        <p:spPr bwMode="auto">
          <a:xfrm>
            <a:off x="511175" y="188913"/>
            <a:ext cx="81184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4800" dirty="0">
                <a:solidFill>
                  <a:srgbClr val="000000"/>
                </a:solidFill>
                <a:latin typeface="Times New Roman 見出し"/>
              </a:rPr>
              <a:t>Table of Contents</a:t>
            </a:r>
          </a:p>
        </p:txBody>
      </p:sp>
      <p:sp>
        <p:nvSpPr>
          <p:cNvPr id="2" name="Rectangle 8">
            <a:extLst>
              <a:ext uri="{FF2B5EF4-FFF2-40B4-BE49-F238E27FC236}">
                <a16:creationId xmlns:a16="http://schemas.microsoft.com/office/drawing/2014/main" id="{43B449B5-460F-1B2A-A678-09A0F8F64A95}"/>
              </a:ext>
            </a:extLst>
          </p:cNvPr>
          <p:cNvSpPr txBox="1">
            <a:spLocks noChangeArrowheads="1"/>
          </p:cNvSpPr>
          <p:nvPr/>
        </p:nvSpPr>
        <p:spPr bwMode="auto">
          <a:xfrm>
            <a:off x="755576" y="1628800"/>
            <a:ext cx="7835624" cy="3456384"/>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Preparation for PHITS tutorial</a:t>
            </a:r>
          </a:p>
          <a:p>
            <a:pPr marL="342900" indent="-342900" eaLnBrk="1" hangingPunct="1">
              <a:spcBef>
                <a:spcPts val="2400"/>
              </a:spcBef>
              <a:buFont typeface="Wingdings" panose="05000000000000000000" pitchFamily="2" charset="2"/>
              <a:buChar char="ü"/>
              <a:defRPr/>
            </a:pPr>
            <a:r>
              <a:rPr lang="en-US" altLang="ja-JP" dirty="0">
                <a:solidFill>
                  <a:srgbClr val="FF0000"/>
                </a:solidFill>
                <a:latin typeface="Century" pitchFamily="18" charset="0"/>
              </a:rPr>
              <a:t>Notes during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Remarks at the end of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Additional information for person who cannot attend PHITS tutorial</a:t>
            </a:r>
          </a:p>
        </p:txBody>
      </p:sp>
    </p:spTree>
    <p:extLst>
      <p:ext uri="{BB962C8B-B14F-4D97-AF65-F5344CB8AC3E}">
        <p14:creationId xmlns:p14="http://schemas.microsoft.com/office/powerpoint/2010/main" val="371782072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22AF762-6EAF-4736-8CBD-B79C1F27E6A4}"/>
              </a:ext>
            </a:extLst>
          </p:cNvPr>
          <p:cNvSpPr>
            <a:spLocks noGrp="1" noChangeArrowheads="1"/>
          </p:cNvSpPr>
          <p:nvPr>
            <p:ph type="title"/>
          </p:nvPr>
        </p:nvSpPr>
        <p:spPr>
          <a:xfrm>
            <a:off x="295275" y="30957"/>
            <a:ext cx="6811963" cy="551198"/>
          </a:xfrm>
        </p:spPr>
        <p:txBody>
          <a:bodyPr/>
          <a:lstStyle/>
          <a:p>
            <a:pPr algn="l" eaLnBrk="1" hangingPunct="1"/>
            <a:r>
              <a:rPr lang="en-US" altLang="ja-JP" sz="2800" dirty="0">
                <a:solidFill>
                  <a:schemeClr val="accent2"/>
                </a:solidFill>
                <a:latin typeface="Times New Roman 見出し"/>
              </a:rPr>
              <a:t>Electricity supply of laptops</a:t>
            </a:r>
            <a:endParaRPr lang="ja-JP" altLang="en-US" sz="2800" dirty="0">
              <a:solidFill>
                <a:schemeClr val="accent2"/>
              </a:solidFill>
              <a:latin typeface="Times New Roman 見出し"/>
            </a:endParaRPr>
          </a:p>
        </p:txBody>
      </p:sp>
      <p:sp>
        <p:nvSpPr>
          <p:cNvPr id="33799" name="Rectangle 8">
            <a:extLst>
              <a:ext uri="{FF2B5EF4-FFF2-40B4-BE49-F238E27FC236}">
                <a16:creationId xmlns:a16="http://schemas.microsoft.com/office/drawing/2014/main" id="{B4C8FA1A-E218-47C0-A40E-B721EF3529BA}"/>
              </a:ext>
            </a:extLst>
          </p:cNvPr>
          <p:cNvSpPr txBox="1">
            <a:spLocks noChangeArrowheads="1"/>
          </p:cNvSpPr>
          <p:nvPr/>
        </p:nvSpPr>
        <p:spPr bwMode="auto">
          <a:xfrm>
            <a:off x="599856" y="507894"/>
            <a:ext cx="7926388"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dirty="0">
                <a:solidFill>
                  <a:srgbClr val="000000"/>
                </a:solidFill>
              </a:rPr>
              <a:t>　　</a:t>
            </a:r>
            <a:r>
              <a:rPr lang="en-US" altLang="ja-JP" sz="2400" dirty="0">
                <a:solidFill>
                  <a:srgbClr val="000000"/>
                </a:solidFill>
              </a:rPr>
              <a:t>During the course, please be sure that AC electricity is supplied to your laptop. Otherwise, power saving mode setup will be applied depending on the OS setup. In that case you may suffer from CPU power limitation. </a:t>
            </a:r>
          </a:p>
        </p:txBody>
      </p:sp>
      <p:sp>
        <p:nvSpPr>
          <p:cNvPr id="9" name="Rectangle 2">
            <a:extLst>
              <a:ext uri="{FF2B5EF4-FFF2-40B4-BE49-F238E27FC236}">
                <a16:creationId xmlns:a16="http://schemas.microsoft.com/office/drawing/2014/main" id="{C9F33589-4C8C-4C5F-89E1-3951156F21C6}"/>
              </a:ext>
            </a:extLst>
          </p:cNvPr>
          <p:cNvSpPr txBox="1">
            <a:spLocks noChangeArrowheads="1"/>
          </p:cNvSpPr>
          <p:nvPr/>
        </p:nvSpPr>
        <p:spPr bwMode="auto">
          <a:xfrm>
            <a:off x="295273" y="2000631"/>
            <a:ext cx="6811963" cy="566609"/>
          </a:xfrm>
          <a:prstGeom prst="rect">
            <a:avLst/>
          </a:prstGeom>
          <a:noFill/>
          <a:ln>
            <a:noFill/>
          </a:ln>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algn="l" eaLnBrk="1" hangingPunct="1">
              <a:defRPr/>
            </a:pPr>
            <a:r>
              <a:rPr lang="en-US" altLang="ja-JP" sz="2800" kern="0" dirty="0">
                <a:solidFill>
                  <a:schemeClr val="accent2"/>
                </a:solidFill>
                <a:latin typeface="Times New Roman 見出し"/>
              </a:rPr>
              <a:t>Installation folder name</a:t>
            </a:r>
            <a:endParaRPr lang="ja-JP" altLang="en-US" sz="2800" kern="0" dirty="0">
              <a:solidFill>
                <a:schemeClr val="accent2"/>
              </a:solidFill>
              <a:latin typeface="Times New Roman 見出し"/>
            </a:endParaRPr>
          </a:p>
        </p:txBody>
      </p:sp>
      <p:sp>
        <p:nvSpPr>
          <p:cNvPr id="33802" name="Rectangle 8">
            <a:extLst>
              <a:ext uri="{FF2B5EF4-FFF2-40B4-BE49-F238E27FC236}">
                <a16:creationId xmlns:a16="http://schemas.microsoft.com/office/drawing/2014/main" id="{833CC6EA-027A-47D0-92C1-DE6D0B7C14BB}"/>
              </a:ext>
            </a:extLst>
          </p:cNvPr>
          <p:cNvSpPr txBox="1">
            <a:spLocks noChangeArrowheads="1"/>
          </p:cNvSpPr>
          <p:nvPr/>
        </p:nvSpPr>
        <p:spPr bwMode="auto">
          <a:xfrm>
            <a:off x="599856" y="2502517"/>
            <a:ext cx="7926388" cy="1542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dirty="0">
                <a:solidFill>
                  <a:srgbClr val="000000"/>
                </a:solidFill>
              </a:rPr>
              <a:t>　　</a:t>
            </a:r>
            <a:r>
              <a:rPr lang="en-US" altLang="ja-JP" sz="2400" dirty="0">
                <a:solidFill>
                  <a:srgbClr val="000000"/>
                </a:solidFill>
              </a:rPr>
              <a:t>You should not move or rename “</a:t>
            </a:r>
            <a:r>
              <a:rPr lang="en-US" altLang="ja-JP" sz="2400" dirty="0" err="1">
                <a:solidFill>
                  <a:srgbClr val="000000"/>
                </a:solidFill>
              </a:rPr>
              <a:t>phits</a:t>
            </a:r>
            <a:r>
              <a:rPr lang="en-US" altLang="ja-JP" sz="2400" dirty="0">
                <a:solidFill>
                  <a:srgbClr val="000000"/>
                </a:solidFill>
              </a:rPr>
              <a:t>” folder after the installation finished for both Windows and Mac.</a:t>
            </a:r>
            <a:r>
              <a:rPr lang="ja-JP" altLang="en-US" sz="2400" dirty="0">
                <a:solidFill>
                  <a:srgbClr val="000000"/>
                </a:solidFill>
              </a:rPr>
              <a:t> </a:t>
            </a:r>
            <a:r>
              <a:rPr lang="en-US" altLang="ja-JP" sz="2400" dirty="0">
                <a:solidFill>
                  <a:srgbClr val="000000"/>
                </a:solidFill>
              </a:rPr>
              <a:t>You</a:t>
            </a:r>
            <a:r>
              <a:rPr lang="ja-JP" altLang="en-US" sz="2400" dirty="0">
                <a:solidFill>
                  <a:srgbClr val="000000"/>
                </a:solidFill>
              </a:rPr>
              <a:t> </a:t>
            </a:r>
            <a:r>
              <a:rPr lang="en-US" altLang="ja-JP" sz="2400" dirty="0">
                <a:solidFill>
                  <a:srgbClr val="000000"/>
                </a:solidFill>
              </a:rPr>
              <a:t>can</a:t>
            </a:r>
            <a:r>
              <a:rPr lang="ja-JP" altLang="en-US" sz="2400" dirty="0">
                <a:solidFill>
                  <a:srgbClr val="000000"/>
                </a:solidFill>
              </a:rPr>
              <a:t> </a:t>
            </a:r>
            <a:r>
              <a:rPr lang="en-US" altLang="ja-JP" sz="2400" dirty="0">
                <a:solidFill>
                  <a:srgbClr val="000000"/>
                </a:solidFill>
              </a:rPr>
              <a:t>freely change input file and folder names, but you should not use “blank” in the name</a:t>
            </a:r>
          </a:p>
        </p:txBody>
      </p:sp>
      <p:sp>
        <p:nvSpPr>
          <p:cNvPr id="2" name="Rectangle 2">
            <a:extLst>
              <a:ext uri="{FF2B5EF4-FFF2-40B4-BE49-F238E27FC236}">
                <a16:creationId xmlns:a16="http://schemas.microsoft.com/office/drawing/2014/main" id="{E541A3E5-5432-182C-507F-5AB20F8628FA}"/>
              </a:ext>
            </a:extLst>
          </p:cNvPr>
          <p:cNvSpPr txBox="1">
            <a:spLocks noChangeArrowheads="1"/>
          </p:cNvSpPr>
          <p:nvPr/>
        </p:nvSpPr>
        <p:spPr bwMode="auto">
          <a:xfrm>
            <a:off x="295273" y="3985716"/>
            <a:ext cx="6811963" cy="566609"/>
          </a:xfrm>
          <a:prstGeom prst="rect">
            <a:avLst/>
          </a:prstGeom>
          <a:noFill/>
          <a:ln>
            <a:noFill/>
          </a:ln>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algn="l" eaLnBrk="1" hangingPunct="1">
              <a:defRPr/>
            </a:pPr>
            <a:r>
              <a:rPr lang="en-US" altLang="ja-JP" sz="2800" kern="0" dirty="0">
                <a:solidFill>
                  <a:schemeClr val="accent2"/>
                </a:solidFill>
                <a:latin typeface="Times New Roman 見出し"/>
              </a:rPr>
              <a:t>Tutorial contents</a:t>
            </a:r>
            <a:endParaRPr lang="ja-JP" altLang="en-US" sz="2800" kern="0" dirty="0">
              <a:solidFill>
                <a:schemeClr val="accent2"/>
              </a:solidFill>
              <a:latin typeface="Times New Roman 見出し"/>
            </a:endParaRPr>
          </a:p>
        </p:txBody>
      </p:sp>
      <p:sp>
        <p:nvSpPr>
          <p:cNvPr id="3" name="Rectangle 8">
            <a:extLst>
              <a:ext uri="{FF2B5EF4-FFF2-40B4-BE49-F238E27FC236}">
                <a16:creationId xmlns:a16="http://schemas.microsoft.com/office/drawing/2014/main" id="{064DD59D-14A3-AEC1-9A54-A499EF1E2520}"/>
              </a:ext>
            </a:extLst>
          </p:cNvPr>
          <p:cNvSpPr txBox="1">
            <a:spLocks noChangeArrowheads="1"/>
          </p:cNvSpPr>
          <p:nvPr/>
        </p:nvSpPr>
        <p:spPr bwMode="auto">
          <a:xfrm>
            <a:off x="608806" y="4406007"/>
            <a:ext cx="7926388" cy="211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dirty="0">
                <a:solidFill>
                  <a:srgbClr val="000000"/>
                </a:solidFill>
              </a:rPr>
              <a:t>　　</a:t>
            </a:r>
            <a:r>
              <a:rPr lang="en-US" altLang="ja-JP" sz="2400" dirty="0">
                <a:solidFill>
                  <a:srgbClr val="000000"/>
                </a:solidFill>
              </a:rPr>
              <a:t>Basic course is designed for beginners of Monte Carlo particle transport simulation. If you have experienced with other codes such as GEANT4 and MCNP, you can move forward by yourself and ask any questions regardless of the tutorial progresses.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Text Box 7">
            <a:extLst>
              <a:ext uri="{FF2B5EF4-FFF2-40B4-BE49-F238E27FC236}">
                <a16:creationId xmlns:a16="http://schemas.microsoft.com/office/drawing/2014/main" id="{169130F1-5363-4A23-A7CA-69671690CCBA}"/>
              </a:ext>
            </a:extLst>
          </p:cNvPr>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Table of contents</a:t>
            </a:r>
          </a:p>
        </p:txBody>
      </p:sp>
      <p:sp>
        <p:nvSpPr>
          <p:cNvPr id="21512" name="Rectangle 2">
            <a:extLst>
              <a:ext uri="{FF2B5EF4-FFF2-40B4-BE49-F238E27FC236}">
                <a16:creationId xmlns:a16="http://schemas.microsoft.com/office/drawing/2014/main" id="{44CB8EAA-F585-4307-AA64-B0B378A2A617}"/>
              </a:ext>
            </a:extLst>
          </p:cNvPr>
          <p:cNvSpPr txBox="1">
            <a:spLocks noChangeArrowheads="1"/>
          </p:cNvSpPr>
          <p:nvPr/>
        </p:nvSpPr>
        <p:spPr bwMode="auto">
          <a:xfrm>
            <a:off x="511175" y="188913"/>
            <a:ext cx="81184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4800" dirty="0">
                <a:solidFill>
                  <a:srgbClr val="000000"/>
                </a:solidFill>
                <a:latin typeface="Times New Roman 見出し"/>
              </a:rPr>
              <a:t>Table of Contents</a:t>
            </a:r>
          </a:p>
        </p:txBody>
      </p:sp>
      <p:sp>
        <p:nvSpPr>
          <p:cNvPr id="2" name="Rectangle 8">
            <a:extLst>
              <a:ext uri="{FF2B5EF4-FFF2-40B4-BE49-F238E27FC236}">
                <a16:creationId xmlns:a16="http://schemas.microsoft.com/office/drawing/2014/main" id="{43B449B5-460F-1B2A-A678-09A0F8F64A95}"/>
              </a:ext>
            </a:extLst>
          </p:cNvPr>
          <p:cNvSpPr txBox="1">
            <a:spLocks noChangeArrowheads="1"/>
          </p:cNvSpPr>
          <p:nvPr/>
        </p:nvSpPr>
        <p:spPr bwMode="auto">
          <a:xfrm>
            <a:off x="755576" y="1628800"/>
            <a:ext cx="7835624" cy="3456384"/>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Preparation for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Notes during PHITS tutorial</a:t>
            </a:r>
          </a:p>
          <a:p>
            <a:pPr marL="342900" indent="-342900" eaLnBrk="1" hangingPunct="1">
              <a:spcBef>
                <a:spcPts val="2400"/>
              </a:spcBef>
              <a:buFont typeface="Wingdings" panose="05000000000000000000" pitchFamily="2" charset="2"/>
              <a:buChar char="ü"/>
              <a:defRPr/>
            </a:pPr>
            <a:r>
              <a:rPr lang="en-US" altLang="ja-JP" dirty="0">
                <a:solidFill>
                  <a:srgbClr val="FF0000"/>
                </a:solidFill>
                <a:latin typeface="Century" pitchFamily="18" charset="0"/>
              </a:rPr>
              <a:t>Remarks at the end of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Additional information for person who cannot attend PHITS tutorial</a:t>
            </a:r>
          </a:p>
        </p:txBody>
      </p:sp>
    </p:spTree>
    <p:extLst>
      <p:ext uri="{BB962C8B-B14F-4D97-AF65-F5344CB8AC3E}">
        <p14:creationId xmlns:p14="http://schemas.microsoft.com/office/powerpoint/2010/main" val="169578551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8A55D1B-B9BD-4A45-AEA2-F930D469256B}"/>
              </a:ext>
            </a:extLst>
          </p:cNvPr>
          <p:cNvSpPr>
            <a:spLocks noGrp="1" noChangeArrowheads="1"/>
          </p:cNvSpPr>
          <p:nvPr>
            <p:ph type="title"/>
          </p:nvPr>
        </p:nvSpPr>
        <p:spPr>
          <a:xfrm>
            <a:off x="1835150" y="14288"/>
            <a:ext cx="5316538" cy="896937"/>
          </a:xfrm>
        </p:spPr>
        <p:txBody>
          <a:bodyPr/>
          <a:lstStyle/>
          <a:p>
            <a:pPr eaLnBrk="1" hangingPunct="1"/>
            <a:r>
              <a:rPr lang="en-US" altLang="ja-JP" sz="4000">
                <a:latin typeface="Times New Roman 見出し"/>
              </a:rPr>
              <a:t>PHITS</a:t>
            </a:r>
            <a:r>
              <a:rPr lang="ja-JP" altLang="en-US" sz="4000">
                <a:latin typeface="Times New Roman 見出し"/>
              </a:rPr>
              <a:t> </a:t>
            </a:r>
            <a:r>
              <a:rPr lang="en-US" altLang="ja-JP" sz="4000">
                <a:latin typeface="Times New Roman 見出し"/>
              </a:rPr>
              <a:t>folder structure</a:t>
            </a:r>
            <a:endParaRPr lang="ja-JP" altLang="en-US" sz="4000">
              <a:latin typeface="Times New Roman 見出し"/>
            </a:endParaRPr>
          </a:p>
        </p:txBody>
      </p:sp>
      <p:sp>
        <p:nvSpPr>
          <p:cNvPr id="37893" name="Text Box 5">
            <a:extLst>
              <a:ext uri="{FF2B5EF4-FFF2-40B4-BE49-F238E27FC236}">
                <a16:creationId xmlns:a16="http://schemas.microsoft.com/office/drawing/2014/main" id="{5016D525-A393-4DE9-A1D2-E49548AF3681}"/>
              </a:ext>
            </a:extLst>
          </p:cNvPr>
          <p:cNvSpPr txBox="1">
            <a:spLocks noChangeArrowheads="1"/>
          </p:cNvSpPr>
          <p:nvPr/>
        </p:nvSpPr>
        <p:spPr bwMode="auto">
          <a:xfrm>
            <a:off x="2197100" y="6400800"/>
            <a:ext cx="472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Folder tree</a:t>
            </a:r>
          </a:p>
        </p:txBody>
      </p:sp>
      <p:sp>
        <p:nvSpPr>
          <p:cNvPr id="40967" name="Rectangle 8">
            <a:extLst>
              <a:ext uri="{FF2B5EF4-FFF2-40B4-BE49-F238E27FC236}">
                <a16:creationId xmlns:a16="http://schemas.microsoft.com/office/drawing/2014/main" id="{3C2ED5CA-8546-4E12-8C04-51D3CB12502E}"/>
              </a:ext>
            </a:extLst>
          </p:cNvPr>
          <p:cNvSpPr txBox="1">
            <a:spLocks noChangeArrowheads="1"/>
          </p:cNvSpPr>
          <p:nvPr/>
        </p:nvSpPr>
        <p:spPr bwMode="auto">
          <a:xfrm>
            <a:off x="314325" y="1012825"/>
            <a:ext cx="8820150" cy="5113338"/>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buFontTx/>
              <a:buNone/>
              <a:defRPr/>
            </a:pPr>
            <a:r>
              <a:rPr lang="en-US" altLang="ja-JP" sz="2400" dirty="0">
                <a:solidFill>
                  <a:srgbClr val="000000"/>
                </a:solidFill>
                <a:latin typeface="Century" pitchFamily="18" charset="0"/>
              </a:rPr>
              <a:t>In the /</a:t>
            </a:r>
            <a:r>
              <a:rPr lang="en-US" altLang="ja-JP" sz="2400" dirty="0" err="1">
                <a:solidFill>
                  <a:srgbClr val="000000"/>
                </a:solidFill>
                <a:latin typeface="Century" pitchFamily="18" charset="0"/>
              </a:rPr>
              <a:t>phits</a:t>
            </a:r>
            <a:r>
              <a:rPr lang="en-US" altLang="ja-JP" sz="2400" dirty="0">
                <a:solidFill>
                  <a:srgbClr val="000000"/>
                </a:solidFill>
                <a:latin typeface="Century" pitchFamily="18" charset="0"/>
              </a:rPr>
              <a:t>/</a:t>
            </a:r>
            <a:r>
              <a:rPr lang="ja-JP" altLang="en-US" sz="2400" dirty="0">
                <a:solidFill>
                  <a:srgbClr val="000000"/>
                </a:solidFill>
                <a:latin typeface="Century" pitchFamily="18" charset="0"/>
              </a:rPr>
              <a:t> </a:t>
            </a:r>
            <a:r>
              <a:rPr lang="en-US" altLang="ja-JP" sz="2400" dirty="0">
                <a:solidFill>
                  <a:srgbClr val="000000"/>
                </a:solidFill>
                <a:latin typeface="Century" pitchFamily="18" charset="0"/>
              </a:rPr>
              <a:t>folder, following folders are included</a:t>
            </a:r>
          </a:p>
          <a:p>
            <a:pPr marL="342900" indent="-342900" eaLnBrk="1" hangingPunct="1">
              <a:defRPr/>
            </a:pPr>
            <a:r>
              <a:rPr lang="en-US" altLang="ja-JP" sz="2000" dirty="0">
                <a:solidFill>
                  <a:srgbClr val="000000"/>
                </a:solidFill>
                <a:latin typeface="Century" pitchFamily="18" charset="0"/>
              </a:rPr>
              <a:t>/bin/ ------ Shell scripts and exe files of PHITS</a:t>
            </a:r>
          </a:p>
          <a:p>
            <a:pPr marL="342900" indent="-342900" eaLnBrk="1" hangingPunct="1">
              <a:defRPr/>
            </a:pPr>
            <a:r>
              <a:rPr lang="en-US" altLang="ja-JP" sz="2000" dirty="0">
                <a:solidFill>
                  <a:srgbClr val="000000"/>
                </a:solidFill>
                <a:latin typeface="Century" pitchFamily="18" charset="0"/>
              </a:rPr>
              <a:t>/data/ ------ Data files used by PHITS</a:t>
            </a:r>
          </a:p>
          <a:p>
            <a:pPr marL="342900" indent="-342900" eaLnBrk="1" hangingPunct="1">
              <a:defRPr/>
            </a:pPr>
            <a:r>
              <a:rPr lang="en-US" altLang="ja-JP" sz="2000" dirty="0">
                <a:solidFill>
                  <a:srgbClr val="000000"/>
                </a:solidFill>
                <a:latin typeface="Century" pitchFamily="18" charset="0"/>
              </a:rPr>
              <a:t>/</a:t>
            </a:r>
            <a:r>
              <a:rPr lang="en-US" altLang="ja-JP" sz="2000" dirty="0" err="1">
                <a:solidFill>
                  <a:srgbClr val="000000"/>
                </a:solidFill>
                <a:latin typeface="Century" pitchFamily="18" charset="0"/>
              </a:rPr>
              <a:t>dchain-sp</a:t>
            </a:r>
            <a:r>
              <a:rPr lang="en-US" altLang="ja-JP" sz="2000" dirty="0">
                <a:solidFill>
                  <a:srgbClr val="000000"/>
                </a:solidFill>
                <a:latin typeface="Century" pitchFamily="18" charset="0"/>
              </a:rPr>
              <a:t>/ ------ Programs related to “DCHAIN-SP”</a:t>
            </a:r>
          </a:p>
          <a:p>
            <a:pPr marL="342900" indent="-342900" eaLnBrk="1" hangingPunct="1">
              <a:defRPr/>
            </a:pPr>
            <a:r>
              <a:rPr lang="en-US" altLang="ja-JP" sz="2000" dirty="0">
                <a:solidFill>
                  <a:srgbClr val="000000"/>
                </a:solidFill>
                <a:latin typeface="Century" pitchFamily="18" charset="0"/>
              </a:rPr>
              <a:t>/document/ ------ </a:t>
            </a:r>
            <a:r>
              <a:rPr lang="en-US" altLang="ja-JP" sz="2000" dirty="0" err="1">
                <a:solidFill>
                  <a:srgbClr val="000000"/>
                </a:solidFill>
                <a:latin typeface="Century" pitchFamily="18" charset="0"/>
              </a:rPr>
              <a:t>ppt</a:t>
            </a:r>
            <a:r>
              <a:rPr lang="en-US" altLang="ja-JP" sz="2000" dirty="0">
                <a:solidFill>
                  <a:srgbClr val="000000"/>
                </a:solidFill>
                <a:latin typeface="Century" pitchFamily="18" charset="0"/>
              </a:rPr>
              <a:t> files on recent updates</a:t>
            </a:r>
          </a:p>
          <a:p>
            <a:pPr marL="342900" indent="-342900" eaLnBrk="1" hangingPunct="1">
              <a:defRPr/>
            </a:pPr>
            <a:r>
              <a:rPr lang="en-US" altLang="ja-JP" sz="2000" dirty="0">
                <a:solidFill>
                  <a:srgbClr val="000000"/>
                </a:solidFill>
                <a:latin typeface="Century" pitchFamily="18" charset="0"/>
              </a:rPr>
              <a:t>/lecture/ ------ Lecture notes</a:t>
            </a:r>
          </a:p>
          <a:p>
            <a:pPr marL="342900" indent="-342900" eaLnBrk="1" hangingPunct="1">
              <a:defRPr/>
            </a:pPr>
            <a:r>
              <a:rPr lang="en-US" altLang="ja-JP" sz="2000" dirty="0">
                <a:solidFill>
                  <a:srgbClr val="000000"/>
                </a:solidFill>
                <a:latin typeface="Century" pitchFamily="18" charset="0"/>
              </a:rPr>
              <a:t>/manual/ ------ Manuals for PHITS</a:t>
            </a:r>
            <a:r>
              <a:rPr lang="ja-JP" altLang="en-US" sz="2000" dirty="0">
                <a:solidFill>
                  <a:srgbClr val="000000"/>
                </a:solidFill>
                <a:latin typeface="Century" pitchFamily="18" charset="0"/>
              </a:rPr>
              <a:t> </a:t>
            </a:r>
            <a:r>
              <a:rPr lang="en-US" altLang="ja-JP" sz="2000" dirty="0">
                <a:solidFill>
                  <a:srgbClr val="000000"/>
                </a:solidFill>
                <a:latin typeface="Century" pitchFamily="18" charset="0"/>
              </a:rPr>
              <a:t>and ANGEL</a:t>
            </a:r>
          </a:p>
          <a:p>
            <a:pPr marL="342900" indent="-342900" eaLnBrk="1" hangingPunct="1">
              <a:defRPr/>
            </a:pPr>
            <a:r>
              <a:rPr lang="en-US" altLang="ja-JP" sz="2000" dirty="0">
                <a:solidFill>
                  <a:srgbClr val="000000"/>
                </a:solidFill>
                <a:latin typeface="Century" pitchFamily="18" charset="0"/>
              </a:rPr>
              <a:t>/phig3d/ ------ Files related to geometry visualizing software PHIG-3D</a:t>
            </a:r>
          </a:p>
          <a:p>
            <a:pPr marL="342900" indent="-342900" eaLnBrk="1" hangingPunct="1">
              <a:defRPr/>
            </a:pPr>
            <a:r>
              <a:rPr lang="en-US" altLang="ja-JP" sz="2000" dirty="0">
                <a:solidFill>
                  <a:srgbClr val="000000"/>
                </a:solidFill>
                <a:latin typeface="Century" pitchFamily="18" charset="0"/>
              </a:rPr>
              <a:t>/recommendation/ ------ Sample inputs for various purpose</a:t>
            </a:r>
          </a:p>
          <a:p>
            <a:pPr marL="342900" indent="-342900" eaLnBrk="1" hangingPunct="1">
              <a:defRPr/>
            </a:pPr>
            <a:r>
              <a:rPr lang="en-US" altLang="ja-JP" sz="2000" dirty="0">
                <a:solidFill>
                  <a:srgbClr val="000000"/>
                </a:solidFill>
                <a:latin typeface="Century" pitchFamily="18" charset="0"/>
              </a:rPr>
              <a:t>/sample/ ------ Sample inputs for benchmark, surface, &amp; tally</a:t>
            </a:r>
          </a:p>
          <a:p>
            <a:pPr marL="342900" indent="-342900" eaLnBrk="1" hangingPunct="1">
              <a:defRPr/>
            </a:pPr>
            <a:r>
              <a:rPr lang="en-US" altLang="ja-JP" sz="2000" dirty="0">
                <a:solidFill>
                  <a:srgbClr val="000000"/>
                </a:solidFill>
                <a:latin typeface="Century" pitchFamily="18" charset="0"/>
              </a:rPr>
              <a:t>/</a:t>
            </a:r>
            <a:r>
              <a:rPr lang="en-US" altLang="ja-JP" sz="2000" dirty="0" err="1">
                <a:solidFill>
                  <a:srgbClr val="000000"/>
                </a:solidFill>
                <a:latin typeface="Century" pitchFamily="18" charset="0"/>
              </a:rPr>
              <a:t>src</a:t>
            </a:r>
            <a:r>
              <a:rPr lang="en-US" altLang="ja-JP" sz="2000" dirty="0">
                <a:solidFill>
                  <a:srgbClr val="000000"/>
                </a:solidFill>
                <a:latin typeface="Century" pitchFamily="18" charset="0"/>
              </a:rPr>
              <a:t>/ ------ PHITS source files in FORTRAN</a:t>
            </a:r>
          </a:p>
          <a:p>
            <a:pPr marL="342900" indent="-342900" eaLnBrk="1" hangingPunct="1">
              <a:defRPr/>
            </a:pPr>
            <a:r>
              <a:rPr lang="en-US" altLang="ja-JP" sz="2000" dirty="0">
                <a:solidFill>
                  <a:srgbClr val="000000"/>
                </a:solidFill>
                <a:latin typeface="Century" pitchFamily="18" charset="0"/>
              </a:rPr>
              <a:t>/utility/ ------ Useful scripts and external programs</a:t>
            </a:r>
          </a:p>
          <a:p>
            <a:pPr marL="342900" indent="-342900" eaLnBrk="1" hangingPunct="1">
              <a:defRPr/>
            </a:pPr>
            <a:r>
              <a:rPr lang="en-US" altLang="ja-JP" sz="2000" dirty="0">
                <a:solidFill>
                  <a:srgbClr val="000000"/>
                </a:solidFill>
                <a:latin typeface="Century" pitchFamily="18" charset="0"/>
              </a:rPr>
              <a:t>/XS/ ------ Nuclear/Atomic cross section data library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28C1D8F-0A81-4794-94A9-40681AF56607}"/>
              </a:ext>
            </a:extLst>
          </p:cNvPr>
          <p:cNvSpPr>
            <a:spLocks noGrp="1" noChangeArrowheads="1"/>
          </p:cNvSpPr>
          <p:nvPr>
            <p:ph type="title"/>
          </p:nvPr>
        </p:nvSpPr>
        <p:spPr>
          <a:xfrm>
            <a:off x="1763713" y="115888"/>
            <a:ext cx="5316537" cy="896937"/>
          </a:xfrm>
        </p:spPr>
        <p:txBody>
          <a:bodyPr/>
          <a:lstStyle/>
          <a:p>
            <a:pPr eaLnBrk="1" hangingPunct="1"/>
            <a:r>
              <a:rPr lang="en-US" altLang="ja-JP" sz="4000"/>
              <a:t>Utility folder</a:t>
            </a:r>
            <a:endParaRPr lang="ja-JP" altLang="en-US" sz="4000">
              <a:latin typeface="Century Gothic" panose="020B0502020202020204" pitchFamily="34" charset="0"/>
            </a:endParaRPr>
          </a:p>
        </p:txBody>
      </p:sp>
      <p:sp>
        <p:nvSpPr>
          <p:cNvPr id="17413" name="Text Box 5">
            <a:extLst>
              <a:ext uri="{FF2B5EF4-FFF2-40B4-BE49-F238E27FC236}">
                <a16:creationId xmlns:a16="http://schemas.microsoft.com/office/drawing/2014/main" id="{805A5218-89A5-460B-8A01-65B2CDD66426}"/>
              </a:ext>
            </a:extLst>
          </p:cNvPr>
          <p:cNvSpPr txBox="1">
            <a:spLocks noChangeArrowheads="1"/>
          </p:cNvSpPr>
          <p:nvPr/>
        </p:nvSpPr>
        <p:spPr bwMode="auto">
          <a:xfrm>
            <a:off x="2197100" y="6400800"/>
            <a:ext cx="472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Utility folder</a:t>
            </a:r>
          </a:p>
        </p:txBody>
      </p:sp>
      <p:sp>
        <p:nvSpPr>
          <p:cNvPr id="17415" name="Rectangle 8">
            <a:extLst>
              <a:ext uri="{FF2B5EF4-FFF2-40B4-BE49-F238E27FC236}">
                <a16:creationId xmlns:a16="http://schemas.microsoft.com/office/drawing/2014/main" id="{B6951111-8ECF-4F4D-A734-070AE8A80E70}"/>
              </a:ext>
            </a:extLst>
          </p:cNvPr>
          <p:cNvSpPr txBox="1">
            <a:spLocks noChangeArrowheads="1"/>
          </p:cNvSpPr>
          <p:nvPr/>
        </p:nvSpPr>
        <p:spPr bwMode="auto">
          <a:xfrm>
            <a:off x="323850" y="1012825"/>
            <a:ext cx="8548688" cy="522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sz="2000" dirty="0">
                <a:solidFill>
                  <a:srgbClr val="000000"/>
                </a:solidFill>
                <a:latin typeface="Century" panose="02040604050505020304" pitchFamily="18" charset="0"/>
              </a:rPr>
              <a:t>/animation/ ------ Conversion of PHITS results into GIF animation</a:t>
            </a:r>
          </a:p>
          <a:p>
            <a:pPr eaLnBrk="1" hangingPunct="1"/>
            <a:r>
              <a:rPr lang="en-US" altLang="ja-JP" sz="2000" dirty="0">
                <a:solidFill>
                  <a:srgbClr val="000000"/>
                </a:solidFill>
                <a:latin typeface="Century" panose="02040604050505020304" pitchFamily="18" charset="0"/>
              </a:rPr>
              <a:t>/FLUENT/ ------ PHITS-FLUENT coupling analysis</a:t>
            </a:r>
          </a:p>
          <a:p>
            <a:pPr eaLnBrk="1" hangingPunct="1"/>
            <a:r>
              <a:rPr lang="en-US" altLang="ja-JP" sz="2000" dirty="0">
                <a:solidFill>
                  <a:srgbClr val="000000"/>
                </a:solidFill>
                <a:latin typeface="Century" panose="02040604050505020304" pitchFamily="18" charset="0"/>
              </a:rPr>
              <a:t>/icru90/ ------</a:t>
            </a:r>
            <a:r>
              <a:rPr lang="ja-JP" altLang="en-US" sz="2000" dirty="0">
                <a:solidFill>
                  <a:srgbClr val="000000"/>
                </a:solidFill>
                <a:latin typeface="Century" panose="02040604050505020304" pitchFamily="18" charset="0"/>
              </a:rPr>
              <a:t> </a:t>
            </a:r>
            <a:r>
              <a:rPr lang="en-US" altLang="ja-JP" sz="2000" dirty="0">
                <a:solidFill>
                  <a:srgbClr val="000000"/>
                </a:solidFill>
                <a:latin typeface="Century" panose="02040604050505020304" pitchFamily="18" charset="0"/>
              </a:rPr>
              <a:t>ICRU90 stopping power</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magmap</a:t>
            </a:r>
            <a:r>
              <a:rPr lang="en-US" altLang="ja-JP" sz="2000" dirty="0">
                <a:solidFill>
                  <a:srgbClr val="000000"/>
                </a:solidFill>
                <a:latin typeface="Century" panose="02040604050505020304" pitchFamily="18" charset="0"/>
              </a:rPr>
              <a:t>/ ------ Magnetic</a:t>
            </a:r>
            <a:r>
              <a:rPr lang="ja-JP" altLang="en-US" sz="2000" dirty="0">
                <a:solidFill>
                  <a:srgbClr val="000000"/>
                </a:solidFill>
                <a:latin typeface="Century" panose="02040604050505020304" pitchFamily="18" charset="0"/>
              </a:rPr>
              <a:t> </a:t>
            </a:r>
            <a:r>
              <a:rPr lang="en-US" altLang="ja-JP" sz="2000" dirty="0">
                <a:solidFill>
                  <a:srgbClr val="000000"/>
                </a:solidFill>
                <a:latin typeface="Century" panose="02040604050505020304" pitchFamily="18" charset="0"/>
              </a:rPr>
              <a:t>field</a:t>
            </a:r>
            <a:r>
              <a:rPr lang="ja-JP" altLang="en-US" sz="2000" dirty="0">
                <a:solidFill>
                  <a:srgbClr val="000000"/>
                </a:solidFill>
                <a:latin typeface="Century" panose="02040604050505020304" pitchFamily="18" charset="0"/>
              </a:rPr>
              <a:t> </a:t>
            </a:r>
            <a:r>
              <a:rPr lang="en-US" altLang="ja-JP" sz="2000" dirty="0">
                <a:solidFill>
                  <a:srgbClr val="000000"/>
                </a:solidFill>
                <a:latin typeface="Century" panose="02040604050505020304" pitchFamily="18" charset="0"/>
              </a:rPr>
              <a:t>map</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ParaView</a:t>
            </a:r>
            <a:r>
              <a:rPr lang="en-US" altLang="ja-JP" sz="2000" dirty="0">
                <a:solidFill>
                  <a:srgbClr val="000000"/>
                </a:solidFill>
                <a:latin typeface="Century" panose="02040604050505020304" pitchFamily="18" charset="0"/>
              </a:rPr>
              <a:t>/ ------ 3D-visualization application</a:t>
            </a:r>
          </a:p>
          <a:p>
            <a:pPr eaLnBrk="1" hangingPunct="1"/>
            <a:r>
              <a:rPr lang="en-US" altLang="ja-JP" sz="2000" dirty="0">
                <a:solidFill>
                  <a:srgbClr val="000000"/>
                </a:solidFill>
                <a:latin typeface="Century" panose="02040604050505020304" pitchFamily="18" charset="0"/>
              </a:rPr>
              <a:t>/PSFC4PHITS/ ------ Phase Space File Converter for PHITS</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RTphits</a:t>
            </a:r>
            <a:r>
              <a:rPr lang="en-US" altLang="ja-JP" sz="2000" dirty="0">
                <a:solidFill>
                  <a:srgbClr val="000000"/>
                </a:solidFill>
                <a:latin typeface="Century" panose="02040604050505020304" pitchFamily="18" charset="0"/>
              </a:rPr>
              <a:t>/ ------ Radio Therapy package based on PHITS</a:t>
            </a:r>
          </a:p>
          <a:p>
            <a:pPr eaLnBrk="1" hangingPunct="1"/>
            <a:r>
              <a:rPr lang="en-US" altLang="ja-JP" sz="2000" dirty="0">
                <a:solidFill>
                  <a:srgbClr val="000000"/>
                </a:solidFill>
                <a:latin typeface="Century" panose="02040604050505020304" pitchFamily="18" charset="0"/>
              </a:rPr>
              <a:t>/script/ ------ Script for successively executing PHITS</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ShieldingDistribution</a:t>
            </a:r>
            <a:r>
              <a:rPr lang="en-US" altLang="ja-JP" sz="2000" dirty="0">
                <a:solidFill>
                  <a:srgbClr val="000000"/>
                </a:solidFill>
                <a:latin typeface="Century" panose="02040604050505020304" pitchFamily="18" charset="0"/>
              </a:rPr>
              <a:t>/ ------ Shielding thickness calculation</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SimpleGEO</a:t>
            </a:r>
            <a:r>
              <a:rPr lang="en-US" altLang="ja-JP" sz="2000" dirty="0">
                <a:solidFill>
                  <a:srgbClr val="000000"/>
                </a:solidFill>
                <a:latin typeface="Century" panose="02040604050505020304" pitchFamily="18" charset="0"/>
              </a:rPr>
              <a:t>/ ------ GUI application for making 3D-geometry</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sumtally</a:t>
            </a:r>
            <a:r>
              <a:rPr lang="en-US" altLang="ja-JP" sz="2000" dirty="0">
                <a:solidFill>
                  <a:srgbClr val="000000"/>
                </a:solidFill>
                <a:latin typeface="Century" panose="02040604050505020304" pitchFamily="18" charset="0"/>
              </a:rPr>
              <a:t>/ ------ Function for summing up two (or more) tally results</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SuperMC</a:t>
            </a:r>
            <a:r>
              <a:rPr lang="en-US" altLang="ja-JP" sz="2000" dirty="0">
                <a:solidFill>
                  <a:srgbClr val="000000"/>
                </a:solidFill>
                <a:latin typeface="Century" panose="02040604050505020304" pitchFamily="18" charset="0"/>
              </a:rPr>
              <a:t>/ ------ Conversion of CAD files to PHITS format</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TetraGEOM</a:t>
            </a:r>
            <a:r>
              <a:rPr lang="en-US" altLang="ja-JP" sz="2000" dirty="0">
                <a:solidFill>
                  <a:srgbClr val="000000"/>
                </a:solidFill>
                <a:latin typeface="Century" panose="02040604050505020304" pitchFamily="18" charset="0"/>
              </a:rPr>
              <a:t>/ ------</a:t>
            </a:r>
            <a:r>
              <a:rPr lang="ja-JP" altLang="en-US" sz="2000" dirty="0">
                <a:solidFill>
                  <a:srgbClr val="000000"/>
                </a:solidFill>
                <a:latin typeface="Century" panose="02040604050505020304" pitchFamily="18" charset="0"/>
              </a:rPr>
              <a:t> </a:t>
            </a:r>
            <a:r>
              <a:rPr lang="en-US" altLang="ja-JP" sz="2000" dirty="0">
                <a:solidFill>
                  <a:srgbClr val="000000"/>
                </a:solidFill>
                <a:latin typeface="Century" panose="02040604050505020304" pitchFamily="18" charset="0"/>
              </a:rPr>
              <a:t>Tetrahedron geometry</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usrtally</a:t>
            </a:r>
            <a:r>
              <a:rPr lang="en-US" altLang="ja-JP" sz="2000" dirty="0">
                <a:solidFill>
                  <a:srgbClr val="000000"/>
                </a:solidFill>
                <a:latin typeface="Century" panose="02040604050505020304" pitchFamily="18" charset="0"/>
              </a:rPr>
              <a:t>/ ------ Sample program of User defined tally [t-</a:t>
            </a:r>
            <a:r>
              <a:rPr lang="en-US" altLang="ja-JP" sz="2000" dirty="0" err="1">
                <a:solidFill>
                  <a:srgbClr val="000000"/>
                </a:solidFill>
                <a:latin typeface="Century" panose="02040604050505020304" pitchFamily="18" charset="0"/>
              </a:rPr>
              <a:t>userdefined</a:t>
            </a:r>
            <a:r>
              <a:rPr lang="en-US" altLang="ja-JP" sz="2000" dirty="0">
                <a:solidFill>
                  <a:srgbClr val="000000"/>
                </a:solidFill>
                <a:latin typeface="Century" panose="02040604050505020304" pitchFamily="18"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ADBDAB5-A06F-4B43-8F29-55F0CBED47F0}"/>
              </a:ext>
            </a:extLst>
          </p:cNvPr>
          <p:cNvSpPr>
            <a:spLocks noGrp="1" noChangeArrowheads="1"/>
          </p:cNvSpPr>
          <p:nvPr>
            <p:ph type="title"/>
          </p:nvPr>
        </p:nvSpPr>
        <p:spPr>
          <a:xfrm>
            <a:off x="1857375" y="155575"/>
            <a:ext cx="5675313" cy="896938"/>
          </a:xfrm>
        </p:spPr>
        <p:txBody>
          <a:bodyPr/>
          <a:lstStyle/>
          <a:p>
            <a:pPr eaLnBrk="1" hangingPunct="1"/>
            <a:r>
              <a:rPr lang="en-US" altLang="ja-JP" sz="4000">
                <a:latin typeface="Times New Roman 見出し"/>
              </a:rPr>
              <a:t>PHITS</a:t>
            </a:r>
            <a:r>
              <a:rPr lang="ja-JP" altLang="en-US" sz="4000">
                <a:latin typeface="Times New Roman 見出し"/>
              </a:rPr>
              <a:t> </a:t>
            </a:r>
            <a:r>
              <a:rPr lang="en-US" altLang="ja-JP" sz="4000">
                <a:latin typeface="Times New Roman 見出し"/>
              </a:rPr>
              <a:t>code license</a:t>
            </a:r>
            <a:endParaRPr lang="ja-JP" altLang="en-US" sz="4000">
              <a:latin typeface="Times New Roman 見出し"/>
            </a:endParaRPr>
          </a:p>
        </p:txBody>
      </p:sp>
      <p:sp>
        <p:nvSpPr>
          <p:cNvPr id="39941" name="Text Box 5">
            <a:extLst>
              <a:ext uri="{FF2B5EF4-FFF2-40B4-BE49-F238E27FC236}">
                <a16:creationId xmlns:a16="http://schemas.microsoft.com/office/drawing/2014/main" id="{119B0088-A1C5-4EFE-882E-6BFDC52433E0}"/>
              </a:ext>
            </a:extLst>
          </p:cNvPr>
          <p:cNvSpPr txBox="1">
            <a:spLocks noChangeArrowheads="1"/>
          </p:cNvSpPr>
          <p:nvPr/>
        </p:nvSpPr>
        <p:spPr bwMode="auto">
          <a:xfrm>
            <a:off x="2197100" y="6400800"/>
            <a:ext cx="472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License</a:t>
            </a:r>
          </a:p>
        </p:txBody>
      </p:sp>
      <p:sp>
        <p:nvSpPr>
          <p:cNvPr id="39943" name="Rectangle 8">
            <a:extLst>
              <a:ext uri="{FF2B5EF4-FFF2-40B4-BE49-F238E27FC236}">
                <a16:creationId xmlns:a16="http://schemas.microsoft.com/office/drawing/2014/main" id="{433A3DD9-23BC-4B60-9865-24EC914F5C32}"/>
              </a:ext>
            </a:extLst>
          </p:cNvPr>
          <p:cNvSpPr txBox="1">
            <a:spLocks noChangeArrowheads="1"/>
          </p:cNvSpPr>
          <p:nvPr/>
        </p:nvSpPr>
        <p:spPr bwMode="auto">
          <a:xfrm>
            <a:off x="528638" y="1052513"/>
            <a:ext cx="833278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en-US" altLang="ja-JP" sz="2400">
                <a:solidFill>
                  <a:srgbClr val="000000"/>
                </a:solidFill>
                <a:latin typeface="Century" panose="02040604050505020304" pitchFamily="18" charset="0"/>
              </a:rPr>
              <a:t>PHITS is exclusively licensed to individual and </a:t>
            </a:r>
            <a:r>
              <a:rPr lang="en-US" altLang="ja-JP" sz="2400"/>
              <a:t>secondary distribution is not permitted.</a:t>
            </a:r>
          </a:p>
          <a:p>
            <a:pPr eaLnBrk="1" hangingPunct="1">
              <a:buFontTx/>
              <a:buNone/>
            </a:pPr>
            <a:endParaRPr lang="en-US" altLang="ja-JP" sz="2400"/>
          </a:p>
          <a:p>
            <a:pPr eaLnBrk="1" hangingPunct="1">
              <a:buFontTx/>
              <a:buNone/>
            </a:pPr>
            <a:r>
              <a:rPr lang="en-US" altLang="ja-JP" sz="2400"/>
              <a:t>If you change your affiliation, you have to get PHITS license again by submitting application form via PHITS website</a:t>
            </a:r>
          </a:p>
          <a:p>
            <a:pPr eaLnBrk="1" hangingPunct="1">
              <a:buFontTx/>
              <a:buNone/>
            </a:pPr>
            <a:endParaRPr lang="en-US" altLang="ja-JP" sz="2400">
              <a:solidFill>
                <a:srgbClr val="000000"/>
              </a:solidFill>
              <a:latin typeface="Century" panose="02040604050505020304" pitchFamily="18" charset="0"/>
            </a:endParaRPr>
          </a:p>
          <a:p>
            <a:pPr eaLnBrk="1" hangingPunct="1">
              <a:buFontTx/>
              <a:buNone/>
            </a:pPr>
            <a:r>
              <a:rPr lang="en-US" altLang="ja-JP" sz="2400">
                <a:solidFill>
                  <a:srgbClr val="000000"/>
                </a:solidFill>
                <a:latin typeface="Century" panose="02040604050505020304" pitchFamily="18" charset="0"/>
              </a:rPr>
              <a:t>You can install PHITS to your own computer or to your personnel account in a shared computer. Please be careful to avoid the leakage of PHITS to unsubscribed people.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E835C5A-651C-4337-ABE5-D854414F48B5}"/>
              </a:ext>
            </a:extLst>
          </p:cNvPr>
          <p:cNvSpPr>
            <a:spLocks noGrp="1" noChangeArrowheads="1"/>
          </p:cNvSpPr>
          <p:nvPr>
            <p:ph type="title"/>
          </p:nvPr>
        </p:nvSpPr>
        <p:spPr>
          <a:xfrm>
            <a:off x="401638" y="-1588"/>
            <a:ext cx="8280400" cy="792163"/>
          </a:xfrm>
        </p:spPr>
        <p:txBody>
          <a:bodyPr/>
          <a:lstStyle/>
          <a:p>
            <a:pPr eaLnBrk="1" hangingPunct="1"/>
            <a:r>
              <a:rPr lang="en-US" altLang="ja-JP" sz="4000" dirty="0">
                <a:latin typeface="Times New Roman 見出し"/>
              </a:rPr>
              <a:t>Question and Update Announcement</a:t>
            </a:r>
            <a:endParaRPr lang="ja-JP" altLang="en-US" sz="4000" dirty="0">
              <a:latin typeface="Times New Roman 見出し"/>
            </a:endParaRPr>
          </a:p>
        </p:txBody>
      </p:sp>
      <p:pic>
        <p:nvPicPr>
          <p:cNvPr id="41990" name="Picture 8">
            <a:extLst>
              <a:ext uri="{FF2B5EF4-FFF2-40B4-BE49-F238E27FC236}">
                <a16:creationId xmlns:a16="http://schemas.microsoft.com/office/drawing/2014/main" id="{4B15D4B9-26B6-4E70-A6F9-6B0D5FB18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632" t="14169" r="8856" b="13696"/>
          <a:stretch>
            <a:fillRect/>
          </a:stretch>
        </p:blipFill>
        <p:spPr bwMode="auto">
          <a:xfrm>
            <a:off x="368300" y="3168650"/>
            <a:ext cx="3781425" cy="2665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円/楕円 8">
            <a:extLst>
              <a:ext uri="{FF2B5EF4-FFF2-40B4-BE49-F238E27FC236}">
                <a16:creationId xmlns:a16="http://schemas.microsoft.com/office/drawing/2014/main" id="{4FFED310-58F9-4EEE-8BAB-9303D1309882}"/>
              </a:ext>
            </a:extLst>
          </p:cNvPr>
          <p:cNvSpPr/>
          <p:nvPr/>
        </p:nvSpPr>
        <p:spPr>
          <a:xfrm>
            <a:off x="3170238" y="3506788"/>
            <a:ext cx="325437" cy="1460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1" name="テキスト ボックス 10">
            <a:extLst>
              <a:ext uri="{FF2B5EF4-FFF2-40B4-BE49-F238E27FC236}">
                <a16:creationId xmlns:a16="http://schemas.microsoft.com/office/drawing/2014/main" id="{385BA732-5243-42F7-AF57-3310F88A98B4}"/>
              </a:ext>
            </a:extLst>
          </p:cNvPr>
          <p:cNvSpPr txBox="1"/>
          <p:nvPr/>
        </p:nvSpPr>
        <p:spPr>
          <a:xfrm>
            <a:off x="-36513" y="5881688"/>
            <a:ext cx="4608513" cy="400050"/>
          </a:xfrm>
          <a:prstGeom prst="rect">
            <a:avLst/>
          </a:prstGeom>
          <a:noFill/>
        </p:spPr>
        <p:txBody>
          <a:bodyPr>
            <a:spAutoFit/>
          </a:bodyPr>
          <a:lstStyle/>
          <a:p>
            <a:pPr algn="ctr">
              <a:defRPr/>
            </a:pPr>
            <a:r>
              <a:rPr lang="en-US" altLang="ja-JP" sz="2000" dirty="0">
                <a:solidFill>
                  <a:schemeClr val="accent2"/>
                </a:solidFill>
                <a:latin typeface="Century" panose="02040604050505020304" pitchFamily="18" charset="0"/>
                <a:hlinkClick r:id="rId4">
                  <a:extLst>
                    <a:ext uri="{A12FA001-AC4F-418D-AE19-62706E023703}">
                      <ahyp:hlinkClr xmlns:ahyp="http://schemas.microsoft.com/office/drawing/2018/hyperlinkcolor" val="tx"/>
                    </a:ext>
                  </a:extLst>
                </a:hlinkClick>
              </a:rPr>
              <a:t>https://phits.jaea.go.jp/contact/edit/en</a:t>
            </a:r>
            <a:r>
              <a:rPr lang="en-US" altLang="ja-JP" sz="2000" dirty="0">
                <a:solidFill>
                  <a:schemeClr val="accent2"/>
                </a:solidFill>
                <a:latin typeface="Century" panose="02040604050505020304" pitchFamily="18" charset="0"/>
              </a:rPr>
              <a:t> </a:t>
            </a:r>
            <a:endParaRPr lang="ja-JP" altLang="en-US" sz="2000" dirty="0">
              <a:solidFill>
                <a:schemeClr val="accent2"/>
              </a:solidFill>
            </a:endParaRPr>
          </a:p>
        </p:txBody>
      </p:sp>
      <p:sp>
        <p:nvSpPr>
          <p:cNvPr id="41993" name="Rectangle 8">
            <a:extLst>
              <a:ext uri="{FF2B5EF4-FFF2-40B4-BE49-F238E27FC236}">
                <a16:creationId xmlns:a16="http://schemas.microsoft.com/office/drawing/2014/main" id="{6D066E46-3E10-4582-BBD0-13AC7DFF4578}"/>
              </a:ext>
            </a:extLst>
          </p:cNvPr>
          <p:cNvSpPr txBox="1">
            <a:spLocks noChangeArrowheads="1"/>
          </p:cNvSpPr>
          <p:nvPr/>
        </p:nvSpPr>
        <p:spPr bwMode="auto">
          <a:xfrm>
            <a:off x="404813" y="790575"/>
            <a:ext cx="8467725"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 typeface="Wingdings" panose="05000000000000000000" pitchFamily="2" charset="2"/>
              <a:buChar char="ü"/>
            </a:pPr>
            <a:r>
              <a:rPr lang="en-US" altLang="ja-JP" sz="2000" dirty="0">
                <a:solidFill>
                  <a:srgbClr val="000000"/>
                </a:solidFill>
                <a:latin typeface="Century" panose="02040604050505020304" pitchFamily="18" charset="0"/>
              </a:rPr>
              <a:t>You can ask questions via </a:t>
            </a:r>
            <a:r>
              <a:rPr lang="en-US" altLang="ja-JP" sz="2000" dirty="0">
                <a:solidFill>
                  <a:schemeClr val="accent2"/>
                </a:solidFill>
                <a:latin typeface="Century" panose="02040604050505020304" pitchFamily="18" charset="0"/>
                <a:hlinkClick r:id="rId5">
                  <a:extLst>
                    <a:ext uri="{A12FA001-AC4F-418D-AE19-62706E023703}">
                      <ahyp:hlinkClr xmlns:ahyp="http://schemas.microsoft.com/office/drawing/2018/hyperlinkcolor" val="tx"/>
                    </a:ext>
                  </a:extLst>
                </a:hlinkClick>
              </a:rPr>
              <a:t>PHITS forum </a:t>
            </a:r>
            <a:r>
              <a:rPr lang="en-US" altLang="ja-JP" sz="2000" dirty="0">
                <a:solidFill>
                  <a:srgbClr val="000000"/>
                </a:solidFill>
                <a:latin typeface="Century" panose="02040604050505020304" pitchFamily="18" charset="0"/>
              </a:rPr>
              <a:t>or </a:t>
            </a:r>
            <a:r>
              <a:rPr lang="en-US" altLang="ja-JP" sz="2000" dirty="0">
                <a:solidFill>
                  <a:schemeClr val="accent2"/>
                </a:solidFill>
                <a:latin typeface="Century" panose="02040604050505020304" pitchFamily="18" charset="0"/>
                <a:hlinkClick r:id="rId4">
                  <a:extLst>
                    <a:ext uri="{A12FA001-AC4F-418D-AE19-62706E023703}">
                      <ahyp:hlinkClr xmlns:ahyp="http://schemas.microsoft.com/office/drawing/2018/hyperlinkcolor" val="tx"/>
                    </a:ext>
                  </a:extLst>
                </a:hlinkClick>
              </a:rPr>
              <a:t>contact page of PHITS website</a:t>
            </a:r>
            <a:r>
              <a:rPr lang="en-US" altLang="ja-JP" sz="2000" dirty="0">
                <a:solidFill>
                  <a:srgbClr val="000000"/>
                </a:solidFill>
                <a:latin typeface="Century" panose="02040604050505020304" pitchFamily="18" charset="0"/>
              </a:rPr>
              <a:t>, but please refer manual and FAQ before sending questions.</a:t>
            </a:r>
          </a:p>
          <a:p>
            <a:pPr eaLnBrk="1" hangingPunct="1">
              <a:buFont typeface="Wingdings" panose="05000000000000000000" pitchFamily="2" charset="2"/>
              <a:buChar char="ü"/>
            </a:pPr>
            <a:r>
              <a:rPr lang="en-US" altLang="ja-JP" sz="2000" dirty="0">
                <a:solidFill>
                  <a:srgbClr val="000000"/>
                </a:solidFill>
                <a:latin typeface="Century" panose="02040604050505020304" pitchFamily="18" charset="0"/>
              </a:rPr>
              <a:t>The information on PHITS update and PHITS course are announced through the PHITS mailing list. If you do not wish to receive Email from us, please unsubscribe your address using </a:t>
            </a:r>
            <a:r>
              <a:rPr lang="en-US" altLang="ja-JP" sz="2000" dirty="0">
                <a:solidFill>
                  <a:schemeClr val="accent2"/>
                </a:solidFill>
                <a:latin typeface="Century" panose="02040604050505020304" pitchFamily="18" charset="0"/>
                <a:hlinkClick r:id="rId4">
                  <a:extLst>
                    <a:ext uri="{A12FA001-AC4F-418D-AE19-62706E023703}">
                      <ahyp:hlinkClr xmlns:ahyp="http://schemas.microsoft.com/office/drawing/2018/hyperlinkcolor" val="tx"/>
                    </a:ext>
                  </a:extLst>
                </a:hlinkClick>
              </a:rPr>
              <a:t>contact page of PHITS website</a:t>
            </a:r>
            <a:endParaRPr lang="en-US" altLang="ja-JP" sz="2000" dirty="0">
              <a:solidFill>
                <a:srgbClr val="000000"/>
              </a:solidFill>
              <a:latin typeface="Century" panose="02040604050505020304" pitchFamily="18" charset="0"/>
            </a:endParaRPr>
          </a:p>
          <a:p>
            <a:pPr eaLnBrk="1" hangingPunct="1">
              <a:buFont typeface="Wingdings" panose="05000000000000000000" pitchFamily="2" charset="2"/>
              <a:buChar char="ü"/>
            </a:pPr>
            <a:r>
              <a:rPr lang="en-US" altLang="ja-JP" sz="2000" dirty="0">
                <a:solidFill>
                  <a:srgbClr val="000000"/>
                </a:solidFill>
                <a:latin typeface="Century" panose="02040604050505020304" pitchFamily="18" charset="0"/>
              </a:rPr>
              <a:t>Please also check PHITS </a:t>
            </a:r>
            <a:r>
              <a:rPr lang="en-US" altLang="ja-JP" sz="2000" dirty="0">
                <a:solidFill>
                  <a:schemeClr val="accent2"/>
                </a:solidFill>
                <a:latin typeface="Century" panose="02040604050505020304" pitchFamily="18" charset="0"/>
                <a:hlinkClick r:id="rId6">
                  <a:extLst>
                    <a:ext uri="{A12FA001-AC4F-418D-AE19-62706E023703}">
                      <ahyp:hlinkClr xmlns:ahyp="http://schemas.microsoft.com/office/drawing/2018/hyperlinkcolor" val="tx"/>
                    </a:ext>
                  </a:extLst>
                </a:hlinkClick>
              </a:rPr>
              <a:t>Facebook page </a:t>
            </a:r>
            <a:r>
              <a:rPr lang="en-US" altLang="ja-JP" sz="2000" dirty="0">
                <a:solidFill>
                  <a:srgbClr val="000000"/>
                </a:solidFill>
                <a:latin typeface="Century" panose="02040604050505020304" pitchFamily="18" charset="0"/>
              </a:rPr>
              <a:t>and </a:t>
            </a:r>
            <a:r>
              <a:rPr lang="en-US" altLang="ja-JP" sz="2000" dirty="0">
                <a:solidFill>
                  <a:schemeClr val="accent2"/>
                </a:solidFill>
                <a:latin typeface="Century" panose="02040604050505020304" pitchFamily="18" charset="0"/>
                <a:hlinkClick r:id="rId7">
                  <a:extLst>
                    <a:ext uri="{A12FA001-AC4F-418D-AE19-62706E023703}">
                      <ahyp:hlinkClr xmlns:ahyp="http://schemas.microsoft.com/office/drawing/2018/hyperlinkcolor" val="tx"/>
                    </a:ext>
                  </a:extLst>
                </a:hlinkClick>
              </a:rPr>
              <a:t>promotional video</a:t>
            </a:r>
            <a:endParaRPr lang="en-US" altLang="ja-JP" sz="2000" dirty="0">
              <a:solidFill>
                <a:schemeClr val="accent2"/>
              </a:solidFill>
              <a:latin typeface="Century" panose="02040604050505020304" pitchFamily="18" charset="0"/>
            </a:endParaRPr>
          </a:p>
        </p:txBody>
      </p:sp>
      <p:pic>
        <p:nvPicPr>
          <p:cNvPr id="12" name="図 11">
            <a:extLst>
              <a:ext uri="{FF2B5EF4-FFF2-40B4-BE49-F238E27FC236}">
                <a16:creationId xmlns:a16="http://schemas.microsoft.com/office/drawing/2014/main" id="{AA40032C-2F95-47E2-865F-6E2FA5EBAEBA}"/>
              </a:ext>
            </a:extLst>
          </p:cNvPr>
          <p:cNvPicPr>
            <a:picLocks noChangeAspect="1"/>
          </p:cNvPicPr>
          <p:nvPr/>
        </p:nvPicPr>
        <p:blipFill rotWithShape="1">
          <a:blip r:embed="rId8"/>
          <a:srcRect t="1297"/>
          <a:stretch/>
        </p:blipFill>
        <p:spPr>
          <a:xfrm>
            <a:off x="4333726" y="3353226"/>
            <a:ext cx="4575743" cy="1803395"/>
          </a:xfrm>
          <a:prstGeom prst="rect">
            <a:avLst/>
          </a:prstGeom>
        </p:spPr>
      </p:pic>
      <p:sp>
        <p:nvSpPr>
          <p:cNvPr id="13" name="テキスト ボックス 12">
            <a:extLst>
              <a:ext uri="{FF2B5EF4-FFF2-40B4-BE49-F238E27FC236}">
                <a16:creationId xmlns:a16="http://schemas.microsoft.com/office/drawing/2014/main" id="{D3BAF8F6-65E7-48D6-899A-17ED223CCADB}"/>
              </a:ext>
            </a:extLst>
          </p:cNvPr>
          <p:cNvSpPr txBox="1"/>
          <p:nvPr/>
        </p:nvSpPr>
        <p:spPr>
          <a:xfrm>
            <a:off x="4211959" y="5137090"/>
            <a:ext cx="4932041" cy="400110"/>
          </a:xfrm>
          <a:prstGeom prst="rect">
            <a:avLst/>
          </a:prstGeom>
          <a:noFill/>
        </p:spPr>
        <p:txBody>
          <a:bodyPr wrap="square" rtlCol="0">
            <a:spAutoFit/>
          </a:bodyPr>
          <a:lstStyle/>
          <a:p>
            <a:pPr algn="ctr"/>
            <a:r>
              <a:rPr lang="en-US" altLang="ja-JP" sz="2000" dirty="0">
                <a:solidFill>
                  <a:schemeClr val="accent2"/>
                </a:solidFill>
                <a:hlinkClick r:id="rId5">
                  <a:extLst>
                    <a:ext uri="{A12FA001-AC4F-418D-AE19-62706E023703}">
                      <ahyp:hlinkClr xmlns:ahyp="http://schemas.microsoft.com/office/drawing/2018/hyperlinkcolor" val="tx"/>
                    </a:ext>
                  </a:extLst>
                </a:hlinkClick>
              </a:rPr>
              <a:t>https://meteor.nucl.kyushu-u.ac.jp/phitsforum/</a:t>
            </a:r>
            <a:endParaRPr kumimoji="1" lang="en-US" altLang="ja-JP" dirty="0">
              <a:solidFill>
                <a:schemeClr val="accent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ADBDAB5-A06F-4B43-8F29-55F0CBED47F0}"/>
              </a:ext>
            </a:extLst>
          </p:cNvPr>
          <p:cNvSpPr>
            <a:spLocks noGrp="1" noChangeArrowheads="1"/>
          </p:cNvSpPr>
          <p:nvPr>
            <p:ph type="title"/>
          </p:nvPr>
        </p:nvSpPr>
        <p:spPr>
          <a:xfrm>
            <a:off x="1734343" y="7484"/>
            <a:ext cx="5675313" cy="896938"/>
          </a:xfrm>
        </p:spPr>
        <p:txBody>
          <a:bodyPr/>
          <a:lstStyle/>
          <a:p>
            <a:pPr eaLnBrk="1" hangingPunct="1"/>
            <a:r>
              <a:rPr lang="en-US" altLang="ja-JP" sz="4000" dirty="0">
                <a:latin typeface="Times New Roman 見出し"/>
              </a:rPr>
              <a:t>Concluding Remark</a:t>
            </a:r>
            <a:endParaRPr lang="ja-JP" altLang="en-US" sz="4000" dirty="0">
              <a:latin typeface="Times New Roman 見出し"/>
            </a:endParaRPr>
          </a:p>
        </p:txBody>
      </p:sp>
      <p:sp>
        <p:nvSpPr>
          <p:cNvPr id="39943" name="Rectangle 8">
            <a:extLst>
              <a:ext uri="{FF2B5EF4-FFF2-40B4-BE49-F238E27FC236}">
                <a16:creationId xmlns:a16="http://schemas.microsoft.com/office/drawing/2014/main" id="{433A3DD9-23BC-4B60-9865-24EC914F5C32}"/>
              </a:ext>
            </a:extLst>
          </p:cNvPr>
          <p:cNvSpPr txBox="1">
            <a:spLocks noChangeArrowheads="1"/>
          </p:cNvSpPr>
          <p:nvPr/>
        </p:nvSpPr>
        <p:spPr bwMode="auto">
          <a:xfrm>
            <a:off x="467544" y="929547"/>
            <a:ext cx="8332787" cy="422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ts val="1800"/>
              </a:spcBef>
              <a:buFontTx/>
              <a:buNone/>
            </a:pPr>
            <a:r>
              <a:rPr lang="en-US" altLang="ja-JP" sz="2400" dirty="0">
                <a:solidFill>
                  <a:srgbClr val="000000"/>
                </a:solidFill>
                <a:latin typeface="Century" panose="02040604050505020304" pitchFamily="18" charset="0"/>
              </a:rPr>
              <a:t>You may think that you can do computer simulation anytime you want, in different from experiment</a:t>
            </a:r>
          </a:p>
          <a:p>
            <a:pPr eaLnBrk="1" hangingPunct="1">
              <a:spcBef>
                <a:spcPts val="1800"/>
              </a:spcBef>
              <a:buFontTx/>
              <a:buNone/>
            </a:pPr>
            <a:r>
              <a:rPr lang="en-US" altLang="ja-JP" sz="2400" dirty="0"/>
              <a:t>However, it is very difficult to remember how to use a simulation code after a certain blank period</a:t>
            </a:r>
          </a:p>
          <a:p>
            <a:pPr eaLnBrk="1" hangingPunct="1">
              <a:spcBef>
                <a:spcPts val="1800"/>
              </a:spcBef>
              <a:buFontTx/>
              <a:buNone/>
            </a:pPr>
            <a:r>
              <a:rPr lang="en-US" altLang="ja-JP" sz="2400" dirty="0">
                <a:solidFill>
                  <a:srgbClr val="000000"/>
                </a:solidFill>
                <a:latin typeface="Century" panose="02040604050505020304" pitchFamily="18" charset="0"/>
              </a:rPr>
              <a:t>Therefore, </a:t>
            </a:r>
            <a:r>
              <a:rPr lang="en-US" altLang="ja-JP" sz="2400" dirty="0">
                <a:solidFill>
                  <a:srgbClr val="FF0000"/>
                </a:solidFill>
                <a:latin typeface="Century" panose="02040604050505020304" pitchFamily="18" charset="0"/>
              </a:rPr>
              <a:t>we strongly recommend starting a certain study using PHITS within a week from now</a:t>
            </a:r>
            <a:r>
              <a:rPr lang="en-US" altLang="ja-JP" sz="2400" dirty="0">
                <a:solidFill>
                  <a:srgbClr val="000000"/>
                </a:solidFill>
                <a:latin typeface="Century" panose="02040604050505020304" pitchFamily="18" charset="0"/>
              </a:rPr>
              <a:t>, otherwise, the chance to forget everything you have learned in this tutorial will become quite high</a:t>
            </a:r>
          </a:p>
          <a:p>
            <a:pPr eaLnBrk="1" hangingPunct="1">
              <a:spcBef>
                <a:spcPts val="1800"/>
              </a:spcBef>
              <a:buFontTx/>
              <a:buNone/>
            </a:pPr>
            <a:r>
              <a:rPr lang="en-US" altLang="ja-JP" sz="2400" dirty="0">
                <a:solidFill>
                  <a:srgbClr val="000000"/>
                </a:solidFill>
                <a:latin typeface="Century" panose="02040604050505020304" pitchFamily="18" charset="0"/>
              </a:rPr>
              <a:t>We do hope that PHITS will be useful in your research</a:t>
            </a:r>
          </a:p>
        </p:txBody>
      </p:sp>
      <p:sp>
        <p:nvSpPr>
          <p:cNvPr id="2" name="テキスト ボックス 1">
            <a:extLst>
              <a:ext uri="{FF2B5EF4-FFF2-40B4-BE49-F238E27FC236}">
                <a16:creationId xmlns:a16="http://schemas.microsoft.com/office/drawing/2014/main" id="{FE511091-ADB5-005B-5716-97DECEBFF0AF}"/>
              </a:ext>
            </a:extLst>
          </p:cNvPr>
          <p:cNvSpPr txBox="1"/>
          <p:nvPr/>
        </p:nvSpPr>
        <p:spPr>
          <a:xfrm>
            <a:off x="2699792" y="5466788"/>
            <a:ext cx="3522311" cy="461665"/>
          </a:xfrm>
          <a:prstGeom prst="rect">
            <a:avLst/>
          </a:prstGeom>
          <a:noFill/>
        </p:spPr>
        <p:txBody>
          <a:bodyPr wrap="none" rtlCol="0">
            <a:spAutoFit/>
          </a:bodyPr>
          <a:lstStyle/>
          <a:p>
            <a:r>
              <a:rPr kumimoji="1" lang="en-US" altLang="ja-JP" dirty="0"/>
              <a:t>PHITS Development Team</a:t>
            </a:r>
            <a:endParaRPr kumimoji="1" lang="ja-JP" altLang="en-US" dirty="0"/>
          </a:p>
        </p:txBody>
      </p:sp>
    </p:spTree>
    <p:extLst>
      <p:ext uri="{BB962C8B-B14F-4D97-AF65-F5344CB8AC3E}">
        <p14:creationId xmlns:p14="http://schemas.microsoft.com/office/powerpoint/2010/main" val="7468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Text Box 7">
            <a:extLst>
              <a:ext uri="{FF2B5EF4-FFF2-40B4-BE49-F238E27FC236}">
                <a16:creationId xmlns:a16="http://schemas.microsoft.com/office/drawing/2014/main" id="{169130F1-5363-4A23-A7CA-69671690CCBA}"/>
              </a:ext>
            </a:extLst>
          </p:cNvPr>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Table of contents</a:t>
            </a:r>
          </a:p>
        </p:txBody>
      </p:sp>
      <p:sp>
        <p:nvSpPr>
          <p:cNvPr id="21512" name="Rectangle 2">
            <a:extLst>
              <a:ext uri="{FF2B5EF4-FFF2-40B4-BE49-F238E27FC236}">
                <a16:creationId xmlns:a16="http://schemas.microsoft.com/office/drawing/2014/main" id="{44CB8EAA-F585-4307-AA64-B0B378A2A617}"/>
              </a:ext>
            </a:extLst>
          </p:cNvPr>
          <p:cNvSpPr txBox="1">
            <a:spLocks noChangeArrowheads="1"/>
          </p:cNvSpPr>
          <p:nvPr/>
        </p:nvSpPr>
        <p:spPr bwMode="auto">
          <a:xfrm>
            <a:off x="511175" y="188913"/>
            <a:ext cx="81184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altLang="ja-JP" sz="4800" dirty="0">
                <a:solidFill>
                  <a:srgbClr val="000000"/>
                </a:solidFill>
                <a:latin typeface="Times New Roman 見出し"/>
              </a:rPr>
              <a:t>Table of Contents</a:t>
            </a:r>
          </a:p>
        </p:txBody>
      </p:sp>
      <p:sp>
        <p:nvSpPr>
          <p:cNvPr id="2" name="Rectangle 8">
            <a:extLst>
              <a:ext uri="{FF2B5EF4-FFF2-40B4-BE49-F238E27FC236}">
                <a16:creationId xmlns:a16="http://schemas.microsoft.com/office/drawing/2014/main" id="{43B449B5-460F-1B2A-A678-09A0F8F64A95}"/>
              </a:ext>
            </a:extLst>
          </p:cNvPr>
          <p:cNvSpPr txBox="1">
            <a:spLocks noChangeArrowheads="1"/>
          </p:cNvSpPr>
          <p:nvPr/>
        </p:nvSpPr>
        <p:spPr bwMode="auto">
          <a:xfrm>
            <a:off x="755576" y="1628800"/>
            <a:ext cx="7835624" cy="3456384"/>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Preparation for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Notes during PHITS tutorial</a:t>
            </a:r>
          </a:p>
          <a:p>
            <a:pPr marL="342900" indent="-342900" eaLnBrk="1" hangingPunct="1">
              <a:spcBef>
                <a:spcPts val="2400"/>
              </a:spcBef>
              <a:buFont typeface="Wingdings" panose="05000000000000000000" pitchFamily="2" charset="2"/>
              <a:buChar char="ü"/>
              <a:defRPr/>
            </a:pPr>
            <a:r>
              <a:rPr lang="en-US" altLang="ja-JP" dirty="0">
                <a:latin typeface="Century" pitchFamily="18" charset="0"/>
              </a:rPr>
              <a:t>Remarks at the end of PHITS tutorial</a:t>
            </a:r>
          </a:p>
          <a:p>
            <a:pPr marL="342900" indent="-342900" eaLnBrk="1" hangingPunct="1">
              <a:spcBef>
                <a:spcPts val="2400"/>
              </a:spcBef>
              <a:buFont typeface="Wingdings" panose="05000000000000000000" pitchFamily="2" charset="2"/>
              <a:buChar char="ü"/>
              <a:defRPr/>
            </a:pPr>
            <a:r>
              <a:rPr lang="en-US" altLang="ja-JP" dirty="0">
                <a:solidFill>
                  <a:srgbClr val="FF0000"/>
                </a:solidFill>
                <a:latin typeface="Century" pitchFamily="18" charset="0"/>
              </a:rPr>
              <a:t>Additional information for person who cannot attend PHITS tutorial</a:t>
            </a:r>
          </a:p>
        </p:txBody>
      </p:sp>
    </p:spTree>
    <p:extLst>
      <p:ext uri="{BB962C8B-B14F-4D97-AF65-F5344CB8AC3E}">
        <p14:creationId xmlns:p14="http://schemas.microsoft.com/office/powerpoint/2010/main" val="276144447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9" name="Rectangle 8">
            <a:extLst>
              <a:ext uri="{FF2B5EF4-FFF2-40B4-BE49-F238E27FC236}">
                <a16:creationId xmlns:a16="http://schemas.microsoft.com/office/drawing/2014/main" id="{B4C8FA1A-E218-47C0-A40E-B721EF3529BA}"/>
              </a:ext>
            </a:extLst>
          </p:cNvPr>
          <p:cNvSpPr txBox="1">
            <a:spLocks noChangeArrowheads="1"/>
          </p:cNvSpPr>
          <p:nvPr/>
        </p:nvSpPr>
        <p:spPr bwMode="auto">
          <a:xfrm>
            <a:off x="608806" y="836712"/>
            <a:ext cx="7926388" cy="5236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285750" indent="-285750" eaLnBrk="1" hangingPunct="1">
              <a:spcBef>
                <a:spcPts val="1200"/>
              </a:spcBef>
              <a:buFont typeface="Wingdings" panose="05000000000000000000" pitchFamily="2" charset="2"/>
              <a:buChar char="ü"/>
            </a:pPr>
            <a:r>
              <a:rPr lang="en-US" altLang="ja-JP" sz="2000" dirty="0">
                <a:solidFill>
                  <a:srgbClr val="000000"/>
                </a:solidFill>
              </a:rPr>
              <a:t>In the beginner course, </a:t>
            </a:r>
            <a:r>
              <a:rPr lang="en-US" altLang="ja-JP" sz="2000" dirty="0">
                <a:solidFill>
                  <a:srgbClr val="FF0000"/>
                </a:solidFill>
              </a:rPr>
              <a:t>basic/lec01</a:t>
            </a:r>
            <a:r>
              <a:rPr lang="en-US" altLang="ja-JP" sz="2000" dirty="0">
                <a:solidFill>
                  <a:srgbClr val="000000"/>
                </a:solidFill>
              </a:rPr>
              <a:t>, </a:t>
            </a:r>
            <a:r>
              <a:rPr lang="en-US" altLang="ja-JP" sz="2000" dirty="0">
                <a:solidFill>
                  <a:srgbClr val="FF0000"/>
                </a:solidFill>
              </a:rPr>
              <a:t>basic/lec02</a:t>
            </a:r>
            <a:r>
              <a:rPr lang="en-US" altLang="ja-JP" sz="2000" dirty="0">
                <a:solidFill>
                  <a:srgbClr val="000000"/>
                </a:solidFill>
              </a:rPr>
              <a:t>, </a:t>
            </a:r>
            <a:r>
              <a:rPr lang="en-US" altLang="ja-JP" sz="2000" dirty="0">
                <a:solidFill>
                  <a:srgbClr val="FF0000"/>
                </a:solidFill>
              </a:rPr>
              <a:t>basic/lec03</a:t>
            </a:r>
            <a:r>
              <a:rPr lang="en-US" altLang="ja-JP" sz="2000" dirty="0">
                <a:solidFill>
                  <a:srgbClr val="000000"/>
                </a:solidFill>
              </a:rPr>
              <a:t>, </a:t>
            </a:r>
            <a:r>
              <a:rPr lang="en-US" altLang="ja-JP" sz="2000" dirty="0">
                <a:solidFill>
                  <a:srgbClr val="FF0000"/>
                </a:solidFill>
              </a:rPr>
              <a:t>exercise/range </a:t>
            </a:r>
            <a:r>
              <a:rPr lang="en-US" altLang="ja-JP" sz="2000" dirty="0">
                <a:solidFill>
                  <a:srgbClr val="000000"/>
                </a:solidFill>
              </a:rPr>
              <a:t>and </a:t>
            </a:r>
            <a:r>
              <a:rPr lang="en-US" altLang="ja-JP" sz="2000" dirty="0">
                <a:solidFill>
                  <a:srgbClr val="FF0000"/>
                </a:solidFill>
              </a:rPr>
              <a:t>exercise/snowman </a:t>
            </a:r>
            <a:r>
              <a:rPr lang="en-US" altLang="ja-JP" sz="2000" dirty="0">
                <a:solidFill>
                  <a:srgbClr val="000000"/>
                </a:solidFill>
              </a:rPr>
              <a:t>in the </a:t>
            </a:r>
            <a:r>
              <a:rPr lang="en-US" altLang="ja-JP" sz="2000" dirty="0" err="1">
                <a:solidFill>
                  <a:srgbClr val="000000"/>
                </a:solidFill>
              </a:rPr>
              <a:t>phits</a:t>
            </a:r>
            <a:r>
              <a:rPr lang="en-US" altLang="ja-JP" sz="2000" dirty="0">
                <a:solidFill>
                  <a:srgbClr val="000000"/>
                </a:solidFill>
              </a:rPr>
              <a:t>/lecture folder will be conducted. We recommend to follow these lectures when you start to learn PHITS. YouTube video are available for these lectures, though they are not always the latest version.</a:t>
            </a:r>
          </a:p>
          <a:p>
            <a:pPr marL="285750" indent="-285750" eaLnBrk="1" hangingPunct="1">
              <a:spcBef>
                <a:spcPts val="1200"/>
              </a:spcBef>
              <a:buFont typeface="Wingdings" panose="05000000000000000000" pitchFamily="2" charset="2"/>
              <a:buChar char="ü"/>
            </a:pPr>
            <a:r>
              <a:rPr lang="en-US" altLang="ja-JP" sz="2000" dirty="0">
                <a:solidFill>
                  <a:srgbClr val="000000"/>
                </a:solidFill>
              </a:rPr>
              <a:t>In the intermediate course, the main topics are the complex source definition (</a:t>
            </a:r>
            <a:r>
              <a:rPr lang="en-US" altLang="ja-JP" sz="2000" dirty="0" err="1">
                <a:solidFill>
                  <a:srgbClr val="FF0000"/>
                </a:solidFill>
              </a:rPr>
              <a:t>sourceA</a:t>
            </a:r>
            <a:r>
              <a:rPr lang="en-US" altLang="ja-JP" sz="2000" dirty="0">
                <a:solidFill>
                  <a:srgbClr val="000000"/>
                </a:solidFill>
              </a:rPr>
              <a:t>), variance reduction techniques (</a:t>
            </a:r>
            <a:r>
              <a:rPr lang="en-US" altLang="ja-JP" sz="2000" dirty="0">
                <a:solidFill>
                  <a:srgbClr val="FF0000"/>
                </a:solidFill>
              </a:rPr>
              <a:t>variance-reduction</a:t>
            </a:r>
            <a:r>
              <a:rPr lang="en-US" altLang="ja-JP" sz="2000" dirty="0">
                <a:solidFill>
                  <a:srgbClr val="000000"/>
                </a:solidFill>
              </a:rPr>
              <a:t>), useful functions (</a:t>
            </a:r>
            <a:r>
              <a:rPr lang="en-US" altLang="ja-JP" sz="2000" dirty="0">
                <a:solidFill>
                  <a:srgbClr val="FF0000"/>
                </a:solidFill>
              </a:rPr>
              <a:t>options</a:t>
            </a:r>
            <a:r>
              <a:rPr lang="en-US" altLang="ja-JP" sz="2000" dirty="0">
                <a:solidFill>
                  <a:srgbClr val="000000"/>
                </a:solidFill>
              </a:rPr>
              <a:t>), and automatic execution using script (</a:t>
            </a:r>
            <a:r>
              <a:rPr lang="en-US" altLang="ja-JP" sz="2000" dirty="0">
                <a:solidFill>
                  <a:srgbClr val="FF0000"/>
                </a:solidFill>
              </a:rPr>
              <a:t>autorun</a:t>
            </a:r>
            <a:r>
              <a:rPr lang="en-US" altLang="ja-JP" sz="2000" dirty="0">
                <a:solidFill>
                  <a:srgbClr val="000000"/>
                </a:solidFill>
              </a:rPr>
              <a:t>) in the </a:t>
            </a:r>
            <a:r>
              <a:rPr lang="en-US" altLang="ja-JP" sz="2000" dirty="0" err="1">
                <a:solidFill>
                  <a:srgbClr val="000000"/>
                </a:solidFill>
              </a:rPr>
              <a:t>phits</a:t>
            </a:r>
            <a:r>
              <a:rPr lang="en-US" altLang="ja-JP" sz="2000" dirty="0">
                <a:solidFill>
                  <a:srgbClr val="000000"/>
                </a:solidFill>
              </a:rPr>
              <a:t>/lecture/advanced folder. In addition, purpose-specific lectures are held on cosmic-ray transport (</a:t>
            </a:r>
            <a:r>
              <a:rPr lang="en-US" altLang="ja-JP" sz="2000" dirty="0" err="1">
                <a:solidFill>
                  <a:srgbClr val="FF0000"/>
                </a:solidFill>
              </a:rPr>
              <a:t>cosmicray</a:t>
            </a:r>
            <a:r>
              <a:rPr lang="en-US" altLang="ja-JP" sz="2000" dirty="0">
                <a:solidFill>
                  <a:srgbClr val="000000"/>
                </a:solidFill>
              </a:rPr>
              <a:t>), induced-activity calculation (</a:t>
            </a:r>
            <a:r>
              <a:rPr lang="en-US" altLang="ja-JP" sz="2000" dirty="0">
                <a:solidFill>
                  <a:srgbClr val="FF0000"/>
                </a:solidFill>
              </a:rPr>
              <a:t>DCHAIN1</a:t>
            </a:r>
            <a:r>
              <a:rPr lang="en-US" altLang="ja-JP" sz="2000" dirty="0">
                <a:solidFill>
                  <a:srgbClr val="000000"/>
                </a:solidFill>
              </a:rPr>
              <a:t>), detector-response simulation (</a:t>
            </a:r>
            <a:r>
              <a:rPr lang="en-US" altLang="ja-JP" sz="2000" dirty="0">
                <a:solidFill>
                  <a:srgbClr val="FF0000"/>
                </a:solidFill>
              </a:rPr>
              <a:t>detector</a:t>
            </a:r>
            <a:r>
              <a:rPr lang="en-US" altLang="ja-JP" sz="2000" dirty="0">
                <a:solidFill>
                  <a:srgbClr val="000000"/>
                </a:solidFill>
              </a:rPr>
              <a:t>), and shielding calculation (</a:t>
            </a:r>
            <a:r>
              <a:rPr lang="en-US" altLang="ja-JP" sz="2000" dirty="0">
                <a:solidFill>
                  <a:srgbClr val="FF0000"/>
                </a:solidFill>
              </a:rPr>
              <a:t>shielding</a:t>
            </a:r>
            <a:r>
              <a:rPr lang="en-US" altLang="ja-JP" sz="2000" dirty="0">
                <a:solidFill>
                  <a:srgbClr val="000000"/>
                </a:solidFill>
              </a:rPr>
              <a:t>) in the same folder, and BNCT and X-ray therapy dose calculations (</a:t>
            </a:r>
            <a:r>
              <a:rPr lang="en-US" altLang="ja-JP" sz="2000" dirty="0">
                <a:solidFill>
                  <a:srgbClr val="FF0000"/>
                </a:solidFill>
              </a:rPr>
              <a:t>BNCT</a:t>
            </a:r>
            <a:r>
              <a:rPr lang="en-US" altLang="ja-JP" sz="2000" dirty="0">
                <a:solidFill>
                  <a:srgbClr val="000000"/>
                </a:solidFill>
              </a:rPr>
              <a:t> &amp; </a:t>
            </a:r>
            <a:r>
              <a:rPr lang="en-US" altLang="ja-JP" sz="2000" dirty="0" err="1">
                <a:solidFill>
                  <a:srgbClr val="FF0000"/>
                </a:solidFill>
              </a:rPr>
              <a:t>XrayTherapy</a:t>
            </a:r>
            <a:r>
              <a:rPr lang="en-US" altLang="ja-JP" sz="2000" dirty="0">
                <a:solidFill>
                  <a:srgbClr val="000000"/>
                </a:solidFill>
              </a:rPr>
              <a:t>) in the </a:t>
            </a:r>
            <a:r>
              <a:rPr lang="en-US" altLang="ja-JP" sz="2000" dirty="0" err="1">
                <a:solidFill>
                  <a:srgbClr val="000000"/>
                </a:solidFill>
              </a:rPr>
              <a:t>phits</a:t>
            </a:r>
            <a:r>
              <a:rPr lang="en-US" altLang="ja-JP" sz="2000" dirty="0">
                <a:solidFill>
                  <a:srgbClr val="000000"/>
                </a:solidFill>
              </a:rPr>
              <a:t>/lecture/therapy folder. </a:t>
            </a:r>
            <a:r>
              <a:rPr lang="en-US" altLang="ja-JP" sz="2000">
                <a:solidFill>
                  <a:srgbClr val="000000"/>
                </a:solidFill>
              </a:rPr>
              <a:t>You </a:t>
            </a:r>
            <a:r>
              <a:rPr lang="en-US" altLang="ja-JP" sz="2000" dirty="0">
                <a:solidFill>
                  <a:srgbClr val="000000"/>
                </a:solidFill>
              </a:rPr>
              <a:t>can find your own relevant items in these folders for your reference.</a:t>
            </a:r>
          </a:p>
        </p:txBody>
      </p:sp>
      <p:sp>
        <p:nvSpPr>
          <p:cNvPr id="5" name="Rectangle 2">
            <a:extLst>
              <a:ext uri="{FF2B5EF4-FFF2-40B4-BE49-F238E27FC236}">
                <a16:creationId xmlns:a16="http://schemas.microsoft.com/office/drawing/2014/main" id="{0B8963C8-6D62-62C7-3296-FED34F6CB19E}"/>
              </a:ext>
            </a:extLst>
          </p:cNvPr>
          <p:cNvSpPr>
            <a:spLocks noGrp="1" noChangeArrowheads="1"/>
          </p:cNvSpPr>
          <p:nvPr>
            <p:ph type="title"/>
          </p:nvPr>
        </p:nvSpPr>
        <p:spPr>
          <a:xfrm>
            <a:off x="401638" y="-1588"/>
            <a:ext cx="8280400" cy="792163"/>
          </a:xfrm>
        </p:spPr>
        <p:txBody>
          <a:bodyPr/>
          <a:lstStyle/>
          <a:p>
            <a:pPr eaLnBrk="1" hangingPunct="1"/>
            <a:r>
              <a:rPr lang="en-US" altLang="ja-JP" sz="4000" dirty="0">
                <a:latin typeface="Times New Roman 見出し"/>
              </a:rPr>
              <a:t>Recommended Lecture Notes</a:t>
            </a:r>
            <a:endParaRPr lang="ja-JP" altLang="en-US" sz="4000" dirty="0">
              <a:latin typeface="Times New Roman 見出し"/>
            </a:endParaRPr>
          </a:p>
        </p:txBody>
      </p:sp>
    </p:spTree>
    <p:extLst>
      <p:ext uri="{BB962C8B-B14F-4D97-AF65-F5344CB8AC3E}">
        <p14:creationId xmlns:p14="http://schemas.microsoft.com/office/powerpoint/2010/main" val="910634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9" name="Rectangle 8">
            <a:extLst>
              <a:ext uri="{FF2B5EF4-FFF2-40B4-BE49-F238E27FC236}">
                <a16:creationId xmlns:a16="http://schemas.microsoft.com/office/drawing/2014/main" id="{B4C8FA1A-E218-47C0-A40E-B721EF3529BA}"/>
              </a:ext>
            </a:extLst>
          </p:cNvPr>
          <p:cNvSpPr txBox="1">
            <a:spLocks noChangeArrowheads="1"/>
          </p:cNvSpPr>
          <p:nvPr/>
        </p:nvSpPr>
        <p:spPr bwMode="auto">
          <a:xfrm>
            <a:off x="608806" y="856739"/>
            <a:ext cx="7926388" cy="4516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285750" indent="-285750" eaLnBrk="1" hangingPunct="1">
              <a:spcBef>
                <a:spcPts val="1200"/>
              </a:spcBef>
              <a:buFont typeface="Wingdings" panose="05000000000000000000" pitchFamily="2" charset="2"/>
              <a:buChar char="ü"/>
            </a:pPr>
            <a:r>
              <a:rPr lang="en-US" altLang="ja-JP" sz="2000" dirty="0">
                <a:solidFill>
                  <a:srgbClr val="000000"/>
                </a:solidFill>
              </a:rPr>
              <a:t>The most difficult issue in the parameter setting is the determination of whether the EGS mode, the event generator mode, and JENDL-5 should be used or not. If you cannot determine those parameters by yourself, please read </a:t>
            </a:r>
            <a:r>
              <a:rPr lang="en-US" altLang="ja-JP" sz="2000" dirty="0" err="1">
                <a:solidFill>
                  <a:srgbClr val="FF0000"/>
                </a:solidFill>
              </a:rPr>
              <a:t>phits</a:t>
            </a:r>
            <a:r>
              <a:rPr lang="en-US" altLang="ja-JP" sz="2000" dirty="0">
                <a:solidFill>
                  <a:srgbClr val="FF0000"/>
                </a:solidFill>
              </a:rPr>
              <a:t>/recommendation/readme-eng.doc</a:t>
            </a:r>
            <a:r>
              <a:rPr lang="en-US" altLang="ja-JP" sz="2000" dirty="0">
                <a:solidFill>
                  <a:srgbClr val="000000"/>
                </a:solidFill>
              </a:rPr>
              <a:t> and copy &amp; paste the [parameters] section of the input file that is most relevant to your calculation condition.</a:t>
            </a:r>
          </a:p>
          <a:p>
            <a:pPr marL="285750" indent="-285750" eaLnBrk="1" hangingPunct="1">
              <a:spcBef>
                <a:spcPts val="1200"/>
              </a:spcBef>
              <a:buFont typeface="Wingdings" panose="05000000000000000000" pitchFamily="2" charset="2"/>
              <a:buChar char="ü"/>
            </a:pPr>
            <a:r>
              <a:rPr lang="en-US" altLang="ja-JP" sz="2000" dirty="0">
                <a:solidFill>
                  <a:srgbClr val="000000"/>
                </a:solidFill>
              </a:rPr>
              <a:t>Tallies are rather difficult to define because they have a variety of parameters. So, we recommend finding the sample input file of the tally that you need to set up from </a:t>
            </a:r>
            <a:r>
              <a:rPr lang="en-US" altLang="ja-JP" sz="2000" dirty="0" err="1">
                <a:solidFill>
                  <a:srgbClr val="FF0000"/>
                </a:solidFill>
              </a:rPr>
              <a:t>phits</a:t>
            </a:r>
            <a:r>
              <a:rPr lang="en-US" altLang="ja-JP" sz="2000" dirty="0">
                <a:solidFill>
                  <a:srgbClr val="FF0000"/>
                </a:solidFill>
              </a:rPr>
              <a:t>/sample/tally </a:t>
            </a:r>
            <a:r>
              <a:rPr lang="en-US" altLang="ja-JP" sz="2000" dirty="0">
                <a:solidFill>
                  <a:srgbClr val="000000"/>
                </a:solidFill>
              </a:rPr>
              <a:t>folder and copying the tally to your input file.</a:t>
            </a:r>
          </a:p>
          <a:p>
            <a:pPr marL="285750" indent="-285750" eaLnBrk="1" hangingPunct="1">
              <a:spcBef>
                <a:spcPts val="1200"/>
              </a:spcBef>
              <a:buFont typeface="Wingdings" panose="05000000000000000000" pitchFamily="2" charset="2"/>
              <a:buChar char="ü"/>
            </a:pPr>
            <a:r>
              <a:rPr lang="en-US" altLang="ja-JP" sz="2000" dirty="0">
                <a:solidFill>
                  <a:srgbClr val="000000"/>
                </a:solidFill>
              </a:rPr>
              <a:t>In addition to tallies, there are several sample input files useful for various purposes such as complicated </a:t>
            </a:r>
            <a:r>
              <a:rPr lang="en-US" altLang="ja-JP" sz="2000">
                <a:solidFill>
                  <a:srgbClr val="000000"/>
                </a:solidFill>
              </a:rPr>
              <a:t>source definitions </a:t>
            </a:r>
            <a:r>
              <a:rPr lang="en-US" altLang="ja-JP" sz="2000" dirty="0">
                <a:solidFill>
                  <a:srgbClr val="000000"/>
                </a:solidFill>
              </a:rPr>
              <a:t>and the medial physics </a:t>
            </a:r>
            <a:r>
              <a:rPr lang="en-US" altLang="ja-JP" sz="2000">
                <a:solidFill>
                  <a:srgbClr val="000000"/>
                </a:solidFill>
              </a:rPr>
              <a:t>simulations using </a:t>
            </a:r>
            <a:r>
              <a:rPr lang="en-US" altLang="ja-JP" sz="2000" dirty="0">
                <a:solidFill>
                  <a:srgbClr val="000000"/>
                </a:solidFill>
              </a:rPr>
              <a:t>ICRP human phantoms in both voxel and mesh format.</a:t>
            </a:r>
          </a:p>
        </p:txBody>
      </p:sp>
      <p:sp>
        <p:nvSpPr>
          <p:cNvPr id="5" name="Rectangle 2">
            <a:extLst>
              <a:ext uri="{FF2B5EF4-FFF2-40B4-BE49-F238E27FC236}">
                <a16:creationId xmlns:a16="http://schemas.microsoft.com/office/drawing/2014/main" id="{0B8963C8-6D62-62C7-3296-FED34F6CB19E}"/>
              </a:ext>
            </a:extLst>
          </p:cNvPr>
          <p:cNvSpPr>
            <a:spLocks noGrp="1" noChangeArrowheads="1"/>
          </p:cNvSpPr>
          <p:nvPr>
            <p:ph type="title"/>
          </p:nvPr>
        </p:nvSpPr>
        <p:spPr>
          <a:xfrm>
            <a:off x="401638" y="-1588"/>
            <a:ext cx="8280400" cy="792163"/>
          </a:xfrm>
        </p:spPr>
        <p:txBody>
          <a:bodyPr/>
          <a:lstStyle/>
          <a:p>
            <a:pPr eaLnBrk="1" hangingPunct="1"/>
            <a:r>
              <a:rPr lang="en-US" altLang="ja-JP" sz="4000" dirty="0">
                <a:latin typeface="Times New Roman 見出し"/>
              </a:rPr>
              <a:t>Use of Sample Files</a:t>
            </a:r>
            <a:endParaRPr lang="ja-JP" altLang="en-US" sz="4000" dirty="0">
              <a:latin typeface="Times New Roman 見出し"/>
            </a:endParaRPr>
          </a:p>
        </p:txBody>
      </p:sp>
    </p:spTree>
    <p:extLst>
      <p:ext uri="{BB962C8B-B14F-4D97-AF65-F5344CB8AC3E}">
        <p14:creationId xmlns:p14="http://schemas.microsoft.com/office/powerpoint/2010/main" val="1099810985"/>
      </p:ext>
    </p:extLst>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40827</TotalTime>
  <Words>1793</Words>
  <Application>Microsoft Office PowerPoint</Application>
  <PresentationFormat>画面に合わせる (4:3)</PresentationFormat>
  <Paragraphs>141</Paragraphs>
  <Slides>19</Slides>
  <Notes>19</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19</vt:i4>
      </vt:variant>
    </vt:vector>
  </HeadingPairs>
  <TitlesOfParts>
    <vt:vector size="28" baseType="lpstr">
      <vt:lpstr>Times New Roman 見出し</vt:lpstr>
      <vt:lpstr>Arial</vt:lpstr>
      <vt:lpstr>Calibri</vt:lpstr>
      <vt:lpstr>Century</vt:lpstr>
      <vt:lpstr>Century Gothic</vt:lpstr>
      <vt:lpstr>Tahoma</vt:lpstr>
      <vt:lpstr>Times New Roman</vt:lpstr>
      <vt:lpstr>Wingdings</vt:lpstr>
      <vt:lpstr>標準デザイン</vt:lpstr>
      <vt:lpstr>PowerPoint プレゼンテーション</vt:lpstr>
      <vt:lpstr>PowerPoint プレゼンテーション</vt:lpstr>
      <vt:lpstr>PHITS installation</vt:lpstr>
      <vt:lpstr>Confirmation of Installation</vt:lpstr>
      <vt:lpstr>Confirmation of Installation using Text Editor</vt:lpstr>
      <vt:lpstr>Check PHITS simulation results</vt:lpstr>
      <vt:lpstr>Confirmation of Geometry Viewer: PHIG-3D</vt:lpstr>
      <vt:lpstr>Preparation with YouTube (Not mandatory)</vt:lpstr>
      <vt:lpstr>PowerPoint プレゼンテーション</vt:lpstr>
      <vt:lpstr>Electricity supply of laptops</vt:lpstr>
      <vt:lpstr>PowerPoint プレゼンテーション</vt:lpstr>
      <vt:lpstr>PHITS folder structure</vt:lpstr>
      <vt:lpstr>Utility folder</vt:lpstr>
      <vt:lpstr>PHITS code license</vt:lpstr>
      <vt:lpstr>Question and Update Announcement</vt:lpstr>
      <vt:lpstr>Concluding Remark</vt:lpstr>
      <vt:lpstr>PowerPoint プレゼンテーション</vt:lpstr>
      <vt:lpstr>Recommended Lecture Notes</vt:lpstr>
      <vt:lpstr>Use of Sample Files</vt:lpstr>
    </vt:vector>
  </TitlesOfParts>
  <Company>だいきょーど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PHITS</dc:title>
  <dc:creator>のりひろ</dc:creator>
  <cp:lastModifiedBy>Tatsuhiko Sato</cp:lastModifiedBy>
  <cp:revision>2030</cp:revision>
  <dcterms:created xsi:type="dcterms:W3CDTF">2010-07-09T05:14:57Z</dcterms:created>
  <dcterms:modified xsi:type="dcterms:W3CDTF">2025-04-10T04:39:32Z</dcterms:modified>
</cp:coreProperties>
</file>