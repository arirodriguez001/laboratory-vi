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361" r:id="rId2"/>
    <p:sldId id="376" r:id="rId3"/>
    <p:sldId id="526" r:id="rId4"/>
    <p:sldId id="259" r:id="rId5"/>
    <p:sldId id="507" r:id="rId6"/>
    <p:sldId id="508" r:id="rId7"/>
    <p:sldId id="509" r:id="rId8"/>
    <p:sldId id="510" r:id="rId9"/>
    <p:sldId id="511" r:id="rId10"/>
    <p:sldId id="512" r:id="rId11"/>
    <p:sldId id="513" r:id="rId12"/>
    <p:sldId id="525" r:id="rId13"/>
    <p:sldId id="514" r:id="rId14"/>
    <p:sldId id="515" r:id="rId15"/>
    <p:sldId id="516" r:id="rId16"/>
    <p:sldId id="517" r:id="rId17"/>
    <p:sldId id="518" r:id="rId18"/>
    <p:sldId id="519" r:id="rId19"/>
    <p:sldId id="520" r:id="rId20"/>
    <p:sldId id="521" r:id="rId21"/>
    <p:sldId id="522" r:id="rId22"/>
    <p:sldId id="524" r:id="rId23"/>
    <p:sldId id="474" r:id="rId24"/>
  </p:sldIdLst>
  <p:sldSz cx="9144000" cy="6858000" type="screen4x3"/>
  <p:notesSz cx="6734175" cy="9867900"/>
  <p:defaultTextStyle>
    <a:defPPr>
      <a:defRPr lang="ja-JP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77" autoAdjust="0"/>
    <p:restoredTop sz="96370" autoAdjust="0"/>
  </p:normalViewPr>
  <p:slideViewPr>
    <p:cSldViewPr>
      <p:cViewPr varScale="1">
        <p:scale>
          <a:sx n="113" d="100"/>
          <a:sy n="113" d="100"/>
        </p:scale>
        <p:origin x="1500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16C17ECA-83A7-47A8-877B-F4710D7F6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708401A-64E1-44A7-BBBF-37E2FF51518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14474" y="0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81E00D2-D656-4BC9-B26B-08F121A4D012}" type="datetimeFigureOut">
              <a:rPr lang="ja-JP" altLang="en-US"/>
              <a:pPr>
                <a:defRPr/>
              </a:pPr>
              <a:t>2024/12/2</a:t>
            </a:fld>
            <a:endParaRPr lang="ja-JP" altLang="en-US"/>
          </a:p>
        </p:txBody>
      </p:sp>
      <p:sp>
        <p:nvSpPr>
          <p:cNvPr id="4" name="スライド イメージ プレースホルダー 3">
            <a:extLst>
              <a:ext uri="{FF2B5EF4-FFF2-40B4-BE49-F238E27FC236}">
                <a16:creationId xmlns:a16="http://schemas.microsoft.com/office/drawing/2014/main" id="{D3F2EBCA-D0B2-40D1-A97F-C835204EC0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739775"/>
            <a:ext cx="4933950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ja-JP" altLang="en-US" noProof="0"/>
          </a:p>
        </p:txBody>
      </p:sp>
      <p:sp>
        <p:nvSpPr>
          <p:cNvPr id="5" name="ノート プレースホルダー 4">
            <a:extLst>
              <a:ext uri="{FF2B5EF4-FFF2-40B4-BE49-F238E27FC236}">
                <a16:creationId xmlns:a16="http://schemas.microsoft.com/office/drawing/2014/main" id="{AE7BF798-E5EE-4144-A02D-78DECBC1F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3418" y="4687253"/>
            <a:ext cx="5387340" cy="44405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 altLang="en-US" noProof="0"/>
              <a:t>マスター テキストの書式設定</a:t>
            </a:r>
          </a:p>
          <a:p>
            <a:pPr lvl="1"/>
            <a:r>
              <a:rPr lang="ja-JP" altLang="en-US" noProof="0"/>
              <a:t>第 </a:t>
            </a:r>
            <a:r>
              <a:rPr lang="en-US" altLang="ja-JP" noProof="0"/>
              <a:t>2 </a:t>
            </a:r>
            <a:r>
              <a:rPr lang="ja-JP" altLang="en-US" noProof="0"/>
              <a:t>レベル</a:t>
            </a:r>
          </a:p>
          <a:p>
            <a:pPr lvl="2"/>
            <a:r>
              <a:rPr lang="ja-JP" altLang="en-US" noProof="0"/>
              <a:t>第 </a:t>
            </a:r>
            <a:r>
              <a:rPr lang="en-US" altLang="ja-JP" noProof="0"/>
              <a:t>3 </a:t>
            </a:r>
            <a:r>
              <a:rPr lang="ja-JP" altLang="en-US" noProof="0"/>
              <a:t>レベル</a:t>
            </a:r>
          </a:p>
          <a:p>
            <a:pPr lvl="3"/>
            <a:r>
              <a:rPr lang="ja-JP" altLang="en-US" noProof="0"/>
              <a:t>第 </a:t>
            </a:r>
            <a:r>
              <a:rPr lang="en-US" altLang="ja-JP" noProof="0"/>
              <a:t>4 </a:t>
            </a:r>
            <a:r>
              <a:rPr lang="ja-JP" altLang="en-US" noProof="0"/>
              <a:t>レベル</a:t>
            </a:r>
          </a:p>
          <a:p>
            <a:pPr lvl="4"/>
            <a:r>
              <a:rPr lang="ja-JP" altLang="en-US" noProof="0"/>
              <a:t>第 </a:t>
            </a:r>
            <a:r>
              <a:rPr lang="en-US" altLang="ja-JP" noProof="0"/>
              <a:t>5 </a:t>
            </a:r>
            <a:r>
              <a:rPr lang="ja-JP" altLang="en-US" noProof="0"/>
              <a:t>レベル</a:t>
            </a:r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4E23586-6272-4A4B-A8AE-13C4824FC80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372792"/>
            <a:ext cx="2918143" cy="4933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CCCD980-0A1F-4C02-A490-BD674259E0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14474" y="9372792"/>
            <a:ext cx="2918143" cy="49339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464499C7-7FB0-4BA1-A9B2-B570D9AE2525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542748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>
            <a:extLst>
              <a:ext uri="{FF2B5EF4-FFF2-40B4-BE49-F238E27FC236}">
                <a16:creationId xmlns:a16="http://schemas.microsoft.com/office/drawing/2014/main" id="{6F7BEB62-AABC-4940-81EF-C742FC047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1027">
            <a:extLst>
              <a:ext uri="{FF2B5EF4-FFF2-40B4-BE49-F238E27FC236}">
                <a16:creationId xmlns:a16="http://schemas.microsoft.com/office/drawing/2014/main" id="{74BCBEFF-B423-4BBC-A93D-402D03A6B7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ja-JP"/>
              <a:t>PHITS</a:t>
            </a:r>
            <a:r>
              <a:rPr lang="ja-JP" altLang="en-US"/>
              <a:t>講習会　基礎実習</a:t>
            </a:r>
          </a:p>
        </p:txBody>
      </p:sp>
    </p:spTree>
    <p:extLst>
      <p:ext uri="{BB962C8B-B14F-4D97-AF65-F5344CB8AC3E}">
        <p14:creationId xmlns:p14="http://schemas.microsoft.com/office/powerpoint/2010/main" val="1666108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2790235-B70A-4670-A136-1FE8F02130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D7D2D11-6A30-4350-9215-2B00CB1DB2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815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6F8E640B-30C5-4692-B6A5-2A0EE966F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6C25358-3F23-47E4-B99D-44D964913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19902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910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09071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194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291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0653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76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569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5392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6F8E640B-30C5-4692-B6A5-2A0EE966F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6C25358-3F23-47E4-B99D-44D964913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909382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56877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5550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2154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6F8E640B-30C5-4692-B6A5-2A0EE966F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6C25358-3F23-47E4-B99D-44D964913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2689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6F8E640B-30C5-4692-B6A5-2A0EE966F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6C25358-3F23-47E4-B99D-44D964913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951104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4111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705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826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E546D5DC-1126-4586-B30C-2C409C58D4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8B4A172-B5D1-42B5-B9F2-82046B43F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6236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6F8E640B-30C5-4692-B6A5-2A0EE966F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6C25358-3F23-47E4-B99D-44D964913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353611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C8868BDB-E99F-4C32-B70C-C390F24C2D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29810BB3-3B1E-4AEB-BDC7-14AF0008B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1180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A4F5D4-C8B3-43F7-9808-0F53105B320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CE28431-7C32-40D2-A2B8-D74B068231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70675A9-D556-4D99-9B16-9E415BDCDD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A174021-ECF4-4C88-97D2-3F49DE4C4A3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17421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EED7305-56A0-4A13-8044-F721790DE8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050C885-873C-4B0A-9AD6-6A90E17CF1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539310F-8FE4-4FD3-BC5C-1714F84370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4351463-D716-49AA-B602-59B552CC7F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4197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849600B-4A95-4D30-B3DD-26D72B17FB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AFB066-FA0B-47C2-B1F5-C091F2E9C4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183A73-A87A-4E5A-8A80-4C9882B767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45746B-FF26-4262-A166-104692FC54E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4993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30B845-7CD4-4C46-9625-15558D715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AED189-7730-463B-A81B-47138626A8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C2B46-B77B-466E-8E1A-8DF00E8EBA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E7B76D-57BC-473D-B34B-EF74D8DB595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178485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4F28F1E-11C9-494B-8E6F-1D89EE882E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695CB58-EF27-4970-A15E-3B781A7032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9B07C6B-EF1B-484E-AE89-8519E0423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D6AE1D-9073-410C-9757-F59C2810D4B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18386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1DF0630-D52E-45AE-BA21-FF796E1382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DD5EC90-8038-4F3B-B9CC-CF66D05109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7B76891-B93D-49A9-A325-AE8C59306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5EE32AB-51F6-4D0C-81CE-5AD86C60721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00297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12F0FC9-E8D5-475A-9B30-7D6DF6013A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D07A493-9D67-498B-810D-56557FC9C4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36F09AA-2F95-470A-BF89-E8CFB6EE97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0BB5DBA-9725-46CA-BBB6-E10AD4930BF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2591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C5BE7-C5D6-424E-B390-132503EF0D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012E2-0097-444D-B6D9-D78848BA1E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08E313-2385-4BEA-B694-66B7757B20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ABBC0F-DC49-4139-A51B-06E39DD50C9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845716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241188-BF8C-44BA-814F-3B6E1F01C2D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F626D-5942-4146-ABA9-E1B7986335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30D60B-BAB5-4D75-B3B1-17F4BEA0ABD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C0F5EFC-B216-462B-BB0D-2DA13891448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04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1D5112-BC2B-4A1A-BB8F-EEF3042F7CA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5190E7-316C-4AC1-BE3E-9796995D80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1AF01B-6BF9-4124-ACE7-1D19D30D62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00ED473-984B-43B1-BE73-5284D8BD334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184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634832-2CE1-4882-BA3C-827545C1CD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436B495-4E97-4712-90C8-D93ACE7A62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E553AF-CCC8-44EC-A5E1-03A961C7A1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A1E09F-7CF7-49AC-9566-F2FAD6A836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641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94B10E-37B0-4208-AE8A-BAE94CCDE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EFFCB3-69E3-4529-9B16-2ABCD30DC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C663806-7F05-4FB4-9CFD-C28BBE8A549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4F78497E-DD52-4E5F-A4CD-E06370F3F83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BD15076-0C9F-440E-8877-03DA97C6630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rgbClr val="000000"/>
                </a:solidFill>
                <a:ea typeface="ＭＳ Ｐゴシック" panose="020B0600070205080204" pitchFamily="50" charset="-128"/>
              </a:defRPr>
            </a:lvl1pPr>
          </a:lstStyle>
          <a:p>
            <a:pPr>
              <a:defRPr/>
            </a:pPr>
            <a:fld id="{BD1323E2-3A58-4156-9BEF-F5210ADED98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BF15ABB6-AFCC-4393-96F2-23133240EF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48425"/>
            <a:ext cx="18637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CEF69265-6689-4265-A73F-8D97F0C1C0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9363"/>
            <a:ext cx="9105900" cy="71437"/>
          </a:xfrm>
          <a:prstGeom prst="rect">
            <a:avLst/>
          </a:prstGeom>
          <a:gradFill rotWithShape="0">
            <a:gsLst>
              <a:gs pos="0">
                <a:srgbClr val="0000CC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2400">
              <a:solidFill>
                <a:srgbClr val="000000"/>
              </a:solidFill>
            </a:endParaRPr>
          </a:p>
        </p:txBody>
      </p:sp>
      <p:sp>
        <p:nvSpPr>
          <p:cNvPr id="9" name="Text Box 8">
            <a:extLst>
              <a:ext uri="{FF2B5EF4-FFF2-40B4-BE49-F238E27FC236}">
                <a16:creationId xmlns:a16="http://schemas.microsoft.com/office/drawing/2014/main" id="{34FE3A05-F257-466C-B0EC-7B6290AAB58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53400" y="6400800"/>
            <a:ext cx="719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fld id="{3C131782-2DB5-4656-8B41-552F7B6363ED}" type="slidenum"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pPr algn="ctr" eaLnBrk="1" hangingPunct="1">
                <a:spcBef>
                  <a:spcPct val="50000"/>
                </a:spcBef>
                <a:buFontTx/>
                <a:buNone/>
              </a:pPr>
              <a:t>‹#›</a:t>
            </a:fld>
            <a:endParaRPr lang="en-US" altLang="ja-JP" sz="24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0889" r:id="rId1"/>
    <p:sldLayoutId id="2147490890" r:id="rId2"/>
    <p:sldLayoutId id="2147490891" r:id="rId3"/>
    <p:sldLayoutId id="2147490892" r:id="rId4"/>
    <p:sldLayoutId id="2147490893" r:id="rId5"/>
    <p:sldLayoutId id="2147490894" r:id="rId6"/>
    <p:sldLayoutId id="2147490895" r:id="rId7"/>
    <p:sldLayoutId id="2147490896" r:id="rId8"/>
    <p:sldLayoutId id="2147490897" r:id="rId9"/>
    <p:sldLayoutId id="2147490898" r:id="rId10"/>
    <p:sldLayoutId id="214749089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ＭＳ Ｐゴシック" pitchFamily="50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1EAA629E-8C8D-49F3-AF58-ED0ED79649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21518" y="627906"/>
            <a:ext cx="7772400" cy="1727200"/>
          </a:xfrm>
        </p:spPr>
        <p:txBody>
          <a:bodyPr/>
          <a:lstStyle/>
          <a:p>
            <a:pPr eaLnBrk="1" hangingPunct="1"/>
            <a:r>
              <a:rPr lang="en-US" altLang="ja-JP" sz="11000" b="1" i="1">
                <a:solidFill>
                  <a:srgbClr val="0000CC"/>
                </a:solidFill>
              </a:rPr>
              <a:t>P</a:t>
            </a:r>
            <a:r>
              <a:rPr lang="en-US" altLang="ja-JP" sz="9000" b="1" i="1">
                <a:solidFill>
                  <a:srgbClr val="0000CC"/>
                </a:solidFill>
              </a:rPr>
              <a:t>HI</a:t>
            </a:r>
            <a:r>
              <a:rPr lang="en-US" altLang="ja-JP" sz="9800" b="1" i="1">
                <a:solidFill>
                  <a:srgbClr val="0000CC"/>
                </a:solidFill>
              </a:rPr>
              <a:t>T</a:t>
            </a:r>
            <a:r>
              <a:rPr lang="en-US" altLang="ja-JP" sz="9000" b="1" i="1">
                <a:solidFill>
                  <a:srgbClr val="0000CC"/>
                </a:solidFill>
              </a:rPr>
              <a:t>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08169FBE-7F64-452C-8CF1-EE4F3225E4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06400" y="2668100"/>
            <a:ext cx="8305800" cy="2240632"/>
          </a:xfrm>
        </p:spPr>
        <p:txBody>
          <a:bodyPr/>
          <a:lstStyle/>
          <a:p>
            <a:pPr eaLnBrk="1" hangingPunct="1"/>
            <a:r>
              <a:rPr lang="en-US" altLang="ja-JP" sz="4500" dirty="0">
                <a:solidFill>
                  <a:srgbClr val="010000"/>
                </a:solidFill>
              </a:rPr>
              <a:t>Automated execution of PHITS by changing simulation conditions using script files</a:t>
            </a:r>
            <a:endParaRPr lang="en-US" altLang="ja-JP" sz="4800" dirty="0">
              <a:solidFill>
                <a:srgbClr val="010000"/>
              </a:solidFill>
            </a:endParaRPr>
          </a:p>
        </p:txBody>
      </p:sp>
      <p:sp>
        <p:nvSpPr>
          <p:cNvPr id="39942" name="正方形/長方形 4">
            <a:extLst>
              <a:ext uri="{FF2B5EF4-FFF2-40B4-BE49-F238E27FC236}">
                <a16:creationId xmlns:a16="http://schemas.microsoft.com/office/drawing/2014/main" id="{9C0CF0EA-25B0-4467-8CD5-21E13F15D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31" y="2132856"/>
            <a:ext cx="86439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200" b="1" i="1">
                <a:solidFill>
                  <a:srgbClr val="000000"/>
                </a:solidFill>
              </a:rPr>
              <a:t>Multi-Purpose </a:t>
            </a:r>
            <a:r>
              <a:rPr lang="en-US" altLang="ja-JP" sz="2200" b="1" i="1">
                <a:solidFill>
                  <a:srgbClr val="0000CC"/>
                </a:solidFill>
              </a:rPr>
              <a:t>P</a:t>
            </a:r>
            <a:r>
              <a:rPr lang="en-US" altLang="ja-JP" sz="2200" b="1" i="1">
                <a:solidFill>
                  <a:srgbClr val="000000"/>
                </a:solidFill>
              </a:rPr>
              <a:t>article and </a:t>
            </a:r>
            <a:r>
              <a:rPr lang="en-US" altLang="ja-JP" sz="2200" b="1" i="1">
                <a:solidFill>
                  <a:srgbClr val="0000CC"/>
                </a:solidFill>
              </a:rPr>
              <a:t>H</a:t>
            </a:r>
            <a:r>
              <a:rPr lang="en-US" altLang="ja-JP" sz="2200" b="1" i="1">
                <a:solidFill>
                  <a:srgbClr val="000000"/>
                </a:solidFill>
              </a:rPr>
              <a:t>eavy </a:t>
            </a:r>
            <a:r>
              <a:rPr lang="en-US" altLang="ja-JP" sz="2200" b="1" i="1">
                <a:solidFill>
                  <a:srgbClr val="0000CC"/>
                </a:solidFill>
              </a:rPr>
              <a:t>I</a:t>
            </a:r>
            <a:r>
              <a:rPr lang="en-US" altLang="ja-JP" sz="2200" b="1" i="1">
                <a:solidFill>
                  <a:srgbClr val="000000"/>
                </a:solidFill>
              </a:rPr>
              <a:t>on </a:t>
            </a:r>
            <a:r>
              <a:rPr lang="en-US" altLang="ja-JP" sz="2200" b="1" i="1">
                <a:solidFill>
                  <a:srgbClr val="0000CC"/>
                </a:solidFill>
              </a:rPr>
              <a:t>T</a:t>
            </a:r>
            <a:r>
              <a:rPr lang="en-US" altLang="ja-JP" sz="2200" b="1" i="1">
                <a:solidFill>
                  <a:srgbClr val="000000"/>
                </a:solidFill>
              </a:rPr>
              <a:t>ransport code </a:t>
            </a:r>
            <a:r>
              <a:rPr lang="en-US" altLang="ja-JP" sz="2200" b="1" i="1">
                <a:solidFill>
                  <a:srgbClr val="0000CC"/>
                </a:solidFill>
              </a:rPr>
              <a:t>S</a:t>
            </a:r>
            <a:r>
              <a:rPr lang="en-US" altLang="ja-JP" sz="2200" b="1" i="1">
                <a:solidFill>
                  <a:srgbClr val="000000"/>
                </a:solidFill>
              </a:rPr>
              <a:t>ystem</a:t>
            </a:r>
          </a:p>
        </p:txBody>
      </p:sp>
      <p:sp>
        <p:nvSpPr>
          <p:cNvPr id="39943" name="Text Box 7">
            <a:extLst>
              <a:ext uri="{FF2B5EF4-FFF2-40B4-BE49-F238E27FC236}">
                <a16:creationId xmlns:a16="http://schemas.microsoft.com/office/drawing/2014/main" id="{040E25B9-50F3-4241-8170-C65842981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Title</a:t>
            </a:r>
          </a:p>
        </p:txBody>
      </p:sp>
      <p:sp>
        <p:nvSpPr>
          <p:cNvPr id="10" name="Text Box 15">
            <a:extLst>
              <a:ext uri="{FF2B5EF4-FFF2-40B4-BE49-F238E27FC236}">
                <a16:creationId xmlns:a16="http://schemas.microsoft.com/office/drawing/2014/main" id="{2F15046F-F3DF-4018-84E7-B42594880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775" y="5636567"/>
            <a:ext cx="255905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ja-JP" sz="2400" dirty="0">
                <a:solidFill>
                  <a:srgbClr val="FF0000"/>
                </a:solidFill>
                <a:latin typeface="+mn-lt"/>
              </a:rPr>
              <a:t>Dec 2024 revised</a:t>
            </a:r>
          </a:p>
        </p:txBody>
      </p:sp>
      <p:sp>
        <p:nvSpPr>
          <p:cNvPr id="2" name="Text Box 7">
            <a:extLst>
              <a:ext uri="{FF2B5EF4-FFF2-40B4-BE49-F238E27FC236}">
                <a16:creationId xmlns:a16="http://schemas.microsoft.com/office/drawing/2014/main" id="{A039639C-3FA2-B921-4058-5DF68256C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3728" y="497881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/</a:t>
            </a:r>
            <a:r>
              <a:rPr lang="en-US" altLang="ja-JP" sz="2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</a:t>
            </a: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/lecture/advanced/autorun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0" name="Text Box 5">
            <a:extLst>
              <a:ext uri="{FF2B5EF4-FFF2-40B4-BE49-F238E27FC236}">
                <a16:creationId xmlns:a16="http://schemas.microsoft.com/office/drawing/2014/main" id="{D266A2DE-9EF0-4AE4-8DAE-1187CF2CB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rgbClr val="000000"/>
                </a:solidFill>
                <a:latin typeface="Tahoma" panose="020B0604030504040204" pitchFamily="34" charset="0"/>
              </a:rPr>
              <a:t>Purpose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4D7C6F22-8F4F-4554-85A4-677EC7AB4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799" y="1003810"/>
            <a:ext cx="7943601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800" dirty="0">
                <a:solidFill>
                  <a:srgbClr val="000000"/>
                </a:solidFill>
                <a:latin typeface="+mn-lt"/>
              </a:rPr>
              <a:t>Learn how to run multiple PHITS simulations at once by changing a certain parameter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08EA1CC-488B-49A0-B9E6-6A36FE2AAD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84138"/>
            <a:ext cx="7416800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kern="0" dirty="0">
                <a:latin typeface="+mn-lt"/>
                <a:cs typeface="Arial" panose="020B0604020202020204" pitchFamily="34" charset="0"/>
              </a:rPr>
              <a:t>Purpose of This Lecture</a:t>
            </a:r>
            <a:endParaRPr lang="ja-JP" altLang="en-US" sz="4800" kern="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139CB4DE-52DC-4875-A3C1-C73ED16694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799" y="2496503"/>
            <a:ext cx="7943601" cy="1953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rgbClr val="000000"/>
                </a:solidFill>
                <a:latin typeface="+mn-lt"/>
              </a:rPr>
              <a:t>Analysis of the energy dependence of nuclear reaction</a:t>
            </a:r>
          </a:p>
          <a:p>
            <a:pPr marL="342900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rgbClr val="000000"/>
                </a:solidFill>
                <a:latin typeface="+mn-lt"/>
              </a:rPr>
              <a:t>Shielding calculation by changing the target thickness</a:t>
            </a:r>
          </a:p>
          <a:p>
            <a:pPr marL="342900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rgbClr val="000000"/>
                </a:solidFill>
                <a:latin typeface="+mn-lt"/>
              </a:rPr>
              <a:t>Calculation of dose conversion coefficient for various irradiation geometries </a:t>
            </a:r>
          </a:p>
        </p:txBody>
      </p:sp>
      <p:sp>
        <p:nvSpPr>
          <p:cNvPr id="13" name="Text Box 5">
            <a:extLst>
              <a:ext uri="{FF2B5EF4-FFF2-40B4-BE49-F238E27FC236}">
                <a16:creationId xmlns:a16="http://schemas.microsoft.com/office/drawing/2014/main" id="{1F5532E1-93D2-49B4-88E9-EE896D9E6E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009980"/>
            <a:ext cx="245467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For example…</a:t>
            </a: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549E380C-256B-4730-8A40-C18E8D3C4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0" y="4653136"/>
            <a:ext cx="8139150" cy="101600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800" b="1" dirty="0">
                <a:solidFill>
                  <a:srgbClr val="FFFF00"/>
                </a:solidFill>
                <a:latin typeface="+mn-lt"/>
              </a:rPr>
              <a:t>Make script file by yourself,</a:t>
            </a:r>
          </a:p>
          <a:p>
            <a:pPr eaLnBrk="1" hangingPunct="1">
              <a:buFontTx/>
              <a:buNone/>
              <a:defRPr/>
            </a:pPr>
            <a:r>
              <a:rPr lang="en-US" altLang="ja-JP" sz="2800" b="1" dirty="0">
                <a:solidFill>
                  <a:srgbClr val="FFFF00"/>
                </a:solidFill>
                <a:latin typeface="+mn-lt"/>
              </a:rPr>
              <a:t>or use “autorun.bat” or “autorun.sh” with </a:t>
            </a:r>
            <a:r>
              <a:rPr lang="en-US" altLang="ja-JP" sz="2800" b="1" dirty="0" err="1">
                <a:solidFill>
                  <a:srgbClr val="FFFF00"/>
                </a:solidFill>
                <a:latin typeface="+mn-lt"/>
              </a:rPr>
              <a:t>icntl</a:t>
            </a:r>
            <a:r>
              <a:rPr lang="en-US" altLang="ja-JP" sz="2800" b="1" dirty="0">
                <a:solidFill>
                  <a:srgbClr val="FFFF00"/>
                </a:solidFill>
                <a:latin typeface="+mn-lt"/>
              </a:rPr>
              <a:t> =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3" name="Text Box 6">
            <a:extLst>
              <a:ext uri="{FF2B5EF4-FFF2-40B4-BE49-F238E27FC236}">
                <a16:creationId xmlns:a16="http://schemas.microsoft.com/office/drawing/2014/main" id="{73D6EE9C-C5BD-4DD8-8794-E61083B9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Contents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158235-822F-4C06-B9B2-CAF03985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117228"/>
            <a:ext cx="86868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kern="0" dirty="0">
                <a:solidFill>
                  <a:schemeClr val="tx1"/>
                </a:solidFill>
                <a:latin typeface="+mn-lt"/>
                <a:cs typeface="Arial" charset="0"/>
              </a:rPr>
              <a:t>Table of Contents</a:t>
            </a:r>
            <a:endParaRPr lang="ja-JP" altLang="en-US" sz="4800" kern="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3CA4A5-AB8F-4333-9D53-631216AC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833" y="2026816"/>
            <a:ext cx="5890332" cy="280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marL="432000" lvl="1" indent="-571500" eaLnBrk="1" hangingPunct="1">
              <a:buFont typeface="Wingdings" panose="05000000000000000000" pitchFamily="2" charset="2"/>
              <a:buChar char="ü"/>
              <a:defRPr/>
            </a:pPr>
            <a:endParaRPr lang="en-US" altLang="ja-JP" sz="3600" dirty="0">
              <a:solidFill>
                <a:srgbClr val="000000"/>
              </a:solidFill>
              <a:latin typeface="+mn-lt"/>
              <a:cs typeface="Arial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B0D7DE-DBB1-4080-96FC-90AF84878BC2}"/>
              </a:ext>
            </a:extLst>
          </p:cNvPr>
          <p:cNvSpPr txBox="1"/>
          <p:nvPr/>
        </p:nvSpPr>
        <p:spPr>
          <a:xfrm>
            <a:off x="1626833" y="1916832"/>
            <a:ext cx="568101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>
                <a:solidFill>
                  <a:srgbClr val="FF0000"/>
                </a:solidFill>
              </a:rPr>
              <a:t>Make your own script files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“autorun.bat/</a:t>
            </a:r>
            <a:r>
              <a:rPr kumimoji="1" lang="en-US" altLang="ja-JP" sz="3600" dirty="0" err="1"/>
              <a:t>sh</a:t>
            </a:r>
            <a:r>
              <a:rPr kumimoji="1" lang="en-US" altLang="ja-JP" sz="3600" dirty="0"/>
              <a:t>”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[</a:t>
            </a:r>
            <a:r>
              <a:rPr kumimoji="1" lang="en-US" altLang="ja-JP" sz="3600" dirty="0" err="1"/>
              <a:t>anatally</a:t>
            </a:r>
            <a:r>
              <a:rPr kumimoji="1" lang="en-US" altLang="ja-JP" sz="3600" dirty="0"/>
              <a:t>] and ANOVA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Summary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9368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786736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What is script file?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F0B379-C0B9-42E7-AAD2-065B5B7417FD}"/>
              </a:ext>
            </a:extLst>
          </p:cNvPr>
          <p:cNvSpPr txBox="1"/>
          <p:nvPr/>
        </p:nvSpPr>
        <p:spPr>
          <a:xfrm>
            <a:off x="1043608" y="855574"/>
            <a:ext cx="68407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eaLnBrk="1" hangingPunct="1">
              <a:buFontTx/>
              <a:buNone/>
              <a:defRPr/>
            </a:pPr>
            <a:r>
              <a:rPr lang="en-US" altLang="ja-JP" sz="2400" dirty="0">
                <a:cs typeface="Arial" pitchFamily="34" charset="0"/>
              </a:rPr>
              <a:t>A text file that consists of series of commands to be executed by command-line interpreter or terminal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FAB60EC-1933-487F-B2A6-74AE980284B8}"/>
              </a:ext>
            </a:extLst>
          </p:cNvPr>
          <p:cNvSpPr txBox="1"/>
          <p:nvPr/>
        </p:nvSpPr>
        <p:spPr>
          <a:xfrm>
            <a:off x="2123728" y="1675201"/>
            <a:ext cx="46805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Windows</a:t>
            </a:r>
            <a:r>
              <a:rPr lang="en-US" altLang="ja-JP" sz="2400" dirty="0">
                <a:cs typeface="Arial" pitchFamily="34" charset="0"/>
              </a:rPr>
              <a:t>: Batch file (*.bat)</a:t>
            </a:r>
          </a:p>
          <a:p>
            <a:pPr marL="342900" indent="-342900" eaLnBrk="1" hangingPunct="1"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*Mac/Linux</a:t>
            </a:r>
            <a:r>
              <a:rPr lang="en-US" altLang="ja-JP" sz="2400" dirty="0">
                <a:cs typeface="Arial" pitchFamily="34" charset="0"/>
              </a:rPr>
              <a:t>: Shell script (*.</a:t>
            </a:r>
            <a:r>
              <a:rPr lang="en-US" altLang="ja-JP" sz="2400" dirty="0" err="1">
                <a:cs typeface="Arial" pitchFamily="34" charset="0"/>
              </a:rPr>
              <a:t>sh</a:t>
            </a:r>
            <a:r>
              <a:rPr lang="en-US" altLang="ja-JP" sz="2400" dirty="0">
                <a:cs typeface="Arial" pitchFamily="34" charset="0"/>
              </a:rPr>
              <a:t>)</a:t>
            </a: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FC5C2F5F-3491-402E-AA1E-59C1CDDA47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567707"/>
            <a:ext cx="8530246" cy="504056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Grammars of batch file and shell script are similar but different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23652B3-1906-4059-9EB9-42A8A1EAB6D1}"/>
              </a:ext>
            </a:extLst>
          </p:cNvPr>
          <p:cNvSpPr txBox="1"/>
          <p:nvPr/>
        </p:nvSpPr>
        <p:spPr>
          <a:xfrm>
            <a:off x="214165" y="3220626"/>
            <a:ext cx="8604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FontTx/>
              <a:buNone/>
              <a:defRPr/>
            </a:pPr>
            <a:r>
              <a:rPr lang="en-US" altLang="ja-JP" sz="2400" dirty="0">
                <a:cs typeface="Arial" pitchFamily="34" charset="0"/>
              </a:rPr>
              <a:t>PHITS is executed by phits.bat or phits.sh in “</a:t>
            </a:r>
            <a:r>
              <a:rPr lang="en-US" altLang="ja-JP" sz="2400" dirty="0" err="1">
                <a:cs typeface="Arial" pitchFamily="34" charset="0"/>
              </a:rPr>
              <a:t>phits</a:t>
            </a:r>
            <a:r>
              <a:rPr lang="en-US" altLang="ja-JP" sz="2400" dirty="0">
                <a:cs typeface="Arial" pitchFamily="34" charset="0"/>
              </a:rPr>
              <a:t>/bin” folder</a:t>
            </a:r>
          </a:p>
        </p:txBody>
      </p:sp>
      <p:sp>
        <p:nvSpPr>
          <p:cNvPr id="14" name="Text Box 1031">
            <a:extLst>
              <a:ext uri="{FF2B5EF4-FFF2-40B4-BE49-F238E27FC236}">
                <a16:creationId xmlns:a16="http://schemas.microsoft.com/office/drawing/2014/main" id="{9EE4A080-6F98-45DC-80A2-55AF375BE0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3767749"/>
            <a:ext cx="4896544" cy="10088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@echo off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title PHITS: %1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set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PHITS_Single_EXE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="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C:\phits/bin/phits324_win.exe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 Box 1030">
            <a:extLst>
              <a:ext uri="{FF2B5EF4-FFF2-40B4-BE49-F238E27FC236}">
                <a16:creationId xmlns:a16="http://schemas.microsoft.com/office/drawing/2014/main" id="{C0B6FD7C-D7B9-425F-B98B-11C25D0154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767749"/>
            <a:ext cx="1167820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phits.bat</a:t>
            </a:r>
          </a:p>
        </p:txBody>
      </p:sp>
      <p:sp>
        <p:nvSpPr>
          <p:cNvPr id="16" name="Text Box 1030">
            <a:extLst>
              <a:ext uri="{FF2B5EF4-FFF2-40B4-BE49-F238E27FC236}">
                <a16:creationId xmlns:a16="http://schemas.microsoft.com/office/drawing/2014/main" id="{C85CEEE7-945B-4CFD-B81D-69C7F9D159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9406" y="4869160"/>
            <a:ext cx="1062022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phits.sh</a:t>
            </a:r>
          </a:p>
        </p:txBody>
      </p:sp>
      <p:sp>
        <p:nvSpPr>
          <p:cNvPr id="17" name="Text Box 1031">
            <a:extLst>
              <a:ext uri="{FF2B5EF4-FFF2-40B4-BE49-F238E27FC236}">
                <a16:creationId xmlns:a16="http://schemas.microsoft.com/office/drawing/2014/main" id="{0D6FC5BC-A9E0-41E3-A566-63E52D9E1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752" y="4869160"/>
            <a:ext cx="4896544" cy="10088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#!/bin/sh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OMP=1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# OMP = 0 -&gt; OpenMP with default OMP_NUM_THREADS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70CEC7-2376-445A-B7ED-8F9AAB48D8DD}"/>
              </a:ext>
            </a:extLst>
          </p:cNvPr>
          <p:cNvSpPr txBox="1"/>
          <p:nvPr/>
        </p:nvSpPr>
        <p:spPr>
          <a:xfrm>
            <a:off x="35496" y="5905033"/>
            <a:ext cx="914400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700" dirty="0">
                <a:solidFill>
                  <a:srgbClr val="FF0000"/>
                </a:solidFill>
              </a:rPr>
              <a:t>If you want to run a</a:t>
            </a:r>
            <a:r>
              <a:rPr lang="en-US" altLang="ja-JP" sz="1700" dirty="0">
                <a:solidFill>
                  <a:srgbClr val="FF0000"/>
                </a:solidFill>
              </a:rPr>
              <a:t> different</a:t>
            </a:r>
            <a:r>
              <a:rPr kumimoji="1" lang="en-US" altLang="ja-JP" sz="1700" dirty="0">
                <a:solidFill>
                  <a:srgbClr val="FF0000"/>
                </a:solidFill>
              </a:rPr>
              <a:t> version of PHITS, you must change the executable file name in the script</a:t>
            </a:r>
            <a:endParaRPr kumimoji="1" lang="ja-JP" altLang="en-US" sz="1700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5B64F28-3520-40FC-8312-00C1FFF5CA75}"/>
              </a:ext>
            </a:extLst>
          </p:cNvPr>
          <p:cNvSpPr txBox="1"/>
          <p:nvPr/>
        </p:nvSpPr>
        <p:spPr>
          <a:xfrm>
            <a:off x="1898179" y="6381173"/>
            <a:ext cx="6264696" cy="502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en-US" altLang="ja-JP" sz="1600" dirty="0"/>
              <a:t>*When you create a new shell script, you have to add executable status by “</a:t>
            </a:r>
            <a:r>
              <a:rPr lang="en-US" altLang="ja-JP" sz="1600" dirty="0" err="1"/>
              <a:t>chmod</a:t>
            </a:r>
            <a:r>
              <a:rPr lang="en-US" altLang="ja-JP" sz="1600" dirty="0"/>
              <a:t> </a:t>
            </a:r>
            <a:r>
              <a:rPr lang="en-US" altLang="ja-JP" sz="1600" dirty="0" err="1"/>
              <a:t>u+x</a:t>
            </a:r>
            <a:r>
              <a:rPr lang="en-US" altLang="ja-JP" sz="1600" dirty="0"/>
              <a:t> *.</a:t>
            </a:r>
            <a:r>
              <a:rPr lang="en-US" altLang="ja-JP" sz="1600" dirty="0" err="1"/>
              <a:t>sh</a:t>
            </a:r>
            <a:r>
              <a:rPr lang="en-US" altLang="ja-JP" sz="1600" dirty="0"/>
              <a:t>”</a:t>
            </a:r>
            <a:endParaRPr kumimoji="1" lang="ja-JP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1: Run a script file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F0B379-C0B9-42E7-AAD2-065B5B7417FD}"/>
              </a:ext>
            </a:extLst>
          </p:cNvPr>
          <p:cNvSpPr txBox="1"/>
          <p:nvPr/>
        </p:nvSpPr>
        <p:spPr>
          <a:xfrm>
            <a:off x="326358" y="939638"/>
            <a:ext cx="87615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Open “Explore” and move to “</a:t>
            </a:r>
            <a:r>
              <a:rPr lang="en-US" altLang="ja-JP" sz="2400" dirty="0" err="1">
                <a:cs typeface="Arial" pitchFamily="34" charset="0"/>
              </a:rPr>
              <a:t>phits</a:t>
            </a:r>
            <a:r>
              <a:rPr lang="en-US" altLang="ja-JP" sz="2400" dirty="0">
                <a:cs typeface="Arial" pitchFamily="34" charset="0"/>
              </a:rPr>
              <a:t>/utility/script/instruction”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Type “</a:t>
            </a:r>
            <a:r>
              <a:rPr lang="en-US" altLang="ja-JP" sz="2400" dirty="0" err="1">
                <a:cs typeface="Arial" pitchFamily="34" charset="0"/>
              </a:rPr>
              <a:t>cmd</a:t>
            </a:r>
            <a:r>
              <a:rPr lang="en-US" altLang="ja-JP" sz="2400" dirty="0">
                <a:cs typeface="Arial" pitchFamily="34" charset="0"/>
              </a:rPr>
              <a:t>” and press “enter” </a:t>
            </a:r>
            <a:r>
              <a:rPr lang="ja-JP" altLang="en-US" sz="2400" dirty="0">
                <a:solidFill>
                  <a:srgbClr val="FF0000"/>
                </a:solidFill>
                <a:cs typeface="Arial" pitchFamily="34" charset="0"/>
              </a:rPr>
              <a:t>→ </a:t>
            </a:r>
            <a:r>
              <a:rPr lang="en-US" altLang="ja-JP" sz="2400" dirty="0">
                <a:solidFill>
                  <a:srgbClr val="FF0000"/>
                </a:solidFill>
                <a:cs typeface="Arial" pitchFamily="34" charset="0"/>
              </a:rPr>
              <a:t>terminal window is opened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Type “eachrun.bat” in the terminal window and press “enter”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BCE3CD0-6466-4EF5-8F8F-B6DE0BAE57D3}"/>
              </a:ext>
            </a:extLst>
          </p:cNvPr>
          <p:cNvSpPr txBox="1"/>
          <p:nvPr/>
        </p:nvSpPr>
        <p:spPr>
          <a:xfrm>
            <a:off x="521804" y="3661076"/>
            <a:ext cx="83706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</a:t>
            </a:r>
            <a:r>
              <a:rPr kumimoji="1" lang="en-US" altLang="ja-JP" sz="1600" dirty="0"/>
              <a:t>Simply double-click “eachrun.bat” also works</a:t>
            </a:r>
            <a:r>
              <a:rPr lang="en-US" altLang="ja-JP" sz="1600" dirty="0"/>
              <a:t>, but terminal window disappears after the execution</a:t>
            </a:r>
            <a:endParaRPr kumimoji="1" lang="ja-JP" altLang="en-US" sz="16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FB8B08D-6C47-4DFA-872C-D831B93E18E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5065" t="22001" r="23225" b="58332"/>
          <a:stretch/>
        </p:blipFill>
        <p:spPr>
          <a:xfrm>
            <a:off x="1552166" y="2086284"/>
            <a:ext cx="6039667" cy="153888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F96C69E-3587-4E5B-B80E-6229743C01DB}"/>
              </a:ext>
            </a:extLst>
          </p:cNvPr>
          <p:cNvSpPr/>
          <p:nvPr/>
        </p:nvSpPr>
        <p:spPr>
          <a:xfrm>
            <a:off x="2339752" y="2648925"/>
            <a:ext cx="504056" cy="1678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B8A57D5-342B-41F2-B86D-C7C0D22568C4}"/>
              </a:ext>
            </a:extLst>
          </p:cNvPr>
          <p:cNvSpPr txBox="1"/>
          <p:nvPr/>
        </p:nvSpPr>
        <p:spPr>
          <a:xfrm>
            <a:off x="3150096" y="2229910"/>
            <a:ext cx="1925960" cy="307777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Type “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cmd</a:t>
            </a:r>
            <a:r>
              <a:rPr kumimoji="1" lang="en-US" altLang="ja-JP" sz="2000" dirty="0">
                <a:solidFill>
                  <a:srgbClr val="FF0000"/>
                </a:solidFill>
              </a:rPr>
              <a:t>” here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640797E1-AFEA-4F63-B1D9-DB90E099701A}"/>
              </a:ext>
            </a:extLst>
          </p:cNvPr>
          <p:cNvCxnSpPr>
            <a:cxnSpLocks/>
            <a:stCxn id="19" idx="2"/>
            <a:endCxn id="5" idx="3"/>
          </p:cNvCxnSpPr>
          <p:nvPr/>
        </p:nvCxnSpPr>
        <p:spPr>
          <a:xfrm rot="5400000">
            <a:off x="3380864" y="2000631"/>
            <a:ext cx="195156" cy="1269268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374161" y="4409243"/>
            <a:ext cx="855099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Open “Terminal” and move to “</a:t>
            </a:r>
            <a:r>
              <a:rPr lang="en-US" altLang="ja-JP" sz="2400" dirty="0" err="1">
                <a:cs typeface="Arial" pitchFamily="34" charset="0"/>
              </a:rPr>
              <a:t>phits</a:t>
            </a:r>
            <a:r>
              <a:rPr lang="en-US" altLang="ja-JP" sz="2400" dirty="0">
                <a:cs typeface="Arial" pitchFamily="34" charset="0"/>
              </a:rPr>
              <a:t>/utility/script/instruction”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Type “./eachrun.sh” or “eachrun.sh”</a:t>
            </a:r>
            <a:endParaRPr lang="en-US" altLang="ja-JP" sz="2400" dirty="0">
              <a:solidFill>
                <a:srgbClr val="FF0000"/>
              </a:solidFill>
              <a:cs typeface="Arial" pitchFamily="34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400" dirty="0">
                <a:cs typeface="Arial" pitchFamily="34" charset="0"/>
              </a:rPr>
              <a:t>If you encounter “command not found”, type “</a:t>
            </a:r>
            <a:r>
              <a:rPr lang="en-US" altLang="ja-JP" sz="2400" dirty="0" err="1">
                <a:cs typeface="Arial" pitchFamily="34" charset="0"/>
              </a:rPr>
              <a:t>chmod</a:t>
            </a:r>
            <a:r>
              <a:rPr lang="en-US" altLang="ja-JP" sz="2400" dirty="0">
                <a:cs typeface="Arial" pitchFamily="34" charset="0"/>
              </a:rPr>
              <a:t> </a:t>
            </a:r>
            <a:r>
              <a:rPr lang="en-US" altLang="ja-JP" sz="2400" dirty="0" err="1">
                <a:cs typeface="Arial" pitchFamily="34" charset="0"/>
              </a:rPr>
              <a:t>u+x</a:t>
            </a:r>
            <a:r>
              <a:rPr lang="en-US" altLang="ja-JP" sz="2400" dirty="0">
                <a:cs typeface="Arial" pitchFamily="34" charset="0"/>
              </a:rPr>
              <a:t> *.</a:t>
            </a:r>
            <a:r>
              <a:rPr lang="en-US" altLang="ja-JP" sz="2400" dirty="0" err="1">
                <a:cs typeface="Arial" pitchFamily="34" charset="0"/>
              </a:rPr>
              <a:t>sh</a:t>
            </a:r>
            <a:r>
              <a:rPr lang="en-US" altLang="ja-JP" sz="2400" dirty="0">
                <a:cs typeface="Arial" pitchFamily="34" charset="0"/>
              </a:rPr>
              <a:t>” to add executable status for all .</a:t>
            </a:r>
            <a:r>
              <a:rPr lang="en-US" altLang="ja-JP" sz="2400" dirty="0" err="1">
                <a:cs typeface="Arial" pitchFamily="34" charset="0"/>
              </a:rPr>
              <a:t>sh</a:t>
            </a:r>
            <a:r>
              <a:rPr lang="en-US" altLang="ja-JP" sz="2400" dirty="0">
                <a:cs typeface="Arial" pitchFamily="34" charset="0"/>
              </a:rPr>
              <a:t> files and try again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743F80F-66DC-4719-B692-A3AB1CF50A4F}"/>
              </a:ext>
            </a:extLst>
          </p:cNvPr>
          <p:cNvSpPr txBox="1"/>
          <p:nvPr/>
        </p:nvSpPr>
        <p:spPr>
          <a:xfrm>
            <a:off x="1023640" y="5908454"/>
            <a:ext cx="7367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ja-JP" sz="2400" dirty="0">
                <a:solidFill>
                  <a:srgbClr val="FF0000"/>
                </a:solidFill>
                <a:cs typeface="Arial" pitchFamily="34" charset="0"/>
              </a:rPr>
              <a:t>To repeat the same command, press “↑” and “enter”*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A36CB1-364B-4F8A-8635-E0D858F3D898}"/>
              </a:ext>
            </a:extLst>
          </p:cNvPr>
          <p:cNvSpPr txBox="1"/>
          <p:nvPr/>
        </p:nvSpPr>
        <p:spPr>
          <a:xfrm>
            <a:off x="1979711" y="6419103"/>
            <a:ext cx="56121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</a:t>
            </a:r>
            <a:r>
              <a:rPr kumimoji="1" lang="en-US" altLang="ja-JP" sz="1600" dirty="0"/>
              <a:t>If you press </a:t>
            </a:r>
            <a:r>
              <a:rPr lang="en-US" altLang="ja-JP" sz="1600" dirty="0">
                <a:cs typeface="Arial" pitchFamily="34" charset="0"/>
              </a:rPr>
              <a:t>“↑” twice, you can go back two-previous command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A2CB5CE6-3677-4C5B-8F65-E0E0C413CDDB}"/>
              </a:ext>
            </a:extLst>
          </p:cNvPr>
          <p:cNvSpPr/>
          <p:nvPr/>
        </p:nvSpPr>
        <p:spPr>
          <a:xfrm>
            <a:off x="179511" y="4244157"/>
            <a:ext cx="8816845" cy="1734745"/>
          </a:xfrm>
          <a:prstGeom prst="roundRect">
            <a:avLst>
              <a:gd name="adj" fmla="val 23183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285BDE44-61D3-40B5-A692-CBD9C2EF4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161" y="4005442"/>
            <a:ext cx="883128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Mac</a:t>
            </a:r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8E6B6856-210F-4013-8179-A41DFFEDF427}"/>
              </a:ext>
            </a:extLst>
          </p:cNvPr>
          <p:cNvSpPr/>
          <p:nvPr/>
        </p:nvSpPr>
        <p:spPr>
          <a:xfrm>
            <a:off x="179512" y="836712"/>
            <a:ext cx="8816845" cy="3198827"/>
          </a:xfrm>
          <a:prstGeom prst="roundRect">
            <a:avLst>
              <a:gd name="adj" fmla="val 9324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Text Box 5">
            <a:extLst>
              <a:ext uri="{FF2B5EF4-FFF2-40B4-BE49-F238E27FC236}">
                <a16:creationId xmlns:a16="http://schemas.microsoft.com/office/drawing/2014/main" id="{7650BF34-FC69-473E-9798-F04560962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532" y="567075"/>
            <a:ext cx="1656184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36000" tIns="36000" rIns="36000" bIns="3600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Windows</a:t>
            </a:r>
          </a:p>
        </p:txBody>
      </p:sp>
    </p:spTree>
    <p:extLst>
      <p:ext uri="{BB962C8B-B14F-4D97-AF65-F5344CB8AC3E}">
        <p14:creationId xmlns:p14="http://schemas.microsoft.com/office/powerpoint/2010/main" val="1530016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786736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What is written in eachrun.bat?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401543" y="2592466"/>
            <a:ext cx="837067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1</a:t>
            </a:r>
            <a:r>
              <a:rPr lang="en-US" altLang="ja-JP" sz="2000" baseline="30000" dirty="0">
                <a:solidFill>
                  <a:schemeClr val="accent2"/>
                </a:solidFill>
                <a:cs typeface="Arial" pitchFamily="34" charset="0"/>
              </a:rPr>
              <a:t>st</a:t>
            </a: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 line</a:t>
            </a:r>
            <a:r>
              <a:rPr lang="en-US" altLang="ja-JP" sz="2000" dirty="0">
                <a:cs typeface="Arial" pitchFamily="34" charset="0"/>
              </a:rPr>
              <a:t>: write “PHITS simulation using eachrun.bat” in the terminal</a:t>
            </a:r>
          </a:p>
          <a:p>
            <a:pPr eaLnBrk="1" hangingPunct="1">
              <a:defRPr/>
            </a:pP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2</a:t>
            </a:r>
            <a:r>
              <a:rPr lang="en-US" altLang="ja-JP" sz="2000" baseline="30000" dirty="0">
                <a:solidFill>
                  <a:schemeClr val="accent2"/>
                </a:solidFill>
                <a:cs typeface="Arial" pitchFamily="34" charset="0"/>
              </a:rPr>
              <a:t>nd</a:t>
            </a: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 line</a:t>
            </a:r>
            <a:r>
              <a:rPr lang="en-US" altLang="ja-JP" sz="2000" dirty="0">
                <a:cs typeface="Arial" pitchFamily="34" charset="0"/>
              </a:rPr>
              <a:t>: write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set:c1[2.3]</a:t>
            </a:r>
            <a:r>
              <a:rPr lang="en-US" altLang="ja-JP" sz="2000" dirty="0">
                <a:cs typeface="Arial" pitchFamily="34" charset="0"/>
              </a:rPr>
              <a:t>” into a file named “</a:t>
            </a:r>
            <a:r>
              <a:rPr lang="en-US" altLang="ja-JP" sz="2000" dirty="0" err="1">
                <a:solidFill>
                  <a:srgbClr val="FF0000"/>
                </a:solidFill>
                <a:cs typeface="Arial" pitchFamily="34" charset="0"/>
              </a:rPr>
              <a:t>density.inp</a:t>
            </a:r>
            <a:r>
              <a:rPr lang="en-US" altLang="ja-JP" sz="2000" dirty="0">
                <a:cs typeface="Arial" pitchFamily="34" charset="0"/>
              </a:rPr>
              <a:t>”</a:t>
            </a:r>
          </a:p>
          <a:p>
            <a:pPr eaLnBrk="1" hangingPunct="1">
              <a:defRPr/>
            </a:pP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3</a:t>
            </a:r>
            <a:r>
              <a:rPr lang="en-US" altLang="ja-JP" sz="2000" baseline="30000" dirty="0">
                <a:solidFill>
                  <a:schemeClr val="accent2"/>
                </a:solidFill>
                <a:cs typeface="Arial" pitchFamily="34" charset="0"/>
              </a:rPr>
              <a:t>rd</a:t>
            </a:r>
            <a:r>
              <a:rPr lang="en-US" altLang="ja-JP" sz="2000" dirty="0">
                <a:solidFill>
                  <a:schemeClr val="accent2"/>
                </a:solidFill>
                <a:cs typeface="Arial" pitchFamily="34" charset="0"/>
              </a:rPr>
              <a:t> line</a:t>
            </a:r>
            <a:r>
              <a:rPr lang="en-US" altLang="ja-JP" sz="2000" dirty="0">
                <a:cs typeface="Arial" pitchFamily="34" charset="0"/>
              </a:rPr>
              <a:t>: execute PHITS with “</a:t>
            </a:r>
            <a:r>
              <a:rPr lang="en-US" altLang="ja-JP" sz="2000" dirty="0" err="1">
                <a:cs typeface="Arial" pitchFamily="34" charset="0"/>
              </a:rPr>
              <a:t>phits.inp</a:t>
            </a:r>
            <a:r>
              <a:rPr lang="en-US" altLang="ja-JP" sz="2000" dirty="0">
                <a:cs typeface="Arial" pitchFamily="34" charset="0"/>
              </a:rPr>
              <a:t>”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743F80F-66DC-4719-B692-A3AB1CF50A4F}"/>
              </a:ext>
            </a:extLst>
          </p:cNvPr>
          <p:cNvSpPr txBox="1"/>
          <p:nvPr/>
        </p:nvSpPr>
        <p:spPr>
          <a:xfrm>
            <a:off x="396677" y="4024596"/>
            <a:ext cx="388729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000" indent="-2880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echo</a:t>
            </a:r>
            <a:r>
              <a:rPr lang="en-US" altLang="ja-JP" sz="2000" dirty="0">
                <a:cs typeface="Arial" pitchFamily="34" charset="0"/>
              </a:rPr>
              <a:t>” means write the following message</a:t>
            </a:r>
          </a:p>
          <a:p>
            <a:pPr marL="288000" indent="-2880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&gt;</a:t>
            </a:r>
            <a:r>
              <a:rPr lang="en-US" altLang="ja-JP" sz="2000" dirty="0">
                <a:cs typeface="Arial" pitchFamily="34" charset="0"/>
              </a:rPr>
              <a:t>” means “to the following file” (Overwrite if the file exists)</a:t>
            </a:r>
          </a:p>
          <a:p>
            <a:pPr marL="288000" indent="-2880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call</a:t>
            </a:r>
            <a:r>
              <a:rPr lang="en-US" altLang="ja-JP" sz="2000" dirty="0">
                <a:cs typeface="Arial" pitchFamily="34" charset="0"/>
              </a:rPr>
              <a:t>” is necessary for running another batch script in a batch script</a:t>
            </a:r>
          </a:p>
        </p:txBody>
      </p:sp>
      <p:sp>
        <p:nvSpPr>
          <p:cNvPr id="15" name="Text Box 1031">
            <a:extLst>
              <a:ext uri="{FF2B5EF4-FFF2-40B4-BE49-F238E27FC236}">
                <a16:creationId xmlns:a16="http://schemas.microsoft.com/office/drawing/2014/main" id="{63541968-CFEF-47E9-820F-AEF92CB56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791" y="1270528"/>
            <a:ext cx="3472475" cy="8121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eachrun.bat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set:c1[2.3]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call phits.bat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 Box 1030">
            <a:extLst>
              <a:ext uri="{FF2B5EF4-FFF2-40B4-BE49-F238E27FC236}">
                <a16:creationId xmlns:a16="http://schemas.microsoft.com/office/drawing/2014/main" id="{17952ABC-90DF-4DF6-A1F9-9A624D42A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795260"/>
            <a:ext cx="1532792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eachrun.bat</a:t>
            </a:r>
          </a:p>
        </p:txBody>
      </p:sp>
      <p:sp>
        <p:nvSpPr>
          <p:cNvPr id="17" name="Text Box 1031">
            <a:extLst>
              <a:ext uri="{FF2B5EF4-FFF2-40B4-BE49-F238E27FC236}">
                <a16:creationId xmlns:a16="http://schemas.microsoft.com/office/drawing/2014/main" id="{99982F8A-A88A-4E0A-BA98-C018AD9A74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941" y="1270529"/>
            <a:ext cx="3472475" cy="81211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set:c1[2.3]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phits.sh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0" name="Text Box 1030">
            <a:extLst>
              <a:ext uri="{FF2B5EF4-FFF2-40B4-BE49-F238E27FC236}">
                <a16:creationId xmlns:a16="http://schemas.microsoft.com/office/drawing/2014/main" id="{D2673FEF-AD82-4772-9ACB-51F2EF594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9732" y="808400"/>
            <a:ext cx="142699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eachrun.sh</a:t>
            </a:r>
          </a:p>
        </p:txBody>
      </p:sp>
      <p:sp>
        <p:nvSpPr>
          <p:cNvPr id="21" name="Text Box 5">
            <a:extLst>
              <a:ext uri="{FF2B5EF4-FFF2-40B4-BE49-F238E27FC236}">
                <a16:creationId xmlns:a16="http://schemas.microsoft.com/office/drawing/2014/main" id="{C0FDE5DD-B805-4AFF-B90D-8DEB5A908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39" y="2206155"/>
            <a:ext cx="2540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Role of each line</a:t>
            </a:r>
          </a:p>
        </p:txBody>
      </p:sp>
      <p:sp>
        <p:nvSpPr>
          <p:cNvPr id="22" name="Text Box 5">
            <a:extLst>
              <a:ext uri="{FF2B5EF4-FFF2-40B4-BE49-F238E27FC236}">
                <a16:creationId xmlns:a16="http://schemas.microsoft.com/office/drawing/2014/main" id="{9431E8BC-AF63-4645-AE97-99B976B7C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39" y="3656285"/>
            <a:ext cx="29026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Important notices</a:t>
            </a:r>
          </a:p>
        </p:txBody>
      </p:sp>
      <p:sp>
        <p:nvSpPr>
          <p:cNvPr id="37" name="Text Box 5">
            <a:extLst>
              <a:ext uri="{FF2B5EF4-FFF2-40B4-BE49-F238E27FC236}">
                <a16:creationId xmlns:a16="http://schemas.microsoft.com/office/drawing/2014/main" id="{6DCDF613-161D-4DF1-B70D-757492A3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2122" y="5883120"/>
            <a:ext cx="37444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000" dirty="0">
                <a:solidFill>
                  <a:schemeClr val="accent2"/>
                </a:solidFill>
                <a:latin typeface="Tahoma" panose="020B0604030504040204" pitchFamily="34" charset="0"/>
              </a:rPr>
              <a:t>Example of terminal Window</a:t>
            </a:r>
          </a:p>
        </p:txBody>
      </p:sp>
      <p:pic>
        <p:nvPicPr>
          <p:cNvPr id="41992" name="図 41991">
            <a:extLst>
              <a:ext uri="{FF2B5EF4-FFF2-40B4-BE49-F238E27FC236}">
                <a16:creationId xmlns:a16="http://schemas.microsoft.com/office/drawing/2014/main" id="{63EBFFC3-1B27-40C6-A28E-6A57A1F041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6613" b="58569"/>
          <a:stretch/>
        </p:blipFill>
        <p:spPr>
          <a:xfrm>
            <a:off x="4283968" y="4293096"/>
            <a:ext cx="4748945" cy="1622336"/>
          </a:xfrm>
          <a:prstGeom prst="rect">
            <a:avLst/>
          </a:prstGeom>
        </p:spPr>
      </p:pic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B8A9CB1-B38D-4924-BC70-D8BBAE46F520}"/>
              </a:ext>
            </a:extLst>
          </p:cNvPr>
          <p:cNvSpPr txBox="1"/>
          <p:nvPr/>
        </p:nvSpPr>
        <p:spPr>
          <a:xfrm>
            <a:off x="1882834" y="6431122"/>
            <a:ext cx="67216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*To see a batch file, right click the file and “open with” a text editor or “Edit”</a:t>
            </a:r>
            <a:endParaRPr kumimoji="1" lang="ja-JP" altLang="en-US" sz="16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6812DC9-EEAF-4DEC-8CA9-3BCC82E1B88C}"/>
              </a:ext>
            </a:extLst>
          </p:cNvPr>
          <p:cNvSpPr txBox="1"/>
          <p:nvPr/>
        </p:nvSpPr>
        <p:spPr>
          <a:xfrm>
            <a:off x="1836005" y="762110"/>
            <a:ext cx="343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608704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786736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 err="1">
                <a:latin typeface="+mn-lt"/>
                <a:cs typeface="Arial" charset="0"/>
              </a:rPr>
              <a:t>phits.inp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37" name="Text Box 5">
            <a:extLst>
              <a:ext uri="{FF2B5EF4-FFF2-40B4-BE49-F238E27FC236}">
                <a16:creationId xmlns:a16="http://schemas.microsoft.com/office/drawing/2014/main" id="{6DCDF613-161D-4DF1-B70D-757492A3F4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743967"/>
            <a:ext cx="18121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Basic setup</a:t>
            </a:r>
          </a:p>
        </p:txBody>
      </p:sp>
      <p:sp>
        <p:nvSpPr>
          <p:cNvPr id="19" name="正方形/長方形 1">
            <a:extLst>
              <a:ext uri="{FF2B5EF4-FFF2-40B4-BE49-F238E27FC236}">
                <a16:creationId xmlns:a16="http://schemas.microsoft.com/office/drawing/2014/main" id="{B8CE9EF1-D66C-435E-BA99-7D8C54D72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664" y="1105287"/>
            <a:ext cx="7451006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20 MeV neutron at (0,0,-10) going to +z-axis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Cylindrical concrete with thickness of 50 cm and radius of 10 cm </a:t>
            </a:r>
          </a:p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[t-track] for calculating the effective dose using multiplier function</a:t>
            </a:r>
          </a:p>
        </p:txBody>
      </p:sp>
      <p:sp>
        <p:nvSpPr>
          <p:cNvPr id="23" name="正方形/長方形 1">
            <a:extLst>
              <a:ext uri="{FF2B5EF4-FFF2-40B4-BE49-F238E27FC236}">
                <a16:creationId xmlns:a16="http://schemas.microsoft.com/office/drawing/2014/main" id="{CDD3430B-0CCE-43DB-A2E5-424FD5671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87" y="1105287"/>
            <a:ext cx="1584399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r"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Source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ja-JP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Geometry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ja-JP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Tally</a:t>
            </a:r>
            <a:r>
              <a:rPr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：</a:t>
            </a:r>
            <a:endParaRPr lang="en-US" altLang="ja-JP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Box 5">
            <a:extLst>
              <a:ext uri="{FF2B5EF4-FFF2-40B4-BE49-F238E27FC236}">
                <a16:creationId xmlns:a16="http://schemas.microsoft.com/office/drawing/2014/main" id="{686772A5-210D-4BF9-9BF0-82DF5E800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304905"/>
            <a:ext cx="241176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Important point</a:t>
            </a:r>
          </a:p>
        </p:txBody>
      </p:sp>
      <p:sp>
        <p:nvSpPr>
          <p:cNvPr id="26" name="正方形/長方形 1">
            <a:extLst>
              <a:ext uri="{FF2B5EF4-FFF2-40B4-BE49-F238E27FC236}">
                <a16:creationId xmlns:a16="http://schemas.microsoft.com/office/drawing/2014/main" id="{02AE48F6-2191-467B-B5E0-3BB89F53A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2796637"/>
            <a:ext cx="813690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ts val="600"/>
              </a:spcBef>
              <a:buFontTx/>
              <a:buNone/>
            </a:pP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Density of concrete is specified by </a:t>
            </a:r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–c1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, which is defined in </a:t>
            </a:r>
            <a:r>
              <a:rPr lang="en-US" altLang="ja-JP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density.inp</a:t>
            </a:r>
            <a:endParaRPr lang="en-US" altLang="ja-JP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A56BA9F-CFAE-4BE8-B0DA-277AD1F4DB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6" t="1807" r="3086" b="1807"/>
          <a:stretch/>
        </p:blipFill>
        <p:spPr>
          <a:xfrm>
            <a:off x="5004048" y="3284984"/>
            <a:ext cx="3040224" cy="2660478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BE31DA6-F497-428E-A850-C8DBDCA1596F}"/>
              </a:ext>
            </a:extLst>
          </p:cNvPr>
          <p:cNvSpPr txBox="1"/>
          <p:nvPr/>
        </p:nvSpPr>
        <p:spPr>
          <a:xfrm>
            <a:off x="6012160" y="5857225"/>
            <a:ext cx="1858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track_rz.eps</a:t>
            </a:r>
            <a:endParaRPr lang="ja-JP" altLang="en-US" dirty="0">
              <a:solidFill>
                <a:schemeClr val="accent2"/>
              </a:solidFill>
            </a:endParaRPr>
          </a:p>
        </p:txBody>
      </p:sp>
      <p:sp>
        <p:nvSpPr>
          <p:cNvPr id="29" name="Text Box 1031">
            <a:extLst>
              <a:ext uri="{FF2B5EF4-FFF2-40B4-BE49-F238E27FC236}">
                <a16:creationId xmlns:a16="http://schemas.microsoft.com/office/drawing/2014/main" id="{1A2281E0-4E18-4C52-B551-0C72AA88D1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602" y="3992245"/>
            <a:ext cx="2407047" cy="148886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[ Cell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infl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:{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density.inp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1     1 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-c1  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-10  101  -102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100    0      -999  #1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101   -1       999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0" name="Text Box 1030">
            <a:extLst>
              <a:ext uri="{FF2B5EF4-FFF2-40B4-BE49-F238E27FC236}">
                <a16:creationId xmlns:a16="http://schemas.microsoft.com/office/drawing/2014/main" id="{4D24ECCB-FBB4-4594-A608-AA02CF12E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506" y="3409088"/>
            <a:ext cx="114858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6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2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1094561" y="1237566"/>
            <a:ext cx="72905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Open eachrun.bat/</a:t>
            </a:r>
            <a:r>
              <a:rPr lang="en-US" altLang="ja-JP" sz="2000" dirty="0" err="1">
                <a:cs typeface="Arial" pitchFamily="34" charset="0"/>
              </a:rPr>
              <a:t>sh</a:t>
            </a:r>
            <a:r>
              <a:rPr lang="en-US" altLang="ja-JP" sz="2000" dirty="0">
                <a:cs typeface="Arial" pitchFamily="34" charset="0"/>
              </a:rPr>
              <a:t> with text editor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Change c1 parameter written in </a:t>
            </a:r>
            <a:r>
              <a:rPr lang="en-US" altLang="ja-JP" sz="2000" dirty="0" err="1">
                <a:cs typeface="Arial" pitchFamily="34" charset="0"/>
              </a:rPr>
              <a:t>density.inp</a:t>
            </a:r>
            <a:r>
              <a:rPr lang="en-US" altLang="ja-JP" sz="2000" dirty="0">
                <a:cs typeface="Arial" pitchFamily="34" charset="0"/>
              </a:rPr>
              <a:t> from 2.0 to 2.3</a:t>
            </a:r>
            <a:endParaRPr lang="en-US" altLang="ja-JP" sz="2000" baseline="30000" dirty="0">
              <a:cs typeface="Arial" pitchFamily="34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Save eachrun.bat/</a:t>
            </a:r>
            <a:r>
              <a:rPr lang="en-US" altLang="ja-JP" sz="2000" dirty="0" err="1">
                <a:cs typeface="Arial" pitchFamily="34" charset="0"/>
              </a:rPr>
              <a:t>sh</a:t>
            </a:r>
            <a:endParaRPr lang="en-US" altLang="ja-JP" sz="2000" dirty="0">
              <a:cs typeface="Arial" pitchFamily="34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Execute eachrun.bat/</a:t>
            </a:r>
            <a:r>
              <a:rPr lang="en-US" altLang="ja-JP" sz="2000" dirty="0" err="1">
                <a:cs typeface="Arial" pitchFamily="34" charset="0"/>
              </a:rPr>
              <a:t>sh</a:t>
            </a:r>
            <a:r>
              <a:rPr lang="en-US" altLang="ja-JP" sz="2000" dirty="0">
                <a:cs typeface="Arial" pitchFamily="34" charset="0"/>
              </a:rPr>
              <a:t> (Press “↑” and “enter” in the terminal)</a:t>
            </a:r>
          </a:p>
        </p:txBody>
      </p:sp>
      <p:sp>
        <p:nvSpPr>
          <p:cNvPr id="15" name="テキスト ボックス 20">
            <a:extLst>
              <a:ext uri="{FF2B5EF4-FFF2-40B4-BE49-F238E27FC236}">
                <a16:creationId xmlns:a16="http://schemas.microsoft.com/office/drawing/2014/main" id="{E0EA440A-054C-40E3-839B-04C7E7A1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413" y="711616"/>
            <a:ext cx="7166857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Change the concrete density from 2.0 g/cm</a:t>
            </a:r>
            <a:r>
              <a:rPr lang="en-US" altLang="ja-JP" sz="2400" baseline="30000" dirty="0"/>
              <a:t>3  </a:t>
            </a:r>
            <a:r>
              <a:rPr lang="en-US" altLang="ja-JP" sz="2400" dirty="0"/>
              <a:t>to 2.3 g/cm</a:t>
            </a:r>
            <a:r>
              <a:rPr lang="en-US" altLang="ja-JP" sz="2400" baseline="30000" dirty="0"/>
              <a:t>3</a:t>
            </a:r>
            <a:endParaRPr lang="ja-JP" altLang="en-US" sz="2400" baseline="30000" dirty="0"/>
          </a:p>
        </p:txBody>
      </p:sp>
      <p:sp>
        <p:nvSpPr>
          <p:cNvPr id="16" name="Text Box 1031">
            <a:extLst>
              <a:ext uri="{FF2B5EF4-FFF2-40B4-BE49-F238E27FC236}">
                <a16:creationId xmlns:a16="http://schemas.microsoft.com/office/drawing/2014/main" id="{06805BFF-1B24-49A2-87C0-7BC0147E4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219471"/>
            <a:ext cx="3472475" cy="7855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eachrun.bat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2.3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call phits.bat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 Box 1030">
            <a:extLst>
              <a:ext uri="{FF2B5EF4-FFF2-40B4-BE49-F238E27FC236}">
                <a16:creationId xmlns:a16="http://schemas.microsoft.com/office/drawing/2014/main" id="{B814D34F-EE84-4178-BDBC-D60D6937D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81" y="2744202"/>
            <a:ext cx="1532792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eachrun.bat</a:t>
            </a:r>
          </a:p>
        </p:txBody>
      </p:sp>
      <p:sp>
        <p:nvSpPr>
          <p:cNvPr id="20" name="Text Box 1031">
            <a:extLst>
              <a:ext uri="{FF2B5EF4-FFF2-40B4-BE49-F238E27FC236}">
                <a16:creationId xmlns:a16="http://schemas.microsoft.com/office/drawing/2014/main" id="{C1E4F722-6723-4E7A-B7D9-F306A1E9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4996018"/>
            <a:ext cx="3472475" cy="7855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2.3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phits.sh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 Box 1030">
            <a:extLst>
              <a:ext uri="{FF2B5EF4-FFF2-40B4-BE49-F238E27FC236}">
                <a16:creationId xmlns:a16="http://schemas.microsoft.com/office/drawing/2014/main" id="{771A8B2C-8ADE-425D-99E3-5A7F5E86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35" y="4533889"/>
            <a:ext cx="142699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eachrun.sh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638B4A6-421B-4E49-9A11-D3F4242ABFAD}"/>
              </a:ext>
            </a:extLst>
          </p:cNvPr>
          <p:cNvSpPr txBox="1"/>
          <p:nvPr/>
        </p:nvSpPr>
        <p:spPr>
          <a:xfrm>
            <a:off x="1771758" y="2711052"/>
            <a:ext cx="3438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</a:t>
            </a:r>
            <a:endParaRPr kumimoji="1" lang="ja-JP" altLang="en-US" sz="16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8A9383-AE32-4EC3-9E5A-6BEA098425D2}"/>
              </a:ext>
            </a:extLst>
          </p:cNvPr>
          <p:cNvSpPr txBox="1"/>
          <p:nvPr/>
        </p:nvSpPr>
        <p:spPr>
          <a:xfrm>
            <a:off x="2015032" y="6427776"/>
            <a:ext cx="613656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600" dirty="0"/>
              <a:t>*To see a batch file, right click the file and “open with” a text editor</a:t>
            </a:r>
            <a:endParaRPr kumimoji="1" lang="ja-JP" altLang="en-US" sz="1600" dirty="0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34591898-9732-487D-BF58-74E9D9BC5D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6" t="1807" r="3086" b="1807"/>
          <a:stretch/>
        </p:blipFill>
        <p:spPr>
          <a:xfrm>
            <a:off x="5203983" y="3076915"/>
            <a:ext cx="3040224" cy="266047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86249AB-B7FA-43FE-BF14-E21D70B2F2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1" t="3141" r="2745" b="3141"/>
          <a:stretch/>
        </p:blipFill>
        <p:spPr>
          <a:xfrm>
            <a:off x="5215268" y="3092919"/>
            <a:ext cx="3054388" cy="2652229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6FD1BA4-E257-48CD-AAF5-83F368503081}"/>
              </a:ext>
            </a:extLst>
          </p:cNvPr>
          <p:cNvSpPr txBox="1"/>
          <p:nvPr/>
        </p:nvSpPr>
        <p:spPr>
          <a:xfrm>
            <a:off x="6012160" y="5822025"/>
            <a:ext cx="1858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track_rz.eps</a:t>
            </a:r>
            <a:endParaRPr lang="ja-JP" altLang="en-US" dirty="0">
              <a:solidFill>
                <a:schemeClr val="accent2"/>
              </a:solidFill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1A62B72-8AC7-40A1-B2E0-497D3F2BEFF4}"/>
              </a:ext>
            </a:extLst>
          </p:cNvPr>
          <p:cNvGrpSpPr/>
          <p:nvPr/>
        </p:nvGrpSpPr>
        <p:grpSpPr>
          <a:xfrm>
            <a:off x="6293816" y="4094772"/>
            <a:ext cx="1961676" cy="979414"/>
            <a:chOff x="6293816" y="4094772"/>
            <a:chExt cx="1961676" cy="979414"/>
          </a:xfrm>
        </p:grpSpPr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FF8DBBA-D4B7-4F7C-BF7A-AFD91C939186}"/>
                </a:ext>
              </a:extLst>
            </p:cNvPr>
            <p:cNvSpPr txBox="1"/>
            <p:nvPr/>
          </p:nvSpPr>
          <p:spPr>
            <a:xfrm>
              <a:off x="6293816" y="4704854"/>
              <a:ext cx="19616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slightly increased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E6365CD-A42D-4D1E-85C0-6654138990FB}"/>
                </a:ext>
              </a:extLst>
            </p:cNvPr>
            <p:cNvSpPr txBox="1"/>
            <p:nvPr/>
          </p:nvSpPr>
          <p:spPr>
            <a:xfrm>
              <a:off x="7735984" y="4447114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↑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983D9E8A-9AF9-4BBF-9EBA-AF31EB78775B}"/>
                </a:ext>
              </a:extLst>
            </p:cNvPr>
            <p:cNvSpPr txBox="1"/>
            <p:nvPr/>
          </p:nvSpPr>
          <p:spPr>
            <a:xfrm>
              <a:off x="7452320" y="4295499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↑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D9DDC39-EE50-4AE3-AE40-7691B84D1382}"/>
                </a:ext>
              </a:extLst>
            </p:cNvPr>
            <p:cNvSpPr txBox="1"/>
            <p:nvPr/>
          </p:nvSpPr>
          <p:spPr>
            <a:xfrm>
              <a:off x="7128481" y="4094772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↑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35" name="Text Box 1031">
            <a:extLst>
              <a:ext uri="{FF2B5EF4-FFF2-40B4-BE49-F238E27FC236}">
                <a16:creationId xmlns:a16="http://schemas.microsoft.com/office/drawing/2014/main" id="{11CB423E-1389-47D2-87E2-F4BF7273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877" y="3479086"/>
            <a:ext cx="75492" cy="16070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pt-BR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6" name="Text Box 1031">
            <a:extLst>
              <a:ext uri="{FF2B5EF4-FFF2-40B4-BE49-F238E27FC236}">
                <a16:creationId xmlns:a16="http://schemas.microsoft.com/office/drawing/2014/main" id="{1ABD5B43-6C7A-4E95-9BF1-942B957A5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9488" y="5256438"/>
            <a:ext cx="75492" cy="16070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0</a:t>
            </a:r>
            <a:endParaRPr lang="pt-BR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71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3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493020" y="1227612"/>
            <a:ext cx="815796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Change “c1[2.0]” to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c1[%1]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c1[$1]</a:t>
            </a:r>
            <a:r>
              <a:rPr lang="en-US" altLang="ja-JP" sz="2000" dirty="0">
                <a:cs typeface="Arial" pitchFamily="34" charset="0"/>
              </a:rPr>
              <a:t>” for Mac/Linux 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Save eachrun.bat/</a:t>
            </a:r>
            <a:r>
              <a:rPr lang="en-US" altLang="ja-JP" sz="2000" dirty="0" err="1">
                <a:cs typeface="Arial" pitchFamily="34" charset="0"/>
              </a:rPr>
              <a:t>sh</a:t>
            </a:r>
            <a:endParaRPr lang="en-US" altLang="ja-JP" sz="2000" dirty="0">
              <a:cs typeface="Arial" pitchFamily="34" charset="0"/>
            </a:endParaRP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Type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eachrun.bat 3.0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./eachrun.sh 3.0</a:t>
            </a:r>
            <a:r>
              <a:rPr lang="en-US" altLang="ja-JP" sz="2000" dirty="0">
                <a:cs typeface="Arial" pitchFamily="34" charset="0"/>
              </a:rPr>
              <a:t>” for Mac/Linux in the terminal</a:t>
            </a:r>
          </a:p>
        </p:txBody>
      </p:sp>
      <p:sp>
        <p:nvSpPr>
          <p:cNvPr id="15" name="テキスト ボックス 20">
            <a:extLst>
              <a:ext uri="{FF2B5EF4-FFF2-40B4-BE49-F238E27FC236}">
                <a16:creationId xmlns:a16="http://schemas.microsoft.com/office/drawing/2014/main" id="{E0EA440A-054C-40E3-839B-04C7E7A1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176" y="725923"/>
            <a:ext cx="3438128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Use variable in the script</a:t>
            </a:r>
            <a:endParaRPr lang="ja-JP" altLang="en-US" sz="2400" dirty="0"/>
          </a:p>
        </p:txBody>
      </p:sp>
      <p:sp>
        <p:nvSpPr>
          <p:cNvPr id="16" name="Text Box 1031">
            <a:extLst>
              <a:ext uri="{FF2B5EF4-FFF2-40B4-BE49-F238E27FC236}">
                <a16:creationId xmlns:a16="http://schemas.microsoft.com/office/drawing/2014/main" id="{06805BFF-1B24-49A2-87C0-7BC0147E4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3" y="3546934"/>
            <a:ext cx="3472475" cy="77972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eachrun.bat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2.0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call phits.bat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pt-BR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 Box 1030">
            <a:extLst>
              <a:ext uri="{FF2B5EF4-FFF2-40B4-BE49-F238E27FC236}">
                <a16:creationId xmlns:a16="http://schemas.microsoft.com/office/drawing/2014/main" id="{B814D34F-EE84-4178-BDBC-D60D6937D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80" y="3071665"/>
            <a:ext cx="1532792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eachrun.bat</a:t>
            </a:r>
          </a:p>
        </p:txBody>
      </p:sp>
      <p:sp>
        <p:nvSpPr>
          <p:cNvPr id="20" name="Text Box 1031">
            <a:extLst>
              <a:ext uri="{FF2B5EF4-FFF2-40B4-BE49-F238E27FC236}">
                <a16:creationId xmlns:a16="http://schemas.microsoft.com/office/drawing/2014/main" id="{C1E4F722-6723-4E7A-B7D9-F306A1E9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3" y="5152677"/>
            <a:ext cx="3472475" cy="8092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2.0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phits.sh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1" name="Text Box 1030">
            <a:extLst>
              <a:ext uri="{FF2B5EF4-FFF2-40B4-BE49-F238E27FC236}">
                <a16:creationId xmlns:a16="http://schemas.microsoft.com/office/drawing/2014/main" id="{771A8B2C-8ADE-425D-99E3-5A7F5E86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334" y="4690548"/>
            <a:ext cx="142699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eachrun.sh</a:t>
            </a:r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34591898-9732-487D-BF58-74E9D9BC5D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36" t="1807" r="3086" b="1807"/>
          <a:stretch/>
        </p:blipFill>
        <p:spPr>
          <a:xfrm>
            <a:off x="5174235" y="3223527"/>
            <a:ext cx="3040224" cy="2660478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086249AB-B7FA-43FE-BF14-E21D70B2F2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1" t="3141" r="2745" b="3141"/>
          <a:stretch/>
        </p:blipFill>
        <p:spPr>
          <a:xfrm>
            <a:off x="5185520" y="3239531"/>
            <a:ext cx="3054388" cy="2652229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B6FD1BA4-E257-48CD-AAF5-83F368503081}"/>
              </a:ext>
            </a:extLst>
          </p:cNvPr>
          <p:cNvSpPr txBox="1"/>
          <p:nvPr/>
        </p:nvSpPr>
        <p:spPr>
          <a:xfrm>
            <a:off x="6069297" y="5869252"/>
            <a:ext cx="18587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track_rz.eps</a:t>
            </a:r>
            <a:endParaRPr lang="ja-JP" altLang="en-US" dirty="0">
              <a:solidFill>
                <a:schemeClr val="accent2"/>
              </a:solidFill>
            </a:endParaRPr>
          </a:p>
        </p:txBody>
      </p:sp>
      <p:sp>
        <p:nvSpPr>
          <p:cNvPr id="35" name="Text Box 1031">
            <a:extLst>
              <a:ext uri="{FF2B5EF4-FFF2-40B4-BE49-F238E27FC236}">
                <a16:creationId xmlns:a16="http://schemas.microsoft.com/office/drawing/2014/main" id="{11CB423E-1389-47D2-87E2-F4BF727303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160" y="3810390"/>
            <a:ext cx="343843" cy="236059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%1</a:t>
            </a:r>
            <a:r>
              <a:rPr lang="en-US" altLang="ja-JP" sz="1400" dirty="0">
                <a:latin typeface="Tahoma" panose="020B0604030504040204" pitchFamily="34" charset="0"/>
              </a:rPr>
              <a:t>]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sp>
        <p:nvSpPr>
          <p:cNvPr id="36" name="Text Box 1031">
            <a:extLst>
              <a:ext uri="{FF2B5EF4-FFF2-40B4-BE49-F238E27FC236}">
                <a16:creationId xmlns:a16="http://schemas.microsoft.com/office/drawing/2014/main" id="{1ABD5B43-6C7A-4E95-9BF1-942B957A5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759" y="4582501"/>
            <a:ext cx="75492" cy="16070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3" name="Text Box 1031">
            <a:extLst>
              <a:ext uri="{FF2B5EF4-FFF2-40B4-BE49-F238E27FC236}">
                <a16:creationId xmlns:a16="http://schemas.microsoft.com/office/drawing/2014/main" id="{2A8776DB-B0E6-4FD0-8E53-68D40EAF4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4869" y="5416800"/>
            <a:ext cx="343843" cy="236059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$1</a:t>
            </a:r>
            <a:r>
              <a:rPr lang="en-US" altLang="ja-JP" sz="1400" dirty="0">
                <a:latin typeface="Tahoma" panose="020B0604030504040204" pitchFamily="34" charset="0"/>
              </a:rPr>
              <a:t>]</a:t>
            </a:r>
            <a:endParaRPr lang="pt-BR" altLang="ja-JP" sz="1400" dirty="0">
              <a:latin typeface="Tahoma" panose="020B0604030504040204" pitchFamily="34" charset="0"/>
            </a:endParaRP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254C4381-1C2B-4546-8784-4F38E17582A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0853" t="17463" r="33463" b="8332"/>
          <a:stretch/>
        </p:blipFill>
        <p:spPr>
          <a:xfrm>
            <a:off x="5203984" y="3242558"/>
            <a:ext cx="3040223" cy="2679886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1A62B72-8AC7-40A1-B2E0-497D3F2BEFF4}"/>
              </a:ext>
            </a:extLst>
          </p:cNvPr>
          <p:cNvGrpSpPr/>
          <p:nvPr/>
        </p:nvGrpSpPr>
        <p:grpSpPr>
          <a:xfrm>
            <a:off x="7064613" y="4033622"/>
            <a:ext cx="1126678" cy="1181515"/>
            <a:chOff x="7094361" y="3887010"/>
            <a:chExt cx="1126678" cy="1181515"/>
          </a:xfrm>
        </p:grpSpPr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9E6365CD-A42D-4D1E-85C0-6654138990FB}"/>
                </a:ext>
              </a:extLst>
            </p:cNvPr>
            <p:cNvSpPr txBox="1"/>
            <p:nvPr/>
          </p:nvSpPr>
          <p:spPr>
            <a:xfrm>
              <a:off x="7741614" y="4699193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↓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983D9E8A-9AF9-4BBF-9EBA-AF31EB78775B}"/>
                </a:ext>
              </a:extLst>
            </p:cNvPr>
            <p:cNvSpPr txBox="1"/>
            <p:nvPr/>
          </p:nvSpPr>
          <p:spPr>
            <a:xfrm>
              <a:off x="7453374" y="4376914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↓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D9DDC39-EE50-4AE3-AE40-7691B84D1382}"/>
                </a:ext>
              </a:extLst>
            </p:cNvPr>
            <p:cNvSpPr txBox="1"/>
            <p:nvPr/>
          </p:nvSpPr>
          <p:spPr>
            <a:xfrm>
              <a:off x="7128481" y="4094772"/>
              <a:ext cx="26977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↓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7FF8DBBA-D4B7-4F7C-BF7A-AFD91C939186}"/>
                </a:ext>
              </a:extLst>
            </p:cNvPr>
            <p:cNvSpPr txBox="1"/>
            <p:nvPr/>
          </p:nvSpPr>
          <p:spPr>
            <a:xfrm>
              <a:off x="7094361" y="3887010"/>
              <a:ext cx="112667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800" dirty="0">
                  <a:solidFill>
                    <a:srgbClr val="FF0000"/>
                  </a:solidFill>
                  <a:cs typeface="Arial" pitchFamily="34" charset="0"/>
                </a:rPr>
                <a:t>decreased</a:t>
              </a:r>
              <a:endParaRPr lang="ja-JP" altLang="en-US" dirty="0">
                <a:solidFill>
                  <a:srgbClr val="FF0000"/>
                </a:solidFill>
              </a:endParaRPr>
            </a:p>
          </p:txBody>
        </p:sp>
      </p:grpSp>
      <p:sp>
        <p:nvSpPr>
          <p:cNvPr id="27" name="Rectangle 8">
            <a:extLst>
              <a:ext uri="{FF2B5EF4-FFF2-40B4-BE49-F238E27FC236}">
                <a16:creationId xmlns:a16="http://schemas.microsoft.com/office/drawing/2014/main" id="{C785E16F-0A7D-41F6-BEEF-F8F9636442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46" y="2547171"/>
            <a:ext cx="8530246" cy="431633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%1 indicates the 1</a:t>
            </a:r>
            <a:r>
              <a:rPr lang="en-US" altLang="ja-JP" sz="2000" b="1" baseline="30000" dirty="0">
                <a:solidFill>
                  <a:srgbClr val="FFFF00"/>
                </a:solidFill>
                <a:latin typeface="+mn-lt"/>
              </a:rPr>
              <a:t>st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 variable specified after eachrun.bat (separated by space)</a:t>
            </a:r>
          </a:p>
        </p:txBody>
      </p:sp>
    </p:spTree>
    <p:extLst>
      <p:ext uri="{BB962C8B-B14F-4D97-AF65-F5344CB8AC3E}">
        <p14:creationId xmlns:p14="http://schemas.microsoft.com/office/powerpoint/2010/main" val="418758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D64A887-28FB-411E-B96C-CA1D9F0C9C66}"/>
              </a:ext>
            </a:extLst>
          </p:cNvPr>
          <p:cNvSpPr txBox="1"/>
          <p:nvPr/>
        </p:nvSpPr>
        <p:spPr>
          <a:xfrm>
            <a:off x="2051720" y="6437221"/>
            <a:ext cx="5775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*Backslash is something like        in your keyboard</a:t>
            </a:r>
            <a:endParaRPr kumimoji="1" lang="ja-JP" altLang="en-US" sz="2000" dirty="0"/>
          </a:p>
        </p:txBody>
      </p:sp>
      <p:sp>
        <p:nvSpPr>
          <p:cNvPr id="8" name="四角形: 角度付き 7">
            <a:extLst>
              <a:ext uri="{FF2B5EF4-FFF2-40B4-BE49-F238E27FC236}">
                <a16:creationId xmlns:a16="http://schemas.microsoft.com/office/drawing/2014/main" id="{DF592CB3-8F0C-4DCC-982B-88A5DFF2ACAE}"/>
              </a:ext>
            </a:extLst>
          </p:cNvPr>
          <p:cNvSpPr/>
          <p:nvPr/>
        </p:nvSpPr>
        <p:spPr>
          <a:xfrm>
            <a:off x="5159155" y="6475934"/>
            <a:ext cx="364726" cy="337765"/>
          </a:xfrm>
          <a:prstGeom prst="bevel">
            <a:avLst>
              <a:gd name="adj" fmla="val 17467"/>
            </a:avLst>
          </a:prstGeom>
          <a:solidFill>
            <a:schemeClr val="bg1">
              <a:lumMod val="75000"/>
            </a:schemeClr>
          </a:solidFill>
          <a:ln w="127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4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493020" y="1227612"/>
            <a:ext cx="81579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Add commands to “eachrun.bat” or “eachrun.sh” to make a new folder in “</a:t>
            </a:r>
            <a:r>
              <a:rPr lang="en-US" altLang="ja-JP" sz="2000" dirty="0" err="1">
                <a:cs typeface="Arial" pitchFamily="34" charset="0"/>
              </a:rPr>
              <a:t>eachout</a:t>
            </a:r>
            <a:r>
              <a:rPr lang="en-US" altLang="ja-JP" sz="2000" dirty="0">
                <a:cs typeface="Arial" pitchFamily="34" charset="0"/>
              </a:rPr>
              <a:t>” and copy all output files (*.out and *.eps) to the folder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Type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eachrun.bat 2.0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./eachrun.sh 2.0</a:t>
            </a:r>
            <a:r>
              <a:rPr lang="en-US" altLang="ja-JP" sz="2000" dirty="0">
                <a:cs typeface="Arial" pitchFamily="34" charset="0"/>
              </a:rPr>
              <a:t>” for Mac/Linux in the terminal</a:t>
            </a:r>
          </a:p>
          <a:p>
            <a:pPr marL="457200" indent="-457200" eaLnBrk="1" hangingPunct="1"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Check </a:t>
            </a:r>
            <a:r>
              <a:rPr lang="en-US" altLang="ja-JP" sz="2000" dirty="0" err="1">
                <a:cs typeface="Arial" pitchFamily="34" charset="0"/>
              </a:rPr>
              <a:t>eachout</a:t>
            </a:r>
            <a:r>
              <a:rPr lang="en-US" altLang="ja-JP" sz="2000" dirty="0">
                <a:cs typeface="Arial" pitchFamily="34" charset="0"/>
              </a:rPr>
              <a:t>/2.0 folder by “explore” or “finder” </a:t>
            </a:r>
          </a:p>
        </p:txBody>
      </p:sp>
      <p:sp>
        <p:nvSpPr>
          <p:cNvPr id="15" name="テキスト ボックス 20">
            <a:extLst>
              <a:ext uri="{FF2B5EF4-FFF2-40B4-BE49-F238E27FC236}">
                <a16:creationId xmlns:a16="http://schemas.microsoft.com/office/drawing/2014/main" id="{E0EA440A-054C-40E3-839B-04C7E7A1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65" y="708736"/>
            <a:ext cx="8978470" cy="446276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300" dirty="0"/>
              <a:t>Automatically save output files by adding commands to “eachrun.bat/</a:t>
            </a:r>
            <a:r>
              <a:rPr lang="en-US" altLang="ja-JP" sz="2300" dirty="0" err="1"/>
              <a:t>sh</a:t>
            </a:r>
            <a:r>
              <a:rPr lang="en-US" altLang="ja-JP" sz="2300" dirty="0"/>
              <a:t>”</a:t>
            </a:r>
            <a:endParaRPr lang="ja-JP" altLang="en-US" sz="2300" dirty="0"/>
          </a:p>
        </p:txBody>
      </p:sp>
      <p:sp>
        <p:nvSpPr>
          <p:cNvPr id="16" name="Text Box 1031">
            <a:extLst>
              <a:ext uri="{FF2B5EF4-FFF2-40B4-BE49-F238E27FC236}">
                <a16:creationId xmlns:a16="http://schemas.microsoft.com/office/drawing/2014/main" id="{06805BFF-1B24-49A2-87C0-7BC0147E4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3" y="2838842"/>
            <a:ext cx="3472475" cy="14542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eachrun.bat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set:c1[%1]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call phits.bat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mkdir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\%1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copy *.out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\%1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copy *.eps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\%1</a:t>
            </a:r>
            <a:endParaRPr lang="pt-BR" altLang="ja-JP" sz="14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 Box 1030">
            <a:extLst>
              <a:ext uri="{FF2B5EF4-FFF2-40B4-BE49-F238E27FC236}">
                <a16:creationId xmlns:a16="http://schemas.microsoft.com/office/drawing/2014/main" id="{B814D34F-EE84-4178-BDBC-D60D6937D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64" y="2845529"/>
            <a:ext cx="1532792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eachrun.bat</a:t>
            </a:r>
          </a:p>
        </p:txBody>
      </p:sp>
      <p:sp>
        <p:nvSpPr>
          <p:cNvPr id="20" name="Text Box 1031">
            <a:extLst>
              <a:ext uri="{FF2B5EF4-FFF2-40B4-BE49-F238E27FC236}">
                <a16:creationId xmlns:a16="http://schemas.microsoft.com/office/drawing/2014/main" id="{C1E4F722-6723-4E7A-B7D9-F306A1E9FD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4584744"/>
            <a:ext cx="3472475" cy="14542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PHITS simulation using eachrun.sh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echo set:c1[$1] &gt;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density.inp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phits.sh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1400" dirty="0">
              <a:solidFill>
                <a:srgbClr val="00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mkdir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 -p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/$1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cp *.out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/$1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cp *.eps </a:t>
            </a:r>
            <a:r>
              <a:rPr lang="en-US" altLang="ja-JP" sz="1400" dirty="0" err="1">
                <a:solidFill>
                  <a:srgbClr val="FF0000"/>
                </a:solidFill>
                <a:latin typeface="Tahoma" panose="020B0604030504040204" pitchFamily="34" charset="0"/>
              </a:rPr>
              <a:t>eachout</a:t>
            </a:r>
            <a:r>
              <a:rPr lang="en-US" altLang="ja-JP" sz="1400" dirty="0">
                <a:solidFill>
                  <a:srgbClr val="FF0000"/>
                </a:solidFill>
                <a:latin typeface="Tahoma" panose="020B0604030504040204" pitchFamily="34" charset="0"/>
              </a:rPr>
              <a:t>/$1</a:t>
            </a:r>
          </a:p>
        </p:txBody>
      </p:sp>
      <p:sp>
        <p:nvSpPr>
          <p:cNvPr id="21" name="Text Box 1030">
            <a:extLst>
              <a:ext uri="{FF2B5EF4-FFF2-40B4-BE49-F238E27FC236}">
                <a16:creationId xmlns:a16="http://schemas.microsoft.com/office/drawing/2014/main" id="{771A8B2C-8ADE-425D-99E3-5A7F5E86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82" y="4584744"/>
            <a:ext cx="142699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eachrun.sh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68A9383-AE32-4EC3-9E5A-6BEA098425D2}"/>
              </a:ext>
            </a:extLst>
          </p:cNvPr>
          <p:cNvSpPr txBox="1"/>
          <p:nvPr/>
        </p:nvSpPr>
        <p:spPr>
          <a:xfrm>
            <a:off x="5631791" y="3474684"/>
            <a:ext cx="33436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“*.out” means all files having the extension of “.out” </a:t>
            </a:r>
            <a:endParaRPr kumimoji="1" lang="ja-JP" altLang="en-US" sz="20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815DE637-4E68-463D-B3B3-6BF2A70AEED4}"/>
              </a:ext>
            </a:extLst>
          </p:cNvPr>
          <p:cNvSpPr txBox="1"/>
          <p:nvPr/>
        </p:nvSpPr>
        <p:spPr>
          <a:xfrm>
            <a:off x="5576331" y="4490650"/>
            <a:ext cx="3367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/>
              <a:t>Folder name should be separated by </a:t>
            </a:r>
          </a:p>
          <a:p>
            <a:r>
              <a:rPr lang="en-US" altLang="ja-JP" sz="2000" dirty="0">
                <a:solidFill>
                  <a:srgbClr val="FF0000"/>
                </a:solidFill>
              </a:rPr>
              <a:t>\</a:t>
            </a:r>
            <a:r>
              <a:rPr lang="en-US" altLang="ja-JP" sz="2000" dirty="0"/>
              <a:t> (backslash) for batch file*</a:t>
            </a:r>
          </a:p>
          <a:p>
            <a:r>
              <a:rPr lang="en-US" altLang="ja-JP" sz="2000" dirty="0">
                <a:solidFill>
                  <a:srgbClr val="FF0000"/>
                </a:solidFill>
              </a:rPr>
              <a:t>/</a:t>
            </a:r>
            <a:r>
              <a:rPr lang="en-US" altLang="ja-JP" sz="2000" dirty="0"/>
              <a:t> (slash) for shell script</a:t>
            </a:r>
            <a:endParaRPr kumimoji="1" lang="ja-JP" altLang="en-US" sz="20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8A2216-341F-4BF3-91F0-ECC7E67CB92F}"/>
              </a:ext>
            </a:extLst>
          </p:cNvPr>
          <p:cNvSpPr txBox="1"/>
          <p:nvPr/>
        </p:nvSpPr>
        <p:spPr>
          <a:xfrm>
            <a:off x="6905853" y="3130759"/>
            <a:ext cx="660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Tips</a:t>
            </a:r>
            <a:endParaRPr kumimoji="1" lang="ja-JP" alt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5FE881F6-7F1D-4244-9D86-E9EA1508C10B}"/>
              </a:ext>
            </a:extLst>
          </p:cNvPr>
          <p:cNvSpPr/>
          <p:nvPr/>
        </p:nvSpPr>
        <p:spPr>
          <a:xfrm>
            <a:off x="5523881" y="3074574"/>
            <a:ext cx="3472475" cy="3018722"/>
          </a:xfrm>
          <a:prstGeom prst="roundRect">
            <a:avLst>
              <a:gd name="adj" fmla="val 10919"/>
            </a:avLst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445B1F5-8362-400C-A649-C51F9B97EF8D}"/>
              </a:ext>
            </a:extLst>
          </p:cNvPr>
          <p:cNvCxnSpPr>
            <a:cxnSpLocks/>
          </p:cNvCxnSpPr>
          <p:nvPr/>
        </p:nvCxnSpPr>
        <p:spPr>
          <a:xfrm flipH="1" flipV="1">
            <a:off x="5305513" y="6578139"/>
            <a:ext cx="72009" cy="133353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AB989D-D248-20B5-2C34-1C47DDD338CB}"/>
              </a:ext>
            </a:extLst>
          </p:cNvPr>
          <p:cNvSpPr txBox="1"/>
          <p:nvPr/>
        </p:nvSpPr>
        <p:spPr>
          <a:xfrm>
            <a:off x="574863" y="6002643"/>
            <a:ext cx="6171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“-p” after </a:t>
            </a:r>
            <a:r>
              <a:rPr kumimoji="1" lang="en-US" altLang="ja-JP" sz="1600" dirty="0" err="1"/>
              <a:t>mkdir</a:t>
            </a:r>
            <a:r>
              <a:rPr kumimoji="1" lang="en-US" altLang="ja-JP" sz="1600" dirty="0"/>
              <a:t> may not be</a:t>
            </a:r>
            <a:r>
              <a:rPr lang="en-US" altLang="ja-JP" sz="1600" dirty="0"/>
              <a:t> necessary depending on your environment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59033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5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D919137-C957-4A18-A8AB-E75932F39904}"/>
              </a:ext>
            </a:extLst>
          </p:cNvPr>
          <p:cNvSpPr txBox="1"/>
          <p:nvPr/>
        </p:nvSpPr>
        <p:spPr>
          <a:xfrm>
            <a:off x="156246" y="1246271"/>
            <a:ext cx="8831508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Open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multirun.bat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multirun.sh</a:t>
            </a:r>
            <a:r>
              <a:rPr lang="en-US" altLang="ja-JP" sz="2000" dirty="0">
                <a:cs typeface="Arial" pitchFamily="34" charset="0"/>
              </a:rPr>
              <a:t>” for Mac/Linux by text editor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Copy the 1</a:t>
            </a:r>
            <a:r>
              <a:rPr lang="en-US" altLang="ja-JP" sz="2000" baseline="30000" dirty="0">
                <a:cs typeface="Arial" pitchFamily="34" charset="0"/>
              </a:rPr>
              <a:t>st</a:t>
            </a:r>
            <a:r>
              <a:rPr lang="en-US" altLang="ja-JP" sz="2000" dirty="0">
                <a:cs typeface="Arial" pitchFamily="34" charset="0"/>
              </a:rPr>
              <a:t> line and paste it by 4 times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Change the number from 2.0 to 2.2, 2.4, 2.6, &amp; 2.8, respectively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Type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multirun.bat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./multirun.sh</a:t>
            </a:r>
            <a:r>
              <a:rPr lang="en-US" altLang="ja-JP" sz="2000" dirty="0">
                <a:cs typeface="Arial" pitchFamily="34" charset="0"/>
              </a:rPr>
              <a:t>” for Mac/Linux in the terminal</a:t>
            </a:r>
          </a:p>
          <a:p>
            <a:pPr marL="457200" indent="-457200" eaLnBrk="1" hangingPunct="1">
              <a:spcBef>
                <a:spcPts val="3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Check the dependence of concrete density on the attenuation factor</a:t>
            </a:r>
          </a:p>
        </p:txBody>
      </p:sp>
      <p:sp>
        <p:nvSpPr>
          <p:cNvPr id="15" name="テキスト ボックス 20">
            <a:extLst>
              <a:ext uri="{FF2B5EF4-FFF2-40B4-BE49-F238E27FC236}">
                <a16:creationId xmlns:a16="http://schemas.microsoft.com/office/drawing/2014/main" id="{E0EA440A-054C-40E3-839B-04C7E7A155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7110" y="743688"/>
            <a:ext cx="5918638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Run PHITS with various conditions at once</a:t>
            </a:r>
            <a:endParaRPr lang="ja-JP" altLang="en-US" sz="2400" dirty="0"/>
          </a:p>
        </p:txBody>
      </p:sp>
      <p:sp>
        <p:nvSpPr>
          <p:cNvPr id="16" name="Text Box 1031">
            <a:extLst>
              <a:ext uri="{FF2B5EF4-FFF2-40B4-BE49-F238E27FC236}">
                <a16:creationId xmlns:a16="http://schemas.microsoft.com/office/drawing/2014/main" id="{06805BFF-1B24-49A2-87C0-7BC0147E46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3068960"/>
            <a:ext cx="2088233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 dirty="0">
                <a:solidFill>
                  <a:srgbClr val="000000"/>
                </a:solidFill>
                <a:latin typeface="Tahoma" panose="020B0604030504040204" pitchFamily="34" charset="0"/>
              </a:rPr>
              <a:t>call eachrun.bat 2.0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call eachrun.bat 2.2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call eachrun.bat 2.4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call eachrun.bat 2.6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call eachrun.bat 2.8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7" name="Text Box 1030">
            <a:extLst>
              <a:ext uri="{FF2B5EF4-FFF2-40B4-BE49-F238E27FC236}">
                <a16:creationId xmlns:a16="http://schemas.microsoft.com/office/drawing/2014/main" id="{B814D34F-EE84-4178-BDBC-D60D6937D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92" y="3081229"/>
            <a:ext cx="1565365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multirun.bat</a:t>
            </a:r>
          </a:p>
        </p:txBody>
      </p:sp>
      <p:sp>
        <p:nvSpPr>
          <p:cNvPr id="21" name="Text Box 1030">
            <a:extLst>
              <a:ext uri="{FF2B5EF4-FFF2-40B4-BE49-F238E27FC236}">
                <a16:creationId xmlns:a16="http://schemas.microsoft.com/office/drawing/2014/main" id="{771A8B2C-8ADE-425D-99E3-5A7F5E860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8248" y="3081229"/>
            <a:ext cx="1459567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>
                <a:solidFill>
                  <a:srgbClr val="000000"/>
                </a:solidFill>
                <a:latin typeface="Tahoma" panose="020B0604030504040204" pitchFamily="34" charset="0"/>
              </a:rPr>
              <a:t>multirun.sh</a:t>
            </a:r>
          </a:p>
        </p:txBody>
      </p:sp>
      <p:sp>
        <p:nvSpPr>
          <p:cNvPr id="13" name="Text Box 1031">
            <a:extLst>
              <a:ext uri="{FF2B5EF4-FFF2-40B4-BE49-F238E27FC236}">
                <a16:creationId xmlns:a16="http://schemas.microsoft.com/office/drawing/2014/main" id="{08EF03C9-3F3C-453F-9110-9DFB0F205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168" y="3081229"/>
            <a:ext cx="1774751" cy="132343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 dirty="0">
                <a:solidFill>
                  <a:srgbClr val="000000"/>
                </a:solidFill>
                <a:latin typeface="Tahoma" panose="020B0604030504040204" pitchFamily="34" charset="0"/>
              </a:rPr>
              <a:t>./eachrun.sh 2.0</a:t>
            </a: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./eachrun.sh 2.2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./eachrun.sh 2.4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./eachrun.sh 2.6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None/>
            </a:pPr>
            <a:r>
              <a:rPr lang="en-US" altLang="ja-JP" sz="1600" dirty="0">
                <a:solidFill>
                  <a:srgbClr val="FF0000"/>
                </a:solidFill>
                <a:latin typeface="Tahoma" panose="020B0604030504040204" pitchFamily="34" charset="0"/>
              </a:rPr>
              <a:t>./eachrun.sh 2.8</a:t>
            </a:r>
            <a:endParaRPr lang="pt-BR" altLang="ja-JP" sz="16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B484207D-EB9D-4326-8E64-51729180B697}"/>
              </a:ext>
            </a:extLst>
          </p:cNvPr>
          <p:cNvGrpSpPr/>
          <p:nvPr/>
        </p:nvGrpSpPr>
        <p:grpSpPr>
          <a:xfrm>
            <a:off x="26500" y="4509120"/>
            <a:ext cx="9090999" cy="1765355"/>
            <a:chOff x="22409" y="4399949"/>
            <a:chExt cx="8873348" cy="1723090"/>
          </a:xfrm>
        </p:grpSpPr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171F3F86-0110-4DB6-BE25-D41EF9F51E8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601" t="3141" r="2745" b="3141"/>
            <a:stretch/>
          </p:blipFill>
          <p:spPr>
            <a:xfrm>
              <a:off x="22409" y="4399949"/>
              <a:ext cx="1974312" cy="1714363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8BB2706A-61F7-456E-8217-468CC63454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8195" t="2208" r="3739" b="652"/>
            <a:stretch/>
          </p:blipFill>
          <p:spPr>
            <a:xfrm>
              <a:off x="2016531" y="4399949"/>
              <a:ext cx="1684793" cy="1719632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F210E347-C14D-4790-923E-3658FCB1DD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7191" t="1583" r="3771" b="2635"/>
            <a:stretch/>
          </p:blipFill>
          <p:spPr>
            <a:xfrm>
              <a:off x="3741798" y="4408676"/>
              <a:ext cx="1664129" cy="1714363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38E9B175-0799-4A59-82BE-FCBA810465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5220" t="2444" r="3123" b="3709"/>
            <a:stretch/>
          </p:blipFill>
          <p:spPr>
            <a:xfrm>
              <a:off x="5457126" y="4408676"/>
              <a:ext cx="1691260" cy="1714363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2D6597F6-792B-44DF-B3CF-40C9158A810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17321" t="1899" r="2465" b="3177"/>
            <a:stretch/>
          </p:blipFill>
          <p:spPr>
            <a:xfrm>
              <a:off x="7204497" y="4408676"/>
              <a:ext cx="1691260" cy="1714362"/>
            </a:xfrm>
            <a:prstGeom prst="rect">
              <a:avLst/>
            </a:prstGeom>
          </p:spPr>
        </p:pic>
      </p:grp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4E86363-8E7F-468B-B2AD-6362C4A22D46}"/>
              </a:ext>
            </a:extLst>
          </p:cNvPr>
          <p:cNvSpPr txBox="1"/>
          <p:nvPr/>
        </p:nvSpPr>
        <p:spPr>
          <a:xfrm>
            <a:off x="429114" y="56386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2.0 g/cm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3</a:t>
            </a:r>
            <a:endParaRPr kumimoji="1" lang="ja-JP" altLang="en-US" baseline="30000" dirty="0">
              <a:solidFill>
                <a:schemeClr val="accent2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023B87FB-93D2-4245-9547-0C930F44CC58}"/>
              </a:ext>
            </a:extLst>
          </p:cNvPr>
          <p:cNvSpPr txBox="1"/>
          <p:nvPr/>
        </p:nvSpPr>
        <p:spPr>
          <a:xfrm>
            <a:off x="2160393" y="563559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2.2 g/cm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3</a:t>
            </a:r>
            <a:endParaRPr kumimoji="1" lang="ja-JP" altLang="en-US" baseline="30000" dirty="0">
              <a:solidFill>
                <a:schemeClr val="accent2"/>
              </a:solidFill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225DD377-26A6-42F1-B91E-9F14C262B869}"/>
              </a:ext>
            </a:extLst>
          </p:cNvPr>
          <p:cNvSpPr txBox="1"/>
          <p:nvPr/>
        </p:nvSpPr>
        <p:spPr>
          <a:xfrm>
            <a:off x="3951746" y="5640929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2.4 g/cm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3</a:t>
            </a:r>
            <a:endParaRPr kumimoji="1" lang="ja-JP" altLang="en-US" baseline="30000" dirty="0">
              <a:solidFill>
                <a:schemeClr val="accent2"/>
              </a:solidFill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AFF9DBE-2643-4CBD-891B-035DEE0144EB}"/>
              </a:ext>
            </a:extLst>
          </p:cNvPr>
          <p:cNvSpPr txBox="1"/>
          <p:nvPr/>
        </p:nvSpPr>
        <p:spPr>
          <a:xfrm>
            <a:off x="5656694" y="562588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2.6 g/cm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3</a:t>
            </a:r>
            <a:endParaRPr kumimoji="1" lang="ja-JP" altLang="en-US" baseline="30000" dirty="0">
              <a:solidFill>
                <a:schemeClr val="accent2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A867C322-FD43-4A5A-8CC7-1830A75133B6}"/>
              </a:ext>
            </a:extLst>
          </p:cNvPr>
          <p:cNvSpPr txBox="1"/>
          <p:nvPr/>
        </p:nvSpPr>
        <p:spPr>
          <a:xfrm>
            <a:off x="7455748" y="5634593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</a:rPr>
              <a:t>2.8 g/cm</a:t>
            </a:r>
            <a:r>
              <a:rPr kumimoji="1" lang="en-US" altLang="ja-JP" baseline="30000" dirty="0">
                <a:solidFill>
                  <a:schemeClr val="accent2"/>
                </a:solidFill>
              </a:rPr>
              <a:t>3</a:t>
            </a:r>
            <a:endParaRPr kumimoji="1" lang="ja-JP" altLang="en-US" baseline="30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6993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3" name="Text Box 6">
            <a:extLst>
              <a:ext uri="{FF2B5EF4-FFF2-40B4-BE49-F238E27FC236}">
                <a16:creationId xmlns:a16="http://schemas.microsoft.com/office/drawing/2014/main" id="{73D6EE9C-C5BD-4DD8-8794-E61083B9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Contents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158235-822F-4C06-B9B2-CAF03985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117228"/>
            <a:ext cx="86868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kern="0" dirty="0">
                <a:solidFill>
                  <a:schemeClr val="tx1"/>
                </a:solidFill>
                <a:latin typeface="+mn-lt"/>
                <a:cs typeface="Arial" charset="0"/>
              </a:rPr>
              <a:t>Table of Contents</a:t>
            </a:r>
            <a:endParaRPr lang="ja-JP" altLang="en-US" sz="4800" kern="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3CA4A5-AB8F-4333-9D53-631216AC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833" y="2026816"/>
            <a:ext cx="5890332" cy="280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marL="432000" lvl="1" indent="-571500" eaLnBrk="1" hangingPunct="1">
              <a:buFont typeface="Wingdings" panose="05000000000000000000" pitchFamily="2" charset="2"/>
              <a:buChar char="ü"/>
              <a:defRPr/>
            </a:pPr>
            <a:endParaRPr lang="en-US" altLang="ja-JP" sz="3600" dirty="0">
              <a:solidFill>
                <a:srgbClr val="000000"/>
              </a:solidFill>
              <a:latin typeface="+mn-lt"/>
              <a:cs typeface="Arial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B0D7DE-DBB1-4080-96FC-90AF84878BC2}"/>
              </a:ext>
            </a:extLst>
          </p:cNvPr>
          <p:cNvSpPr txBox="1"/>
          <p:nvPr/>
        </p:nvSpPr>
        <p:spPr>
          <a:xfrm>
            <a:off x="1626833" y="1916832"/>
            <a:ext cx="568101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Make your own script files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>
                <a:solidFill>
                  <a:srgbClr val="FF0000"/>
                </a:solidFill>
              </a:rPr>
              <a:t>Use “autorun.bat/</a:t>
            </a:r>
            <a:r>
              <a:rPr kumimoji="1" lang="en-US" altLang="ja-JP" sz="3600" dirty="0" err="1">
                <a:solidFill>
                  <a:srgbClr val="FF0000"/>
                </a:solidFill>
              </a:rPr>
              <a:t>sh</a:t>
            </a:r>
            <a:r>
              <a:rPr kumimoji="1" lang="en-US" altLang="ja-JP" sz="3600" dirty="0">
                <a:solidFill>
                  <a:srgbClr val="FF0000"/>
                </a:solidFill>
              </a:rPr>
              <a:t>”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[</a:t>
            </a:r>
            <a:r>
              <a:rPr kumimoji="1" lang="en-US" altLang="ja-JP" sz="3600" dirty="0" err="1"/>
              <a:t>anatally</a:t>
            </a:r>
            <a:r>
              <a:rPr kumimoji="1" lang="en-US" altLang="ja-JP" sz="3600" dirty="0"/>
              <a:t>] and ANOVA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Summary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46273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9144000" cy="786736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“autorun.bat” &amp; “autorun.sh” in PHITS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F0B379-C0B9-42E7-AAD2-065B5B7417FD}"/>
              </a:ext>
            </a:extLst>
          </p:cNvPr>
          <p:cNvSpPr txBox="1"/>
          <p:nvPr/>
        </p:nvSpPr>
        <p:spPr>
          <a:xfrm>
            <a:off x="-2704" y="809447"/>
            <a:ext cx="913023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000" dirty="0">
                <a:cs typeface="Arial" pitchFamily="34" charset="0"/>
              </a:rPr>
              <a:t>Execute PHITS for various conditions by automatically changing a parameter (c</a:t>
            </a:r>
            <a:r>
              <a:rPr lang="en-US" altLang="ja-JP" sz="2000" i="1" dirty="0">
                <a:cs typeface="Arial" pitchFamily="34" charset="0"/>
              </a:rPr>
              <a:t>i</a:t>
            </a:r>
            <a:r>
              <a:rPr lang="en-US" altLang="ja-JP" sz="2000" dirty="0">
                <a:cs typeface="Arial" pitchFamily="34" charset="0"/>
              </a:rPr>
              <a:t>)</a:t>
            </a:r>
          </a:p>
          <a:p>
            <a:pPr marL="457200" indent="-4572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000" dirty="0">
                <a:cs typeface="Arial" pitchFamily="34" charset="0"/>
              </a:rPr>
              <a:t>Analyze the dependence of tally results on c</a:t>
            </a:r>
            <a:r>
              <a:rPr lang="en-US" altLang="ja-JP" sz="2000" i="1" dirty="0">
                <a:cs typeface="Arial" pitchFamily="34" charset="0"/>
              </a:rPr>
              <a:t>i</a:t>
            </a:r>
            <a:r>
              <a:rPr lang="en-US" altLang="ja-JP" sz="2000" dirty="0">
                <a:cs typeface="Arial" pitchFamily="34" charset="0"/>
              </a:rPr>
              <a:t> using [</a:t>
            </a:r>
            <a:r>
              <a:rPr lang="en-US" altLang="ja-JP" sz="2000" dirty="0" err="1">
                <a:cs typeface="Arial" pitchFamily="34" charset="0"/>
              </a:rPr>
              <a:t>anatally</a:t>
            </a:r>
            <a:r>
              <a:rPr lang="en-US" altLang="ja-JP" sz="2000" dirty="0">
                <a:cs typeface="Arial" pitchFamily="34" charset="0"/>
              </a:rPr>
              <a:t>] (optional)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A9B98EF-3C2F-43BE-A701-8230043EE6A7}"/>
              </a:ext>
            </a:extLst>
          </p:cNvPr>
          <p:cNvSpPr txBox="1"/>
          <p:nvPr/>
        </p:nvSpPr>
        <p:spPr>
          <a:xfrm>
            <a:off x="2271724" y="6448510"/>
            <a:ext cx="503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/>
              <a:t>Original script files are included in </a:t>
            </a:r>
            <a:r>
              <a:rPr lang="en-US" altLang="ja-JP" dirty="0" err="1"/>
              <a:t>phits</a:t>
            </a:r>
            <a:r>
              <a:rPr lang="en-US" altLang="ja-JP" dirty="0"/>
              <a:t>/bin folder</a:t>
            </a:r>
            <a:endParaRPr kumimoji="1" lang="ja-JP" altLang="en-US" dirty="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id="{82EABA98-8A1D-4CA6-9818-5A040948B5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823" y="1802206"/>
            <a:ext cx="2540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ja-JP" sz="2400" dirty="0">
                <a:solidFill>
                  <a:schemeClr val="accent2"/>
                </a:solidFill>
                <a:latin typeface="Tahoma" panose="020B0604030504040204" pitchFamily="34" charset="0"/>
              </a:rPr>
              <a:t>How to use?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3F6ACDF6-57B8-4B40-8ADB-9A02EA141D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1" y="2242514"/>
            <a:ext cx="7913688" cy="22630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ja-JP" sz="2400" kern="0" dirty="0">
                <a:cs typeface="Arial" panose="020B0604020202020204" pitchFamily="34" charset="0"/>
              </a:rPr>
              <a:t>Make a PHITS input file (e.g. </a:t>
            </a:r>
            <a:r>
              <a:rPr lang="en-US" altLang="ja-JP" sz="2400" kern="0" dirty="0" err="1">
                <a:solidFill>
                  <a:srgbClr val="FF0000"/>
                </a:solidFill>
                <a:cs typeface="Arial" panose="020B0604020202020204" pitchFamily="34" charset="0"/>
              </a:rPr>
              <a:t>phits.inp</a:t>
            </a:r>
            <a:r>
              <a:rPr lang="en-US" altLang="ja-JP" sz="2400" kern="0" dirty="0">
                <a:cs typeface="Arial" panose="020B0604020202020204" pitchFamily="34" charset="0"/>
              </a:rPr>
              <a:t>) with variable c</a:t>
            </a:r>
            <a:r>
              <a:rPr lang="en-US" altLang="ja-JP" sz="2400" i="1" kern="0" dirty="0">
                <a:cs typeface="Arial" panose="020B0604020202020204" pitchFamily="34" charset="0"/>
              </a:rPr>
              <a:t>i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ja-JP" sz="2400" kern="0" dirty="0">
                <a:cs typeface="Arial" panose="020B0604020202020204" pitchFamily="34" charset="0"/>
              </a:rPr>
              <a:t>Set “</a:t>
            </a:r>
            <a:r>
              <a:rPr lang="en-US" altLang="ja-JP" sz="2400" kern="0" dirty="0" err="1">
                <a:cs typeface="Arial" panose="020B0604020202020204" pitchFamily="34" charset="0"/>
              </a:rPr>
              <a:t>icntl</a:t>
            </a:r>
            <a:r>
              <a:rPr lang="en-US" altLang="ja-JP" sz="2400" kern="0" dirty="0">
                <a:cs typeface="Arial" panose="020B0604020202020204" pitchFamily="34" charset="0"/>
              </a:rPr>
              <a:t> = 16” in the PHITS input file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ja-JP" sz="2400" kern="0" dirty="0">
                <a:cs typeface="Arial" panose="020B0604020202020204" pitchFamily="34" charset="0"/>
              </a:rPr>
              <a:t>Make a input file for autorun.bat/</a:t>
            </a:r>
            <a:r>
              <a:rPr lang="en-US" altLang="ja-JP" sz="2400" kern="0" dirty="0" err="1">
                <a:cs typeface="Arial" panose="020B0604020202020204" pitchFamily="34" charset="0"/>
              </a:rPr>
              <a:t>sh</a:t>
            </a:r>
            <a:r>
              <a:rPr lang="en-US" altLang="ja-JP" sz="2400" kern="0" dirty="0">
                <a:cs typeface="Arial" panose="020B0604020202020204" pitchFamily="34" charset="0"/>
              </a:rPr>
              <a:t> (e.g. </a:t>
            </a:r>
            <a:r>
              <a:rPr lang="en-US" altLang="ja-JP" sz="2400" kern="0" dirty="0" err="1">
                <a:solidFill>
                  <a:srgbClr val="FF0000"/>
                </a:solidFill>
                <a:cs typeface="Arial" panose="020B0604020202020204" pitchFamily="34" charset="0"/>
              </a:rPr>
              <a:t>autorun.inp</a:t>
            </a:r>
            <a:r>
              <a:rPr lang="en-US" altLang="ja-JP" sz="2400" kern="0" dirty="0">
                <a:cs typeface="Arial" panose="020B0604020202020204" pitchFamily="34" charset="0"/>
              </a:rPr>
              <a:t>) to specify how to change the variable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</a:pPr>
            <a:r>
              <a:rPr lang="en-US" altLang="ja-JP" sz="2400" kern="0" dirty="0">
                <a:cs typeface="Arial" panose="020B0604020202020204" pitchFamily="34" charset="0"/>
              </a:rPr>
              <a:t>Run autorun.bat/</a:t>
            </a:r>
            <a:r>
              <a:rPr lang="en-US" altLang="ja-JP" sz="2400" kern="0" dirty="0" err="1">
                <a:cs typeface="Arial" panose="020B0604020202020204" pitchFamily="34" charset="0"/>
              </a:rPr>
              <a:t>sh</a:t>
            </a:r>
            <a:r>
              <a:rPr lang="en-US" altLang="ja-JP" sz="2400" kern="0" dirty="0">
                <a:cs typeface="Arial" panose="020B0604020202020204" pitchFamily="34" charset="0"/>
              </a:rPr>
              <a:t> with the input file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03519F7-2BD4-4756-B47F-7B2CDE834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77" y="4648558"/>
            <a:ext cx="8530246" cy="76506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PHITS are iteratively executed until the simulations for all conditions are finished, and the results are moved to ‘1’, ‘2’, ‘3’ … folders in “</a:t>
            </a:r>
            <a:r>
              <a:rPr lang="en-US" altLang="ja-JP" sz="2000" b="1" dirty="0" err="1">
                <a:solidFill>
                  <a:srgbClr val="FFFF00"/>
                </a:solidFill>
                <a:latin typeface="+mn-lt"/>
              </a:rPr>
              <a:t>outfiles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”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4418E6C-69D3-4E46-A0EF-045FA54063B2}"/>
              </a:ext>
            </a:extLst>
          </p:cNvPr>
          <p:cNvSpPr txBox="1"/>
          <p:nvPr/>
        </p:nvSpPr>
        <p:spPr>
          <a:xfrm>
            <a:off x="1109510" y="5553546"/>
            <a:ext cx="67737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solidFill>
                  <a:srgbClr val="FF0000"/>
                </a:solidFill>
              </a:rPr>
              <a:t>Similar to “multirun.bat/</a:t>
            </a:r>
            <a:r>
              <a:rPr kumimoji="1" lang="en-US" altLang="ja-JP" sz="2000" dirty="0" err="1">
                <a:solidFill>
                  <a:srgbClr val="FF0000"/>
                </a:solidFill>
              </a:rPr>
              <a:t>sh</a:t>
            </a:r>
            <a:r>
              <a:rPr kumimoji="1" lang="en-US" altLang="ja-JP" sz="2000" dirty="0">
                <a:solidFill>
                  <a:srgbClr val="FF0000"/>
                </a:solidFill>
              </a:rPr>
              <a:t>”, but you can automatically change the parameter without the knowledge of batch file / shell script</a:t>
            </a:r>
            <a:endParaRPr kumimoji="1" lang="ja-JP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864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6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9DC010-F5A5-4BC7-B12A-0868E9EF18C3}"/>
              </a:ext>
            </a:extLst>
          </p:cNvPr>
          <p:cNvSpPr txBox="1"/>
          <p:nvPr/>
        </p:nvSpPr>
        <p:spPr>
          <a:xfrm>
            <a:off x="303313" y="1312593"/>
            <a:ext cx="8773775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Change “</a:t>
            </a:r>
            <a:r>
              <a:rPr lang="en-US" altLang="ja-JP" sz="2000" dirty="0" err="1">
                <a:cs typeface="Arial" pitchFamily="34" charset="0"/>
              </a:rPr>
              <a:t>icntl</a:t>
            </a:r>
            <a:r>
              <a:rPr lang="en-US" altLang="ja-JP" sz="2000" dirty="0">
                <a:cs typeface="Arial" pitchFamily="34" charset="0"/>
              </a:rPr>
              <a:t> = 16” in </a:t>
            </a:r>
            <a:r>
              <a:rPr lang="en-US" altLang="ja-JP" sz="2000" dirty="0" err="1">
                <a:cs typeface="Arial" pitchFamily="34" charset="0"/>
              </a:rPr>
              <a:t>phits.inp</a:t>
            </a:r>
            <a:r>
              <a:rPr lang="en-US" altLang="ja-JP" sz="2000" dirty="0">
                <a:cs typeface="Arial" pitchFamily="34" charset="0"/>
              </a:rPr>
              <a:t> (script mode)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Type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autorun.bat</a:t>
            </a:r>
            <a:r>
              <a:rPr lang="en-US" altLang="ja-JP" sz="2000" dirty="0">
                <a:cs typeface="Arial" pitchFamily="34" charset="0"/>
              </a:rPr>
              <a:t>” for Windows,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./autorun.sh</a:t>
            </a:r>
            <a:r>
              <a:rPr lang="en-US" altLang="ja-JP" sz="2000" dirty="0">
                <a:cs typeface="Arial" pitchFamily="34" charset="0"/>
              </a:rPr>
              <a:t>” for Mac/Linux in the terminal</a:t>
            </a:r>
            <a:r>
              <a:rPr lang="ja-JP" altLang="en-US" sz="2000" dirty="0">
                <a:cs typeface="Arial" pitchFamily="34" charset="0"/>
              </a:rPr>
              <a:t>*</a:t>
            </a:r>
            <a:endParaRPr lang="en-US" altLang="ja-JP" sz="2000" dirty="0">
              <a:cs typeface="Arial" pitchFamily="34" charset="0"/>
            </a:endParaRPr>
          </a:p>
        </p:txBody>
      </p:sp>
      <p:sp>
        <p:nvSpPr>
          <p:cNvPr id="5" name="Text Box 1031">
            <a:extLst>
              <a:ext uri="{FF2B5EF4-FFF2-40B4-BE49-F238E27FC236}">
                <a16:creationId xmlns:a16="http://schemas.microsoft.com/office/drawing/2014/main" id="{1D62D06F-9872-4C2F-84B3-85C6E3653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263" y="2771220"/>
            <a:ext cx="6247505" cy="15571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file=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$ PHITS input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set:c1          $ Variable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c-type=1        $ 1: data point, 2: linear, 3: log interpolation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nc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=3            $ Number of data points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2.0  2.3  2.8</a:t>
            </a:r>
            <a:endParaRPr lang="pt-BR" altLang="ja-JP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 Box 1030">
            <a:extLst>
              <a:ext uri="{FF2B5EF4-FFF2-40B4-BE49-F238E27FC236}">
                <a16:creationId xmlns:a16="http://schemas.microsoft.com/office/drawing/2014/main" id="{85220311-3698-4434-A112-057C83F05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239" y="2235372"/>
            <a:ext cx="148630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autorun.inp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8A125F16-8745-48B0-87B8-F5ACFEDFA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7991" y="2235372"/>
            <a:ext cx="114858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8" name="Text Box 1031">
            <a:extLst>
              <a:ext uri="{FF2B5EF4-FFF2-40B4-BE49-F238E27FC236}">
                <a16:creationId xmlns:a16="http://schemas.microsoft.com/office/drawing/2014/main" id="{3140D526-6516-4169-B4C2-076D541719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5070" y="2771218"/>
            <a:ext cx="1783010" cy="104234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[ Parameters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icntl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= 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  <a:endParaRPr lang="en-US" altLang="ja-JP" sz="18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latin typeface="Tahoma" panose="020B0604030504040204" pitchFamily="34" charset="0"/>
              </a:rPr>
              <a:t> …</a:t>
            </a:r>
            <a:endParaRPr lang="pt-BR" altLang="ja-JP" sz="1800" dirty="0">
              <a:latin typeface="Tahoma" panose="020B0604030504040204" pitchFamily="34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3887A4-650B-4E51-B696-3BEFF3412642}"/>
              </a:ext>
            </a:extLst>
          </p:cNvPr>
          <p:cNvSpPr txBox="1"/>
          <p:nvPr/>
        </p:nvSpPr>
        <p:spPr>
          <a:xfrm>
            <a:off x="570344" y="4365104"/>
            <a:ext cx="8003309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/>
              <a:t>Run PHITS with “file=</a:t>
            </a:r>
            <a:r>
              <a:rPr lang="en-US" altLang="ja-JP" sz="2000" dirty="0" err="1">
                <a:solidFill>
                  <a:srgbClr val="FF0000"/>
                </a:solidFill>
              </a:rPr>
              <a:t>phits.inp</a:t>
            </a:r>
            <a:r>
              <a:rPr lang="en-US" altLang="ja-JP" sz="2000" dirty="0"/>
              <a:t>“ by changing “set:</a:t>
            </a:r>
            <a:r>
              <a:rPr lang="en-US" altLang="ja-JP" sz="2000" dirty="0">
                <a:solidFill>
                  <a:srgbClr val="FF0000"/>
                </a:solidFill>
              </a:rPr>
              <a:t>c1</a:t>
            </a:r>
            <a:r>
              <a:rPr lang="en-US" altLang="ja-JP" sz="2000" dirty="0"/>
              <a:t>” by “</a:t>
            </a:r>
            <a:r>
              <a:rPr lang="en-US" altLang="ja-JP" sz="2000" dirty="0" err="1"/>
              <a:t>nc</a:t>
            </a:r>
            <a:r>
              <a:rPr lang="en-US" altLang="ja-JP" sz="2000" dirty="0"/>
              <a:t>=</a:t>
            </a:r>
            <a:r>
              <a:rPr lang="en-US" altLang="ja-JP" sz="2000" dirty="0">
                <a:solidFill>
                  <a:srgbClr val="FF0000"/>
                </a:solidFill>
              </a:rPr>
              <a:t>3</a:t>
            </a:r>
            <a:r>
              <a:rPr lang="en-US" altLang="ja-JP" sz="2000" dirty="0"/>
              <a:t>”</a:t>
            </a:r>
            <a:r>
              <a:rPr kumimoji="1" lang="en-US" altLang="ja-JP" sz="2000" dirty="0"/>
              <a:t> times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/>
              <a:t>The format of “</a:t>
            </a:r>
            <a:r>
              <a:rPr lang="en-US" altLang="ja-JP" sz="2000" dirty="0">
                <a:solidFill>
                  <a:srgbClr val="FF0000"/>
                </a:solidFill>
              </a:rPr>
              <a:t>c-type</a:t>
            </a:r>
            <a:r>
              <a:rPr lang="en-US" altLang="ja-JP" sz="2000" dirty="0"/>
              <a:t>” is similar to that of the tally mesh</a:t>
            </a:r>
            <a:endParaRPr lang="en-US" altLang="ja-JP" sz="2000" dirty="0">
              <a:solidFill>
                <a:srgbClr val="FF0000"/>
              </a:solidFill>
            </a:endParaRP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kumimoji="1" lang="en-US" altLang="ja-JP" sz="2000" dirty="0"/>
              <a:t>Calculated results for c1 = 2.0, 2.3 and 2.8 are moved to “1”, “2”, “3” folders in “</a:t>
            </a:r>
            <a:r>
              <a:rPr kumimoji="1" lang="en-US" altLang="ja-JP" sz="2000" dirty="0" err="1"/>
              <a:t>outfiles</a:t>
            </a:r>
            <a:r>
              <a:rPr kumimoji="1" lang="en-US" altLang="ja-JP" sz="2000" dirty="0"/>
              <a:t>”</a:t>
            </a:r>
          </a:p>
          <a:p>
            <a:pPr marL="342900" indent="-3429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ja-JP" sz="2000" dirty="0"/>
              <a:t>Variable can be check by </a:t>
            </a:r>
            <a:r>
              <a:rPr lang="en-US" altLang="ja-JP" sz="2000" dirty="0" err="1"/>
              <a:t>varfile.inp</a:t>
            </a:r>
            <a:r>
              <a:rPr lang="en-US" altLang="ja-JP" sz="2000" dirty="0"/>
              <a:t> in each folder</a:t>
            </a:r>
            <a:endParaRPr kumimoji="1" lang="ja-JP" altLang="en-US" sz="2000" dirty="0"/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D5583919-EC44-4DF3-816B-548187F2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8470" y="737409"/>
            <a:ext cx="4547058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Run autorun.bat /autorun.sh</a:t>
            </a:r>
            <a:endParaRPr lang="ja-JP" altLang="en-US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F684B0-6540-B575-E5EE-34230C804D6C}"/>
              </a:ext>
            </a:extLst>
          </p:cNvPr>
          <p:cNvSpPr txBox="1"/>
          <p:nvPr/>
        </p:nvSpPr>
        <p:spPr>
          <a:xfrm>
            <a:off x="1619672" y="6434502"/>
            <a:ext cx="680561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500" dirty="0"/>
              <a:t>*</a:t>
            </a:r>
            <a:r>
              <a:rPr lang="en-US" altLang="ja-JP" sz="1500" dirty="0"/>
              <a:t>You can specify the input file name as the 1</a:t>
            </a:r>
            <a:r>
              <a:rPr lang="en-US" altLang="ja-JP" sz="1500" baseline="30000" dirty="0"/>
              <a:t>st</a:t>
            </a:r>
            <a:r>
              <a:rPr lang="en-US" altLang="ja-JP" sz="1500" dirty="0"/>
              <a:t> variable (e.g. autorun.bat </a:t>
            </a:r>
            <a:r>
              <a:rPr lang="en-US" altLang="ja-JP" sz="1500" dirty="0" err="1"/>
              <a:t>autorun.inp</a:t>
            </a:r>
            <a:r>
              <a:rPr lang="en-US" altLang="ja-JP" sz="1500" dirty="0"/>
              <a:t>)</a:t>
            </a:r>
            <a:endParaRPr kumimoji="1" lang="ja-JP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617783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7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9DC010-F5A5-4BC7-B12A-0868E9EF18C3}"/>
              </a:ext>
            </a:extLst>
          </p:cNvPr>
          <p:cNvSpPr txBox="1"/>
          <p:nvPr/>
        </p:nvSpPr>
        <p:spPr>
          <a:xfrm>
            <a:off x="344629" y="1223543"/>
            <a:ext cx="8454741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Change c1 from 2.0 to 2.8 by 0.2 step (</a:t>
            </a:r>
            <a:r>
              <a:rPr lang="en-US" altLang="ja-JP" sz="2000" dirty="0" err="1">
                <a:cs typeface="Arial" pitchFamily="34" charset="0"/>
              </a:rPr>
              <a:t>nc</a:t>
            </a:r>
            <a:r>
              <a:rPr lang="en-US" altLang="ja-JP" sz="2000" dirty="0">
                <a:cs typeface="Arial" pitchFamily="34" charset="0"/>
              </a:rPr>
              <a:t> = 5)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Use c-type = 2 ( linear interpolation)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Minimum &amp; maximum values of c1 can be specified by </a:t>
            </a:r>
            <a:r>
              <a:rPr lang="en-US" altLang="ja-JP" sz="2000" dirty="0" err="1">
                <a:cs typeface="Arial" pitchFamily="34" charset="0"/>
              </a:rPr>
              <a:t>cmin</a:t>
            </a:r>
            <a:r>
              <a:rPr lang="en-US" altLang="ja-JP" sz="2000" dirty="0">
                <a:cs typeface="Arial" pitchFamily="34" charset="0"/>
              </a:rPr>
              <a:t> &amp; </a:t>
            </a:r>
            <a:r>
              <a:rPr lang="en-US" altLang="ja-JP" sz="2000" dirty="0" err="1">
                <a:cs typeface="Arial" pitchFamily="34" charset="0"/>
              </a:rPr>
              <a:t>cmax</a:t>
            </a:r>
            <a:r>
              <a:rPr lang="en-US" altLang="ja-JP" sz="2000" dirty="0">
                <a:cs typeface="Arial" pitchFamily="34" charset="0"/>
              </a:rPr>
              <a:t> </a:t>
            </a: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Save “</a:t>
            </a:r>
            <a:r>
              <a:rPr lang="en-US" altLang="ja-JP" sz="2000" dirty="0" err="1">
                <a:cs typeface="Arial" pitchFamily="34" charset="0"/>
              </a:rPr>
              <a:t>autorun.inp</a:t>
            </a:r>
            <a:r>
              <a:rPr lang="en-US" altLang="ja-JP" sz="2000" dirty="0">
                <a:cs typeface="Arial" pitchFamily="34" charset="0"/>
              </a:rPr>
              <a:t>” and run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autorun.bat</a:t>
            </a:r>
            <a:r>
              <a:rPr lang="en-US" altLang="ja-JP" sz="2000" dirty="0">
                <a:cs typeface="Arial" pitchFamily="34" charset="0"/>
              </a:rPr>
              <a:t>” or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autorun.sh” </a:t>
            </a:r>
            <a:r>
              <a:rPr lang="en-US" altLang="ja-JP" sz="2000" dirty="0">
                <a:cs typeface="Arial" pitchFamily="34" charset="0"/>
              </a:rPr>
              <a:t>with </a:t>
            </a:r>
            <a:r>
              <a:rPr lang="en-US" altLang="ja-JP" sz="2000" dirty="0" err="1">
                <a:cs typeface="Arial" pitchFamily="34" charset="0"/>
              </a:rPr>
              <a:t>autorun.inp</a:t>
            </a:r>
            <a:endParaRPr lang="en-US" altLang="ja-JP" sz="2000" dirty="0">
              <a:cs typeface="Arial" pitchFamily="34" charset="0"/>
            </a:endParaRPr>
          </a:p>
        </p:txBody>
      </p:sp>
      <p:sp>
        <p:nvSpPr>
          <p:cNvPr id="5" name="Text Box 1031">
            <a:extLst>
              <a:ext uri="{FF2B5EF4-FFF2-40B4-BE49-F238E27FC236}">
                <a16:creationId xmlns:a16="http://schemas.microsoft.com/office/drawing/2014/main" id="{1D62D06F-9872-4C2F-84B3-85C6E3653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431314"/>
            <a:ext cx="6247505" cy="18698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file=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$ PHITS input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set:c1          $ Variable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c-type=1        $ 1: data point, 2: linear, 3: log interpolation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nc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=3            $ Number of data points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2.0  2.3  2.8</a:t>
            </a:r>
            <a:endParaRPr lang="pt-BR" altLang="ja-JP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6" name="Text Box 1030">
            <a:extLst>
              <a:ext uri="{FF2B5EF4-FFF2-40B4-BE49-F238E27FC236}">
                <a16:creationId xmlns:a16="http://schemas.microsoft.com/office/drawing/2014/main" id="{85220311-3698-4434-A112-057C83F05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2895466"/>
            <a:ext cx="148630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autorun.inp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D5583919-EC44-4DF3-816B-548187F2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706607"/>
            <a:ext cx="3137626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Change </a:t>
            </a:r>
            <a:r>
              <a:rPr lang="en-US" altLang="ja-JP" sz="2400" dirty="0" err="1"/>
              <a:t>autorun.inp</a:t>
            </a:r>
            <a:endParaRPr lang="ja-JP" altLang="en-US" sz="2400" dirty="0"/>
          </a:p>
        </p:txBody>
      </p:sp>
      <p:sp>
        <p:nvSpPr>
          <p:cNvPr id="12" name="Text Box 1031">
            <a:extLst>
              <a:ext uri="{FF2B5EF4-FFF2-40B4-BE49-F238E27FC236}">
                <a16:creationId xmlns:a16="http://schemas.microsoft.com/office/drawing/2014/main" id="{9F98DE75-57C6-41B8-9218-D16C2DAD3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3431314"/>
            <a:ext cx="6247505" cy="18698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file=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$ PHITS input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set:c1          $ Variable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c-type=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$ 1: data point, 2: linear, 3: log interpolation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nc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5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    $ Number of data points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cmin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cmax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2.8</a:t>
            </a:r>
            <a:endParaRPr lang="pt-BR" altLang="ja-JP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49A5D00-C591-4563-BFF2-E35F5A52B4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929" y="5467576"/>
            <a:ext cx="7134497" cy="765064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Check the consistency between “</a:t>
            </a:r>
            <a:r>
              <a:rPr lang="en-US" altLang="ja-JP" sz="2000" b="1" dirty="0" err="1">
                <a:solidFill>
                  <a:srgbClr val="FFFF00"/>
                </a:solidFill>
                <a:latin typeface="+mn-lt"/>
              </a:rPr>
              <a:t>outfiles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/1” and “</a:t>
            </a:r>
            <a:r>
              <a:rPr lang="en-US" altLang="ja-JP" sz="2000" b="1" dirty="0" err="1">
                <a:solidFill>
                  <a:srgbClr val="FFFF00"/>
                </a:solidFill>
                <a:latin typeface="+mn-lt"/>
              </a:rPr>
              <a:t>eachout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/2.0”, … “</a:t>
            </a:r>
            <a:r>
              <a:rPr lang="en-US" altLang="ja-JP" sz="2000" b="1" dirty="0" err="1">
                <a:solidFill>
                  <a:srgbClr val="FFFF00"/>
                </a:solidFill>
                <a:latin typeface="+mn-lt"/>
              </a:rPr>
              <a:t>outfiles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/5” and “</a:t>
            </a:r>
            <a:r>
              <a:rPr lang="en-US" altLang="ja-JP" sz="2000" b="1" dirty="0" err="1">
                <a:solidFill>
                  <a:srgbClr val="FFFF00"/>
                </a:solidFill>
                <a:latin typeface="+mn-lt"/>
              </a:rPr>
              <a:t>eachout</a:t>
            </a:r>
            <a:r>
              <a:rPr lang="en-US" altLang="ja-JP" sz="2000" b="1" dirty="0">
                <a:solidFill>
                  <a:srgbClr val="FFFF00"/>
                </a:solidFill>
                <a:latin typeface="+mn-lt"/>
              </a:rPr>
              <a:t>/2.8” </a:t>
            </a:r>
          </a:p>
        </p:txBody>
      </p:sp>
    </p:spTree>
    <p:extLst>
      <p:ext uri="{BB962C8B-B14F-4D97-AF65-F5344CB8AC3E}">
        <p14:creationId xmlns:p14="http://schemas.microsoft.com/office/powerpoint/2010/main" val="3532417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3" name="Text Box 6">
            <a:extLst>
              <a:ext uri="{FF2B5EF4-FFF2-40B4-BE49-F238E27FC236}">
                <a16:creationId xmlns:a16="http://schemas.microsoft.com/office/drawing/2014/main" id="{73D6EE9C-C5BD-4DD8-8794-E61083B9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Contents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158235-822F-4C06-B9B2-CAF03985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117228"/>
            <a:ext cx="86868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kern="0" dirty="0">
                <a:solidFill>
                  <a:schemeClr val="tx1"/>
                </a:solidFill>
                <a:latin typeface="+mn-lt"/>
                <a:cs typeface="Arial" charset="0"/>
              </a:rPr>
              <a:t>Table of Contents</a:t>
            </a:r>
            <a:endParaRPr lang="ja-JP" altLang="en-US" sz="4800" kern="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3CA4A5-AB8F-4333-9D53-631216AC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833" y="2026816"/>
            <a:ext cx="5890332" cy="280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marL="432000" lvl="1" indent="-571500" eaLnBrk="1" hangingPunct="1">
              <a:buFont typeface="Wingdings" panose="05000000000000000000" pitchFamily="2" charset="2"/>
              <a:buChar char="ü"/>
              <a:defRPr/>
            </a:pPr>
            <a:endParaRPr lang="en-US" altLang="ja-JP" sz="3600" dirty="0">
              <a:solidFill>
                <a:srgbClr val="000000"/>
              </a:solidFill>
              <a:latin typeface="+mn-lt"/>
              <a:cs typeface="Arial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B0D7DE-DBB1-4080-96FC-90AF84878BC2}"/>
              </a:ext>
            </a:extLst>
          </p:cNvPr>
          <p:cNvSpPr txBox="1"/>
          <p:nvPr/>
        </p:nvSpPr>
        <p:spPr>
          <a:xfrm>
            <a:off x="1626833" y="1916832"/>
            <a:ext cx="568101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Make your own script files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“autorun.bat/</a:t>
            </a:r>
            <a:r>
              <a:rPr kumimoji="1" lang="en-US" altLang="ja-JP" sz="3600" dirty="0" err="1"/>
              <a:t>sh</a:t>
            </a:r>
            <a:r>
              <a:rPr kumimoji="1" lang="en-US" altLang="ja-JP" sz="3600" dirty="0"/>
              <a:t>”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>
                <a:solidFill>
                  <a:srgbClr val="FF0000"/>
                </a:solidFill>
              </a:rPr>
              <a:t>Use [</a:t>
            </a:r>
            <a:r>
              <a:rPr kumimoji="1" lang="en-US" altLang="ja-JP" sz="3600" dirty="0" err="1">
                <a:solidFill>
                  <a:srgbClr val="FF0000"/>
                </a:solidFill>
              </a:rPr>
              <a:t>anatally</a:t>
            </a:r>
            <a:r>
              <a:rPr kumimoji="1" lang="en-US" altLang="ja-JP" sz="3600" dirty="0">
                <a:solidFill>
                  <a:srgbClr val="FF0000"/>
                </a:solidFill>
              </a:rPr>
              <a:t>] and ANOVA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Summary</a:t>
            </a:r>
            <a:endParaRPr kumimoji="1" lang="ja-JP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197311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9C54329-F8F2-47E3-BD03-D6C02504B5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0296" y="-9872"/>
            <a:ext cx="8386160" cy="8239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ja-JP" sz="4800" dirty="0">
                <a:solidFill>
                  <a:schemeClr val="tx1"/>
                </a:solidFill>
                <a:latin typeface="+mn-lt"/>
                <a:cs typeface="Arial" charset="0"/>
              </a:rPr>
              <a:t>What is [</a:t>
            </a:r>
            <a:r>
              <a:rPr lang="en-US" altLang="ja-JP" sz="4800" dirty="0" err="1">
                <a:solidFill>
                  <a:schemeClr val="tx1"/>
                </a:solidFill>
                <a:latin typeface="+mn-lt"/>
                <a:cs typeface="Arial" charset="0"/>
              </a:rPr>
              <a:t>anatally</a:t>
            </a:r>
            <a:r>
              <a:rPr lang="en-US" altLang="ja-JP" sz="4800" dirty="0">
                <a:solidFill>
                  <a:schemeClr val="tx1"/>
                </a:solidFill>
                <a:latin typeface="+mn-lt"/>
                <a:cs typeface="Arial" charset="0"/>
              </a:rPr>
              <a:t>] &amp; ANOVA?</a:t>
            </a:r>
            <a:endParaRPr lang="ja-JP" altLang="en-US" sz="480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D6657CC-F099-47F6-9312-0E01C2F8CE3C}"/>
                  </a:ext>
                </a:extLst>
              </p:cNvPr>
              <p:cNvSpPr txBox="1"/>
              <p:nvPr/>
            </p:nvSpPr>
            <p:spPr>
              <a:xfrm>
                <a:off x="5644671" y="4012165"/>
                <a:ext cx="2277611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3333C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333C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𝒖</m:t>
                          </m:r>
                        </m:e>
                        <m:sub>
                          <m:r>
                            <a:rPr kumimoji="0" lang="en-US" altLang="ja-JP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333C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𝐭𝐨𝐭</m:t>
                          </m:r>
                        </m:sub>
                        <m:sup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3333CC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𝟐</m:t>
                          </m:r>
                        </m:sup>
                      </m:sSubSup>
                      <m:r>
                        <m:rPr>
                          <m:nor/>
                        </m:rPr>
                        <a:rPr kumimoji="0" lang="en-US" altLang="ja-JP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ＭＳ Ｐゴシック" panose="020B0600070205080204" pitchFamily="50" charset="-128"/>
                          <a:cs typeface="+mn-cs"/>
                        </a:rPr>
                        <m:t>=</m:t>
                      </m:r>
                      <m:r>
                        <m:rPr>
                          <m:nor/>
                        </m:rPr>
                        <a:rPr kumimoji="0" lang="en-US" altLang="ja-JP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ＭＳ Ｐゴシック" panose="020B0600070205080204" pitchFamily="50" charset="-128"/>
                          <a:cs typeface="+mn-cs"/>
                        </a:rPr>
                        <m:t> </m:t>
                      </m:r>
                      <m:sSubSup>
                        <m:sSubSupPr>
                          <m:ctrlPr>
                            <a:rPr kumimoji="0" lang="en-US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𝒖</m:t>
                          </m:r>
                        </m:e>
                        <m:sub>
                          <m:r>
                            <a:rPr kumimoji="0" lang="en-US" altLang="ja-JP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𝐬𝐲𝐬𝐭</m:t>
                          </m:r>
                        </m:sub>
                        <m:sup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FF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𝟐</m:t>
                          </m:r>
                        </m:sup>
                      </m:sSubSup>
                      <m:sSubSup>
                        <m:sSubSupPr>
                          <m:ctrlPr>
                            <a:rPr kumimoji="0" lang="en-US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</m:ctrlPr>
                        </m:sSubSupPr>
                        <m:e>
                          <m:r>
                            <a:rPr kumimoji="0" lang="en-US" altLang="ja-JP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+</m:t>
                          </m:r>
                          <m:f>
                            <m:fPr>
                              <m:ctrlPr>
                                <a:rPr kumimoji="0" lang="en-US" altLang="ja-JP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ＭＳ Ｐゴシック" panose="020B0600070205080204" pitchFamily="50" charset="-128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ja-JP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ＭＳ Ｐゴシック" panose="020B0600070205080204" pitchFamily="50" charset="-128"/>
                                  <a:cs typeface="+mn-cs"/>
                                </a:rPr>
                                <m:t>𝟏</m:t>
                              </m:r>
                            </m:num>
                            <m:den>
                              <m:r>
                                <a:rPr kumimoji="0" lang="en-US" altLang="ja-JP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B05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ＭＳ Ｐゴシック" panose="020B0600070205080204" pitchFamily="50" charset="-128"/>
                                  <a:cs typeface="+mn-cs"/>
                                </a:rPr>
                                <m:t>𝑵</m:t>
                              </m:r>
                            </m:den>
                          </m:f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𝒖</m:t>
                          </m:r>
                        </m:e>
                        <m:sub>
                          <m:r>
                            <a:rPr kumimoji="0" lang="en-US" altLang="ja-JP" sz="2000" b="1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𝐬</m:t>
                          </m:r>
                          <m:r>
                            <a:rPr kumimoji="0" lang="en-US" altLang="ja-JP" sz="2000" b="1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𝐭𝐚𝐭</m:t>
                          </m:r>
                        </m:sub>
                        <m:sup>
                          <m:r>
                            <a:rPr kumimoji="0" lang="en-US" altLang="ja-JP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B05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ＭＳ Ｐゴシック" panose="020B0600070205080204" pitchFamily="50" charset="-128"/>
                              <a:cs typeface="+mn-cs"/>
                            </a:rPr>
                            <m:t>𝟐</m:t>
                          </m:r>
                        </m:sup>
                      </m:sSubSup>
                    </m:oMath>
                  </m:oMathPara>
                </a14:m>
                <a:endParaRPr kumimoji="0" lang="ja-JP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50" charset="-128"/>
                  <a:cs typeface="+mn-cs"/>
                </a:endParaRPr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9D6657CC-F099-47F6-9312-0E01C2F8C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671" y="4012165"/>
                <a:ext cx="2277611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4FC3603-A362-4C29-A7E3-7871B027C4C2}"/>
              </a:ext>
            </a:extLst>
          </p:cNvPr>
          <p:cNvSpPr txBox="1"/>
          <p:nvPr/>
        </p:nvSpPr>
        <p:spPr>
          <a:xfrm>
            <a:off x="4494215" y="4627686"/>
            <a:ext cx="1351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Total</a:t>
            </a:r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uncertainty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srgbClr val="3333CC"/>
                </a:solidFill>
                <a:latin typeface="Arial"/>
                <a:ea typeface="+mn-ea"/>
              </a:rPr>
              <a:t>(0.5553)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16ACC34-C1A1-4AD9-84A6-562D518EC5A1}"/>
              </a:ext>
            </a:extLst>
          </p:cNvPr>
          <p:cNvSpPr txBox="1"/>
          <p:nvPr/>
        </p:nvSpPr>
        <p:spPr>
          <a:xfrm>
            <a:off x="5793172" y="5341500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Systematic uncertainty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srgbClr val="FF0000"/>
                </a:solidFill>
                <a:latin typeface="Arial"/>
                <a:ea typeface="+mn-ea"/>
              </a:rPr>
              <a:t>(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0.5481</a:t>
            </a:r>
            <a:r>
              <a:rPr lang="en-US" altLang="ja-JP" dirty="0">
                <a:solidFill>
                  <a:srgbClr val="FF0000"/>
                </a:solidFill>
                <a:latin typeface="Arial"/>
                <a:ea typeface="+mn-ea"/>
              </a:rPr>
              <a:t>)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3B4E6E-06C0-46F6-BB01-CE140783131C}"/>
              </a:ext>
            </a:extLst>
          </p:cNvPr>
          <p:cNvSpPr txBox="1"/>
          <p:nvPr/>
        </p:nvSpPr>
        <p:spPr>
          <a:xfrm>
            <a:off x="6900785" y="4665433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Statistical error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dirty="0">
                <a:solidFill>
                  <a:srgbClr val="00B050"/>
                </a:solidFill>
                <a:latin typeface="Arial"/>
                <a:ea typeface="+mn-ea"/>
              </a:rPr>
              <a:t>(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0.0894</a:t>
            </a:r>
            <a:r>
              <a:rPr lang="en-US" altLang="ja-JP" dirty="0">
                <a:solidFill>
                  <a:srgbClr val="00B050"/>
                </a:solidFill>
                <a:latin typeface="Arial"/>
                <a:ea typeface="+mn-ea"/>
              </a:rPr>
              <a:t>)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9BA251A-B9EB-4775-A2D7-E1759D8545C7}"/>
              </a:ext>
            </a:extLst>
          </p:cNvPr>
          <p:cNvCxnSpPr>
            <a:cxnSpLocks/>
          </p:cNvCxnSpPr>
          <p:nvPr/>
        </p:nvCxnSpPr>
        <p:spPr bwMode="auto">
          <a:xfrm flipV="1">
            <a:off x="7017607" y="4629664"/>
            <a:ext cx="817429" cy="7598"/>
          </a:xfrm>
          <a:prstGeom prst="line">
            <a:avLst/>
          </a:prstGeom>
          <a:ln w="190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777DAB2C-3DDE-4ACE-A83F-540C1014BDDD}"/>
              </a:ext>
            </a:extLst>
          </p:cNvPr>
          <p:cNvCxnSpPr>
            <a:cxnSpLocks/>
          </p:cNvCxnSpPr>
          <p:nvPr/>
        </p:nvCxnSpPr>
        <p:spPr bwMode="auto">
          <a:xfrm flipV="1">
            <a:off x="6232744" y="4581250"/>
            <a:ext cx="313215" cy="760250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970AAFB-A173-4D18-AD2E-2DF6A36A5432}"/>
              </a:ext>
            </a:extLst>
          </p:cNvPr>
          <p:cNvCxnSpPr>
            <a:cxnSpLocks/>
          </p:cNvCxnSpPr>
          <p:nvPr/>
        </p:nvCxnSpPr>
        <p:spPr bwMode="auto">
          <a:xfrm flipV="1">
            <a:off x="5311265" y="4557274"/>
            <a:ext cx="486124" cy="219545"/>
          </a:xfrm>
          <a:prstGeom prst="straightConnector1">
            <a:avLst/>
          </a:prstGeom>
          <a:ln w="19050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4CFA8422-2787-423F-8420-AA14DCF7FB6A}"/>
              </a:ext>
            </a:extLst>
          </p:cNvPr>
          <p:cNvSpPr txBox="1"/>
          <p:nvPr/>
        </p:nvSpPr>
        <p:spPr>
          <a:xfrm>
            <a:off x="-2704" y="809447"/>
            <a:ext cx="9130233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4000" indent="-3240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[</a:t>
            </a:r>
            <a:r>
              <a:rPr lang="en-US" altLang="ja-JP" sz="2400" dirty="0" err="1">
                <a:solidFill>
                  <a:schemeClr val="accent2"/>
                </a:solidFill>
                <a:cs typeface="Arial" pitchFamily="34" charset="0"/>
              </a:rPr>
              <a:t>anatally</a:t>
            </a: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]</a:t>
            </a:r>
            <a:r>
              <a:rPr lang="en-US" altLang="ja-JP" sz="2400" dirty="0">
                <a:cs typeface="Arial" pitchFamily="34" charset="0"/>
              </a:rPr>
              <a:t>: Special tally for analyzing multiple tally results based on ANOVA or user-defined function</a:t>
            </a:r>
            <a:r>
              <a:rPr lang="ja-JP" altLang="en-US" sz="2400" dirty="0">
                <a:cs typeface="Arial" pitchFamily="34" charset="0"/>
              </a:rPr>
              <a:t>*</a:t>
            </a:r>
            <a:r>
              <a:rPr lang="en-US" altLang="ja-JP" sz="2400" dirty="0">
                <a:cs typeface="Arial" pitchFamily="34" charset="0"/>
              </a:rPr>
              <a:t>.</a:t>
            </a:r>
          </a:p>
          <a:p>
            <a:pPr marL="324000" indent="-3240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ANOVA (</a:t>
            </a:r>
            <a:r>
              <a:rPr lang="en-US" altLang="ja-JP" sz="2400" dirty="0" err="1">
                <a:solidFill>
                  <a:srgbClr val="FF0000"/>
                </a:solidFill>
                <a:cs typeface="Arial" pitchFamily="34" charset="0"/>
              </a:rPr>
              <a:t>AN</a:t>
            </a:r>
            <a:r>
              <a:rPr lang="en-US" altLang="ja-JP" sz="2400" dirty="0" err="1">
                <a:solidFill>
                  <a:schemeClr val="accent2"/>
                </a:solidFill>
                <a:cs typeface="Arial" pitchFamily="34" charset="0"/>
              </a:rPr>
              <a:t>alysis</a:t>
            </a: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 </a:t>
            </a:r>
            <a:r>
              <a:rPr lang="en-US" altLang="ja-JP" sz="2400" dirty="0">
                <a:solidFill>
                  <a:srgbClr val="FF0000"/>
                </a:solidFill>
                <a:cs typeface="Arial" pitchFamily="34" charset="0"/>
              </a:rPr>
              <a:t>O</a:t>
            </a: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f </a:t>
            </a:r>
            <a:r>
              <a:rPr lang="en-US" altLang="ja-JP" sz="2400" dirty="0" err="1">
                <a:solidFill>
                  <a:srgbClr val="FF0000"/>
                </a:solidFill>
                <a:cs typeface="Arial" pitchFamily="34" charset="0"/>
              </a:rPr>
              <a:t>VA</a:t>
            </a:r>
            <a:r>
              <a:rPr lang="en-US" altLang="ja-JP" sz="2400" dirty="0" err="1">
                <a:solidFill>
                  <a:schemeClr val="accent2"/>
                </a:solidFill>
                <a:cs typeface="Arial" pitchFamily="34" charset="0"/>
              </a:rPr>
              <a:t>riance</a:t>
            </a:r>
            <a:r>
              <a:rPr lang="en-US" altLang="ja-JP" sz="2400" dirty="0">
                <a:solidFill>
                  <a:schemeClr val="accent2"/>
                </a:solidFill>
                <a:cs typeface="Arial" pitchFamily="34" charset="0"/>
              </a:rPr>
              <a:t>)</a:t>
            </a:r>
            <a:r>
              <a:rPr lang="en-US" altLang="ja-JP" sz="2400" dirty="0">
                <a:cs typeface="Arial" pitchFamily="34" charset="0"/>
              </a:rPr>
              <a:t>: A collection of statistical models for analyzing the differences among the means.</a:t>
            </a:r>
          </a:p>
        </p:txBody>
      </p:sp>
      <p:sp>
        <p:nvSpPr>
          <p:cNvPr id="46" name="Rectangle 8">
            <a:extLst>
              <a:ext uri="{FF2B5EF4-FFF2-40B4-BE49-F238E27FC236}">
                <a16:creationId xmlns:a16="http://schemas.microsoft.com/office/drawing/2014/main" id="{F1CC0CDB-8F2B-4214-B14E-222B0F645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62" y="2590485"/>
            <a:ext cx="8684876" cy="838516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In PHITS, ANOVA is used for evaluating the systematic uncertainty associated with a certain variable (c</a:t>
            </a:r>
            <a:r>
              <a:rPr lang="en-US" altLang="ja-JP" sz="2400" b="1" i="1" dirty="0">
                <a:solidFill>
                  <a:srgbClr val="FFFF00"/>
                </a:solidFill>
                <a:latin typeface="+mn-lt"/>
              </a:rPr>
              <a:t>i</a:t>
            </a: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) in the input file</a:t>
            </a:r>
          </a:p>
        </p:txBody>
      </p:sp>
      <p:graphicFrame>
        <p:nvGraphicFramePr>
          <p:cNvPr id="2" name="表 2">
            <a:extLst>
              <a:ext uri="{FF2B5EF4-FFF2-40B4-BE49-F238E27FC236}">
                <a16:creationId xmlns:a16="http://schemas.microsoft.com/office/drawing/2014/main" id="{10B3962F-80E7-40D4-AF8F-0A353025DE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544874"/>
              </p:ext>
            </p:extLst>
          </p:nvPr>
        </p:nvGraphicFramePr>
        <p:xfrm>
          <a:off x="203992" y="3930388"/>
          <a:ext cx="3359896" cy="22250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39616">
                  <a:extLst>
                    <a:ext uri="{9D8B030D-6E8A-4147-A177-3AD203B41FA5}">
                      <a16:colId xmlns:a16="http://schemas.microsoft.com/office/drawing/2014/main" val="227680044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4787343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4203640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c1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Mean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 err="1"/>
                        <a:t>r.err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805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4.98e-2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0.0636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91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3.56e-2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0.0754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428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2.67e-2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0.1051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326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1.74e-2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0.1215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449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2.8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1.02e-2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0.1245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694332"/>
                  </a:ext>
                </a:extLst>
              </a:tr>
            </a:tbl>
          </a:graphicData>
        </a:graphic>
      </p:graphicFrame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6F4814D-9CFD-4CC4-9BA0-47644AE49B7A}"/>
              </a:ext>
            </a:extLst>
          </p:cNvPr>
          <p:cNvSpPr txBox="1"/>
          <p:nvPr/>
        </p:nvSpPr>
        <p:spPr>
          <a:xfrm>
            <a:off x="290296" y="3539988"/>
            <a:ext cx="3273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Doses at the end of concrete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D322603F-77F2-433C-8715-456F6ACF1197}"/>
              </a:ext>
            </a:extLst>
          </p:cNvPr>
          <p:cNvSpPr/>
          <p:nvPr/>
        </p:nvSpPr>
        <p:spPr>
          <a:xfrm>
            <a:off x="3795922" y="3771563"/>
            <a:ext cx="550408" cy="2379624"/>
          </a:xfrm>
          <a:prstGeom prst="rightArrow">
            <a:avLst>
              <a:gd name="adj1" fmla="val 6521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ANOVA</a:t>
            </a:r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5555E23-6BE7-B649-7796-E0A215ABC7B2}"/>
              </a:ext>
            </a:extLst>
          </p:cNvPr>
          <p:cNvSpPr txBox="1"/>
          <p:nvPr/>
        </p:nvSpPr>
        <p:spPr>
          <a:xfrm>
            <a:off x="1331640" y="6417325"/>
            <a:ext cx="712879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500" dirty="0"/>
              <a:t>*</a:t>
            </a:r>
            <a:r>
              <a:rPr lang="en-US" altLang="ja-JP" sz="1500" dirty="0"/>
              <a:t>defined in </a:t>
            </a:r>
            <a:r>
              <a:rPr lang="en-US" altLang="ja-JP" sz="1500" dirty="0" err="1"/>
              <a:t>phits</a:t>
            </a:r>
            <a:r>
              <a:rPr lang="en-US" altLang="ja-JP" sz="1500" dirty="0"/>
              <a:t>/</a:t>
            </a:r>
            <a:r>
              <a:rPr lang="en-US" altLang="ja-JP" sz="1500" dirty="0" err="1"/>
              <a:t>src</a:t>
            </a:r>
            <a:r>
              <a:rPr lang="en-US" altLang="ja-JP" sz="1500" dirty="0"/>
              <a:t>/</a:t>
            </a:r>
            <a:r>
              <a:rPr lang="en-US" altLang="ja-JP" sz="1500" dirty="0" err="1"/>
              <a:t>usranatal.f</a:t>
            </a:r>
            <a:r>
              <a:rPr lang="en-US" altLang="ja-JP" sz="1500" dirty="0"/>
              <a:t>. Compilation of PHITS is required when it is changed</a:t>
            </a:r>
            <a:endParaRPr kumimoji="1" lang="ja-JP" altLang="en-US" sz="1500" dirty="0"/>
          </a:p>
        </p:txBody>
      </p:sp>
    </p:spTree>
    <p:extLst>
      <p:ext uri="{BB962C8B-B14F-4D97-AF65-F5344CB8AC3E}">
        <p14:creationId xmlns:p14="http://schemas.microsoft.com/office/powerpoint/2010/main" val="211109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8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A36CB1-364B-4F8A-8635-E0D858F3D898}"/>
              </a:ext>
            </a:extLst>
          </p:cNvPr>
          <p:cNvSpPr txBox="1"/>
          <p:nvPr/>
        </p:nvSpPr>
        <p:spPr>
          <a:xfrm>
            <a:off x="2532772" y="5935287"/>
            <a:ext cx="4102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Check “</a:t>
            </a:r>
            <a:r>
              <a:rPr lang="en-US" altLang="ja-JP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track_rz_anatally.eps</a:t>
            </a:r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kumimoji="1" lang="ja-JP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9DC010-F5A5-4BC7-B12A-0868E9EF18C3}"/>
              </a:ext>
            </a:extLst>
          </p:cNvPr>
          <p:cNvSpPr txBox="1"/>
          <p:nvPr/>
        </p:nvSpPr>
        <p:spPr>
          <a:xfrm>
            <a:off x="344629" y="1223543"/>
            <a:ext cx="845474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Delete “$” for the </a:t>
            </a:r>
            <a:r>
              <a:rPr lang="en-US" altLang="ja-JP" sz="2000" dirty="0" err="1">
                <a:cs typeface="Arial" pitchFamily="34" charset="0"/>
              </a:rPr>
              <a:t>anatally</a:t>
            </a:r>
            <a:r>
              <a:rPr lang="en-US" altLang="ja-JP" sz="2000" dirty="0">
                <a:cs typeface="Arial" pitchFamily="34" charset="0"/>
              </a:rPr>
              <a:t> subsection written in [t-track] of </a:t>
            </a:r>
            <a:r>
              <a:rPr lang="en-US" altLang="ja-JP" sz="2000" dirty="0" err="1">
                <a:cs typeface="Arial" pitchFamily="34" charset="0"/>
              </a:rPr>
              <a:t>phits.inp</a:t>
            </a:r>
            <a:endParaRPr lang="en-US" altLang="ja-JP" sz="2000" dirty="0">
              <a:cs typeface="Arial" pitchFamily="34" charset="0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rabicPeriod"/>
              <a:defRPr/>
            </a:pPr>
            <a:r>
              <a:rPr lang="en-US" altLang="ja-JP" sz="2000" dirty="0">
                <a:cs typeface="Arial" pitchFamily="34" charset="0"/>
              </a:rPr>
              <a:t>Save “</a:t>
            </a:r>
            <a:r>
              <a:rPr lang="en-US" altLang="ja-JP" sz="2000" dirty="0" err="1">
                <a:cs typeface="Arial" pitchFamily="34" charset="0"/>
              </a:rPr>
              <a:t>phits.inp</a:t>
            </a:r>
            <a:r>
              <a:rPr lang="en-US" altLang="ja-JP" sz="2000" dirty="0">
                <a:cs typeface="Arial" pitchFamily="34" charset="0"/>
              </a:rPr>
              <a:t>” and run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autorun.bat</a:t>
            </a:r>
            <a:r>
              <a:rPr lang="en-US" altLang="ja-JP" sz="2000" dirty="0">
                <a:cs typeface="Arial" pitchFamily="34" charset="0"/>
              </a:rPr>
              <a:t>” or “</a:t>
            </a:r>
            <a:r>
              <a:rPr lang="en-US" altLang="ja-JP" sz="2000" dirty="0">
                <a:solidFill>
                  <a:srgbClr val="FF0000"/>
                </a:solidFill>
                <a:cs typeface="Arial" pitchFamily="34" charset="0"/>
              </a:rPr>
              <a:t>autorun.sh” </a:t>
            </a:r>
            <a:r>
              <a:rPr lang="en-US" altLang="ja-JP" sz="2000" dirty="0">
                <a:cs typeface="Arial" pitchFamily="34" charset="0"/>
              </a:rPr>
              <a:t>with </a:t>
            </a:r>
            <a:r>
              <a:rPr lang="en-US" altLang="ja-JP" sz="2000" dirty="0" err="1">
                <a:cs typeface="Arial" pitchFamily="34" charset="0"/>
              </a:rPr>
              <a:t>autorun.inp</a:t>
            </a:r>
            <a:endParaRPr lang="en-US" altLang="ja-JP" sz="2000" dirty="0">
              <a:cs typeface="Arial" pitchFamily="34" charset="0"/>
            </a:endParaRPr>
          </a:p>
          <a:p>
            <a:pPr eaLnBrk="1" hangingPunct="1">
              <a:spcBef>
                <a:spcPts val="600"/>
              </a:spcBef>
              <a:defRPr/>
            </a:pPr>
            <a:endParaRPr lang="en-US" altLang="ja-JP" sz="2000" dirty="0">
              <a:cs typeface="Arial" pitchFamily="34" charset="0"/>
            </a:endParaRPr>
          </a:p>
        </p:txBody>
      </p:sp>
      <p:sp>
        <p:nvSpPr>
          <p:cNvPr id="6" name="Text Box 1030">
            <a:extLst>
              <a:ext uri="{FF2B5EF4-FFF2-40B4-BE49-F238E27FC236}">
                <a16:creationId xmlns:a16="http://schemas.microsoft.com/office/drawing/2014/main" id="{85220311-3698-4434-A112-057C83F05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1640" y="3385529"/>
            <a:ext cx="114858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D5583919-EC44-4DF3-816B-548187F2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800" y="706607"/>
            <a:ext cx="3744416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Activate </a:t>
            </a:r>
            <a:r>
              <a:rPr lang="en-US" altLang="ja-JP" sz="2400" dirty="0" err="1"/>
              <a:t>anatally</a:t>
            </a:r>
            <a:r>
              <a:rPr lang="en-US" altLang="ja-JP" sz="2400" dirty="0"/>
              <a:t> function</a:t>
            </a:r>
            <a:endParaRPr lang="ja-JP" altLang="en-US" sz="2400" dirty="0"/>
          </a:p>
        </p:txBody>
      </p:sp>
      <p:sp>
        <p:nvSpPr>
          <p:cNvPr id="12" name="Text Box 1031">
            <a:extLst>
              <a:ext uri="{FF2B5EF4-FFF2-40B4-BE49-F238E27FC236}">
                <a16:creationId xmlns:a16="http://schemas.microsoft.com/office/drawing/2014/main" id="{9F98DE75-57C6-41B8-9218-D16C2DAD3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36" y="3866357"/>
            <a:ext cx="7776863" cy="20689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[ T-track 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angel  = 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ymax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(3.0) 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ymin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(0.01)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$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start                $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subsection starts here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$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manatally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1                 $ Type of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(0: user-defined, 1:ANOVA)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$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sfile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track_rz_anatally.out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$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output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$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end                  $ 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subsection ends here</a:t>
            </a: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E933D940-5E90-4E1D-9200-047B5B93D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629" y="2063980"/>
            <a:ext cx="8334478" cy="1208437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After finishing all simulations, “</a:t>
            </a:r>
            <a:r>
              <a:rPr lang="en-US" altLang="ja-JP" sz="2400" b="1" dirty="0" err="1">
                <a:solidFill>
                  <a:srgbClr val="FFFF00"/>
                </a:solidFill>
                <a:latin typeface="+mn-lt"/>
              </a:rPr>
              <a:t>anatally.inp</a:t>
            </a: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” is automatically created and executed by PHITS, and the results from ANOVA is output in a file specified by “</a:t>
            </a:r>
            <a:r>
              <a:rPr lang="en-US" altLang="ja-JP" sz="2400" b="1" dirty="0" err="1">
                <a:solidFill>
                  <a:srgbClr val="FFFF00"/>
                </a:solidFill>
                <a:latin typeface="+mn-lt"/>
              </a:rPr>
              <a:t>sfile</a:t>
            </a:r>
            <a:r>
              <a:rPr lang="en-US" altLang="ja-JP" sz="2400" b="1" dirty="0">
                <a:solidFill>
                  <a:srgbClr val="FFFF00"/>
                </a:solidFill>
                <a:latin typeface="+mn-lt"/>
              </a:rPr>
              <a:t>” parameter</a:t>
            </a:r>
          </a:p>
        </p:txBody>
      </p:sp>
    </p:spTree>
    <p:extLst>
      <p:ext uri="{BB962C8B-B14F-4D97-AF65-F5344CB8AC3E}">
        <p14:creationId xmlns:p14="http://schemas.microsoft.com/office/powerpoint/2010/main" val="2055972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331640" y="63226"/>
            <a:ext cx="3035279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Answer 8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14" name="Text Box 1030">
            <a:extLst>
              <a:ext uri="{FF2B5EF4-FFF2-40B4-BE49-F238E27FC236}">
                <a16:creationId xmlns:a16="http://schemas.microsoft.com/office/drawing/2014/main" id="{67D6AAD8-DF42-4529-9BEA-3E35AC526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0" y="1268760"/>
            <a:ext cx="1462901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anatally.inp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 Box 1031">
            <a:extLst>
              <a:ext uri="{FF2B5EF4-FFF2-40B4-BE49-F238E27FC236}">
                <a16:creationId xmlns:a16="http://schemas.microsoft.com/office/drawing/2014/main" id="{B6B8D2F4-8184-441E-BC7A-DCC533A785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775" y="1804608"/>
            <a:ext cx="2026986" cy="112033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[parameters]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icntl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17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660B213-3A7C-44DE-98B2-F35C8F98C41D}"/>
              </a:ext>
            </a:extLst>
          </p:cNvPr>
          <p:cNvSpPr txBox="1"/>
          <p:nvPr/>
        </p:nvSpPr>
        <p:spPr>
          <a:xfrm>
            <a:off x="263499" y="3000375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icntl</a:t>
            </a:r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=17 is for </a:t>
            </a:r>
            <a:r>
              <a:rPr lang="en-US" altLang="ja-JP" sz="2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anatally</a:t>
            </a:r>
            <a:endParaRPr kumimoji="1" lang="ja-JP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78068311-361A-4F29-84E8-0C2A461B9DD5}"/>
              </a:ext>
            </a:extLst>
          </p:cNvPr>
          <p:cNvGrpSpPr/>
          <p:nvPr/>
        </p:nvGrpSpPr>
        <p:grpSpPr>
          <a:xfrm>
            <a:off x="4626268" y="451228"/>
            <a:ext cx="4254233" cy="4087505"/>
            <a:chOff x="4236513" y="650729"/>
            <a:chExt cx="4536504" cy="4358714"/>
          </a:xfrm>
        </p:grpSpPr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42A36CB1-364B-4F8A-8635-E0D858F3D898}"/>
                </a:ext>
              </a:extLst>
            </p:cNvPr>
            <p:cNvSpPr txBox="1"/>
            <p:nvPr/>
          </p:nvSpPr>
          <p:spPr>
            <a:xfrm>
              <a:off x="5867604" y="4609333"/>
              <a:ext cx="28431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000" dirty="0" err="1">
                  <a:solidFill>
                    <a:schemeClr val="accent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track_rz_anatally.eps</a:t>
              </a:r>
              <a:endParaRPr kumimoji="1" lang="ja-JP" altLang="en-US" sz="2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5F6E124C-0068-4783-9376-2D85E3B3A6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012" t="2102" r="3561" b="3815"/>
            <a:stretch/>
          </p:blipFill>
          <p:spPr>
            <a:xfrm>
              <a:off x="4236513" y="650729"/>
              <a:ext cx="4536504" cy="3960440"/>
            </a:xfrm>
            <a:prstGeom prst="rect">
              <a:avLst/>
            </a:prstGeom>
          </p:spPr>
        </p:pic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DB959640-EE68-4472-9623-D8F3F3A2FE20}"/>
                </a:ext>
              </a:extLst>
            </p:cNvPr>
            <p:cNvSpPr/>
            <p:nvPr/>
          </p:nvSpPr>
          <p:spPr>
            <a:xfrm>
              <a:off x="4791270" y="850784"/>
              <a:ext cx="1368152" cy="720080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F8F1258-F2EA-4805-802A-32258F907583}"/>
                </a:ext>
              </a:extLst>
            </p:cNvPr>
            <p:cNvSpPr txBox="1"/>
            <p:nvPr/>
          </p:nvSpPr>
          <p:spPr>
            <a:xfrm>
              <a:off x="6159421" y="804446"/>
              <a:ext cx="1939782" cy="754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insensitive to the density</a:t>
              </a:r>
              <a:endParaRPr kumimoji="1" lang="ja-JP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楕円 26">
              <a:extLst>
                <a:ext uri="{FF2B5EF4-FFF2-40B4-BE49-F238E27FC236}">
                  <a16:creationId xmlns:a16="http://schemas.microsoft.com/office/drawing/2014/main" id="{D83D3358-5AFC-4E56-8766-A7484599F9EA}"/>
                </a:ext>
              </a:extLst>
            </p:cNvPr>
            <p:cNvSpPr/>
            <p:nvPr/>
          </p:nvSpPr>
          <p:spPr>
            <a:xfrm>
              <a:off x="7243477" y="2306913"/>
              <a:ext cx="1368152" cy="1512168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BC6DC8F5-FE41-4464-880D-976E3BAEDC19}"/>
                </a:ext>
              </a:extLst>
            </p:cNvPr>
            <p:cNvSpPr txBox="1"/>
            <p:nvPr/>
          </p:nvSpPr>
          <p:spPr>
            <a:xfrm>
              <a:off x="5720330" y="2736155"/>
              <a:ext cx="156887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sensitive to the density</a:t>
              </a:r>
              <a:endParaRPr kumimoji="1" lang="ja-JP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0" name="Text Box 1030">
            <a:extLst>
              <a:ext uri="{FF2B5EF4-FFF2-40B4-BE49-F238E27FC236}">
                <a16:creationId xmlns:a16="http://schemas.microsoft.com/office/drawing/2014/main" id="{0FF7E4D6-F39B-441D-B0D3-D15729F92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750" y="3718643"/>
            <a:ext cx="2530949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track_rz_anatally.out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31" name="Text Box 1031">
            <a:extLst>
              <a:ext uri="{FF2B5EF4-FFF2-40B4-BE49-F238E27FC236}">
                <a16:creationId xmlns:a16="http://schemas.microsoft.com/office/drawing/2014/main" id="{423B9E20-4D74-488F-A0FB-3013E231B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983" y="4256449"/>
            <a:ext cx="5569169" cy="205287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x: z [cm]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y: effective dose [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psv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/source]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p: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xlin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ylog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afac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(0.8) form(0.9)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p: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ymax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(3.0)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ymin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(0.01)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h: n            x            y1(all     ),hh0l   ny21 dy1=[y1*y21]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#  z-lower               z-upper                 all      </a:t>
            </a:r>
            <a:r>
              <a:rPr lang="en-US" altLang="ja-JP" sz="1400" dirty="0" err="1">
                <a:solidFill>
                  <a:srgbClr val="000000"/>
                </a:solidFill>
                <a:latin typeface="Tahoma" panose="020B0604030504040204" pitchFamily="34" charset="0"/>
              </a:rPr>
              <a:t>r.err</a:t>
            </a: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 0.0000E+00   1.0000E+00   1.9613E+00  0.0221  0.0210  0.0067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   1.0000E+00   2.0000E+00   2.0248E+00  0.0230  0.0217  0.0077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rgbClr val="000000"/>
                </a:solidFill>
                <a:latin typeface="Tahoma" panose="020B0604030504040204" pitchFamily="34" charset="0"/>
              </a:rPr>
              <a:t>…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9FFAB1C9-B1C5-470C-B9C1-BCC0F9573357}"/>
              </a:ext>
            </a:extLst>
          </p:cNvPr>
          <p:cNvSpPr txBox="1"/>
          <p:nvPr/>
        </p:nvSpPr>
        <p:spPr>
          <a:xfrm>
            <a:off x="3018478" y="4363019"/>
            <a:ext cx="3000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Mean, total, systematic, statistical uncertainties</a:t>
            </a:r>
            <a:endParaRPr kumimoji="1" lang="ja-JP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D4C1705-C49F-413A-8D50-945C584366F2}"/>
              </a:ext>
            </a:extLst>
          </p:cNvPr>
          <p:cNvSpPr txBox="1"/>
          <p:nvPr/>
        </p:nvSpPr>
        <p:spPr>
          <a:xfrm>
            <a:off x="6155869" y="4536615"/>
            <a:ext cx="300060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Only mean and total uncertainties are shown</a:t>
            </a:r>
            <a:endParaRPr kumimoji="1" lang="ja-JP" alt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022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176"/>
            <a:ext cx="8892480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Exercise 9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E9DC010-F5A5-4BC7-B12A-0868E9EF18C3}"/>
              </a:ext>
            </a:extLst>
          </p:cNvPr>
          <p:cNvSpPr txBox="1"/>
          <p:nvPr/>
        </p:nvSpPr>
        <p:spPr>
          <a:xfrm>
            <a:off x="298073" y="1248535"/>
            <a:ext cx="8691867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000" dirty="0">
                <a:cs typeface="Arial" pitchFamily="34" charset="0"/>
              </a:rPr>
              <a:t>Simulations only for 3 conditions (mean &amp; mean ± 1σ) are generally sufficient to evaluate the systematic uncertainty*</a:t>
            </a:r>
          </a:p>
          <a:p>
            <a:pPr marL="457200" indent="-457200" eaLnBrk="1" hangingPunct="1">
              <a:spcBef>
                <a:spcPts val="600"/>
              </a:spcBef>
              <a:buFont typeface="Wingdings" panose="05000000000000000000" pitchFamily="2" charset="2"/>
              <a:buChar char="ü"/>
              <a:defRPr/>
            </a:pPr>
            <a:r>
              <a:rPr lang="en-US" altLang="ja-JP" sz="2000" dirty="0">
                <a:cs typeface="Arial" pitchFamily="34" charset="0"/>
              </a:rPr>
              <a:t>Evaluate the total uncertainty when the mean and uncertainty of the concrete density is known to be ρ = 2.3 ± 0.1 (g/cm</a:t>
            </a:r>
            <a:r>
              <a:rPr lang="en-US" altLang="ja-JP" sz="2000" baseline="30000" dirty="0">
                <a:cs typeface="Arial" pitchFamily="34" charset="0"/>
              </a:rPr>
              <a:t>3</a:t>
            </a:r>
            <a:r>
              <a:rPr lang="en-US" altLang="ja-JP" sz="2000" dirty="0">
                <a:cs typeface="Arial" pitchFamily="34" charset="0"/>
              </a:rPr>
              <a:t>)</a:t>
            </a:r>
          </a:p>
        </p:txBody>
      </p:sp>
      <p:sp>
        <p:nvSpPr>
          <p:cNvPr id="10" name="テキスト ボックス 20">
            <a:extLst>
              <a:ext uri="{FF2B5EF4-FFF2-40B4-BE49-F238E27FC236}">
                <a16:creationId xmlns:a16="http://schemas.microsoft.com/office/drawing/2014/main" id="{D5583919-EC44-4DF3-816B-548187F2BA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4032" y="732658"/>
            <a:ext cx="3744416" cy="46166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ja-JP" sz="2400" dirty="0"/>
              <a:t>Try three-condition method</a:t>
            </a:r>
            <a:endParaRPr lang="ja-JP" altLang="en-US" sz="24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58D6519-330D-403B-B6F9-053FBC13B0D9}"/>
              </a:ext>
            </a:extLst>
          </p:cNvPr>
          <p:cNvSpPr txBox="1"/>
          <p:nvPr/>
        </p:nvSpPr>
        <p:spPr>
          <a:xfrm>
            <a:off x="1740950" y="6437505"/>
            <a:ext cx="6635402" cy="369332"/>
          </a:xfrm>
          <a:prstGeom prst="rect">
            <a:avLst/>
          </a:prstGeom>
          <a:noFill/>
        </p:spPr>
        <p:txBody>
          <a:bodyPr wrap="square" lIns="36000" r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*S. Hashimoto and T. Sato, J. </a:t>
            </a:r>
            <a:r>
              <a:rPr kumimoji="1" lang="en-US" altLang="ja-JP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Nucl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 Sci. Technol. 56, 345 (2019)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Box 1030">
            <a:extLst>
              <a:ext uri="{FF2B5EF4-FFF2-40B4-BE49-F238E27FC236}">
                <a16:creationId xmlns:a16="http://schemas.microsoft.com/office/drawing/2014/main" id="{F4C5AE00-5BDB-47CA-ACD1-8A46D55BE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068960"/>
            <a:ext cx="1486304" cy="4001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2000" dirty="0" err="1">
                <a:solidFill>
                  <a:srgbClr val="000000"/>
                </a:solidFill>
                <a:latin typeface="Tahoma" panose="020B0604030504040204" pitchFamily="34" charset="0"/>
              </a:rPr>
              <a:t>autorun.inp</a:t>
            </a:r>
            <a:endParaRPr lang="en-US" altLang="ja-JP" sz="2000" dirty="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15" name="Text Box 1031">
            <a:extLst>
              <a:ext uri="{FF2B5EF4-FFF2-40B4-BE49-F238E27FC236}">
                <a16:creationId xmlns:a16="http://schemas.microsoft.com/office/drawing/2014/main" id="{7A5DE4DA-B4A8-4826-93B8-F0243FA6F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248" y="3645024"/>
            <a:ext cx="6247505" cy="18698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file=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$ PHITS input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set:c1          $ Variable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c-type=</a:t>
            </a:r>
            <a:r>
              <a:rPr lang="en-US" altLang="ja-JP" sz="1800" dirty="0">
                <a:latin typeface="Tahoma" panose="020B0604030504040204" pitchFamily="34" charset="0"/>
              </a:rPr>
              <a:t>2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$ 1: data point, 2: linear, 3: log interpolation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nc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5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    $ Number of data points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cmin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cmax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2.8</a:t>
            </a:r>
            <a:endParaRPr lang="pt-BR" altLang="ja-JP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6" name="Text Box 1031">
            <a:extLst>
              <a:ext uri="{FF2B5EF4-FFF2-40B4-BE49-F238E27FC236}">
                <a16:creationId xmlns:a16="http://schemas.microsoft.com/office/drawing/2014/main" id="{D1F55462-4580-4193-86FF-1503BE864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8247" y="3645024"/>
            <a:ext cx="6247505" cy="186989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file=</a:t>
            </a: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phits.inp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$ PHITS input file name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set:c1          $ Variable parameter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c-type=</a:t>
            </a:r>
            <a:r>
              <a:rPr lang="en-US" altLang="ja-JP" sz="1800" dirty="0">
                <a:latin typeface="Tahoma" panose="020B0604030504040204" pitchFamily="34" charset="0"/>
              </a:rPr>
              <a:t>2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$ 1: data point, 2: linear, 3: log interpolation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nc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=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3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           $ Number of data points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cmin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dirty="0" err="1">
                <a:solidFill>
                  <a:srgbClr val="000000"/>
                </a:solidFill>
                <a:latin typeface="Tahoma" panose="020B0604030504040204" pitchFamily="34" charset="0"/>
              </a:rPr>
              <a:t>cmax</a:t>
            </a:r>
            <a:r>
              <a:rPr lang="en-US" altLang="ja-JP" sz="1800" dirty="0">
                <a:solidFill>
                  <a:srgbClr val="000000"/>
                </a:solidFill>
                <a:latin typeface="Tahoma" panose="020B0604030504040204" pitchFamily="34" charset="0"/>
              </a:rPr>
              <a:t> = </a:t>
            </a:r>
            <a:r>
              <a:rPr lang="en-US" altLang="ja-JP" sz="1800" dirty="0">
                <a:solidFill>
                  <a:srgbClr val="FF0000"/>
                </a:solidFill>
                <a:latin typeface="Tahoma" panose="020B0604030504040204" pitchFamily="34" charset="0"/>
              </a:rPr>
              <a:t>2.4</a:t>
            </a:r>
            <a:endParaRPr lang="pt-BR" altLang="ja-JP" sz="18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7994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8" name="Rectangle 2">
            <a:extLst>
              <a:ext uri="{FF2B5EF4-FFF2-40B4-BE49-F238E27FC236}">
                <a16:creationId xmlns:a16="http://schemas.microsoft.com/office/drawing/2014/main" id="{A426E410-C5E5-439A-A9E9-5DD834B1C9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154895" y="147785"/>
            <a:ext cx="3035279" cy="656623"/>
          </a:xfrm>
          <a:prstGeom prst="rect">
            <a:avLst/>
          </a:prstGeom>
        </p:spPr>
        <p:txBody>
          <a:bodyPr/>
          <a:lstStyle/>
          <a:p>
            <a:pPr eaLnBrk="1" hangingPunct="1">
              <a:defRPr/>
            </a:pPr>
            <a:r>
              <a:rPr lang="en-US" altLang="ja-JP" dirty="0">
                <a:latin typeface="+mn-lt"/>
                <a:cs typeface="Arial" charset="0"/>
              </a:rPr>
              <a:t>Answer 9</a:t>
            </a:r>
            <a:endParaRPr lang="ja-JP" altLang="en-US" dirty="0">
              <a:latin typeface="+mn-lt"/>
              <a:cs typeface="Arial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42A36CB1-364B-4F8A-8635-E0D858F3D898}"/>
              </a:ext>
            </a:extLst>
          </p:cNvPr>
          <p:cNvSpPr txBox="1"/>
          <p:nvPr/>
        </p:nvSpPr>
        <p:spPr>
          <a:xfrm>
            <a:off x="3238858" y="5052967"/>
            <a:ext cx="2666283" cy="37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 err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track_rz_anatally.eps</a:t>
            </a:r>
            <a:endParaRPr kumimoji="1" lang="ja-JP" altLang="en-US" sz="2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3D4C1705-C49F-413A-8D50-945C584366F2}"/>
              </a:ext>
            </a:extLst>
          </p:cNvPr>
          <p:cNvSpPr txBox="1"/>
          <p:nvPr/>
        </p:nvSpPr>
        <p:spPr>
          <a:xfrm>
            <a:off x="291908" y="5485189"/>
            <a:ext cx="87612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uncertainties including systematic uncertainties are not so significant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C47FC01-9EA5-4FCE-928D-60FB09D8D8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26" t="2212" r="3472" b="2210"/>
          <a:stretch/>
        </p:blipFill>
        <p:spPr>
          <a:xfrm>
            <a:off x="1979712" y="1020519"/>
            <a:ext cx="4536504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738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3" name="Text Box 6">
            <a:extLst>
              <a:ext uri="{FF2B5EF4-FFF2-40B4-BE49-F238E27FC236}">
                <a16:creationId xmlns:a16="http://schemas.microsoft.com/office/drawing/2014/main" id="{73D6EE9C-C5BD-4DD8-8794-E61083B9D9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6400800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ja-JP" sz="2400">
                <a:solidFill>
                  <a:srgbClr val="000000"/>
                </a:solidFill>
                <a:latin typeface="Tahoma" panose="020B0604030504040204" pitchFamily="34" charset="0"/>
              </a:rPr>
              <a:t>Contents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3158235-822F-4C06-B9B2-CAF03985C7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599" y="117228"/>
            <a:ext cx="8686800" cy="82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r>
              <a:rPr lang="en-US" altLang="ja-JP" sz="4800" kern="0" dirty="0">
                <a:solidFill>
                  <a:schemeClr val="tx1"/>
                </a:solidFill>
                <a:latin typeface="+mn-lt"/>
                <a:cs typeface="Arial" charset="0"/>
              </a:rPr>
              <a:t>Table of Contents</a:t>
            </a:r>
            <a:endParaRPr lang="ja-JP" altLang="en-US" sz="4800" kern="0" dirty="0">
              <a:solidFill>
                <a:schemeClr val="tx1"/>
              </a:solidFill>
              <a:latin typeface="+mn-lt"/>
              <a:cs typeface="Arial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13CA4A5-AB8F-4333-9D53-631216AC6C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6833" y="2026816"/>
            <a:ext cx="5890332" cy="2804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914400" indent="-4572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marL="432000" lvl="1" indent="-571500" eaLnBrk="1" hangingPunct="1">
              <a:buFont typeface="Wingdings" panose="05000000000000000000" pitchFamily="2" charset="2"/>
              <a:buChar char="ü"/>
              <a:defRPr/>
            </a:pPr>
            <a:endParaRPr lang="en-US" altLang="ja-JP" sz="3600" dirty="0">
              <a:solidFill>
                <a:srgbClr val="000000"/>
              </a:solidFill>
              <a:latin typeface="+mn-lt"/>
              <a:cs typeface="Arial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CB0D7DE-DBB1-4080-96FC-90AF84878BC2}"/>
              </a:ext>
            </a:extLst>
          </p:cNvPr>
          <p:cNvSpPr txBox="1"/>
          <p:nvPr/>
        </p:nvSpPr>
        <p:spPr>
          <a:xfrm>
            <a:off x="1626833" y="1916832"/>
            <a:ext cx="568101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Make your own script files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“autorun.bat/</a:t>
            </a:r>
            <a:r>
              <a:rPr kumimoji="1" lang="en-US" altLang="ja-JP" sz="3600" dirty="0" err="1"/>
              <a:t>sh</a:t>
            </a:r>
            <a:r>
              <a:rPr kumimoji="1" lang="en-US" altLang="ja-JP" sz="3600" dirty="0"/>
              <a:t>”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/>
              <a:t>Use [</a:t>
            </a:r>
            <a:r>
              <a:rPr kumimoji="1" lang="en-US" altLang="ja-JP" sz="3600" dirty="0" err="1"/>
              <a:t>anatally</a:t>
            </a:r>
            <a:r>
              <a:rPr kumimoji="1" lang="en-US" altLang="ja-JP" sz="3600" dirty="0"/>
              <a:t>] and ANOVA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kumimoji="1" lang="en-US" altLang="ja-JP" sz="3600" dirty="0">
                <a:solidFill>
                  <a:srgbClr val="FF0000"/>
                </a:solidFill>
              </a:rPr>
              <a:t>Summary</a:t>
            </a:r>
            <a:endParaRPr kumimoji="1" lang="ja-JP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2815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42" name="Rectangle 8">
            <a:extLst>
              <a:ext uri="{FF2B5EF4-FFF2-40B4-BE49-F238E27FC236}">
                <a16:creationId xmlns:a16="http://schemas.microsoft.com/office/drawing/2014/main" id="{4AF4343C-6D30-442B-BA11-6713B242A75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695325" y="1222375"/>
            <a:ext cx="7753350" cy="4608041"/>
          </a:xfrm>
        </p:spPr>
        <p:txBody>
          <a:bodyPr/>
          <a:lstStyle/>
          <a:p>
            <a:pPr eaLnBrk="1" hangingPunct="1">
              <a:spcBef>
                <a:spcPts val="1500"/>
              </a:spcBef>
              <a:buFont typeface="Wingdings" panose="05000000000000000000" pitchFamily="2" charset="2"/>
              <a:buChar char="ü"/>
            </a:pPr>
            <a:r>
              <a:rPr lang="en-US" altLang="ja-JP" sz="2800" dirty="0">
                <a:cs typeface="Arial" panose="020B0604020202020204" pitchFamily="34" charset="0"/>
              </a:rPr>
              <a:t>Script files can significantly reduce your effort on running PHITS simulations for a variety of conditions</a:t>
            </a:r>
          </a:p>
          <a:p>
            <a:pPr eaLnBrk="1" hangingPunct="1">
              <a:spcBef>
                <a:spcPts val="1500"/>
              </a:spcBef>
              <a:buFont typeface="Wingdings" panose="05000000000000000000" pitchFamily="2" charset="2"/>
              <a:buChar char="ü"/>
            </a:pPr>
            <a:r>
              <a:rPr lang="en-US" altLang="ja-JP" sz="2800" dirty="0">
                <a:cs typeface="Arial" panose="020B0604020202020204" pitchFamily="34" charset="0"/>
              </a:rPr>
              <a:t>As for the sample script files, you can select either the combination of “eachrun.bat/</a:t>
            </a:r>
            <a:r>
              <a:rPr lang="en-US" altLang="ja-JP" sz="2800" dirty="0" err="1">
                <a:cs typeface="Arial" panose="020B0604020202020204" pitchFamily="34" charset="0"/>
              </a:rPr>
              <a:t>sh</a:t>
            </a:r>
            <a:r>
              <a:rPr lang="en-US" altLang="ja-JP" sz="2800" dirty="0">
                <a:cs typeface="Arial" panose="020B0604020202020204" pitchFamily="34" charset="0"/>
              </a:rPr>
              <a:t>” and “multirun.bat/</a:t>
            </a:r>
            <a:r>
              <a:rPr lang="en-US" altLang="ja-JP" sz="2800" dirty="0" err="1">
                <a:cs typeface="Arial" panose="020B0604020202020204" pitchFamily="34" charset="0"/>
              </a:rPr>
              <a:t>sh</a:t>
            </a:r>
            <a:r>
              <a:rPr lang="en-US" altLang="ja-JP" sz="2800" dirty="0">
                <a:cs typeface="Arial" panose="020B0604020202020204" pitchFamily="34" charset="0"/>
              </a:rPr>
              <a:t>”, or “autorun.bat/</a:t>
            </a:r>
            <a:r>
              <a:rPr lang="en-US" altLang="ja-JP" sz="2800" dirty="0" err="1">
                <a:cs typeface="Arial" panose="020B0604020202020204" pitchFamily="34" charset="0"/>
              </a:rPr>
              <a:t>sh</a:t>
            </a:r>
            <a:r>
              <a:rPr lang="en-US" altLang="ja-JP" sz="2800" dirty="0">
                <a:cs typeface="Arial" panose="020B0604020202020204" pitchFamily="34" charset="0"/>
              </a:rPr>
              <a:t>”</a:t>
            </a:r>
          </a:p>
          <a:p>
            <a:pPr eaLnBrk="1" hangingPunct="1">
              <a:spcBef>
                <a:spcPts val="1500"/>
              </a:spcBef>
              <a:buFont typeface="Wingdings" panose="05000000000000000000" pitchFamily="2" charset="2"/>
              <a:buChar char="ü"/>
            </a:pPr>
            <a:r>
              <a:rPr lang="en-US" altLang="ja-JP" sz="2800" dirty="0">
                <a:cs typeface="Arial" panose="020B0604020202020204" pitchFamily="34" charset="0"/>
              </a:rPr>
              <a:t>“autorun.bat/</a:t>
            </a:r>
            <a:r>
              <a:rPr lang="en-US" altLang="ja-JP" sz="2800" dirty="0" err="1">
                <a:cs typeface="Arial" panose="020B0604020202020204" pitchFamily="34" charset="0"/>
              </a:rPr>
              <a:t>sh</a:t>
            </a:r>
            <a:r>
              <a:rPr lang="en-US" altLang="ja-JP" sz="2800" dirty="0">
                <a:cs typeface="Arial" panose="020B0604020202020204" pitchFamily="34" charset="0"/>
              </a:rPr>
              <a:t>” is useful particularly when the systematic uncertainties of a certain variable in PHITS input file must be evaluated</a:t>
            </a:r>
          </a:p>
          <a:p>
            <a:pPr marL="0" indent="0" eaLnBrk="1" hangingPunct="1">
              <a:spcBef>
                <a:spcPts val="1500"/>
              </a:spcBef>
              <a:buNone/>
            </a:pPr>
            <a:endParaRPr lang="en-US" altLang="ja-JP" sz="2800" dirty="0">
              <a:cs typeface="Arial" panose="020B0604020202020204" pitchFamily="34" charset="0"/>
            </a:endParaRPr>
          </a:p>
        </p:txBody>
      </p:sp>
      <p:sp>
        <p:nvSpPr>
          <p:cNvPr id="106503" name="Rectangle 2">
            <a:extLst>
              <a:ext uri="{FF2B5EF4-FFF2-40B4-BE49-F238E27FC236}">
                <a16:creationId xmlns:a16="http://schemas.microsoft.com/office/drawing/2014/main" id="{E1DC3755-55B4-459D-9AAF-39893603BA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0"/>
            <a:ext cx="4462463" cy="896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ＭＳ Ｐゴシック" pitchFamily="50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ja-JP" sz="4800" dirty="0">
                <a:solidFill>
                  <a:srgbClr val="000000"/>
                </a:solidFill>
                <a:latin typeface="+mn-lt"/>
              </a:rPr>
              <a:t>Summary</a:t>
            </a:r>
            <a:endParaRPr lang="ja-JP" altLang="en-US" sz="4800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標準デザイン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標準デザイン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20395</TotalTime>
  <Words>2762</Words>
  <Application>Microsoft Office PowerPoint</Application>
  <PresentationFormat>画面に合わせる (4:3)</PresentationFormat>
  <Paragraphs>344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0" baseType="lpstr">
      <vt:lpstr>Arial</vt:lpstr>
      <vt:lpstr>Calibri</vt:lpstr>
      <vt:lpstr>Cambria Math</vt:lpstr>
      <vt:lpstr>Tahoma</vt:lpstr>
      <vt:lpstr>Times New Roman</vt:lpstr>
      <vt:lpstr>Wingdings</vt:lpstr>
      <vt:lpstr>標準デザイン</vt:lpstr>
      <vt:lpstr>PHITS</vt:lpstr>
      <vt:lpstr>PowerPoint プレゼンテーション</vt:lpstr>
      <vt:lpstr>PowerPoint プレゼンテーション</vt:lpstr>
      <vt:lpstr>What is script file?</vt:lpstr>
      <vt:lpstr>Exercise 1: Run a script file</vt:lpstr>
      <vt:lpstr>What is written in eachrun.bat?</vt:lpstr>
      <vt:lpstr>phits.inp</vt:lpstr>
      <vt:lpstr>Exercise 2</vt:lpstr>
      <vt:lpstr>Exercise 3</vt:lpstr>
      <vt:lpstr>Exercise 4</vt:lpstr>
      <vt:lpstr>Exercise 5</vt:lpstr>
      <vt:lpstr>PowerPoint プレゼンテーション</vt:lpstr>
      <vt:lpstr>“autorun.bat” &amp; “autorun.sh” in PHITS</vt:lpstr>
      <vt:lpstr>Exercise 6</vt:lpstr>
      <vt:lpstr>Exercise 7</vt:lpstr>
      <vt:lpstr>PowerPoint プレゼンテーション</vt:lpstr>
      <vt:lpstr>What is [anatally] &amp; ANOVA?</vt:lpstr>
      <vt:lpstr>Exercise 8</vt:lpstr>
      <vt:lpstr>Answer 8</vt:lpstr>
      <vt:lpstr>Exercise 9</vt:lpstr>
      <vt:lpstr>Answer 9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SHashimoto</dc:creator>
  <cp:lastModifiedBy>Tatsuhiko Sato</cp:lastModifiedBy>
  <cp:revision>959</cp:revision>
  <cp:lastPrinted>2021-04-30T06:51:08Z</cp:lastPrinted>
  <dcterms:created xsi:type="dcterms:W3CDTF">2012-03-22T09:06:34Z</dcterms:created>
  <dcterms:modified xsi:type="dcterms:W3CDTF">2024-12-02T15:29:13Z</dcterms:modified>
</cp:coreProperties>
</file>