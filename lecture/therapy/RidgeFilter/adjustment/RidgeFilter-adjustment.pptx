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71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CCFFFF"/>
    <a:srgbClr val="FF993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62" autoAdjust="0"/>
    <p:restoredTop sz="94660"/>
  </p:normalViewPr>
  <p:slideViewPr>
    <p:cSldViewPr>
      <p:cViewPr varScale="1">
        <p:scale>
          <a:sx n="114" d="100"/>
          <a:sy n="114" d="100"/>
        </p:scale>
        <p:origin x="150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7B4E7-D995-42A7-A1D1-CDDAD993B2FC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67B0E-6F62-421D-A9E9-6B64BC763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9637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ja-JP"/>
              <a:t>PHITS</a:t>
            </a:r>
            <a:r>
              <a:rPr lang="ja-JP" altLang="en-US"/>
              <a:t>講習会　入門実習</a:t>
            </a:r>
          </a:p>
        </p:txBody>
      </p:sp>
    </p:spTree>
    <p:extLst>
      <p:ext uri="{BB962C8B-B14F-4D97-AF65-F5344CB8AC3E}">
        <p14:creationId xmlns:p14="http://schemas.microsoft.com/office/powerpoint/2010/main" val="3699653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2022/3/7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72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110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ja-JP" sz="90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</a:t>
            </a:r>
            <a:r>
              <a:rPr lang="en-US" altLang="ja-JP" sz="9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sz="90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9100" y="3276600"/>
            <a:ext cx="8305800" cy="872480"/>
          </a:xfrm>
        </p:spPr>
        <p:txBody>
          <a:bodyPr/>
          <a:lstStyle/>
          <a:p>
            <a:pPr eaLnBrk="1" hangingPunct="1"/>
            <a:r>
              <a:rPr lang="ja-JP" altLang="en-US" sz="4500" dirty="0">
                <a:solidFill>
                  <a:srgbClr val="010000"/>
                </a:solidFill>
                <a:latin typeface="Arial Black" panose="020B0A04020102020204" pitchFamily="34" charset="0"/>
              </a:rPr>
              <a:t>リッジフィルタの調整方法</a:t>
            </a:r>
            <a:endParaRPr lang="en-US" altLang="ja-JP" dirty="0">
              <a:solidFill>
                <a:srgbClr val="01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48425"/>
            <a:ext cx="18637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6329363"/>
            <a:ext cx="9105900" cy="71437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2400"/>
          </a:p>
        </p:txBody>
      </p:sp>
      <p:sp>
        <p:nvSpPr>
          <p:cNvPr id="2054" name="正方形/長方形 4"/>
          <p:cNvSpPr>
            <a:spLocks noChangeArrowheads="1"/>
          </p:cNvSpPr>
          <p:nvPr/>
        </p:nvSpPr>
        <p:spPr bwMode="auto">
          <a:xfrm>
            <a:off x="214313" y="2495550"/>
            <a:ext cx="864393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2200" b="1" i="1" dirty="0">
                <a:cs typeface="Times New Roman" panose="02020603050405020304" pitchFamily="18" charset="0"/>
              </a:rPr>
              <a:t>Multi-Purpose </a:t>
            </a:r>
            <a:r>
              <a:rPr lang="en-US" altLang="ja-JP" sz="2200" b="1" i="1" dirty="0">
                <a:solidFill>
                  <a:srgbClr val="0000CC"/>
                </a:solidFill>
                <a:cs typeface="Times New Roman" panose="02020603050405020304" pitchFamily="18" charset="0"/>
              </a:rPr>
              <a:t>P</a:t>
            </a:r>
            <a:r>
              <a:rPr lang="en-US" altLang="ja-JP" sz="2200" b="1" i="1" dirty="0">
                <a:cs typeface="Times New Roman" panose="02020603050405020304" pitchFamily="18" charset="0"/>
              </a:rPr>
              <a:t>article and </a:t>
            </a:r>
            <a:r>
              <a:rPr lang="en-US" altLang="ja-JP" sz="2200" b="1" i="1" dirty="0">
                <a:solidFill>
                  <a:srgbClr val="0000CC"/>
                </a:solidFill>
                <a:cs typeface="Times New Roman" panose="02020603050405020304" pitchFamily="18" charset="0"/>
              </a:rPr>
              <a:t>H</a:t>
            </a:r>
            <a:r>
              <a:rPr lang="en-US" altLang="ja-JP" sz="2200" b="1" i="1" dirty="0">
                <a:cs typeface="Times New Roman" panose="02020603050405020304" pitchFamily="18" charset="0"/>
              </a:rPr>
              <a:t>eavy </a:t>
            </a:r>
            <a:r>
              <a:rPr lang="en-US" altLang="ja-JP" sz="2200" b="1" i="1" dirty="0">
                <a:solidFill>
                  <a:srgbClr val="0000CC"/>
                </a:solidFill>
                <a:cs typeface="Times New Roman" panose="02020603050405020304" pitchFamily="18" charset="0"/>
              </a:rPr>
              <a:t>I</a:t>
            </a:r>
            <a:r>
              <a:rPr lang="en-US" altLang="ja-JP" sz="2200" b="1" i="1" dirty="0">
                <a:cs typeface="Times New Roman" panose="02020603050405020304" pitchFamily="18" charset="0"/>
              </a:rPr>
              <a:t>on </a:t>
            </a:r>
            <a:r>
              <a:rPr lang="en-US" altLang="ja-JP" sz="2200" b="1" i="1" dirty="0">
                <a:solidFill>
                  <a:srgbClr val="0000CC"/>
                </a:solidFill>
                <a:cs typeface="Times New Roman" panose="02020603050405020304" pitchFamily="18" charset="0"/>
              </a:rPr>
              <a:t>T</a:t>
            </a:r>
            <a:r>
              <a:rPr lang="en-US" altLang="ja-JP" sz="2200" b="1" i="1" dirty="0">
                <a:cs typeface="Times New Roman" panose="02020603050405020304" pitchFamily="18" charset="0"/>
              </a:rPr>
              <a:t>ransport code </a:t>
            </a:r>
            <a:r>
              <a:rPr lang="en-US" altLang="ja-JP" sz="2200" b="1" i="1" dirty="0">
                <a:solidFill>
                  <a:srgbClr val="0000CC"/>
                </a:solidFill>
                <a:cs typeface="Times New Roman" panose="02020603050405020304" pitchFamily="18" charset="0"/>
              </a:rPr>
              <a:t>S</a:t>
            </a:r>
            <a:r>
              <a:rPr lang="en-US" altLang="ja-JP" sz="2200" b="1" i="1" dirty="0">
                <a:cs typeface="Times New Roman" panose="02020603050405020304" pitchFamily="18" charset="0"/>
              </a:rPr>
              <a:t>ystem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21971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ja-JP" sz="2400">
                <a:latin typeface="Tahoma" panose="020B0604030504040204" pitchFamily="34" charset="0"/>
              </a:rPr>
              <a:t>title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8153400" y="64008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fld id="{D35027FF-4C8E-4C37-B3F0-B875A152F000}" type="slidenum">
              <a:rPr lang="en-US" altLang="ja-JP" sz="2400">
                <a:latin typeface="Tahoma" panose="020B0604030504040204" pitchFamily="34" charset="0"/>
              </a:rPr>
              <a:pPr algn="ctr" eaLnBrk="1" hangingPunct="1">
                <a:spcBef>
                  <a:spcPct val="50000"/>
                </a:spcBef>
                <a:buFontTx/>
                <a:buNone/>
              </a:pPr>
              <a:t>1</a:t>
            </a:fld>
            <a:endParaRPr lang="en-US" altLang="ja-JP" sz="2400">
              <a:latin typeface="Tahoma" panose="020B0604030504040204" pitchFamily="34" charset="0"/>
            </a:endParaRP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3154363" y="5194300"/>
            <a:ext cx="28098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ja-JP" sz="2800" dirty="0">
                <a:solidFill>
                  <a:srgbClr val="FF0000"/>
                </a:solidFill>
                <a:latin typeface="+mn-ea"/>
                <a:ea typeface="+mn-ea"/>
              </a:rPr>
              <a:t>2022</a:t>
            </a:r>
            <a:r>
              <a:rPr lang="ja-JP" altLang="en-US" sz="2800" dirty="0">
                <a:solidFill>
                  <a:srgbClr val="FF0000"/>
                </a:solidFill>
                <a:latin typeface="+mn-ea"/>
                <a:ea typeface="+mn-ea"/>
              </a:rPr>
              <a:t>年</a:t>
            </a:r>
            <a:r>
              <a:rPr lang="en-US" altLang="ja-JP" sz="28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ja-JP" altLang="en-US" sz="2800" dirty="0">
                <a:solidFill>
                  <a:srgbClr val="FF0000"/>
                </a:solidFill>
                <a:latin typeface="+mn-ea"/>
                <a:ea typeface="+mn-ea"/>
              </a:rPr>
              <a:t>月改訂</a:t>
            </a:r>
            <a:endParaRPr lang="en-US" altLang="ja-JP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4791618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1" y="14452"/>
            <a:ext cx="9105899" cy="1368152"/>
          </a:xfrm>
        </p:spPr>
        <p:txBody>
          <a:bodyPr>
            <a:noAutofit/>
          </a:bodyPr>
          <a:lstStyle/>
          <a:p>
            <a:pPr eaLnBrk="1" hangingPunct="1"/>
            <a:r>
              <a:rPr lang="ja-JP" altLang="en-US" sz="3200" dirty="0">
                <a:latin typeface="Century Gothic" panose="020B0502020202020204" pitchFamily="34" charset="0"/>
              </a:rPr>
              <a:t>リッジフィルタの構造が分からない場合は</a:t>
            </a:r>
            <a:br>
              <a:rPr lang="en-US" altLang="ja-JP" sz="3200" dirty="0">
                <a:latin typeface="Century Gothic" panose="020B0502020202020204" pitchFamily="34" charset="0"/>
              </a:rPr>
            </a:br>
            <a:r>
              <a:rPr lang="ja-JP" altLang="en-US" sz="3200" dirty="0">
                <a:latin typeface="Century Gothic" panose="020B0502020202020204" pitchFamily="34" charset="0"/>
              </a:rPr>
              <a:t>線量深さ分布を再現するようにその形状を調整する</a:t>
            </a:r>
            <a:endParaRPr lang="en-US" altLang="ja-JP" sz="3200" dirty="0">
              <a:latin typeface="Century Gothic" panose="020B0502020202020204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48425"/>
            <a:ext cx="18637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6329363"/>
            <a:ext cx="9105900" cy="71437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240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153400" y="64008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fld id="{2B54C5DB-47CD-495B-93C2-48DA6DEE6302}" type="slidenum">
              <a:rPr lang="en-US" altLang="ja-JP" sz="2400">
                <a:latin typeface="Tahoma" panose="020B0604030504040204" pitchFamily="34" charset="0"/>
              </a:rPr>
              <a:pPr algn="ctr" eaLnBrk="1" hangingPunct="1">
                <a:spcBef>
                  <a:spcPct val="50000"/>
                </a:spcBef>
                <a:buFontTx/>
                <a:buNone/>
              </a:pPr>
              <a:t>2</a:t>
            </a:fld>
            <a:endParaRPr lang="en-US" altLang="ja-JP" sz="2400">
              <a:latin typeface="Tahoma" panose="020B0604030504040204" pitchFamily="34" charset="0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907040" y="5693480"/>
            <a:ext cx="7395871" cy="400110"/>
          </a:xfrm>
          <a:prstGeom prst="rect">
            <a:avLst/>
          </a:prstGeom>
          <a:solidFill>
            <a:srgbClr val="0000CC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 err="1">
                <a:solidFill>
                  <a:srgbClr val="FFFF00"/>
                </a:solidFill>
              </a:rPr>
              <a:t>phits.inp</a:t>
            </a:r>
            <a:r>
              <a:rPr kumimoji="1" lang="ja-JP" altLang="en-US" sz="2000" dirty="0">
                <a:solidFill>
                  <a:srgbClr val="FFFF00"/>
                </a:solidFill>
              </a:rPr>
              <a:t>を実行して</a:t>
            </a:r>
            <a:r>
              <a:rPr kumimoji="1" lang="en-US" altLang="ja-JP" sz="2000" dirty="0">
                <a:solidFill>
                  <a:srgbClr val="FFFF00"/>
                </a:solidFill>
              </a:rPr>
              <a:t>HIMAC 290 MeV/n</a:t>
            </a:r>
            <a:r>
              <a:rPr kumimoji="1" lang="ja-JP" altLang="en-US" sz="2000" dirty="0">
                <a:solidFill>
                  <a:srgbClr val="FFFF00"/>
                </a:solidFill>
              </a:rPr>
              <a:t>の</a:t>
            </a:r>
            <a:r>
              <a:rPr kumimoji="1" lang="en-US" altLang="ja-JP" sz="2000" dirty="0">
                <a:solidFill>
                  <a:srgbClr val="FFFF00"/>
                </a:solidFill>
              </a:rPr>
              <a:t>SOBP</a:t>
            </a:r>
            <a:r>
              <a:rPr kumimoji="1" lang="ja-JP" altLang="en-US" sz="2000" dirty="0">
                <a:solidFill>
                  <a:srgbClr val="FFFF00"/>
                </a:solidFill>
              </a:rPr>
              <a:t>ビームを再現した例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1A8676D-FD39-4E5B-A3DE-1C71DA776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279818"/>
            <a:ext cx="5695950" cy="4295775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441E3B4-4F60-4B2E-8E29-9CDFD6B565CD}"/>
              </a:ext>
            </a:extLst>
          </p:cNvPr>
          <p:cNvSpPr txBox="1"/>
          <p:nvPr/>
        </p:nvSpPr>
        <p:spPr>
          <a:xfrm>
            <a:off x="2149189" y="6427757"/>
            <a:ext cx="49115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*Ando et al. </a:t>
            </a:r>
            <a:r>
              <a:rPr lang="en-US" altLang="ja-JP" sz="1800" i="1" dirty="0">
                <a:effectLst/>
                <a:ea typeface="Times New Roman" panose="02020603050405020304" pitchFamily="18" charset="0"/>
              </a:rPr>
              <a:t>Int J </a:t>
            </a:r>
            <a:r>
              <a:rPr lang="en-US" altLang="ja-JP" sz="1800" i="1" dirty="0" err="1">
                <a:effectLst/>
                <a:ea typeface="Times New Roman" panose="02020603050405020304" pitchFamily="18" charset="0"/>
              </a:rPr>
              <a:t>Radiat</a:t>
            </a:r>
            <a:r>
              <a:rPr lang="en-US" altLang="ja-JP" sz="1800" i="1" dirty="0">
                <a:effectLst/>
                <a:ea typeface="Times New Roman" panose="02020603050405020304" pitchFamily="18" charset="0"/>
              </a:rPr>
              <a:t> Biol. </a:t>
            </a:r>
            <a:r>
              <a:rPr lang="en-US" altLang="ja-JP" sz="1800" dirty="0">
                <a:effectLst/>
                <a:ea typeface="Times New Roman" panose="02020603050405020304" pitchFamily="18" charset="0"/>
              </a:rPr>
              <a:t>1998;74(1):129-138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683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463D640-480E-41AD-AB98-A6F8277006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9" t="1777" r="2619" b="3360"/>
          <a:stretch/>
        </p:blipFill>
        <p:spPr>
          <a:xfrm>
            <a:off x="4302344" y="1244712"/>
            <a:ext cx="4773111" cy="3924476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7" y="-103288"/>
            <a:ext cx="8640959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ja-JP" altLang="en-US" sz="4000" dirty="0">
                <a:latin typeface="Century Gothic" panose="020B0502020202020204" pitchFamily="34" charset="0"/>
              </a:rPr>
              <a:t>関数を使って形状を表現する</a:t>
            </a:r>
            <a:endParaRPr lang="en-US" altLang="ja-JP" sz="4000" dirty="0">
              <a:latin typeface="Century Gothic" panose="020B0502020202020204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48425"/>
            <a:ext cx="18637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6329363"/>
            <a:ext cx="9105900" cy="71437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240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153400" y="64008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fld id="{2B54C5DB-47CD-495B-93C2-48DA6DEE6302}" type="slidenum">
              <a:rPr lang="en-US" altLang="ja-JP" sz="2400">
                <a:latin typeface="Tahoma" panose="020B0604030504040204" pitchFamily="34" charset="0"/>
              </a:rPr>
              <a:pPr algn="ctr" eaLnBrk="1" hangingPunct="1">
                <a:spcBef>
                  <a:spcPct val="50000"/>
                </a:spcBef>
                <a:buFontTx/>
                <a:buNone/>
              </a:pPr>
              <a:t>3</a:t>
            </a:fld>
            <a:endParaRPr lang="en-US" altLang="ja-JP" sz="2400">
              <a:latin typeface="Tahoma" panose="020B0604030504040204" pitchFamily="34" charset="0"/>
            </a:endParaRPr>
          </a:p>
        </p:txBody>
      </p:sp>
      <p:sp>
        <p:nvSpPr>
          <p:cNvPr id="19" name="Text Box 1030"/>
          <p:cNvSpPr txBox="1">
            <a:spLocks noChangeArrowheads="1"/>
          </p:cNvSpPr>
          <p:nvPr/>
        </p:nvSpPr>
        <p:spPr bwMode="auto">
          <a:xfrm>
            <a:off x="203905" y="939730"/>
            <a:ext cx="2465162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ridge-</a:t>
            </a: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surface.inp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" name="Text Box 1031"/>
          <p:cNvSpPr txBox="1">
            <a:spLocks noChangeArrowheads="1"/>
          </p:cNvSpPr>
          <p:nvPr/>
        </p:nvSpPr>
        <p:spPr bwMode="auto">
          <a:xfrm>
            <a:off x="354543" y="1580654"/>
            <a:ext cx="3841908" cy="14065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$  Ridge Filter Area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set: c1[-50.0] $ Z position of ridge filter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set: c2[2.9]  $ maximum height of ridge filter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set: c3[0.02] $ width of each mesh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set: c4[50]   $ number of height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set: c5[1.5]  $ power index of curve…</a:t>
            </a:r>
            <a:endParaRPr lang="pt-BR" altLang="ja-JP" sz="1400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858AC734-70E0-4126-BD0E-F896F31BD2D7}"/>
                  </a:ext>
                </a:extLst>
              </p:cNvPr>
              <p:cNvSpPr txBox="1"/>
              <p:nvPr/>
            </p:nvSpPr>
            <p:spPr>
              <a:xfrm>
                <a:off x="147151" y="3232965"/>
                <a:ext cx="1929056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ja-JP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ja-JP" altLang="en-U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ja-JP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ja-JP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858AC734-70E0-4126-BD0E-F896F31BD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51" y="3232965"/>
                <a:ext cx="1929056" cy="374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39E3F8A-27DE-4497-AE14-84307B2DF49C}"/>
              </a:ext>
            </a:extLst>
          </p:cNvPr>
          <p:cNvSpPr txBox="1"/>
          <p:nvPr/>
        </p:nvSpPr>
        <p:spPr>
          <a:xfrm>
            <a:off x="1939925" y="3269039"/>
            <a:ext cx="2400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 -</a:t>
            </a:r>
            <a:r>
              <a:rPr kumimoji="1"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3*</a:t>
            </a:r>
            <a:r>
              <a:rPr kumimoji="1"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&lt; </a:t>
            </a:r>
            <a:r>
              <a:rPr kumimoji="1"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kumimoji="1"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3*</a:t>
            </a:r>
            <a:r>
              <a:rPr kumimoji="1"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Box 1030">
            <a:extLst>
              <a:ext uri="{FF2B5EF4-FFF2-40B4-BE49-F238E27FC236}">
                <a16:creationId xmlns:a16="http://schemas.microsoft.com/office/drawing/2014/main" id="{F4AE25DB-6840-481A-A6C7-312AC608C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5703578"/>
            <a:ext cx="2194703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track-</a:t>
            </a: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ridge.eps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842B434-A3DA-4D74-AB6E-E73F4CDA4728}"/>
              </a:ext>
            </a:extLst>
          </p:cNvPr>
          <p:cNvSpPr txBox="1"/>
          <p:nvPr/>
        </p:nvSpPr>
        <p:spPr>
          <a:xfrm>
            <a:off x="7308304" y="5734356"/>
            <a:ext cx="1525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with </a:t>
            </a:r>
            <a:r>
              <a:rPr kumimoji="1" lang="en-US" altLang="ja-JP" sz="2000" dirty="0" err="1"/>
              <a:t>icntl</a:t>
            </a:r>
            <a:r>
              <a:rPr kumimoji="1" lang="en-US" altLang="ja-JP" sz="2000" dirty="0"/>
              <a:t> = 8</a:t>
            </a:r>
            <a:endParaRPr kumimoji="1" lang="ja-JP" altLang="en-US" sz="20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DEE40DC7-5F2B-4FED-9829-0F36F48F3B92}"/>
              </a:ext>
            </a:extLst>
          </p:cNvPr>
          <p:cNvCxnSpPr>
            <a:cxnSpLocks/>
          </p:cNvCxnSpPr>
          <p:nvPr/>
        </p:nvCxnSpPr>
        <p:spPr>
          <a:xfrm>
            <a:off x="5796136" y="3772262"/>
            <a:ext cx="2291317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5A9EBD2-E63F-4CCD-A51A-AF28620EE3D4}"/>
              </a:ext>
            </a:extLst>
          </p:cNvPr>
          <p:cNvSpPr txBox="1"/>
          <p:nvPr/>
        </p:nvSpPr>
        <p:spPr>
          <a:xfrm>
            <a:off x="7007526" y="3715872"/>
            <a:ext cx="501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C4CFED5-E3FD-4631-B5A3-3CBA8FC980BB}"/>
              </a:ext>
            </a:extLst>
          </p:cNvPr>
          <p:cNvSpPr txBox="1"/>
          <p:nvPr/>
        </p:nvSpPr>
        <p:spPr>
          <a:xfrm>
            <a:off x="7902745" y="1020783"/>
            <a:ext cx="501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ja-JP" altLang="en-US" b="1" dirty="0">
              <a:solidFill>
                <a:srgbClr val="FF0000"/>
              </a:solidFill>
            </a:endParaRP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FF5B3B70-F977-424A-B57A-FDFCA7BCF3F3}"/>
              </a:ext>
            </a:extLst>
          </p:cNvPr>
          <p:cNvCxnSpPr>
            <a:cxnSpLocks/>
          </p:cNvCxnSpPr>
          <p:nvPr/>
        </p:nvCxnSpPr>
        <p:spPr>
          <a:xfrm>
            <a:off x="8153399" y="2978850"/>
            <a:ext cx="0" cy="81602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2D8BFBE9-4B71-4F86-9183-A47091B5BBCD}"/>
              </a:ext>
            </a:extLst>
          </p:cNvPr>
          <p:cNvSpPr txBox="1"/>
          <p:nvPr/>
        </p:nvSpPr>
        <p:spPr>
          <a:xfrm>
            <a:off x="8190996" y="2925195"/>
            <a:ext cx="5013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r>
              <a:rPr lang="en-US" altLang="ja-JP" b="1" dirty="0">
                <a:solidFill>
                  <a:srgbClr val="FF0000"/>
                </a:solidFill>
              </a:rPr>
              <a:t>x</a:t>
            </a:r>
          </a:p>
          <a:p>
            <a:r>
              <a:rPr kumimoji="1" lang="en-US" altLang="ja-JP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AA183B2-48CE-4044-A2D9-0925E0E25EFA}"/>
              </a:ext>
            </a:extLst>
          </p:cNvPr>
          <p:cNvSpPr txBox="1"/>
          <p:nvPr/>
        </p:nvSpPr>
        <p:spPr>
          <a:xfrm>
            <a:off x="107274" y="4455624"/>
            <a:ext cx="54938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ja-JP" dirty="0"/>
              <a:t>c1: </a:t>
            </a:r>
            <a:r>
              <a:rPr kumimoji="1" lang="ja-JP" altLang="en-US" dirty="0"/>
              <a:t>リッジフィルタ頂点の</a:t>
            </a:r>
            <a:r>
              <a:rPr kumimoji="1" lang="en-US" altLang="ja-JP" dirty="0"/>
              <a:t>z</a:t>
            </a:r>
            <a:r>
              <a:rPr kumimoji="1" lang="ja-JP" altLang="en-US" dirty="0"/>
              <a:t>座標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ja-JP" dirty="0"/>
              <a:t>c2: </a:t>
            </a:r>
            <a:r>
              <a:rPr kumimoji="1" lang="ja-JP" altLang="en-US" dirty="0"/>
              <a:t>リッジフィルタの高さ（</a:t>
            </a:r>
            <a:r>
              <a:rPr kumimoji="1" lang="en-US" altLang="ja-JP" dirty="0"/>
              <a:t>SOBP</a:t>
            </a:r>
            <a:r>
              <a:rPr kumimoji="1" lang="ja-JP" altLang="en-US" dirty="0"/>
              <a:t>の幅）</a:t>
            </a: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c3</a:t>
            </a:r>
            <a:r>
              <a:rPr lang="ja-JP" altLang="en-US" dirty="0"/>
              <a:t>*</a:t>
            </a:r>
            <a:r>
              <a:rPr lang="en-US" altLang="ja-JP" dirty="0"/>
              <a:t>c4:</a:t>
            </a:r>
            <a:r>
              <a:rPr lang="ja-JP" altLang="en-US" dirty="0"/>
              <a:t> リッジフィルタの半分幅（１に固定、変更不可）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dirty="0"/>
              <a:t>c5: </a:t>
            </a:r>
            <a:r>
              <a:rPr lang="ja-JP" altLang="en-US" dirty="0"/>
              <a:t>側面の曲率（</a:t>
            </a:r>
            <a:r>
              <a:rPr lang="en-US" altLang="ja-JP" dirty="0"/>
              <a:t>SOBP</a:t>
            </a:r>
            <a:r>
              <a:rPr lang="ja-JP" altLang="en-US" dirty="0"/>
              <a:t>の傾き）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83104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1" y="14452"/>
            <a:ext cx="9105899" cy="808166"/>
          </a:xfrm>
        </p:spPr>
        <p:txBody>
          <a:bodyPr>
            <a:noAutofit/>
          </a:bodyPr>
          <a:lstStyle/>
          <a:p>
            <a:pPr eaLnBrk="1" hangingPunct="1"/>
            <a:r>
              <a:rPr lang="ja-JP" altLang="en-US" sz="4000" dirty="0">
                <a:latin typeface="Century Gothic" panose="020B0502020202020204" pitchFamily="34" charset="0"/>
              </a:rPr>
              <a:t>リッジフィルタの高さ（</a:t>
            </a:r>
            <a:r>
              <a:rPr lang="en-US" altLang="ja-JP" sz="4000" dirty="0">
                <a:latin typeface="Century Gothic" panose="020B0502020202020204" pitchFamily="34" charset="0"/>
              </a:rPr>
              <a:t>c2</a:t>
            </a:r>
            <a:r>
              <a:rPr lang="ja-JP" altLang="en-US" sz="4000" dirty="0">
                <a:latin typeface="Century Gothic" panose="020B0502020202020204" pitchFamily="34" charset="0"/>
              </a:rPr>
              <a:t>）を調整</a:t>
            </a:r>
            <a:endParaRPr lang="en-US" altLang="ja-JP" sz="4000" dirty="0">
              <a:latin typeface="Century Gothic" panose="020B0502020202020204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48425"/>
            <a:ext cx="18637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6329363"/>
            <a:ext cx="9105900" cy="71437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240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153400" y="64008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fld id="{2B54C5DB-47CD-495B-93C2-48DA6DEE6302}" type="slidenum">
              <a:rPr lang="en-US" altLang="ja-JP" sz="2400">
                <a:latin typeface="Tahoma" panose="020B0604030504040204" pitchFamily="34" charset="0"/>
              </a:rPr>
              <a:pPr algn="ctr" eaLnBrk="1" hangingPunct="1">
                <a:spcBef>
                  <a:spcPct val="50000"/>
                </a:spcBef>
                <a:buFontTx/>
                <a:buNone/>
              </a:pPr>
              <a:t>4</a:t>
            </a:fld>
            <a:endParaRPr lang="en-US" altLang="ja-JP" sz="2400">
              <a:latin typeface="Tahoma" panose="020B0604030504040204" pitchFamily="34" charset="0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3616583" y="5517385"/>
            <a:ext cx="2028119" cy="400110"/>
          </a:xfrm>
          <a:prstGeom prst="rect">
            <a:avLst/>
          </a:prstGeom>
          <a:solidFill>
            <a:srgbClr val="0000CC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rgbClr val="FFFF00"/>
                </a:solidFill>
              </a:rPr>
              <a:t>SOBP</a:t>
            </a:r>
            <a:r>
              <a:rPr kumimoji="1" lang="ja-JP" altLang="en-US" sz="2000" dirty="0">
                <a:solidFill>
                  <a:srgbClr val="FFFF00"/>
                </a:solidFill>
              </a:rPr>
              <a:t>の幅が変化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D4F5C1F-6E9B-45E3-B2F8-F5B225D1C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940505"/>
            <a:ext cx="569595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3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1" y="14452"/>
            <a:ext cx="9105899" cy="808166"/>
          </a:xfrm>
        </p:spPr>
        <p:txBody>
          <a:bodyPr>
            <a:noAutofit/>
          </a:bodyPr>
          <a:lstStyle/>
          <a:p>
            <a:pPr eaLnBrk="1" hangingPunct="1"/>
            <a:r>
              <a:rPr lang="ja-JP" altLang="en-US" sz="4000" dirty="0">
                <a:latin typeface="Century Gothic" panose="020B0502020202020204" pitchFamily="34" charset="0"/>
              </a:rPr>
              <a:t>リッジフィルタの曲率（</a:t>
            </a:r>
            <a:r>
              <a:rPr lang="en-US" altLang="ja-JP" sz="4000" dirty="0">
                <a:latin typeface="Century Gothic" panose="020B0502020202020204" pitchFamily="34" charset="0"/>
              </a:rPr>
              <a:t>c5</a:t>
            </a:r>
            <a:r>
              <a:rPr lang="ja-JP" altLang="en-US" sz="4000" dirty="0">
                <a:latin typeface="Century Gothic" panose="020B0502020202020204" pitchFamily="34" charset="0"/>
              </a:rPr>
              <a:t>）を調整</a:t>
            </a:r>
            <a:endParaRPr lang="en-US" altLang="ja-JP" sz="4000" dirty="0">
              <a:latin typeface="Century Gothic" panose="020B0502020202020204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48425"/>
            <a:ext cx="18637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6329363"/>
            <a:ext cx="9105900" cy="71437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240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153400" y="64008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fld id="{2B54C5DB-47CD-495B-93C2-48DA6DEE6302}" type="slidenum">
              <a:rPr lang="en-US" altLang="ja-JP" sz="2400">
                <a:latin typeface="Tahoma" panose="020B0604030504040204" pitchFamily="34" charset="0"/>
              </a:rPr>
              <a:pPr algn="ctr" eaLnBrk="1" hangingPunct="1">
                <a:spcBef>
                  <a:spcPct val="50000"/>
                </a:spcBef>
                <a:buFontTx/>
                <a:buNone/>
              </a:pPr>
              <a:t>5</a:t>
            </a:fld>
            <a:endParaRPr lang="en-US" altLang="ja-JP" sz="2400">
              <a:latin typeface="Tahoma" panose="020B0604030504040204" pitchFamily="34" charset="0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3508381" y="5517385"/>
            <a:ext cx="2244525" cy="400110"/>
          </a:xfrm>
          <a:prstGeom prst="rect">
            <a:avLst/>
          </a:prstGeom>
          <a:solidFill>
            <a:srgbClr val="0000CC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rgbClr val="FFFF00"/>
                </a:solidFill>
              </a:rPr>
              <a:t>SOBP</a:t>
            </a:r>
            <a:r>
              <a:rPr kumimoji="1" lang="ja-JP" altLang="en-US" sz="2000" dirty="0">
                <a:solidFill>
                  <a:srgbClr val="FFFF00"/>
                </a:solidFill>
              </a:rPr>
              <a:t>の傾きが変化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145A21B-D5DB-4E38-B4E8-38A0AC635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25" y="1144631"/>
            <a:ext cx="569595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080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244</Words>
  <Application>Microsoft Office PowerPoint</Application>
  <PresentationFormat>画面に合わせる (4:3)</PresentationFormat>
  <Paragraphs>39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5" baseType="lpstr">
      <vt:lpstr>ＭＳ Ｐゴシック</vt:lpstr>
      <vt:lpstr>Arial</vt:lpstr>
      <vt:lpstr>Arial Black</vt:lpstr>
      <vt:lpstr>Calibri</vt:lpstr>
      <vt:lpstr>Cambria Math</vt:lpstr>
      <vt:lpstr>Century Gothic</vt:lpstr>
      <vt:lpstr>Tahoma</vt:lpstr>
      <vt:lpstr>Times New Roman</vt:lpstr>
      <vt:lpstr>Wingdings</vt:lpstr>
      <vt:lpstr>Office テーマ</vt:lpstr>
      <vt:lpstr>PHITS</vt:lpstr>
      <vt:lpstr>リッジフィルタの構造が分からない場合は 線量深さ分布を再現するようにその形状を調整する</vt:lpstr>
      <vt:lpstr>関数を使って形状を表現する</vt:lpstr>
      <vt:lpstr>リッジフィルタの高さ（c2）を調整</vt:lpstr>
      <vt:lpstr>リッジフィルタの曲率（c5）を調整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PHITS</dc:title>
  <dc:creator>tatsu</dc:creator>
  <cp:lastModifiedBy>達彦 佐藤</cp:lastModifiedBy>
  <cp:revision>46</cp:revision>
  <dcterms:created xsi:type="dcterms:W3CDTF">2015-06-05T13:25:37Z</dcterms:created>
  <dcterms:modified xsi:type="dcterms:W3CDTF">2022-03-07T08:54:32Z</dcterms:modified>
</cp:coreProperties>
</file>