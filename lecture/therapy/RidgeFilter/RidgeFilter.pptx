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8" r:id="rId9"/>
    <p:sldId id="265" r:id="rId10"/>
    <p:sldId id="266" r:id="rId11"/>
    <p:sldId id="267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CFFFF"/>
    <a:srgbClr val="FF993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62" autoAdjust="0"/>
    <p:restoredTop sz="94660"/>
  </p:normalViewPr>
  <p:slideViewPr>
    <p:cSldViewPr>
      <p:cViewPr varScale="1">
        <p:scale>
          <a:sx n="130" d="100"/>
          <a:sy n="130" d="100"/>
        </p:scale>
        <p:origin x="105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7B4E7-D995-42A7-A1D1-CDDAD993B2FC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67B0E-6F62-421D-A9E9-6B64BC763A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9637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ja-JP"/>
              <a:t>PHITS</a:t>
            </a:r>
            <a:r>
              <a:rPr lang="ja-JP" altLang="en-US"/>
              <a:t>講習会　入門実習</a:t>
            </a:r>
          </a:p>
        </p:txBody>
      </p:sp>
    </p:spTree>
    <p:extLst>
      <p:ext uri="{BB962C8B-B14F-4D97-AF65-F5344CB8AC3E}">
        <p14:creationId xmlns:p14="http://schemas.microsoft.com/office/powerpoint/2010/main" val="3699653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884DC8-1813-4BA6-815E-BACE4C66ED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29363"/>
            <a:ext cx="9105900" cy="71437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2400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EDFB072-DFCC-41F4-BA9E-61C79D4E28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53400" y="64008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fld id="{AF90131B-4F96-472F-A509-C9EBFAFE72DB}" type="slidenum">
              <a:rPr lang="en-US" altLang="ja-JP" sz="2400">
                <a:latin typeface="Tahoma" panose="020B0604030504040204" pitchFamily="34" charset="0"/>
              </a:rPr>
              <a:pPr algn="ctr" eaLnBrk="1" hangingPunct="1">
                <a:spcBef>
                  <a:spcPct val="50000"/>
                </a:spcBef>
                <a:buFontTx/>
                <a:buNone/>
              </a:pPr>
              <a:t>‹#›</a:t>
            </a:fld>
            <a:endParaRPr lang="en-US" altLang="ja-JP" sz="2400">
              <a:latin typeface="Tahoma" panose="020B0604030504040204" pitchFamily="34" charset="0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2F97C1F-F33D-44CE-947C-2E94712BE7C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2" y="6400800"/>
            <a:ext cx="424763" cy="45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9100" y="3276600"/>
            <a:ext cx="8305800" cy="872480"/>
          </a:xfrm>
        </p:spPr>
        <p:txBody>
          <a:bodyPr/>
          <a:lstStyle/>
          <a:p>
            <a:pPr eaLnBrk="1" hangingPunct="1"/>
            <a:r>
              <a:rPr lang="ja-JP" altLang="en-US" sz="4500" dirty="0">
                <a:solidFill>
                  <a:srgbClr val="010000"/>
                </a:solidFill>
                <a:latin typeface="Arial Black" panose="020B0A04020102020204" pitchFamily="34" charset="0"/>
              </a:rPr>
              <a:t>リッジフィルタ作り方メモ</a:t>
            </a:r>
            <a:endParaRPr lang="en-US" altLang="ja-JP" dirty="0">
              <a:solidFill>
                <a:srgbClr val="010000"/>
              </a:solidFill>
              <a:latin typeface="Arial Black" panose="020B0A04020102020204" pitchFamily="34" charset="0"/>
            </a:endParaRP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21971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ja-JP" sz="2400">
                <a:latin typeface="Tahoma" panose="020B0604030504040204" pitchFamily="34" charset="0"/>
              </a:rPr>
              <a:t>title</a:t>
            </a: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3154363" y="5194300"/>
            <a:ext cx="2809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ja-JP" sz="2800" dirty="0">
                <a:solidFill>
                  <a:srgbClr val="FF0000"/>
                </a:solidFill>
                <a:latin typeface="+mn-ea"/>
                <a:ea typeface="+mn-ea"/>
              </a:rPr>
              <a:t>2014</a:t>
            </a:r>
            <a:r>
              <a:rPr lang="ja-JP" altLang="en-US" sz="2800" dirty="0">
                <a:solidFill>
                  <a:srgbClr val="FF0000"/>
                </a:solidFill>
                <a:latin typeface="+mn-ea"/>
                <a:ea typeface="+mn-ea"/>
              </a:rPr>
              <a:t>年</a:t>
            </a:r>
            <a:r>
              <a:rPr lang="en-US" altLang="ja-JP" sz="2800" dirty="0">
                <a:solidFill>
                  <a:srgbClr val="FF0000"/>
                </a:solidFill>
                <a:latin typeface="+mn-ea"/>
                <a:ea typeface="+mn-ea"/>
              </a:rPr>
              <a:t>8</a:t>
            </a:r>
            <a:r>
              <a:rPr lang="ja-JP" altLang="en-US" sz="2800" dirty="0">
                <a:solidFill>
                  <a:srgbClr val="FF0000"/>
                </a:solidFill>
                <a:latin typeface="+mn-ea"/>
                <a:ea typeface="+mn-ea"/>
              </a:rPr>
              <a:t>月改訂</a:t>
            </a:r>
            <a:endParaRPr lang="en-US" altLang="ja-JP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8F81989-29AB-40F4-9F65-2CB917ECCB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17" y="542630"/>
            <a:ext cx="7560523" cy="2855443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FCA085C8-06A1-45CE-9B3E-D3B47737B2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105971"/>
            <a:ext cx="1574530" cy="130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91618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69962" y="11343"/>
            <a:ext cx="7165975" cy="1143000"/>
          </a:xfrm>
        </p:spPr>
        <p:txBody>
          <a:bodyPr/>
          <a:lstStyle/>
          <a:p>
            <a:pPr eaLnBrk="1" hangingPunct="1"/>
            <a:r>
              <a:rPr lang="ja-JP" altLang="en-US" sz="4800" dirty="0">
                <a:latin typeface="Century Gothic" panose="020B0502020202020204" pitchFamily="34" charset="0"/>
              </a:rPr>
              <a:t>リッジフィルタとは？</a:t>
            </a:r>
            <a:endParaRPr lang="en-US" altLang="ja-JP" sz="4800" dirty="0">
              <a:latin typeface="Century Gothic" panose="020B0502020202020204" pitchFamily="34" charset="0"/>
            </a:endParaRPr>
          </a:p>
        </p:txBody>
      </p:sp>
      <p:pic>
        <p:nvPicPr>
          <p:cNvPr id="18" name="Picture 2" descr="D:\Tatsu\paper\biodose\graph\JM2-figures\3dsho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712" y="939990"/>
            <a:ext cx="485775" cy="1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二等辺三角形 18"/>
          <p:cNvSpPr/>
          <p:nvPr/>
        </p:nvSpPr>
        <p:spPr bwMode="auto">
          <a:xfrm rot="16200000">
            <a:off x="4350545" y="-1003765"/>
            <a:ext cx="596900" cy="5329237"/>
          </a:xfrm>
          <a:prstGeom prst="triangle">
            <a:avLst/>
          </a:prstGeom>
          <a:solidFill>
            <a:srgbClr val="FFC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kumimoji="1" lang="ja-JP" altLang="en-US" sz="1800">
              <a:latin typeface="+mj-lt"/>
            </a:endParaRPr>
          </a:p>
        </p:txBody>
      </p:sp>
      <p:sp>
        <p:nvSpPr>
          <p:cNvPr id="20" name="テキスト ボックス 16"/>
          <p:cNvSpPr txBox="1">
            <a:spLocks noChangeArrowheads="1"/>
          </p:cNvSpPr>
          <p:nvPr/>
        </p:nvSpPr>
        <p:spPr bwMode="auto">
          <a:xfrm>
            <a:off x="1577145" y="1915926"/>
            <a:ext cx="8771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ja-JP" altLang="en-US" sz="1800" dirty="0">
                <a:latin typeface="+mj-lt"/>
              </a:rPr>
              <a:t>散乱体</a:t>
            </a:r>
            <a:endParaRPr lang="en-US" altLang="ja-JP" sz="1800" dirty="0">
              <a:latin typeface="+mj-lt"/>
            </a:endParaRPr>
          </a:p>
        </p:txBody>
      </p:sp>
      <p:sp>
        <p:nvSpPr>
          <p:cNvPr id="21" name="テキスト ボックス 17"/>
          <p:cNvSpPr txBox="1">
            <a:spLocks noChangeArrowheads="1"/>
          </p:cNvSpPr>
          <p:nvPr/>
        </p:nvSpPr>
        <p:spPr bwMode="auto">
          <a:xfrm>
            <a:off x="4776787" y="1933904"/>
            <a:ext cx="101181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ja-JP" altLang="en-US" sz="2000" b="1" dirty="0">
                <a:solidFill>
                  <a:srgbClr val="FF0000"/>
                </a:solidFill>
                <a:latin typeface="+mj-lt"/>
              </a:rPr>
              <a:t>リッジ</a:t>
            </a:r>
            <a:endParaRPr kumimoji="1" lang="en-US" altLang="ja-JP" sz="2000" b="1" dirty="0">
              <a:solidFill>
                <a:srgbClr val="FF0000"/>
              </a:solidFill>
              <a:latin typeface="+mj-lt"/>
            </a:endParaRPr>
          </a:p>
          <a:p>
            <a:pPr>
              <a:defRPr/>
            </a:pPr>
            <a:r>
              <a:rPr kumimoji="1" lang="ja-JP" altLang="en-US" sz="2000" b="1" dirty="0">
                <a:solidFill>
                  <a:srgbClr val="FF0000"/>
                </a:solidFill>
                <a:latin typeface="+mj-lt"/>
              </a:rPr>
              <a:t>フィルタ</a:t>
            </a:r>
            <a:endParaRPr kumimoji="1" lang="en-US" altLang="ja-JP" sz="2000" b="1" dirty="0">
              <a:solidFill>
                <a:srgbClr val="FF0000"/>
              </a:solidFill>
              <a:latin typeface="+mj-lt"/>
            </a:endParaRPr>
          </a:p>
        </p:txBody>
      </p:sp>
      <p:grpSp>
        <p:nvGrpSpPr>
          <p:cNvPr id="22" name="グループ化 30"/>
          <p:cNvGrpSpPr>
            <a:grpSpLocks/>
          </p:cNvGrpSpPr>
          <p:nvPr/>
        </p:nvGrpSpPr>
        <p:grpSpPr bwMode="auto">
          <a:xfrm>
            <a:off x="5081587" y="1389392"/>
            <a:ext cx="174625" cy="527050"/>
            <a:chOff x="3357554" y="677422"/>
            <a:chExt cx="285752" cy="857256"/>
          </a:xfrm>
        </p:grpSpPr>
        <p:sp>
          <p:nvSpPr>
            <p:cNvPr id="23" name="二等辺三角形 22"/>
            <p:cNvSpPr/>
            <p:nvPr/>
          </p:nvSpPr>
          <p:spPr>
            <a:xfrm rot="16200000">
              <a:off x="3429431" y="894755"/>
              <a:ext cx="144597" cy="28315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kumimoji="1" lang="ja-JP" altLang="en-US" sz="1800">
                <a:latin typeface="+mj-lt"/>
              </a:endParaRPr>
            </a:p>
          </p:txBody>
        </p:sp>
        <p:sp>
          <p:nvSpPr>
            <p:cNvPr id="24" name="二等辺三角形 23"/>
            <p:cNvSpPr/>
            <p:nvPr/>
          </p:nvSpPr>
          <p:spPr>
            <a:xfrm rot="16200000">
              <a:off x="3432013" y="1036771"/>
              <a:ext cx="139433" cy="28315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kumimoji="1" lang="ja-JP" altLang="en-US" sz="1800">
                <a:latin typeface="+mj-lt"/>
              </a:endParaRPr>
            </a:p>
          </p:txBody>
        </p:sp>
        <p:sp>
          <p:nvSpPr>
            <p:cNvPr id="25" name="二等辺三角形 24"/>
            <p:cNvSpPr/>
            <p:nvPr/>
          </p:nvSpPr>
          <p:spPr>
            <a:xfrm rot="16200000">
              <a:off x="3429431" y="1178786"/>
              <a:ext cx="144597" cy="28315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kumimoji="1" lang="ja-JP" altLang="en-US" sz="1800">
                <a:latin typeface="+mj-lt"/>
              </a:endParaRPr>
            </a:p>
          </p:txBody>
        </p:sp>
        <p:sp>
          <p:nvSpPr>
            <p:cNvPr id="26" name="二等辺三角形 25"/>
            <p:cNvSpPr/>
            <p:nvPr/>
          </p:nvSpPr>
          <p:spPr>
            <a:xfrm rot="16200000">
              <a:off x="3430721" y="1322093"/>
              <a:ext cx="142016" cy="28315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kumimoji="1" lang="ja-JP" altLang="en-US" sz="1800">
                <a:latin typeface="+mj-lt"/>
              </a:endParaRPr>
            </a:p>
          </p:txBody>
        </p:sp>
        <p:sp>
          <p:nvSpPr>
            <p:cNvPr id="27" name="二等辺三角形 26"/>
            <p:cNvSpPr/>
            <p:nvPr/>
          </p:nvSpPr>
          <p:spPr>
            <a:xfrm rot="16200000">
              <a:off x="3429431" y="608143"/>
              <a:ext cx="144597" cy="28315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kumimoji="1" lang="ja-JP" altLang="en-US" sz="1800">
                <a:latin typeface="+mj-lt"/>
              </a:endParaRPr>
            </a:p>
          </p:txBody>
        </p:sp>
        <p:sp>
          <p:nvSpPr>
            <p:cNvPr id="28" name="二等辺三角形 27"/>
            <p:cNvSpPr/>
            <p:nvPr/>
          </p:nvSpPr>
          <p:spPr>
            <a:xfrm rot="16200000">
              <a:off x="3430723" y="751449"/>
              <a:ext cx="142014" cy="28315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kumimoji="1" lang="ja-JP" altLang="en-US" sz="1800">
                <a:latin typeface="+mj-lt"/>
              </a:endParaRPr>
            </a:p>
          </p:txBody>
        </p:sp>
      </p:grpSp>
      <p:sp>
        <p:nvSpPr>
          <p:cNvPr id="29" name="テキスト ボックス 27"/>
          <p:cNvSpPr txBox="1">
            <a:spLocks noChangeArrowheads="1"/>
          </p:cNvSpPr>
          <p:nvPr/>
        </p:nvSpPr>
        <p:spPr bwMode="auto">
          <a:xfrm>
            <a:off x="357735" y="1687332"/>
            <a:ext cx="91403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ja-JP" altLang="en-US" sz="1800" dirty="0">
                <a:solidFill>
                  <a:srgbClr val="FF0000"/>
                </a:solidFill>
                <a:latin typeface="+mj-lt"/>
              </a:rPr>
              <a:t>陽子線</a:t>
            </a:r>
            <a:endParaRPr lang="en-US" altLang="ja-JP" sz="1800" dirty="0">
              <a:solidFill>
                <a:srgbClr val="FF0000"/>
              </a:solidFill>
              <a:latin typeface="+mj-lt"/>
            </a:endParaRPr>
          </a:p>
          <a:p>
            <a:pPr>
              <a:defRPr/>
            </a:pPr>
            <a:r>
              <a:rPr lang="ja-JP" altLang="en-US" sz="1800" dirty="0">
                <a:solidFill>
                  <a:srgbClr val="FF0000"/>
                </a:solidFill>
                <a:latin typeface="+mj-lt"/>
              </a:rPr>
              <a:t>もしくは</a:t>
            </a:r>
            <a:endParaRPr lang="en-US" altLang="ja-JP" sz="1800" dirty="0">
              <a:solidFill>
                <a:srgbClr val="FF0000"/>
              </a:solidFill>
              <a:latin typeface="+mj-lt"/>
            </a:endParaRPr>
          </a:p>
          <a:p>
            <a:pPr>
              <a:defRPr/>
            </a:pPr>
            <a:r>
              <a:rPr lang="ja-JP" altLang="en-US" sz="1800" dirty="0">
                <a:solidFill>
                  <a:srgbClr val="FF0000"/>
                </a:solidFill>
                <a:latin typeface="+mj-lt"/>
              </a:rPr>
              <a:t>粒子線</a:t>
            </a:r>
            <a:endParaRPr lang="en-US" altLang="ja-JP" sz="18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8" name="直線矢印コネクタ 37"/>
          <p:cNvCxnSpPr>
            <a:endCxn id="19" idx="0"/>
          </p:cNvCxnSpPr>
          <p:nvPr/>
        </p:nvCxnSpPr>
        <p:spPr bwMode="auto">
          <a:xfrm>
            <a:off x="241300" y="1643392"/>
            <a:ext cx="1743077" cy="1746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 bwMode="auto">
          <a:xfrm rot="5400000">
            <a:off x="1760220" y="1642598"/>
            <a:ext cx="455612" cy="31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正方形/長方形 42"/>
          <p:cNvSpPr/>
          <p:nvPr/>
        </p:nvSpPr>
        <p:spPr bwMode="auto">
          <a:xfrm>
            <a:off x="7027862" y="1722768"/>
            <a:ext cx="300038" cy="45402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kumimoji="1" lang="ja-JP" altLang="en-US" sz="1800">
              <a:latin typeface="+mj-lt"/>
            </a:endParaRPr>
          </a:p>
        </p:txBody>
      </p:sp>
      <p:sp>
        <p:nvSpPr>
          <p:cNvPr id="44" name="テキスト ボックス 45"/>
          <p:cNvSpPr txBox="1">
            <a:spLocks noChangeArrowheads="1"/>
          </p:cNvSpPr>
          <p:nvPr/>
        </p:nvSpPr>
        <p:spPr bwMode="auto">
          <a:xfrm>
            <a:off x="6532561" y="1939226"/>
            <a:ext cx="11047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ja-JP" altLang="en-US" sz="1800" dirty="0">
                <a:latin typeface="+mj-lt"/>
              </a:rPr>
              <a:t>コリメータ</a:t>
            </a:r>
            <a:endParaRPr lang="en-US" altLang="ja-JP" sz="1800" dirty="0">
              <a:latin typeface="+mj-lt"/>
            </a:endParaRPr>
          </a:p>
        </p:txBody>
      </p:sp>
      <p:sp>
        <p:nvSpPr>
          <p:cNvPr id="45" name="正方形/長方形 44"/>
          <p:cNvSpPr/>
          <p:nvPr/>
        </p:nvSpPr>
        <p:spPr bwMode="auto">
          <a:xfrm flipH="1">
            <a:off x="7048500" y="1605292"/>
            <a:ext cx="1247775" cy="114300"/>
          </a:xfrm>
          <a:prstGeom prst="rect">
            <a:avLst/>
          </a:prstGeom>
          <a:solidFill>
            <a:srgbClr val="FFC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kumimoji="1" lang="ja-JP" altLang="en-US" sz="1800">
              <a:latin typeface="+mj-lt"/>
            </a:endParaRPr>
          </a:p>
        </p:txBody>
      </p:sp>
      <p:sp>
        <p:nvSpPr>
          <p:cNvPr id="52" name="正方形/長方形 51"/>
          <p:cNvSpPr/>
          <p:nvPr/>
        </p:nvSpPr>
        <p:spPr bwMode="auto">
          <a:xfrm>
            <a:off x="7027862" y="1189367"/>
            <a:ext cx="285750" cy="40163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kumimoji="1" lang="ja-JP" altLang="en-US" sz="1800">
              <a:latin typeface="+mj-lt"/>
            </a:endParaRPr>
          </a:p>
        </p:txBody>
      </p:sp>
      <p:pic>
        <p:nvPicPr>
          <p:cNvPr id="61" name="Picture 2" descr="http://www.info.pmda.go.jp/ygo/pack/650051/22200BZX00124000_A_04_01/figures/650051_22200BZX00124000_A_04_01_fig0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48" y="2771701"/>
            <a:ext cx="4423954" cy="320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正方形/長方形 61"/>
          <p:cNvSpPr/>
          <p:nvPr/>
        </p:nvSpPr>
        <p:spPr>
          <a:xfrm>
            <a:off x="746372" y="5951022"/>
            <a:ext cx="81619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dirty="0"/>
              <a:t>http://www.info.pmda.go.jp/ygo/pack/650051/22200BZX00124000_A_04_01/</a:t>
            </a: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612202" y="3420988"/>
            <a:ext cx="43085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くさび形の金属フィルタ</a:t>
            </a:r>
            <a:r>
              <a:rPr kumimoji="1" lang="ja-JP" altLang="en-US" sz="2000" dirty="0"/>
              <a:t>で陽子線や重粒子線のエネルギーを段階的に変化させ，様々な飛程が混在したビームを作ることにより，腫瘍部での治療効果が一定となるようにする</a:t>
            </a:r>
          </a:p>
        </p:txBody>
      </p:sp>
      <p:cxnSp>
        <p:nvCxnSpPr>
          <p:cNvPr id="8" name="直線矢印コネクタ 7"/>
          <p:cNvCxnSpPr>
            <a:stCxn id="21" idx="2"/>
          </p:cNvCxnSpPr>
          <p:nvPr/>
        </p:nvCxnSpPr>
        <p:spPr>
          <a:xfrm>
            <a:off x="5282695" y="2641790"/>
            <a:ext cx="0" cy="7791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45"/>
          <p:cNvSpPr txBox="1">
            <a:spLocks noChangeArrowheads="1"/>
          </p:cNvSpPr>
          <p:nvPr/>
        </p:nvSpPr>
        <p:spPr bwMode="auto">
          <a:xfrm>
            <a:off x="8135937" y="2633260"/>
            <a:ext cx="6463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ja-JP" altLang="en-US" sz="1800" dirty="0">
                <a:latin typeface="+mj-lt"/>
              </a:rPr>
              <a:t>患者</a:t>
            </a:r>
            <a:endParaRPr lang="en-US" altLang="ja-JP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6318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68597" y="-147047"/>
            <a:ext cx="5014217" cy="1143000"/>
          </a:xfrm>
        </p:spPr>
        <p:txBody>
          <a:bodyPr/>
          <a:lstStyle/>
          <a:p>
            <a:pPr eaLnBrk="1" hangingPunct="1"/>
            <a:r>
              <a:rPr lang="ja-JP" altLang="en-US" sz="4800" dirty="0">
                <a:latin typeface="Century Gothic" panose="020B0502020202020204" pitchFamily="34" charset="0"/>
              </a:rPr>
              <a:t>基本設計</a:t>
            </a:r>
            <a:endParaRPr lang="en-US" altLang="ja-JP" sz="4800" dirty="0">
              <a:latin typeface="Century Gothic" panose="020B0502020202020204" pitchFamily="34" charset="0"/>
            </a:endParaRPr>
          </a:p>
        </p:txBody>
      </p:sp>
      <p:grpSp>
        <p:nvGrpSpPr>
          <p:cNvPr id="51" name="グループ化 50"/>
          <p:cNvGrpSpPr/>
          <p:nvPr/>
        </p:nvGrpSpPr>
        <p:grpSpPr>
          <a:xfrm>
            <a:off x="803082" y="2387369"/>
            <a:ext cx="2521132" cy="1450254"/>
            <a:chOff x="767102" y="1201968"/>
            <a:chExt cx="2521132" cy="1450254"/>
          </a:xfrm>
        </p:grpSpPr>
        <p:sp>
          <p:nvSpPr>
            <p:cNvPr id="53" name="フリーフォーム 52"/>
            <p:cNvSpPr/>
            <p:nvPr/>
          </p:nvSpPr>
          <p:spPr>
            <a:xfrm>
              <a:off x="767102" y="1201968"/>
              <a:ext cx="2521132" cy="720000"/>
            </a:xfrm>
            <a:custGeom>
              <a:avLst/>
              <a:gdLst>
                <a:gd name="connsiteX0" fmla="*/ 2521132 w 2521132"/>
                <a:gd name="connsiteY0" fmla="*/ 0 h 1188720"/>
                <a:gd name="connsiteX1" fmla="*/ 1998617 w 2521132"/>
                <a:gd name="connsiteY1" fmla="*/ 509451 h 1188720"/>
                <a:gd name="connsiteX2" fmla="*/ 1058092 w 2521132"/>
                <a:gd name="connsiteY2" fmla="*/ 914400 h 1188720"/>
                <a:gd name="connsiteX3" fmla="*/ 0 w 2521132"/>
                <a:gd name="connsiteY3" fmla="*/ 1188720 h 1188720"/>
                <a:gd name="connsiteX4" fmla="*/ 0 w 2521132"/>
                <a:gd name="connsiteY4" fmla="*/ 118872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1132" h="1188720">
                  <a:moveTo>
                    <a:pt x="2521132" y="0"/>
                  </a:moveTo>
                  <a:cubicBezTo>
                    <a:pt x="2381794" y="178525"/>
                    <a:pt x="2242457" y="357051"/>
                    <a:pt x="1998617" y="509451"/>
                  </a:cubicBezTo>
                  <a:cubicBezTo>
                    <a:pt x="1754777" y="661851"/>
                    <a:pt x="1391195" y="801189"/>
                    <a:pt x="1058092" y="914400"/>
                  </a:cubicBezTo>
                  <a:cubicBezTo>
                    <a:pt x="724989" y="1027611"/>
                    <a:pt x="0" y="1188720"/>
                    <a:pt x="0" y="1188720"/>
                  </a:cubicBezTo>
                  <a:lnTo>
                    <a:pt x="0" y="118872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フリーフォーム 53"/>
            <p:cNvSpPr/>
            <p:nvPr/>
          </p:nvSpPr>
          <p:spPr>
            <a:xfrm flipV="1">
              <a:off x="767102" y="1932222"/>
              <a:ext cx="2521132" cy="720000"/>
            </a:xfrm>
            <a:custGeom>
              <a:avLst/>
              <a:gdLst>
                <a:gd name="connsiteX0" fmla="*/ 2521132 w 2521132"/>
                <a:gd name="connsiteY0" fmla="*/ 0 h 1188720"/>
                <a:gd name="connsiteX1" fmla="*/ 1998617 w 2521132"/>
                <a:gd name="connsiteY1" fmla="*/ 509451 h 1188720"/>
                <a:gd name="connsiteX2" fmla="*/ 1058092 w 2521132"/>
                <a:gd name="connsiteY2" fmla="*/ 914400 h 1188720"/>
                <a:gd name="connsiteX3" fmla="*/ 0 w 2521132"/>
                <a:gd name="connsiteY3" fmla="*/ 1188720 h 1188720"/>
                <a:gd name="connsiteX4" fmla="*/ 0 w 2521132"/>
                <a:gd name="connsiteY4" fmla="*/ 118872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1132" h="1188720">
                  <a:moveTo>
                    <a:pt x="2521132" y="0"/>
                  </a:moveTo>
                  <a:cubicBezTo>
                    <a:pt x="2381794" y="178525"/>
                    <a:pt x="2242457" y="357051"/>
                    <a:pt x="1998617" y="509451"/>
                  </a:cubicBezTo>
                  <a:cubicBezTo>
                    <a:pt x="1754777" y="661851"/>
                    <a:pt x="1391195" y="801189"/>
                    <a:pt x="1058092" y="914400"/>
                  </a:cubicBezTo>
                  <a:cubicBezTo>
                    <a:pt x="724989" y="1027611"/>
                    <a:pt x="0" y="1188720"/>
                    <a:pt x="0" y="1188720"/>
                  </a:cubicBezTo>
                  <a:lnTo>
                    <a:pt x="0" y="118872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5" name="直線コネクタ 54"/>
            <p:cNvCxnSpPr>
              <a:stCxn id="53" idx="0"/>
            </p:cNvCxnSpPr>
            <p:nvPr/>
          </p:nvCxnSpPr>
          <p:spPr>
            <a:xfrm>
              <a:off x="3288234" y="1201968"/>
              <a:ext cx="0" cy="14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グループ化 55"/>
          <p:cNvGrpSpPr/>
          <p:nvPr/>
        </p:nvGrpSpPr>
        <p:grpSpPr>
          <a:xfrm>
            <a:off x="813995" y="3860294"/>
            <a:ext cx="2521132" cy="1450254"/>
            <a:chOff x="767102" y="1201968"/>
            <a:chExt cx="2521132" cy="1450254"/>
          </a:xfrm>
        </p:grpSpPr>
        <p:sp>
          <p:nvSpPr>
            <p:cNvPr id="57" name="フリーフォーム 56"/>
            <p:cNvSpPr/>
            <p:nvPr/>
          </p:nvSpPr>
          <p:spPr>
            <a:xfrm>
              <a:off x="767102" y="1201968"/>
              <a:ext cx="2521132" cy="720000"/>
            </a:xfrm>
            <a:custGeom>
              <a:avLst/>
              <a:gdLst>
                <a:gd name="connsiteX0" fmla="*/ 2521132 w 2521132"/>
                <a:gd name="connsiteY0" fmla="*/ 0 h 1188720"/>
                <a:gd name="connsiteX1" fmla="*/ 1998617 w 2521132"/>
                <a:gd name="connsiteY1" fmla="*/ 509451 h 1188720"/>
                <a:gd name="connsiteX2" fmla="*/ 1058092 w 2521132"/>
                <a:gd name="connsiteY2" fmla="*/ 914400 h 1188720"/>
                <a:gd name="connsiteX3" fmla="*/ 0 w 2521132"/>
                <a:gd name="connsiteY3" fmla="*/ 1188720 h 1188720"/>
                <a:gd name="connsiteX4" fmla="*/ 0 w 2521132"/>
                <a:gd name="connsiteY4" fmla="*/ 118872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1132" h="1188720">
                  <a:moveTo>
                    <a:pt x="2521132" y="0"/>
                  </a:moveTo>
                  <a:cubicBezTo>
                    <a:pt x="2381794" y="178525"/>
                    <a:pt x="2242457" y="357051"/>
                    <a:pt x="1998617" y="509451"/>
                  </a:cubicBezTo>
                  <a:cubicBezTo>
                    <a:pt x="1754777" y="661851"/>
                    <a:pt x="1391195" y="801189"/>
                    <a:pt x="1058092" y="914400"/>
                  </a:cubicBezTo>
                  <a:cubicBezTo>
                    <a:pt x="724989" y="1027611"/>
                    <a:pt x="0" y="1188720"/>
                    <a:pt x="0" y="1188720"/>
                  </a:cubicBezTo>
                  <a:lnTo>
                    <a:pt x="0" y="118872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リーフォーム 57"/>
            <p:cNvSpPr/>
            <p:nvPr/>
          </p:nvSpPr>
          <p:spPr>
            <a:xfrm flipV="1">
              <a:off x="767102" y="1932222"/>
              <a:ext cx="2521132" cy="720000"/>
            </a:xfrm>
            <a:custGeom>
              <a:avLst/>
              <a:gdLst>
                <a:gd name="connsiteX0" fmla="*/ 2521132 w 2521132"/>
                <a:gd name="connsiteY0" fmla="*/ 0 h 1188720"/>
                <a:gd name="connsiteX1" fmla="*/ 1998617 w 2521132"/>
                <a:gd name="connsiteY1" fmla="*/ 509451 h 1188720"/>
                <a:gd name="connsiteX2" fmla="*/ 1058092 w 2521132"/>
                <a:gd name="connsiteY2" fmla="*/ 914400 h 1188720"/>
                <a:gd name="connsiteX3" fmla="*/ 0 w 2521132"/>
                <a:gd name="connsiteY3" fmla="*/ 1188720 h 1188720"/>
                <a:gd name="connsiteX4" fmla="*/ 0 w 2521132"/>
                <a:gd name="connsiteY4" fmla="*/ 118872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1132" h="1188720">
                  <a:moveTo>
                    <a:pt x="2521132" y="0"/>
                  </a:moveTo>
                  <a:cubicBezTo>
                    <a:pt x="2381794" y="178525"/>
                    <a:pt x="2242457" y="357051"/>
                    <a:pt x="1998617" y="509451"/>
                  </a:cubicBezTo>
                  <a:cubicBezTo>
                    <a:pt x="1754777" y="661851"/>
                    <a:pt x="1391195" y="801189"/>
                    <a:pt x="1058092" y="914400"/>
                  </a:cubicBezTo>
                  <a:cubicBezTo>
                    <a:pt x="724989" y="1027611"/>
                    <a:pt x="0" y="1188720"/>
                    <a:pt x="0" y="1188720"/>
                  </a:cubicBezTo>
                  <a:lnTo>
                    <a:pt x="0" y="118872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9" name="直線コネクタ 58"/>
            <p:cNvCxnSpPr>
              <a:stCxn id="57" idx="0"/>
            </p:cNvCxnSpPr>
            <p:nvPr/>
          </p:nvCxnSpPr>
          <p:spPr>
            <a:xfrm>
              <a:off x="3288234" y="1201968"/>
              <a:ext cx="0" cy="14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右矢印 10"/>
          <p:cNvSpPr/>
          <p:nvPr/>
        </p:nvSpPr>
        <p:spPr>
          <a:xfrm>
            <a:off x="3923980" y="2120935"/>
            <a:ext cx="773037" cy="18722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3" name="グループ化 12"/>
          <p:cNvGrpSpPr/>
          <p:nvPr/>
        </p:nvGrpSpPr>
        <p:grpSpPr>
          <a:xfrm>
            <a:off x="5302542" y="935478"/>
            <a:ext cx="2521134" cy="1472391"/>
            <a:chOff x="5255649" y="1243970"/>
            <a:chExt cx="2521134" cy="1472391"/>
          </a:xfrm>
        </p:grpSpPr>
        <p:sp>
          <p:nvSpPr>
            <p:cNvPr id="77" name="正方形/長方形 76"/>
            <p:cNvSpPr/>
            <p:nvPr/>
          </p:nvSpPr>
          <p:spPr>
            <a:xfrm>
              <a:off x="7620388" y="1243970"/>
              <a:ext cx="145481" cy="16504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/>
            <p:cNvSpPr/>
            <p:nvPr/>
          </p:nvSpPr>
          <p:spPr>
            <a:xfrm>
              <a:off x="7260348" y="1426037"/>
              <a:ext cx="516435" cy="12724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/>
            <p:cNvSpPr/>
            <p:nvPr/>
          </p:nvSpPr>
          <p:spPr>
            <a:xfrm>
              <a:off x="6900309" y="1563316"/>
              <a:ext cx="876474" cy="144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正方形/長方形 79"/>
            <p:cNvSpPr/>
            <p:nvPr/>
          </p:nvSpPr>
          <p:spPr>
            <a:xfrm>
              <a:off x="6036212" y="1707585"/>
              <a:ext cx="1740571" cy="1430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正方形/長方形 80"/>
            <p:cNvSpPr/>
            <p:nvPr/>
          </p:nvSpPr>
          <p:spPr>
            <a:xfrm>
              <a:off x="5255649" y="1839572"/>
              <a:ext cx="2521133" cy="13504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正方形/長方形 81"/>
            <p:cNvSpPr/>
            <p:nvPr/>
          </p:nvSpPr>
          <p:spPr>
            <a:xfrm>
              <a:off x="5255649" y="1971875"/>
              <a:ext cx="2521133" cy="13504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正方形/長方形 82"/>
            <p:cNvSpPr/>
            <p:nvPr/>
          </p:nvSpPr>
          <p:spPr>
            <a:xfrm>
              <a:off x="6036211" y="2113187"/>
              <a:ext cx="1740571" cy="1430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正方形/長方形 83"/>
            <p:cNvSpPr/>
            <p:nvPr/>
          </p:nvSpPr>
          <p:spPr>
            <a:xfrm>
              <a:off x="6900308" y="2256247"/>
              <a:ext cx="876474" cy="144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" name="正方形/長方形 84"/>
            <p:cNvSpPr/>
            <p:nvPr/>
          </p:nvSpPr>
          <p:spPr>
            <a:xfrm>
              <a:off x="7260347" y="2407371"/>
              <a:ext cx="516435" cy="12724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正方形/長方形 85"/>
            <p:cNvSpPr/>
            <p:nvPr/>
          </p:nvSpPr>
          <p:spPr>
            <a:xfrm>
              <a:off x="7630850" y="2551319"/>
              <a:ext cx="145481" cy="16504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7" name="グループ化 86"/>
          <p:cNvGrpSpPr/>
          <p:nvPr/>
        </p:nvGrpSpPr>
        <p:grpSpPr>
          <a:xfrm>
            <a:off x="803324" y="893476"/>
            <a:ext cx="2521132" cy="1450254"/>
            <a:chOff x="767102" y="1201968"/>
            <a:chExt cx="2521132" cy="1450254"/>
          </a:xfrm>
        </p:grpSpPr>
        <p:sp>
          <p:nvSpPr>
            <p:cNvPr id="88" name="フリーフォーム 87"/>
            <p:cNvSpPr/>
            <p:nvPr/>
          </p:nvSpPr>
          <p:spPr>
            <a:xfrm>
              <a:off x="767102" y="1201968"/>
              <a:ext cx="2521132" cy="720000"/>
            </a:xfrm>
            <a:custGeom>
              <a:avLst/>
              <a:gdLst>
                <a:gd name="connsiteX0" fmla="*/ 2521132 w 2521132"/>
                <a:gd name="connsiteY0" fmla="*/ 0 h 1188720"/>
                <a:gd name="connsiteX1" fmla="*/ 1998617 w 2521132"/>
                <a:gd name="connsiteY1" fmla="*/ 509451 h 1188720"/>
                <a:gd name="connsiteX2" fmla="*/ 1058092 w 2521132"/>
                <a:gd name="connsiteY2" fmla="*/ 914400 h 1188720"/>
                <a:gd name="connsiteX3" fmla="*/ 0 w 2521132"/>
                <a:gd name="connsiteY3" fmla="*/ 1188720 h 1188720"/>
                <a:gd name="connsiteX4" fmla="*/ 0 w 2521132"/>
                <a:gd name="connsiteY4" fmla="*/ 118872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1132" h="1188720">
                  <a:moveTo>
                    <a:pt x="2521132" y="0"/>
                  </a:moveTo>
                  <a:cubicBezTo>
                    <a:pt x="2381794" y="178525"/>
                    <a:pt x="2242457" y="357051"/>
                    <a:pt x="1998617" y="509451"/>
                  </a:cubicBezTo>
                  <a:cubicBezTo>
                    <a:pt x="1754777" y="661851"/>
                    <a:pt x="1391195" y="801189"/>
                    <a:pt x="1058092" y="914400"/>
                  </a:cubicBezTo>
                  <a:cubicBezTo>
                    <a:pt x="724989" y="1027611"/>
                    <a:pt x="0" y="1188720"/>
                    <a:pt x="0" y="1188720"/>
                  </a:cubicBezTo>
                  <a:lnTo>
                    <a:pt x="0" y="118872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フリーフォーム 88"/>
            <p:cNvSpPr/>
            <p:nvPr/>
          </p:nvSpPr>
          <p:spPr>
            <a:xfrm flipV="1">
              <a:off x="767102" y="1932222"/>
              <a:ext cx="2521132" cy="720000"/>
            </a:xfrm>
            <a:custGeom>
              <a:avLst/>
              <a:gdLst>
                <a:gd name="connsiteX0" fmla="*/ 2521132 w 2521132"/>
                <a:gd name="connsiteY0" fmla="*/ 0 h 1188720"/>
                <a:gd name="connsiteX1" fmla="*/ 1998617 w 2521132"/>
                <a:gd name="connsiteY1" fmla="*/ 509451 h 1188720"/>
                <a:gd name="connsiteX2" fmla="*/ 1058092 w 2521132"/>
                <a:gd name="connsiteY2" fmla="*/ 914400 h 1188720"/>
                <a:gd name="connsiteX3" fmla="*/ 0 w 2521132"/>
                <a:gd name="connsiteY3" fmla="*/ 1188720 h 1188720"/>
                <a:gd name="connsiteX4" fmla="*/ 0 w 2521132"/>
                <a:gd name="connsiteY4" fmla="*/ 1188720 h 1188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1132" h="1188720">
                  <a:moveTo>
                    <a:pt x="2521132" y="0"/>
                  </a:moveTo>
                  <a:cubicBezTo>
                    <a:pt x="2381794" y="178525"/>
                    <a:pt x="2242457" y="357051"/>
                    <a:pt x="1998617" y="509451"/>
                  </a:cubicBezTo>
                  <a:cubicBezTo>
                    <a:pt x="1754777" y="661851"/>
                    <a:pt x="1391195" y="801189"/>
                    <a:pt x="1058092" y="914400"/>
                  </a:cubicBezTo>
                  <a:cubicBezTo>
                    <a:pt x="724989" y="1027611"/>
                    <a:pt x="0" y="1188720"/>
                    <a:pt x="0" y="1188720"/>
                  </a:cubicBezTo>
                  <a:lnTo>
                    <a:pt x="0" y="118872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0" name="直線コネクタ 89"/>
            <p:cNvCxnSpPr>
              <a:stCxn id="88" idx="0"/>
            </p:cNvCxnSpPr>
            <p:nvPr/>
          </p:nvCxnSpPr>
          <p:spPr>
            <a:xfrm>
              <a:off x="3288234" y="1201968"/>
              <a:ext cx="0" cy="1440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グループ化 90"/>
          <p:cNvGrpSpPr/>
          <p:nvPr/>
        </p:nvGrpSpPr>
        <p:grpSpPr>
          <a:xfrm>
            <a:off x="5312847" y="2416554"/>
            <a:ext cx="2521134" cy="1472391"/>
            <a:chOff x="5255649" y="1243970"/>
            <a:chExt cx="2521134" cy="1472391"/>
          </a:xfrm>
        </p:grpSpPr>
        <p:sp>
          <p:nvSpPr>
            <p:cNvPr id="92" name="正方形/長方形 91"/>
            <p:cNvSpPr/>
            <p:nvPr/>
          </p:nvSpPr>
          <p:spPr>
            <a:xfrm>
              <a:off x="7620388" y="1243970"/>
              <a:ext cx="145481" cy="16504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正方形/長方形 92"/>
            <p:cNvSpPr/>
            <p:nvPr/>
          </p:nvSpPr>
          <p:spPr>
            <a:xfrm>
              <a:off x="7260348" y="1426037"/>
              <a:ext cx="516435" cy="12724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正方形/長方形 93"/>
            <p:cNvSpPr/>
            <p:nvPr/>
          </p:nvSpPr>
          <p:spPr>
            <a:xfrm>
              <a:off x="6900309" y="1563316"/>
              <a:ext cx="876474" cy="144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正方形/長方形 94"/>
            <p:cNvSpPr/>
            <p:nvPr/>
          </p:nvSpPr>
          <p:spPr>
            <a:xfrm>
              <a:off x="6036212" y="1707585"/>
              <a:ext cx="1740571" cy="1430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正方形/長方形 95"/>
            <p:cNvSpPr/>
            <p:nvPr/>
          </p:nvSpPr>
          <p:spPr>
            <a:xfrm>
              <a:off x="5255649" y="1839572"/>
              <a:ext cx="2521133" cy="13504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7" name="正方形/長方形 96"/>
            <p:cNvSpPr/>
            <p:nvPr/>
          </p:nvSpPr>
          <p:spPr>
            <a:xfrm>
              <a:off x="5255649" y="1971875"/>
              <a:ext cx="2521133" cy="13504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正方形/長方形 97"/>
            <p:cNvSpPr/>
            <p:nvPr/>
          </p:nvSpPr>
          <p:spPr>
            <a:xfrm>
              <a:off x="6036211" y="2113187"/>
              <a:ext cx="1740571" cy="1430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正方形/長方形 98"/>
            <p:cNvSpPr/>
            <p:nvPr/>
          </p:nvSpPr>
          <p:spPr>
            <a:xfrm>
              <a:off x="6900308" y="2256247"/>
              <a:ext cx="876474" cy="144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正方形/長方形 99"/>
            <p:cNvSpPr/>
            <p:nvPr/>
          </p:nvSpPr>
          <p:spPr>
            <a:xfrm>
              <a:off x="7260347" y="2407371"/>
              <a:ext cx="516435" cy="12724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正方形/長方形 100"/>
            <p:cNvSpPr/>
            <p:nvPr/>
          </p:nvSpPr>
          <p:spPr>
            <a:xfrm>
              <a:off x="7630850" y="2551319"/>
              <a:ext cx="145481" cy="16504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02" name="グループ化 101"/>
          <p:cNvGrpSpPr/>
          <p:nvPr/>
        </p:nvGrpSpPr>
        <p:grpSpPr>
          <a:xfrm>
            <a:off x="5326066" y="3903107"/>
            <a:ext cx="2521134" cy="1472391"/>
            <a:chOff x="5255649" y="1243970"/>
            <a:chExt cx="2521134" cy="1472391"/>
          </a:xfrm>
        </p:grpSpPr>
        <p:sp>
          <p:nvSpPr>
            <p:cNvPr id="103" name="正方形/長方形 102"/>
            <p:cNvSpPr/>
            <p:nvPr/>
          </p:nvSpPr>
          <p:spPr>
            <a:xfrm>
              <a:off x="7620388" y="1243970"/>
              <a:ext cx="145481" cy="16504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正方形/長方形 103"/>
            <p:cNvSpPr/>
            <p:nvPr/>
          </p:nvSpPr>
          <p:spPr>
            <a:xfrm>
              <a:off x="7260348" y="1426037"/>
              <a:ext cx="516435" cy="12724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" name="正方形/長方形 104"/>
            <p:cNvSpPr/>
            <p:nvPr/>
          </p:nvSpPr>
          <p:spPr>
            <a:xfrm>
              <a:off x="6900309" y="1563316"/>
              <a:ext cx="876474" cy="144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6" name="正方形/長方形 105"/>
            <p:cNvSpPr/>
            <p:nvPr/>
          </p:nvSpPr>
          <p:spPr>
            <a:xfrm>
              <a:off x="6036212" y="1707585"/>
              <a:ext cx="1740571" cy="1430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正方形/長方形 106"/>
            <p:cNvSpPr/>
            <p:nvPr/>
          </p:nvSpPr>
          <p:spPr>
            <a:xfrm>
              <a:off x="5255649" y="1839572"/>
              <a:ext cx="2521133" cy="13504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正方形/長方形 107"/>
            <p:cNvSpPr/>
            <p:nvPr/>
          </p:nvSpPr>
          <p:spPr>
            <a:xfrm>
              <a:off x="5255649" y="1971875"/>
              <a:ext cx="2521133" cy="13504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9" name="正方形/長方形 108"/>
            <p:cNvSpPr/>
            <p:nvPr/>
          </p:nvSpPr>
          <p:spPr>
            <a:xfrm>
              <a:off x="6036211" y="2113187"/>
              <a:ext cx="1740571" cy="1430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0" name="正方形/長方形 109"/>
            <p:cNvSpPr/>
            <p:nvPr/>
          </p:nvSpPr>
          <p:spPr>
            <a:xfrm>
              <a:off x="6900308" y="2256247"/>
              <a:ext cx="876474" cy="1442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1" name="正方形/長方形 110"/>
            <p:cNvSpPr/>
            <p:nvPr/>
          </p:nvSpPr>
          <p:spPr>
            <a:xfrm>
              <a:off x="7260347" y="2407371"/>
              <a:ext cx="516435" cy="12724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正方形/長方形 111"/>
            <p:cNvSpPr/>
            <p:nvPr/>
          </p:nvSpPr>
          <p:spPr>
            <a:xfrm>
              <a:off x="7630850" y="2551319"/>
              <a:ext cx="145481" cy="165042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4" name="正方形/長方形 13"/>
          <p:cNvSpPr/>
          <p:nvPr/>
        </p:nvSpPr>
        <p:spPr>
          <a:xfrm>
            <a:off x="5302542" y="919602"/>
            <a:ext cx="2530987" cy="149389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正方形/長方形 112"/>
          <p:cNvSpPr/>
          <p:nvPr/>
        </p:nvSpPr>
        <p:spPr>
          <a:xfrm>
            <a:off x="5315761" y="2409213"/>
            <a:ext cx="2530987" cy="149389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正方形/長方形 113"/>
          <p:cNvSpPr/>
          <p:nvPr/>
        </p:nvSpPr>
        <p:spPr>
          <a:xfrm>
            <a:off x="5292080" y="3897905"/>
            <a:ext cx="2530987" cy="149389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53913" y="5498366"/>
            <a:ext cx="80361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sz="2400" dirty="0"/>
              <a:t>深さの異なる直方体の集合体で１つのユニットを表現する</a:t>
            </a:r>
            <a:endParaRPr kumimoji="1"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ja-JP" sz="2400" dirty="0"/>
              <a:t>Lattice</a:t>
            </a:r>
            <a:r>
              <a:rPr kumimoji="1" lang="ja-JP" altLang="en-US" sz="2400" dirty="0"/>
              <a:t>機能を使ってユニットを並べて全体を表現する</a:t>
            </a:r>
          </a:p>
        </p:txBody>
      </p:sp>
    </p:spTree>
    <p:extLst>
      <p:ext uri="{BB962C8B-B14F-4D97-AF65-F5344CB8AC3E}">
        <p14:creationId xmlns:p14="http://schemas.microsoft.com/office/powerpoint/2010/main" val="1377499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68597" y="-147047"/>
            <a:ext cx="5014217" cy="1143000"/>
          </a:xfrm>
        </p:spPr>
        <p:txBody>
          <a:bodyPr/>
          <a:lstStyle/>
          <a:p>
            <a:pPr eaLnBrk="1" hangingPunct="1"/>
            <a:r>
              <a:rPr lang="ja-JP" altLang="en-US" sz="4800" dirty="0">
                <a:latin typeface="Century Gothic" panose="020B0502020202020204" pitchFamily="34" charset="0"/>
              </a:rPr>
              <a:t>体系の確認</a:t>
            </a:r>
            <a:endParaRPr lang="en-US" altLang="ja-JP" sz="4800" dirty="0">
              <a:latin typeface="Century Gothic" panose="020B0502020202020204" pitchFamily="34" charset="0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76795" y="99595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sz="2400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692696"/>
            <a:ext cx="6542857" cy="2028571"/>
          </a:xfrm>
          <a:prstGeom prst="rect">
            <a:avLst/>
          </a:prstGeom>
        </p:spPr>
      </p:pic>
      <p:sp>
        <p:nvSpPr>
          <p:cNvPr id="10" name="Text Box 1030"/>
          <p:cNvSpPr txBox="1">
            <a:spLocks noChangeArrowheads="1"/>
          </p:cNvSpPr>
          <p:nvPr/>
        </p:nvSpPr>
        <p:spPr bwMode="auto">
          <a:xfrm>
            <a:off x="848989" y="2737156"/>
            <a:ext cx="1372492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ridge.inp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1" name="Text Box 1031"/>
          <p:cNvSpPr txBox="1">
            <a:spLocks noChangeArrowheads="1"/>
          </p:cNvSpPr>
          <p:nvPr/>
        </p:nvSpPr>
        <p:spPr bwMode="auto">
          <a:xfrm>
            <a:off x="237058" y="3345968"/>
            <a:ext cx="2663701" cy="28538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file=ridge.inp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[ T i t l e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Sample input for Ridge Filter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[ C e l l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infl: {ridge-cell.inp}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$infl: {ridge-cell-proton.inp}</a:t>
            </a: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[ S u r f a c e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infl: {ridge-surface.inp}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…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1030"/>
          <p:cNvSpPr txBox="1">
            <a:spLocks noChangeArrowheads="1"/>
          </p:cNvSpPr>
          <p:nvPr/>
        </p:nvSpPr>
        <p:spPr bwMode="auto">
          <a:xfrm>
            <a:off x="3587333" y="2737156"/>
            <a:ext cx="1931234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ridge-</a:t>
            </a: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cell.inp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 Box 1031"/>
          <p:cNvSpPr txBox="1">
            <a:spLocks noChangeArrowheads="1"/>
          </p:cNvSpPr>
          <p:nvPr/>
        </p:nvSpPr>
        <p:spPr bwMode="auto">
          <a:xfrm>
            <a:off x="3192611" y="3327375"/>
            <a:ext cx="5544617" cy="11441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c  Cell of Ridge Filter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c  unit rigde filter, Air Regions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1000      4 -1.2100000E-03  200 -201 102 -103 104 -105  u=1001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1001      4 -1.2100000E-03  201 -202 102 -103 104 -301  u=1001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  <a:endParaRPr lang="pt-BR" altLang="ja-JP" sz="1400" dirty="0">
              <a:latin typeface="Tahoma" panose="020B0604030504040204" pitchFamily="34" charset="0"/>
            </a:endParaRPr>
          </a:p>
        </p:txBody>
      </p:sp>
      <p:sp>
        <p:nvSpPr>
          <p:cNvPr id="14" name="Text Box 1030"/>
          <p:cNvSpPr txBox="1">
            <a:spLocks noChangeArrowheads="1"/>
          </p:cNvSpPr>
          <p:nvPr/>
        </p:nvSpPr>
        <p:spPr bwMode="auto">
          <a:xfrm>
            <a:off x="3514503" y="4625927"/>
            <a:ext cx="2465162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ridge-</a:t>
            </a: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surface.inp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Text Box 1031"/>
          <p:cNvSpPr txBox="1">
            <a:spLocks noChangeArrowheads="1"/>
          </p:cNvSpPr>
          <p:nvPr/>
        </p:nvSpPr>
        <p:spPr bwMode="auto">
          <a:xfrm>
            <a:off x="3192611" y="5196573"/>
            <a:ext cx="3524884" cy="100024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c  Ridge Filter Area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set: c1[-50.0] $ Z position of ridge filter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100          </a:t>
            </a:r>
            <a:r>
              <a:rPr lang="en-US" altLang="ja-JP" sz="1400" dirty="0" err="1">
                <a:latin typeface="Tahoma" panose="020B0604030504040204" pitchFamily="34" charset="0"/>
              </a:rPr>
              <a:t>px</a:t>
            </a:r>
            <a:r>
              <a:rPr lang="en-US" altLang="ja-JP" sz="1400" dirty="0">
                <a:latin typeface="Tahoma" panose="020B0604030504040204" pitchFamily="34" charset="0"/>
              </a:rPr>
              <a:t>   -10.0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  <a:endParaRPr lang="pt-BR" altLang="ja-JP" sz="1400" dirty="0">
              <a:latin typeface="Tahoma" panose="020B0604030504040204" pitchFamily="34" charset="0"/>
            </a:endParaRPr>
          </a:p>
        </p:txBody>
      </p:sp>
      <p:cxnSp>
        <p:nvCxnSpPr>
          <p:cNvPr id="4" name="直線矢印コネクタ 3"/>
          <p:cNvCxnSpPr>
            <a:endCxn id="13" idx="1"/>
          </p:cNvCxnSpPr>
          <p:nvPr/>
        </p:nvCxnSpPr>
        <p:spPr>
          <a:xfrm flipV="1">
            <a:off x="1939925" y="3899438"/>
            <a:ext cx="1252686" cy="8977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>
            <a:endCxn id="17" idx="1"/>
          </p:cNvCxnSpPr>
          <p:nvPr/>
        </p:nvCxnSpPr>
        <p:spPr>
          <a:xfrm>
            <a:off x="2288752" y="5639516"/>
            <a:ext cx="903859" cy="5717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41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68597" y="-147047"/>
            <a:ext cx="5014217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ja-JP" altLang="en-US" sz="4800" dirty="0">
                <a:latin typeface="Century Gothic" panose="020B0502020202020204" pitchFamily="34" charset="0"/>
              </a:rPr>
              <a:t>基本ユニットを作る</a:t>
            </a:r>
            <a:endParaRPr lang="en-US" altLang="ja-JP" sz="4800" dirty="0">
              <a:latin typeface="Century Gothic" panose="020B0502020202020204" pitchFamily="34" charset="0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2571766" y="922299"/>
            <a:ext cx="5397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solidFill>
                  <a:srgbClr val="FF0000"/>
                </a:solidFill>
              </a:rPr>
              <a:t>Universe 1001</a:t>
            </a:r>
            <a:r>
              <a:rPr kumimoji="1" lang="ja-JP" altLang="en-US" sz="2800" dirty="0">
                <a:solidFill>
                  <a:srgbClr val="FF0000"/>
                </a:solidFill>
              </a:rPr>
              <a:t>の中に作る </a:t>
            </a:r>
            <a:r>
              <a:rPr kumimoji="1" lang="en-US" altLang="ja-JP" sz="2800" dirty="0">
                <a:solidFill>
                  <a:srgbClr val="FF0000"/>
                </a:solidFill>
              </a:rPr>
              <a:t>(u=1001)</a:t>
            </a:r>
            <a:endParaRPr kumimoji="1" lang="ja-JP" altLang="en-US" sz="2800" dirty="0">
              <a:solidFill>
                <a:srgbClr val="FF0000"/>
              </a:solidFill>
            </a:endParaRPr>
          </a:p>
        </p:txBody>
      </p:sp>
      <p:sp>
        <p:nvSpPr>
          <p:cNvPr id="60" name="Text Box 1030"/>
          <p:cNvSpPr txBox="1">
            <a:spLocks noChangeArrowheads="1"/>
          </p:cNvSpPr>
          <p:nvPr/>
        </p:nvSpPr>
        <p:spPr bwMode="auto">
          <a:xfrm>
            <a:off x="538211" y="1079939"/>
            <a:ext cx="1931234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ridge-</a:t>
            </a: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cell.inp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1" name="Text Box 1031"/>
          <p:cNvSpPr txBox="1">
            <a:spLocks noChangeArrowheads="1"/>
          </p:cNvSpPr>
          <p:nvPr/>
        </p:nvSpPr>
        <p:spPr bwMode="auto">
          <a:xfrm>
            <a:off x="143490" y="1670159"/>
            <a:ext cx="4464496" cy="25338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$  unit ridge filter, Gap Region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1100 4 -1.21E-03  200 -201 102 -103 -105  u=1001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$  unit ridge filete, Air Regions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1101 4 -1.21E-03  201 -202 102 -103 -301  u=1001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1102 4 -1.21E-03  202 -203 102 -103 -302  u=1001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  <a:endParaRPr lang="pt-BR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$</a:t>
            </a:r>
            <a:r>
              <a:rPr lang="pt-BR" altLang="ja-JP" sz="1400" dirty="0">
                <a:latin typeface="Tahoma" panose="020B0604030504040204" pitchFamily="34" charset="0"/>
              </a:rPr>
              <a:t> Unit Ridge Filger, Al region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1201 2 -2.70      201 -202 102 -103  301  u=1001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1202 2 -2.70      202 -203 102 -103  302  u=1001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1203 2 -2.70      203 -204 102 -103  303  u=1001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  <a:endParaRPr lang="pt-BR" altLang="ja-JP" sz="1400" dirty="0">
              <a:latin typeface="Tahoma" panose="020B0604030504040204" pitchFamily="34" charset="0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364" y="1687735"/>
            <a:ext cx="4014182" cy="1654260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6758492" y="342464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1100</a:t>
            </a:r>
            <a:endParaRPr kumimoji="1" lang="ja-JP" altLang="en-US" dirty="0"/>
          </a:p>
        </p:txBody>
      </p:sp>
      <p:cxnSp>
        <p:nvCxnSpPr>
          <p:cNvPr id="6" name="直線矢印コネクタ 5"/>
          <p:cNvCxnSpPr/>
          <p:nvPr/>
        </p:nvCxnSpPr>
        <p:spPr>
          <a:xfrm flipV="1">
            <a:off x="7257053" y="3181142"/>
            <a:ext cx="0" cy="3363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/>
          <p:cNvSpPr txBox="1"/>
          <p:nvPr/>
        </p:nvSpPr>
        <p:spPr>
          <a:xfrm>
            <a:off x="5279182" y="338592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1101</a:t>
            </a:r>
            <a:endParaRPr kumimoji="1" lang="ja-JP" altLang="en-US" dirty="0"/>
          </a:p>
        </p:txBody>
      </p:sp>
      <p:cxnSp>
        <p:nvCxnSpPr>
          <p:cNvPr id="65" name="直線矢印コネクタ 64"/>
          <p:cNvCxnSpPr/>
          <p:nvPr/>
        </p:nvCxnSpPr>
        <p:spPr>
          <a:xfrm flipV="1">
            <a:off x="5656853" y="3083198"/>
            <a:ext cx="0" cy="3792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/>
          <p:cNvSpPr txBox="1"/>
          <p:nvPr/>
        </p:nvSpPr>
        <p:spPr>
          <a:xfrm>
            <a:off x="8237803" y="339608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1201</a:t>
            </a:r>
            <a:endParaRPr kumimoji="1" lang="ja-JP" altLang="en-US" dirty="0"/>
          </a:p>
        </p:txBody>
      </p:sp>
      <p:cxnSp>
        <p:nvCxnSpPr>
          <p:cNvPr id="68" name="直線矢印コネクタ 67"/>
          <p:cNvCxnSpPr/>
          <p:nvPr/>
        </p:nvCxnSpPr>
        <p:spPr>
          <a:xfrm flipV="1">
            <a:off x="8615474" y="3093358"/>
            <a:ext cx="0" cy="3792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5147789" y="2158881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Air</a:t>
            </a:r>
            <a:endParaRPr kumimoji="1" lang="ja-JP" altLang="en-US" sz="2800" dirty="0"/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7864744" y="2158881"/>
            <a:ext cx="474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Al</a:t>
            </a:r>
            <a:endParaRPr kumimoji="1" lang="ja-JP" altLang="en-US" sz="2800" dirty="0"/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1159541" y="4276547"/>
            <a:ext cx="66323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ja-JP" sz="2400" dirty="0"/>
              <a:t>Cell 1100</a:t>
            </a:r>
            <a:r>
              <a:rPr kumimoji="1" lang="ja-JP" altLang="en-US" sz="2400" dirty="0"/>
              <a:t>はリッジフィルタの</a:t>
            </a:r>
            <a:r>
              <a:rPr kumimoji="1" lang="en-US" altLang="ja-JP" sz="2400" dirty="0"/>
              <a:t>Gap</a:t>
            </a:r>
            <a:r>
              <a:rPr kumimoji="1" lang="ja-JP" altLang="en-US" sz="2400" dirty="0"/>
              <a:t>領域</a:t>
            </a:r>
            <a:endParaRPr kumimoji="1"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ja-JP" sz="2400" dirty="0"/>
              <a:t>Cell 1101 ~ 1113</a:t>
            </a:r>
            <a:r>
              <a:rPr kumimoji="1" lang="ja-JP" altLang="en-US" sz="2400" dirty="0"/>
              <a:t>は空気の領域</a:t>
            </a:r>
            <a:endParaRPr kumimoji="1"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lang="en-US" altLang="ja-JP" sz="2400" dirty="0"/>
              <a:t>Cell 1201 ~ 1213</a:t>
            </a:r>
            <a:r>
              <a:rPr lang="ja-JP" altLang="en-US" sz="2400" dirty="0"/>
              <a:t>はアルミの領域</a:t>
            </a:r>
            <a:endParaRPr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ja-JP" sz="2400" dirty="0"/>
              <a:t>Surface 200 ~ 214</a:t>
            </a:r>
            <a:r>
              <a:rPr kumimoji="1" lang="ja-JP" altLang="en-US" sz="2400" dirty="0"/>
              <a:t>はリッジフィルタの幅を表現</a:t>
            </a:r>
            <a:endParaRPr kumimoji="1" lang="en-US" altLang="ja-JP" sz="2400" dirty="0"/>
          </a:p>
          <a:p>
            <a:pPr marL="457200" indent="-457200">
              <a:buFont typeface="+mj-lt"/>
              <a:buAutoNum type="arabicPeriod"/>
            </a:pPr>
            <a:r>
              <a:rPr lang="en-US" altLang="ja-JP" sz="2400" dirty="0"/>
              <a:t>Surface 301 ~ 307</a:t>
            </a:r>
            <a:r>
              <a:rPr lang="ja-JP" altLang="en-US" sz="2400" dirty="0"/>
              <a:t>はリッジフィルタの高さを表現</a:t>
            </a:r>
            <a:endParaRPr kumimoji="1" lang="ja-JP" altLang="en-US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737098" y="3646195"/>
            <a:ext cx="2416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err="1">
                <a:solidFill>
                  <a:srgbClr val="002060"/>
                </a:solidFill>
              </a:rPr>
              <a:t>Univserse</a:t>
            </a:r>
            <a:r>
              <a:rPr kumimoji="1" lang="en-US" altLang="ja-JP" sz="2800" dirty="0">
                <a:solidFill>
                  <a:srgbClr val="002060"/>
                </a:solidFill>
              </a:rPr>
              <a:t> 1001</a:t>
            </a:r>
            <a:endParaRPr kumimoji="1" lang="ja-JP" alt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81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59632" y="-68432"/>
            <a:ext cx="6167202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ja-JP" altLang="en-US" sz="4800" dirty="0">
                <a:latin typeface="Century Gothic" panose="020B0502020202020204" pitchFamily="34" charset="0"/>
              </a:rPr>
              <a:t>リッジフィルタ全体を作る</a:t>
            </a:r>
            <a:endParaRPr lang="en-US" altLang="ja-JP" sz="4800" dirty="0">
              <a:latin typeface="Century Gothic" panose="020B0502020202020204" pitchFamily="34" charset="0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050629" y="787769"/>
            <a:ext cx="71304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800" dirty="0">
                <a:solidFill>
                  <a:srgbClr val="FF0000"/>
                </a:solidFill>
              </a:rPr>
              <a:t>Lattice Universe 1002</a:t>
            </a:r>
            <a:r>
              <a:rPr kumimoji="1" lang="ja-JP" altLang="en-US" sz="2800" dirty="0">
                <a:solidFill>
                  <a:srgbClr val="FF0000"/>
                </a:solidFill>
              </a:rPr>
              <a:t>を定義し，</a:t>
            </a:r>
            <a:endParaRPr kumimoji="1" lang="en-US" altLang="ja-JP" sz="2800" dirty="0">
              <a:solidFill>
                <a:srgbClr val="FF0000"/>
              </a:solidFill>
            </a:endParaRPr>
          </a:p>
          <a:p>
            <a:pPr algn="ctr"/>
            <a:r>
              <a:rPr kumimoji="1" lang="ja-JP" altLang="en-US" sz="2800" dirty="0">
                <a:solidFill>
                  <a:srgbClr val="FF0000"/>
                </a:solidFill>
              </a:rPr>
              <a:t>その中に基本ユニット（</a:t>
            </a:r>
            <a:r>
              <a:rPr kumimoji="1" lang="en-US" altLang="ja-JP" sz="2800" dirty="0">
                <a:solidFill>
                  <a:srgbClr val="FF0000"/>
                </a:solidFill>
              </a:rPr>
              <a:t>universe 1001)</a:t>
            </a:r>
            <a:r>
              <a:rPr kumimoji="1" lang="ja-JP" altLang="en-US" sz="2800" dirty="0">
                <a:solidFill>
                  <a:srgbClr val="FF0000"/>
                </a:solidFill>
              </a:rPr>
              <a:t>を並べる</a:t>
            </a:r>
          </a:p>
        </p:txBody>
      </p:sp>
      <p:sp>
        <p:nvSpPr>
          <p:cNvPr id="60" name="Text Box 1030"/>
          <p:cNvSpPr txBox="1">
            <a:spLocks noChangeArrowheads="1"/>
          </p:cNvSpPr>
          <p:nvPr/>
        </p:nvSpPr>
        <p:spPr bwMode="auto">
          <a:xfrm>
            <a:off x="946014" y="1710355"/>
            <a:ext cx="1931234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ridge-</a:t>
            </a: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cell.inp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1" name="Text Box 1031"/>
          <p:cNvSpPr txBox="1">
            <a:spLocks noChangeArrowheads="1"/>
          </p:cNvSpPr>
          <p:nvPr/>
        </p:nvSpPr>
        <p:spPr bwMode="auto">
          <a:xfrm>
            <a:off x="551293" y="2300575"/>
            <a:ext cx="5127060" cy="9667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2001 0 -214 200 -103 102 -105 104  lat=1  u=1002</a:t>
            </a:r>
            <a:endParaRPr lang="en-US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     fill= -5:4 0:0 0:0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     1001 1001 1001 1001 1001 1001 1001 1001 1001 1001</a:t>
            </a:r>
            <a:endParaRPr lang="en-US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  <a:endParaRPr lang="pt-BR" altLang="ja-JP" sz="1400" dirty="0">
              <a:latin typeface="Tahoma" panose="020B0604030504040204" pitchFamily="34" charset="0"/>
            </a:endParaRPr>
          </a:p>
        </p:txBody>
      </p:sp>
      <p:cxnSp>
        <p:nvCxnSpPr>
          <p:cNvPr id="10" name="直線コネクタ 9"/>
          <p:cNvCxnSpPr/>
          <p:nvPr/>
        </p:nvCxnSpPr>
        <p:spPr>
          <a:xfrm>
            <a:off x="3539643" y="2574968"/>
            <a:ext cx="127065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4115707" y="2574968"/>
            <a:ext cx="0" cy="936104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>
            <a:off x="2907079" y="3430134"/>
            <a:ext cx="3417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Universe1002</a:t>
            </a:r>
            <a:r>
              <a:rPr kumimoji="1" lang="ja-JP" altLang="en-US" sz="2000" dirty="0">
                <a:solidFill>
                  <a:srgbClr val="FF0000"/>
                </a:solidFill>
              </a:rPr>
              <a:t>は，直方体の</a:t>
            </a:r>
            <a:r>
              <a:rPr kumimoji="1" lang="en-US" altLang="ja-JP" sz="2000" dirty="0">
                <a:solidFill>
                  <a:srgbClr val="FF0000"/>
                </a:solidFill>
              </a:rPr>
              <a:t>Lattice</a:t>
            </a:r>
            <a:r>
              <a:rPr kumimoji="1" lang="ja-JP" altLang="en-US" sz="2000" dirty="0">
                <a:solidFill>
                  <a:srgbClr val="FF0000"/>
                </a:solidFill>
              </a:rPr>
              <a:t>空間であると定義</a:t>
            </a:r>
          </a:p>
        </p:txBody>
      </p:sp>
      <p:cxnSp>
        <p:nvCxnSpPr>
          <p:cNvPr id="31" name="直線コネクタ 30"/>
          <p:cNvCxnSpPr/>
          <p:nvPr/>
        </p:nvCxnSpPr>
        <p:spPr>
          <a:xfrm>
            <a:off x="1276302" y="2574968"/>
            <a:ext cx="2119325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/>
          <p:nvPr/>
        </p:nvCxnSpPr>
        <p:spPr>
          <a:xfrm>
            <a:off x="2675547" y="2574968"/>
            <a:ext cx="0" cy="180020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/>
          <p:cNvSpPr txBox="1"/>
          <p:nvPr/>
        </p:nvSpPr>
        <p:spPr>
          <a:xfrm>
            <a:off x="1911631" y="4337611"/>
            <a:ext cx="3849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002060"/>
                </a:solidFill>
              </a:rPr>
              <a:t>基本</a:t>
            </a:r>
            <a:r>
              <a:rPr kumimoji="1" lang="en-US" altLang="ja-JP" sz="2000" dirty="0">
                <a:solidFill>
                  <a:srgbClr val="002060"/>
                </a:solidFill>
              </a:rPr>
              <a:t>Lattice</a:t>
            </a:r>
            <a:r>
              <a:rPr kumimoji="1" lang="ja-JP" altLang="en-US" sz="2000" dirty="0">
                <a:solidFill>
                  <a:srgbClr val="002060"/>
                </a:solidFill>
              </a:rPr>
              <a:t>（中央のリッジフィルタ）を定義</a:t>
            </a:r>
          </a:p>
        </p:txBody>
      </p:sp>
      <p:cxnSp>
        <p:nvCxnSpPr>
          <p:cNvPr id="37" name="直線コネクタ 36"/>
          <p:cNvCxnSpPr/>
          <p:nvPr/>
        </p:nvCxnSpPr>
        <p:spPr>
          <a:xfrm flipV="1">
            <a:off x="1027873" y="2766979"/>
            <a:ext cx="1308091" cy="14751"/>
          </a:xfrm>
          <a:prstGeom prst="line">
            <a:avLst/>
          </a:prstGeom>
          <a:ln w="2857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/>
          <p:nvPr/>
        </p:nvCxnSpPr>
        <p:spPr>
          <a:xfrm>
            <a:off x="1415865" y="2718984"/>
            <a:ext cx="0" cy="2326513"/>
          </a:xfrm>
          <a:prstGeom prst="straightConnector1">
            <a:avLst/>
          </a:prstGeom>
          <a:ln w="28575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946014" y="5138085"/>
            <a:ext cx="41057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chemeClr val="accent3">
                    <a:lumMod val="50000"/>
                  </a:schemeClr>
                </a:solidFill>
              </a:rPr>
              <a:t>リッジフィルタを並べる個数（</a:t>
            </a:r>
            <a:r>
              <a:rPr lang="en-US" altLang="ja-JP" sz="2000" dirty="0">
                <a:solidFill>
                  <a:schemeClr val="accent3">
                    <a:lumMod val="50000"/>
                  </a:schemeClr>
                </a:solidFill>
              </a:rPr>
              <a:t>x</a:t>
            </a:r>
            <a:r>
              <a:rPr lang="ja-JP" altLang="en-US" sz="2000" dirty="0">
                <a:solidFill>
                  <a:schemeClr val="accent3">
                    <a:lumMod val="50000"/>
                  </a:schemeClr>
                </a:solidFill>
              </a:rPr>
              <a:t>軸方向に</a:t>
            </a:r>
            <a:r>
              <a:rPr lang="en-US" altLang="ja-JP" sz="2000" dirty="0">
                <a:solidFill>
                  <a:schemeClr val="accent3">
                    <a:lumMod val="50000"/>
                  </a:schemeClr>
                </a:solidFill>
              </a:rPr>
              <a:t>-5</a:t>
            </a:r>
            <a:r>
              <a:rPr lang="ja-JP" altLang="en-US" sz="2000" dirty="0">
                <a:solidFill>
                  <a:schemeClr val="accent3">
                    <a:lumMod val="50000"/>
                  </a:schemeClr>
                </a:solidFill>
              </a:rPr>
              <a:t>～</a:t>
            </a:r>
            <a:r>
              <a:rPr lang="en-US" altLang="ja-JP" sz="2000" dirty="0">
                <a:solidFill>
                  <a:schemeClr val="accent3">
                    <a:lumMod val="50000"/>
                  </a:schemeClr>
                </a:solidFill>
              </a:rPr>
              <a:t>+4</a:t>
            </a:r>
            <a:r>
              <a:rPr lang="ja-JP" altLang="en-US" sz="2000" dirty="0">
                <a:solidFill>
                  <a:schemeClr val="accent3">
                    <a:lumMod val="50000"/>
                  </a:schemeClr>
                </a:solidFill>
              </a:rPr>
              <a:t>まで</a:t>
            </a:r>
            <a:r>
              <a:rPr lang="en-US" altLang="ja-JP" sz="2000" dirty="0">
                <a:solidFill>
                  <a:schemeClr val="accent3">
                    <a:lumMod val="50000"/>
                  </a:schemeClr>
                </a:solidFill>
              </a:rPr>
              <a:t>10</a:t>
            </a:r>
            <a:r>
              <a:rPr lang="ja-JP" altLang="en-US" sz="2000" dirty="0">
                <a:solidFill>
                  <a:schemeClr val="accent3">
                    <a:lumMod val="50000"/>
                  </a:schemeClr>
                </a:solidFill>
              </a:rPr>
              <a:t>個）を指定</a:t>
            </a:r>
            <a:endParaRPr kumimoji="1" lang="ja-JP" alt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26" name="図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98" y="1831024"/>
            <a:ext cx="1038564" cy="3981163"/>
          </a:xfrm>
          <a:prstGeom prst="rect">
            <a:avLst/>
          </a:prstGeom>
        </p:spPr>
      </p:pic>
      <p:sp>
        <p:nvSpPr>
          <p:cNvPr id="46" name="テキスト ボックス 45"/>
          <p:cNvSpPr txBox="1"/>
          <p:nvPr/>
        </p:nvSpPr>
        <p:spPr>
          <a:xfrm>
            <a:off x="6324594" y="5806143"/>
            <a:ext cx="2416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err="1">
                <a:solidFill>
                  <a:srgbClr val="002060"/>
                </a:solidFill>
              </a:rPr>
              <a:t>Univserse</a:t>
            </a:r>
            <a:r>
              <a:rPr kumimoji="1" lang="en-US" altLang="ja-JP" sz="2800" dirty="0">
                <a:solidFill>
                  <a:srgbClr val="002060"/>
                </a:solidFill>
              </a:rPr>
              <a:t> 1002</a:t>
            </a:r>
            <a:endParaRPr kumimoji="1" lang="ja-JP" alt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501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59632" y="-68432"/>
            <a:ext cx="6167202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ja-JP" altLang="en-US" sz="4800" dirty="0">
                <a:latin typeface="Century Gothic" panose="020B0502020202020204" pitchFamily="34" charset="0"/>
              </a:rPr>
              <a:t>リッジフィルタを置く</a:t>
            </a:r>
            <a:endParaRPr lang="en-US" altLang="ja-JP" sz="4800" dirty="0">
              <a:latin typeface="Century Gothic" panose="020B0502020202020204" pitchFamily="34" charset="0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78886" y="828569"/>
            <a:ext cx="8148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</a:rPr>
              <a:t>メイン空間の一部にリッジフィルタ</a:t>
            </a:r>
            <a:r>
              <a:rPr kumimoji="1" lang="en-US" altLang="ja-JP" sz="2400" dirty="0">
                <a:solidFill>
                  <a:srgbClr val="FF0000"/>
                </a:solidFill>
              </a:rPr>
              <a:t>(universe 1002)</a:t>
            </a:r>
            <a:r>
              <a:rPr kumimoji="1" lang="ja-JP" altLang="en-US" sz="2400" dirty="0">
                <a:solidFill>
                  <a:srgbClr val="FF0000"/>
                </a:solidFill>
              </a:rPr>
              <a:t>を埋め込む</a:t>
            </a:r>
          </a:p>
        </p:txBody>
      </p:sp>
      <p:sp>
        <p:nvSpPr>
          <p:cNvPr id="60" name="Text Box 1030"/>
          <p:cNvSpPr txBox="1">
            <a:spLocks noChangeArrowheads="1"/>
          </p:cNvSpPr>
          <p:nvPr/>
        </p:nvSpPr>
        <p:spPr bwMode="auto">
          <a:xfrm>
            <a:off x="1691680" y="1375576"/>
            <a:ext cx="1372492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ridge.inp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1" name="Text Box 1031"/>
          <p:cNvSpPr txBox="1">
            <a:spLocks noChangeArrowheads="1"/>
          </p:cNvSpPr>
          <p:nvPr/>
        </p:nvSpPr>
        <p:spPr bwMode="auto">
          <a:xfrm>
            <a:off x="216838" y="1982593"/>
            <a:ext cx="4500519" cy="20745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[ C e l l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infl: {ridge-cell.inp} $ Surfaces for Ridge Filter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1  3 -19.6   1 -2 -11                   $ Scatterer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2  2 -2.7    3 -4  11 -12               $ Collimator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3  1 -1.0    5 -6 -11                   $ Target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</a:t>
            </a:r>
            <a:r>
              <a:rPr lang="pl-PL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4  0         100 -101 102 -103 104 -105 fill=1002 </a:t>
            </a:r>
            <a:endParaRPr lang="en-US" altLang="ja-JP" sz="14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98  4 -1.21e-3     #1 #2 #3 #4  -999     $ Air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99 -1         999                        $ Outer region</a:t>
            </a:r>
            <a:endParaRPr lang="en-US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  <a:endParaRPr lang="pt-BR" altLang="ja-JP" sz="1400" dirty="0">
              <a:latin typeface="Tahoma" panose="020B0604030504040204" pitchFamily="34" charset="0"/>
            </a:endParaRPr>
          </a:p>
        </p:txBody>
      </p:sp>
      <p:cxnSp>
        <p:nvCxnSpPr>
          <p:cNvPr id="12" name="直線コネクタ 11"/>
          <p:cNvCxnSpPr>
            <a:endCxn id="36" idx="1"/>
          </p:cNvCxnSpPr>
          <p:nvPr/>
        </p:nvCxnSpPr>
        <p:spPr>
          <a:xfrm flipV="1">
            <a:off x="4211960" y="2367913"/>
            <a:ext cx="936104" cy="798089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/>
          <p:cNvSpPr txBox="1"/>
          <p:nvPr/>
        </p:nvSpPr>
        <p:spPr>
          <a:xfrm>
            <a:off x="5148064" y="1860081"/>
            <a:ext cx="38491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リッジフィルタの外枠を定義し，</a:t>
            </a:r>
            <a:r>
              <a:rPr kumimoji="1" lang="en-US" altLang="ja-JP" sz="2000" dirty="0">
                <a:solidFill>
                  <a:srgbClr val="FF0000"/>
                </a:solidFill>
              </a:rPr>
              <a:t>universe 1002</a:t>
            </a:r>
            <a:r>
              <a:rPr kumimoji="1" lang="ja-JP" altLang="en-US" sz="2000" dirty="0">
                <a:solidFill>
                  <a:srgbClr val="FF0000"/>
                </a:solidFill>
              </a:rPr>
              <a:t>で満たす（</a:t>
            </a:r>
            <a:r>
              <a:rPr kumimoji="1" lang="en-US" altLang="ja-JP" sz="2000" dirty="0">
                <a:solidFill>
                  <a:srgbClr val="FF0000"/>
                </a:solidFill>
              </a:rPr>
              <a:t>fill = 1002)</a:t>
            </a:r>
          </a:p>
          <a:p>
            <a:r>
              <a:rPr kumimoji="1" lang="ja-JP" altLang="en-US" sz="2000" dirty="0">
                <a:solidFill>
                  <a:srgbClr val="FF0000"/>
                </a:solidFill>
              </a:rPr>
              <a:t>その際，物質は</a:t>
            </a:r>
            <a:r>
              <a:rPr kumimoji="1" lang="en-US" altLang="ja-JP" sz="2000" dirty="0">
                <a:solidFill>
                  <a:srgbClr val="FF0000"/>
                </a:solidFill>
              </a:rPr>
              <a:t>void (=0)</a:t>
            </a:r>
            <a:r>
              <a:rPr kumimoji="1" lang="ja-JP" altLang="en-US" sz="2000" dirty="0">
                <a:solidFill>
                  <a:srgbClr val="FF0000"/>
                </a:solidFill>
              </a:rPr>
              <a:t>とする</a:t>
            </a:r>
          </a:p>
        </p:txBody>
      </p:sp>
      <p:pic>
        <p:nvPicPr>
          <p:cNvPr id="22" name="図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56" y="4150194"/>
            <a:ext cx="7028588" cy="2179169"/>
          </a:xfrm>
          <a:prstGeom prst="rect">
            <a:avLst/>
          </a:prstGeom>
        </p:spPr>
      </p:pic>
      <p:cxnSp>
        <p:nvCxnSpPr>
          <p:cNvPr id="24" name="直線コネクタ 23"/>
          <p:cNvCxnSpPr>
            <a:endCxn id="27" idx="1"/>
          </p:cNvCxnSpPr>
          <p:nvPr/>
        </p:nvCxnSpPr>
        <p:spPr>
          <a:xfrm flipV="1">
            <a:off x="3725434" y="3646254"/>
            <a:ext cx="1609761" cy="1504948"/>
          </a:xfrm>
          <a:prstGeom prst="line">
            <a:avLst/>
          </a:prstGeom>
          <a:ln w="28575"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/>
          <p:cNvSpPr txBox="1"/>
          <p:nvPr/>
        </p:nvSpPr>
        <p:spPr>
          <a:xfrm>
            <a:off x="5335195" y="3138422"/>
            <a:ext cx="34749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002060"/>
                </a:solidFill>
              </a:rPr>
              <a:t>Cell</a:t>
            </a:r>
            <a:r>
              <a:rPr lang="ja-JP" altLang="en-US" sz="2000" dirty="0">
                <a:solidFill>
                  <a:srgbClr val="002060"/>
                </a:solidFill>
              </a:rPr>
              <a:t> </a:t>
            </a:r>
            <a:r>
              <a:rPr lang="en-US" altLang="ja-JP" sz="2000" dirty="0">
                <a:solidFill>
                  <a:srgbClr val="002060"/>
                </a:solidFill>
              </a:rPr>
              <a:t>4: </a:t>
            </a:r>
            <a:r>
              <a:rPr lang="ja-JP" altLang="en-US" sz="2000" dirty="0">
                <a:solidFill>
                  <a:srgbClr val="002060"/>
                </a:solidFill>
              </a:rPr>
              <a:t>リッジフィルタの領域</a:t>
            </a:r>
            <a:endParaRPr lang="en-US" altLang="ja-JP" sz="2000" dirty="0">
              <a:solidFill>
                <a:srgbClr val="002060"/>
              </a:solidFill>
            </a:endParaRPr>
          </a:p>
          <a:p>
            <a:r>
              <a:rPr kumimoji="1" lang="ja-JP" altLang="en-US" sz="2000" dirty="0">
                <a:solidFill>
                  <a:srgbClr val="002060"/>
                </a:solidFill>
              </a:rPr>
              <a:t>（よほど分解能を良くしない限りきれいには表示されない）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3563888" y="4856161"/>
            <a:ext cx="161546" cy="66107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954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00124" y="-122112"/>
            <a:ext cx="579519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ja-JP" altLang="en-US" sz="4800" dirty="0">
                <a:latin typeface="Century Gothic" panose="020B0502020202020204" pitchFamily="34" charset="0"/>
              </a:rPr>
              <a:t>線量・深さ分布の確認</a:t>
            </a:r>
            <a:endParaRPr lang="en-US" altLang="ja-JP" sz="4800" dirty="0">
              <a:latin typeface="Century Gothic" panose="020B0502020202020204" pitchFamily="34" charset="0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76795" y="99595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sz="2400" dirty="0"/>
          </a:p>
        </p:txBody>
      </p:sp>
      <p:sp>
        <p:nvSpPr>
          <p:cNvPr id="10" name="Text Box 1030"/>
          <p:cNvSpPr txBox="1">
            <a:spLocks noChangeArrowheads="1"/>
          </p:cNvSpPr>
          <p:nvPr/>
        </p:nvSpPr>
        <p:spPr bwMode="auto">
          <a:xfrm>
            <a:off x="898113" y="843031"/>
            <a:ext cx="1372492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ridge.inp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1" name="Text Box 1031"/>
          <p:cNvSpPr txBox="1">
            <a:spLocks noChangeArrowheads="1"/>
          </p:cNvSpPr>
          <p:nvPr/>
        </p:nvSpPr>
        <p:spPr bwMode="auto">
          <a:xfrm>
            <a:off x="323528" y="1352321"/>
            <a:ext cx="2663701" cy="439326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[ P a r a m e t e r s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icntl    =           </a:t>
            </a: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r>
              <a:rPr lang="pt-BR" altLang="ja-JP" sz="1400" dirty="0">
                <a:latin typeface="Tahoma" panose="020B0604030504040204" pitchFamily="34" charset="0"/>
              </a:rPr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maxcas   =        5000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maxbch   =          10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delt0    = 1.000000000E-02</a:t>
            </a:r>
            <a:r>
              <a:rPr lang="ja-JP" altLang="en-US" sz="1400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endParaRPr lang="en-US" altLang="ja-JP" sz="14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e-mode   =           2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nedisp   =           1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nspred   =           2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ascat1   =  13.6000000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ascat2   = 8.800000000E-02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  <a:endParaRPr lang="pt-BR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[ T - Deposit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   title = depth-dose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    mesh =  r-z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400" dirty="0">
                <a:latin typeface="Tahoma" panose="020B0604030504040204" pitchFamily="34" charset="0"/>
              </a:rPr>
              <a:t>   </a:t>
            </a:r>
            <a:r>
              <a:rPr lang="fr-FR" altLang="ja-JP" sz="1400" dirty="0">
                <a:latin typeface="Tahoma" panose="020B0604030504040204" pitchFamily="34" charset="0"/>
              </a:rPr>
              <a:t>r-type =    2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    rmin =   0.000000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    </a:t>
            </a:r>
            <a:r>
              <a:rPr lang="fr-F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rmax =   1.000000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       nr =    1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ja-JP" sz="1400" dirty="0">
                <a:latin typeface="Tahoma" panose="020B0604030504040204" pitchFamily="34" charset="0"/>
              </a:rPr>
              <a:t>... </a:t>
            </a:r>
            <a:endParaRPr lang="pt-BR" altLang="ja-JP" sz="1400" dirty="0">
              <a:latin typeface="Tahoma" panose="020B0604030504040204" pitchFamily="34" charset="0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1105264"/>
            <a:ext cx="3356548" cy="2890360"/>
          </a:xfrm>
          <a:prstGeom prst="rect">
            <a:avLst/>
          </a:prstGeom>
        </p:spPr>
      </p:pic>
      <p:sp>
        <p:nvSpPr>
          <p:cNvPr id="18" name="Text Box 1030"/>
          <p:cNvSpPr txBox="1">
            <a:spLocks noChangeArrowheads="1"/>
          </p:cNvSpPr>
          <p:nvPr/>
        </p:nvSpPr>
        <p:spPr bwMode="auto">
          <a:xfrm>
            <a:off x="6228184" y="1352321"/>
            <a:ext cx="1383712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dose.eps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877568" y="4080000"/>
            <a:ext cx="4976042" cy="707886"/>
          </a:xfrm>
          <a:prstGeom prst="rect">
            <a:avLst/>
          </a:prstGeom>
          <a:solidFill>
            <a:srgbClr val="0000CC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rgbClr val="FFFF00"/>
                </a:solidFill>
              </a:rPr>
              <a:t>リッジフィルタの詳しい構造は非公開のため</a:t>
            </a:r>
            <a:endParaRPr kumimoji="1" lang="en-US" altLang="ja-JP" sz="2000" dirty="0">
              <a:solidFill>
                <a:srgbClr val="FFFF00"/>
              </a:solidFill>
            </a:endParaRPr>
          </a:p>
          <a:p>
            <a:pPr algn="ctr"/>
            <a:r>
              <a:rPr kumimoji="1" lang="ja-JP" altLang="en-US" sz="2000" dirty="0">
                <a:solidFill>
                  <a:srgbClr val="FFFF00"/>
                </a:solidFill>
              </a:rPr>
              <a:t>このサンプルでは正しい</a:t>
            </a:r>
            <a:r>
              <a:rPr kumimoji="1" lang="en-US" altLang="ja-JP" sz="2000" dirty="0">
                <a:solidFill>
                  <a:srgbClr val="FFFF00"/>
                </a:solidFill>
              </a:rPr>
              <a:t>SOBP</a:t>
            </a:r>
            <a:r>
              <a:rPr kumimoji="1" lang="ja-JP" altLang="en-US" sz="2000" dirty="0">
                <a:solidFill>
                  <a:srgbClr val="FFFF00"/>
                </a:solidFill>
              </a:rPr>
              <a:t>になっていない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396563" y="2480864"/>
            <a:ext cx="2367013" cy="1250567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/>
          <p:cNvCxnSpPr>
            <a:stCxn id="5" idx="2"/>
          </p:cNvCxnSpPr>
          <p:nvPr/>
        </p:nvCxnSpPr>
        <p:spPr>
          <a:xfrm>
            <a:off x="1580070" y="3731431"/>
            <a:ext cx="2179771" cy="1536232"/>
          </a:xfrm>
          <a:prstGeom prst="line">
            <a:avLst/>
          </a:prstGeom>
          <a:ln w="28575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3789766" y="4821657"/>
            <a:ext cx="4393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delt0</a:t>
            </a:r>
            <a:r>
              <a:rPr kumimoji="1" lang="ja-JP" altLang="en-US" dirty="0"/>
              <a:t>は，散乱体の</a:t>
            </a:r>
            <a:r>
              <a:rPr kumimoji="1" lang="en-US" altLang="ja-JP" dirty="0"/>
              <a:t>1/10</a:t>
            </a:r>
            <a:r>
              <a:rPr kumimoji="1" lang="ja-JP" altLang="en-US" dirty="0"/>
              <a:t>の厚さに設定する。</a:t>
            </a:r>
            <a:endParaRPr kumimoji="1" lang="en-US" altLang="ja-JP" dirty="0"/>
          </a:p>
          <a:p>
            <a:r>
              <a:rPr kumimoji="1" lang="ja-JP" altLang="en-US" dirty="0"/>
              <a:t>それ以外の基本的なパラメータ設定は</a:t>
            </a:r>
            <a:endParaRPr kumimoji="1" lang="en-US" altLang="ja-JP" dirty="0"/>
          </a:p>
          <a:p>
            <a:r>
              <a:rPr lang="en-US" altLang="ja-JP" dirty="0"/>
              <a:t>\recommendation\</a:t>
            </a:r>
            <a:r>
              <a:rPr lang="en-US" altLang="ja-JP" dirty="0" err="1"/>
              <a:t>particletherapy.inp</a:t>
            </a:r>
            <a:r>
              <a:rPr lang="ja-JP" altLang="en-US" dirty="0"/>
              <a:t>と同じ</a:t>
            </a:r>
            <a:endParaRPr kumimoji="1" lang="ja-JP" altLang="en-US" dirty="0"/>
          </a:p>
        </p:txBody>
      </p:sp>
      <p:cxnSp>
        <p:nvCxnSpPr>
          <p:cNvPr id="24" name="直線コネクタ 23"/>
          <p:cNvCxnSpPr/>
          <p:nvPr/>
        </p:nvCxnSpPr>
        <p:spPr>
          <a:xfrm>
            <a:off x="2270605" y="5105465"/>
            <a:ext cx="1519161" cy="783808"/>
          </a:xfrm>
          <a:prstGeom prst="line">
            <a:avLst/>
          </a:prstGeom>
          <a:ln w="28575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/>
          <p:cNvSpPr txBox="1"/>
          <p:nvPr/>
        </p:nvSpPr>
        <p:spPr>
          <a:xfrm>
            <a:off x="3759841" y="5719785"/>
            <a:ext cx="4879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タリー半径により線量</a:t>
            </a:r>
            <a:r>
              <a:rPr kumimoji="1" lang="en-US" altLang="ja-JP" dirty="0"/>
              <a:t>-</a:t>
            </a:r>
            <a:r>
              <a:rPr kumimoji="1" lang="ja-JP" altLang="en-US" dirty="0"/>
              <a:t>深さ分布が大きく変化する</a:t>
            </a:r>
            <a:endParaRPr kumimoji="1" lang="en-US" altLang="ja-JP" dirty="0"/>
          </a:p>
          <a:p>
            <a:r>
              <a:rPr kumimoji="1" lang="ja-JP" altLang="en-US" dirty="0" err="1"/>
              <a:t>ので</a:t>
            </a:r>
            <a:r>
              <a:rPr kumimoji="1" lang="ja-JP" altLang="en-US" dirty="0"/>
              <a:t>注意が必要</a:t>
            </a:r>
          </a:p>
        </p:txBody>
      </p:sp>
    </p:spTree>
    <p:extLst>
      <p:ext uri="{BB962C8B-B14F-4D97-AF65-F5344CB8AC3E}">
        <p14:creationId xmlns:p14="http://schemas.microsoft.com/office/powerpoint/2010/main" val="3854133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角丸四角形 73"/>
          <p:cNvSpPr/>
          <p:nvPr/>
        </p:nvSpPr>
        <p:spPr>
          <a:xfrm>
            <a:off x="251519" y="4205950"/>
            <a:ext cx="8637463" cy="1887346"/>
          </a:xfrm>
          <a:prstGeom prst="roundRect">
            <a:avLst>
              <a:gd name="adj" fmla="val 9655"/>
            </a:avLst>
          </a:prstGeom>
          <a:solidFill>
            <a:srgbClr val="CCFFFF"/>
          </a:solidFill>
          <a:ln>
            <a:solidFill>
              <a:srgbClr val="00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角丸四角形 63"/>
          <p:cNvSpPr/>
          <p:nvPr/>
        </p:nvSpPr>
        <p:spPr>
          <a:xfrm>
            <a:off x="251518" y="2157191"/>
            <a:ext cx="8637464" cy="1872208"/>
          </a:xfrm>
          <a:prstGeom prst="roundRect">
            <a:avLst>
              <a:gd name="adj" fmla="val 9598"/>
            </a:avLst>
          </a:prstGeom>
          <a:solidFill>
            <a:srgbClr val="CCFFFF"/>
          </a:solidFill>
          <a:ln>
            <a:solidFill>
              <a:srgbClr val="0000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/>
        </p:nvSpPr>
        <p:spPr>
          <a:xfrm>
            <a:off x="481103" y="2334345"/>
            <a:ext cx="6048622" cy="530054"/>
          </a:xfrm>
          <a:prstGeom prst="rect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3568" y="-68432"/>
            <a:ext cx="7943446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ja-JP" altLang="en-US" sz="4800" dirty="0">
                <a:latin typeface="Century Gothic" panose="020B0502020202020204" pitchFamily="34" charset="0"/>
              </a:rPr>
              <a:t>陽子用リッジフィルタ特有</a:t>
            </a:r>
            <a:r>
              <a:rPr lang="en-US" altLang="ja-JP" sz="4800" baseline="30000" dirty="0">
                <a:latin typeface="Century Gothic" panose="020B0502020202020204" pitchFamily="34" charset="0"/>
              </a:rPr>
              <a:t>*</a:t>
            </a:r>
            <a:r>
              <a:rPr lang="ja-JP" altLang="en-US" sz="4800" dirty="0">
                <a:latin typeface="Century Gothic" panose="020B0502020202020204" pitchFamily="34" charset="0"/>
              </a:rPr>
              <a:t>の設計</a:t>
            </a:r>
            <a:endParaRPr lang="en-US" altLang="ja-JP" sz="4800" dirty="0">
              <a:latin typeface="Century Gothic" panose="020B0502020202020204" pitchFamily="34" charset="0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500212" y="882631"/>
            <a:ext cx="81435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</a:rPr>
              <a:t>陽子線の場合，クーロン角度分散の影響が大きいため，</a:t>
            </a:r>
            <a:endParaRPr kumimoji="1" lang="en-US" altLang="ja-JP" sz="2400" dirty="0">
              <a:solidFill>
                <a:srgbClr val="FF0000"/>
              </a:solidFill>
            </a:endParaRPr>
          </a:p>
          <a:p>
            <a:r>
              <a:rPr kumimoji="1" lang="ja-JP" altLang="en-US" sz="2400" dirty="0">
                <a:solidFill>
                  <a:srgbClr val="FF0000"/>
                </a:solidFill>
              </a:rPr>
              <a:t>アルミを細かく分割し，散乱によりフィルタの外に出ていないか</a:t>
            </a:r>
            <a:endParaRPr kumimoji="1" lang="en-US" altLang="ja-JP" sz="2400" dirty="0">
              <a:solidFill>
                <a:srgbClr val="FF0000"/>
              </a:solidFill>
            </a:endParaRPr>
          </a:p>
          <a:p>
            <a:r>
              <a:rPr kumimoji="1" lang="ja-JP" altLang="en-US" sz="2400" dirty="0">
                <a:solidFill>
                  <a:srgbClr val="FF0000"/>
                </a:solidFill>
              </a:rPr>
              <a:t>頻繁にチェックする必要がある</a:t>
            </a:r>
          </a:p>
        </p:txBody>
      </p:sp>
      <p:cxnSp>
        <p:nvCxnSpPr>
          <p:cNvPr id="21" name="直線矢印コネクタ 20"/>
          <p:cNvCxnSpPr/>
          <p:nvPr/>
        </p:nvCxnSpPr>
        <p:spPr>
          <a:xfrm>
            <a:off x="3984654" y="2850191"/>
            <a:ext cx="2484412" cy="24250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6477524" y="2521685"/>
            <a:ext cx="223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無限媒質中での飛跡</a:t>
            </a: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6469066" y="293184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0070C0"/>
                </a:solidFill>
              </a:rPr>
              <a:t>本当の飛跡</a:t>
            </a:r>
          </a:p>
        </p:txBody>
      </p:sp>
      <p:sp>
        <p:nvSpPr>
          <p:cNvPr id="5" name="フリーフォーム 4"/>
          <p:cNvSpPr/>
          <p:nvPr/>
        </p:nvSpPr>
        <p:spPr>
          <a:xfrm>
            <a:off x="492401" y="2576861"/>
            <a:ext cx="6037323" cy="406400"/>
          </a:xfrm>
          <a:custGeom>
            <a:avLst/>
            <a:gdLst>
              <a:gd name="connsiteX0" fmla="*/ 0 w 5956300"/>
              <a:gd name="connsiteY0" fmla="*/ 12700 h 406400"/>
              <a:gd name="connsiteX1" fmla="*/ 292100 w 5956300"/>
              <a:gd name="connsiteY1" fmla="*/ 25400 h 406400"/>
              <a:gd name="connsiteX2" fmla="*/ 444500 w 5956300"/>
              <a:gd name="connsiteY2" fmla="*/ 50800 h 406400"/>
              <a:gd name="connsiteX3" fmla="*/ 977900 w 5956300"/>
              <a:gd name="connsiteY3" fmla="*/ 38100 h 406400"/>
              <a:gd name="connsiteX4" fmla="*/ 1155700 w 5956300"/>
              <a:gd name="connsiteY4" fmla="*/ 12700 h 406400"/>
              <a:gd name="connsiteX5" fmla="*/ 1231900 w 5956300"/>
              <a:gd name="connsiteY5" fmla="*/ 0 h 406400"/>
              <a:gd name="connsiteX6" fmla="*/ 1498600 w 5956300"/>
              <a:gd name="connsiteY6" fmla="*/ 12700 h 406400"/>
              <a:gd name="connsiteX7" fmla="*/ 1638300 w 5956300"/>
              <a:gd name="connsiteY7" fmla="*/ 50800 h 406400"/>
              <a:gd name="connsiteX8" fmla="*/ 1676400 w 5956300"/>
              <a:gd name="connsiteY8" fmla="*/ 63500 h 406400"/>
              <a:gd name="connsiteX9" fmla="*/ 1778000 w 5956300"/>
              <a:gd name="connsiteY9" fmla="*/ 88900 h 406400"/>
              <a:gd name="connsiteX10" fmla="*/ 1816100 w 5956300"/>
              <a:gd name="connsiteY10" fmla="*/ 101600 h 406400"/>
              <a:gd name="connsiteX11" fmla="*/ 1993900 w 5956300"/>
              <a:gd name="connsiteY11" fmla="*/ 127000 h 406400"/>
              <a:gd name="connsiteX12" fmla="*/ 2032000 w 5956300"/>
              <a:gd name="connsiteY12" fmla="*/ 139700 h 406400"/>
              <a:gd name="connsiteX13" fmla="*/ 2362200 w 5956300"/>
              <a:gd name="connsiteY13" fmla="*/ 165100 h 406400"/>
              <a:gd name="connsiteX14" fmla="*/ 2857500 w 5956300"/>
              <a:gd name="connsiteY14" fmla="*/ 190500 h 406400"/>
              <a:gd name="connsiteX15" fmla="*/ 3136900 w 5956300"/>
              <a:gd name="connsiteY15" fmla="*/ 215900 h 406400"/>
              <a:gd name="connsiteX16" fmla="*/ 3213100 w 5956300"/>
              <a:gd name="connsiteY16" fmla="*/ 241300 h 406400"/>
              <a:gd name="connsiteX17" fmla="*/ 3390900 w 5956300"/>
              <a:gd name="connsiteY17" fmla="*/ 266700 h 406400"/>
              <a:gd name="connsiteX18" fmla="*/ 3568700 w 5956300"/>
              <a:gd name="connsiteY18" fmla="*/ 279400 h 406400"/>
              <a:gd name="connsiteX19" fmla="*/ 3632200 w 5956300"/>
              <a:gd name="connsiteY19" fmla="*/ 292100 h 406400"/>
              <a:gd name="connsiteX20" fmla="*/ 3708400 w 5956300"/>
              <a:gd name="connsiteY20" fmla="*/ 304800 h 406400"/>
              <a:gd name="connsiteX21" fmla="*/ 3784600 w 5956300"/>
              <a:gd name="connsiteY21" fmla="*/ 330200 h 406400"/>
              <a:gd name="connsiteX22" fmla="*/ 3822700 w 5956300"/>
              <a:gd name="connsiteY22" fmla="*/ 342900 h 406400"/>
              <a:gd name="connsiteX23" fmla="*/ 3860800 w 5956300"/>
              <a:gd name="connsiteY23" fmla="*/ 355600 h 406400"/>
              <a:gd name="connsiteX24" fmla="*/ 3911600 w 5956300"/>
              <a:gd name="connsiteY24" fmla="*/ 368300 h 406400"/>
              <a:gd name="connsiteX25" fmla="*/ 3975100 w 5956300"/>
              <a:gd name="connsiteY25" fmla="*/ 381000 h 406400"/>
              <a:gd name="connsiteX26" fmla="*/ 4216400 w 5956300"/>
              <a:gd name="connsiteY26" fmla="*/ 393700 h 406400"/>
              <a:gd name="connsiteX27" fmla="*/ 4356100 w 5956300"/>
              <a:gd name="connsiteY27" fmla="*/ 406400 h 406400"/>
              <a:gd name="connsiteX28" fmla="*/ 4800600 w 5956300"/>
              <a:gd name="connsiteY28" fmla="*/ 393700 h 406400"/>
              <a:gd name="connsiteX29" fmla="*/ 4838700 w 5956300"/>
              <a:gd name="connsiteY29" fmla="*/ 368300 h 406400"/>
              <a:gd name="connsiteX30" fmla="*/ 4889500 w 5956300"/>
              <a:gd name="connsiteY30" fmla="*/ 355600 h 406400"/>
              <a:gd name="connsiteX31" fmla="*/ 5003800 w 5956300"/>
              <a:gd name="connsiteY31" fmla="*/ 330200 h 406400"/>
              <a:gd name="connsiteX32" fmla="*/ 5080000 w 5956300"/>
              <a:gd name="connsiteY32" fmla="*/ 304800 h 406400"/>
              <a:gd name="connsiteX33" fmla="*/ 5156200 w 5956300"/>
              <a:gd name="connsiteY33" fmla="*/ 279400 h 406400"/>
              <a:gd name="connsiteX34" fmla="*/ 5194300 w 5956300"/>
              <a:gd name="connsiteY34" fmla="*/ 266700 h 406400"/>
              <a:gd name="connsiteX35" fmla="*/ 5295900 w 5956300"/>
              <a:gd name="connsiteY35" fmla="*/ 241300 h 406400"/>
              <a:gd name="connsiteX36" fmla="*/ 5372100 w 5956300"/>
              <a:gd name="connsiteY36" fmla="*/ 215900 h 406400"/>
              <a:gd name="connsiteX37" fmla="*/ 5499100 w 5956300"/>
              <a:gd name="connsiteY37" fmla="*/ 190500 h 406400"/>
              <a:gd name="connsiteX38" fmla="*/ 5956300 w 5956300"/>
              <a:gd name="connsiteY38" fmla="*/ 17780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956300" h="406400">
                <a:moveTo>
                  <a:pt x="0" y="12700"/>
                </a:moveTo>
                <a:cubicBezTo>
                  <a:pt x="97367" y="16933"/>
                  <a:pt x="194857" y="18917"/>
                  <a:pt x="292100" y="25400"/>
                </a:cubicBezTo>
                <a:cubicBezTo>
                  <a:pt x="339358" y="28551"/>
                  <a:pt x="397085" y="41317"/>
                  <a:pt x="444500" y="50800"/>
                </a:cubicBezTo>
                <a:lnTo>
                  <a:pt x="977900" y="38100"/>
                </a:lnTo>
                <a:cubicBezTo>
                  <a:pt x="1068101" y="34563"/>
                  <a:pt x="1080260" y="26416"/>
                  <a:pt x="1155700" y="12700"/>
                </a:cubicBezTo>
                <a:cubicBezTo>
                  <a:pt x="1181035" y="8094"/>
                  <a:pt x="1206500" y="4233"/>
                  <a:pt x="1231900" y="0"/>
                </a:cubicBezTo>
                <a:cubicBezTo>
                  <a:pt x="1320800" y="4233"/>
                  <a:pt x="1409861" y="5874"/>
                  <a:pt x="1498600" y="12700"/>
                </a:cubicBezTo>
                <a:cubicBezTo>
                  <a:pt x="1545272" y="16290"/>
                  <a:pt x="1595058" y="36386"/>
                  <a:pt x="1638300" y="50800"/>
                </a:cubicBezTo>
                <a:cubicBezTo>
                  <a:pt x="1651000" y="55033"/>
                  <a:pt x="1663413" y="60253"/>
                  <a:pt x="1676400" y="63500"/>
                </a:cubicBezTo>
                <a:cubicBezTo>
                  <a:pt x="1710267" y="71967"/>
                  <a:pt x="1744882" y="77861"/>
                  <a:pt x="1778000" y="88900"/>
                </a:cubicBezTo>
                <a:cubicBezTo>
                  <a:pt x="1790700" y="93133"/>
                  <a:pt x="1802929" y="99205"/>
                  <a:pt x="1816100" y="101600"/>
                </a:cubicBezTo>
                <a:cubicBezTo>
                  <a:pt x="1921832" y="120824"/>
                  <a:pt x="1900195" y="106177"/>
                  <a:pt x="1993900" y="127000"/>
                </a:cubicBezTo>
                <a:cubicBezTo>
                  <a:pt x="2006968" y="129904"/>
                  <a:pt x="2018769" y="137664"/>
                  <a:pt x="2032000" y="139700"/>
                </a:cubicBezTo>
                <a:cubicBezTo>
                  <a:pt x="2111859" y="151986"/>
                  <a:pt x="2299455" y="161178"/>
                  <a:pt x="2362200" y="165100"/>
                </a:cubicBezTo>
                <a:cubicBezTo>
                  <a:pt x="2599324" y="198975"/>
                  <a:pt x="2357550" y="167775"/>
                  <a:pt x="2857500" y="190500"/>
                </a:cubicBezTo>
                <a:cubicBezTo>
                  <a:pt x="2917021" y="193206"/>
                  <a:pt x="3072078" y="209418"/>
                  <a:pt x="3136900" y="215900"/>
                </a:cubicBezTo>
                <a:cubicBezTo>
                  <a:pt x="3162300" y="224367"/>
                  <a:pt x="3186690" y="236898"/>
                  <a:pt x="3213100" y="241300"/>
                </a:cubicBezTo>
                <a:cubicBezTo>
                  <a:pt x="3279796" y="252416"/>
                  <a:pt x="3320967" y="260342"/>
                  <a:pt x="3390900" y="266700"/>
                </a:cubicBezTo>
                <a:cubicBezTo>
                  <a:pt x="3450074" y="272079"/>
                  <a:pt x="3509433" y="275167"/>
                  <a:pt x="3568700" y="279400"/>
                </a:cubicBezTo>
                <a:lnTo>
                  <a:pt x="3632200" y="292100"/>
                </a:lnTo>
                <a:cubicBezTo>
                  <a:pt x="3657535" y="296706"/>
                  <a:pt x="3683418" y="298555"/>
                  <a:pt x="3708400" y="304800"/>
                </a:cubicBezTo>
                <a:cubicBezTo>
                  <a:pt x="3734375" y="311294"/>
                  <a:pt x="3759200" y="321733"/>
                  <a:pt x="3784600" y="330200"/>
                </a:cubicBezTo>
                <a:lnTo>
                  <a:pt x="3822700" y="342900"/>
                </a:lnTo>
                <a:cubicBezTo>
                  <a:pt x="3835400" y="347133"/>
                  <a:pt x="3847813" y="352353"/>
                  <a:pt x="3860800" y="355600"/>
                </a:cubicBezTo>
                <a:cubicBezTo>
                  <a:pt x="3877733" y="359833"/>
                  <a:pt x="3894561" y="364514"/>
                  <a:pt x="3911600" y="368300"/>
                </a:cubicBezTo>
                <a:cubicBezTo>
                  <a:pt x="3932672" y="372983"/>
                  <a:pt x="3953589" y="379207"/>
                  <a:pt x="3975100" y="381000"/>
                </a:cubicBezTo>
                <a:cubicBezTo>
                  <a:pt x="4055366" y="387689"/>
                  <a:pt x="4136034" y="388342"/>
                  <a:pt x="4216400" y="393700"/>
                </a:cubicBezTo>
                <a:cubicBezTo>
                  <a:pt x="4263055" y="396810"/>
                  <a:pt x="4309533" y="402167"/>
                  <a:pt x="4356100" y="406400"/>
                </a:cubicBezTo>
                <a:cubicBezTo>
                  <a:pt x="4504267" y="402167"/>
                  <a:pt x="4652833" y="405366"/>
                  <a:pt x="4800600" y="393700"/>
                </a:cubicBezTo>
                <a:cubicBezTo>
                  <a:pt x="4815816" y="392499"/>
                  <a:pt x="4824671" y="374313"/>
                  <a:pt x="4838700" y="368300"/>
                </a:cubicBezTo>
                <a:cubicBezTo>
                  <a:pt x="4854743" y="361424"/>
                  <a:pt x="4872461" y="359386"/>
                  <a:pt x="4889500" y="355600"/>
                </a:cubicBezTo>
                <a:cubicBezTo>
                  <a:pt x="4936113" y="345242"/>
                  <a:pt x="4959553" y="343474"/>
                  <a:pt x="5003800" y="330200"/>
                </a:cubicBezTo>
                <a:cubicBezTo>
                  <a:pt x="5029445" y="322507"/>
                  <a:pt x="5054600" y="313267"/>
                  <a:pt x="5080000" y="304800"/>
                </a:cubicBezTo>
                <a:lnTo>
                  <a:pt x="5156200" y="279400"/>
                </a:lnTo>
                <a:cubicBezTo>
                  <a:pt x="5168900" y="275167"/>
                  <a:pt x="5181313" y="269947"/>
                  <a:pt x="5194300" y="266700"/>
                </a:cubicBezTo>
                <a:cubicBezTo>
                  <a:pt x="5228167" y="258233"/>
                  <a:pt x="5262782" y="252339"/>
                  <a:pt x="5295900" y="241300"/>
                </a:cubicBezTo>
                <a:cubicBezTo>
                  <a:pt x="5321300" y="232833"/>
                  <a:pt x="5346125" y="222394"/>
                  <a:pt x="5372100" y="215900"/>
                </a:cubicBezTo>
                <a:cubicBezTo>
                  <a:pt x="5415600" y="205025"/>
                  <a:pt x="5453307" y="194163"/>
                  <a:pt x="5499100" y="190500"/>
                </a:cubicBezTo>
                <a:cubicBezTo>
                  <a:pt x="5705131" y="174018"/>
                  <a:pt x="5755582" y="177800"/>
                  <a:pt x="5956300" y="1778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93567" y="2507619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Al</a:t>
            </a:r>
            <a:endParaRPr kumimoji="1" lang="ja-JP" altLang="en-US" sz="2400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86139" y="2803577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Air</a:t>
            </a:r>
            <a:endParaRPr kumimoji="1" lang="ja-JP" altLang="en-US" sz="24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192566" y="2319348"/>
            <a:ext cx="141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FF00"/>
                </a:solidFill>
              </a:rPr>
              <a:t>PHITS</a:t>
            </a:r>
            <a:r>
              <a:rPr kumimoji="1" lang="ja-JP" altLang="en-US" dirty="0">
                <a:solidFill>
                  <a:srgbClr val="FFFF00"/>
                </a:solidFill>
              </a:rPr>
              <a:t>の飛跡</a:t>
            </a:r>
          </a:p>
        </p:txBody>
      </p:sp>
      <p:sp>
        <p:nvSpPr>
          <p:cNvPr id="26" name="正方形/長方形 25"/>
          <p:cNvSpPr/>
          <p:nvPr/>
        </p:nvSpPr>
        <p:spPr>
          <a:xfrm>
            <a:off x="498089" y="4344037"/>
            <a:ext cx="6054523" cy="530054"/>
          </a:xfrm>
          <a:prstGeom prst="rect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矢印コネクタ 27"/>
          <p:cNvCxnSpPr/>
          <p:nvPr/>
        </p:nvCxnSpPr>
        <p:spPr>
          <a:xfrm>
            <a:off x="4001641" y="4859883"/>
            <a:ext cx="2484412" cy="24250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6494511" y="4531377"/>
            <a:ext cx="223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無限媒質中での飛跡</a:t>
            </a: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6486053" y="494153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0070C0"/>
                </a:solidFill>
              </a:rPr>
              <a:t>本当の飛跡</a:t>
            </a:r>
          </a:p>
        </p:txBody>
      </p:sp>
      <p:sp>
        <p:nvSpPr>
          <p:cNvPr id="34" name="フリーフォーム 33"/>
          <p:cNvSpPr/>
          <p:nvPr/>
        </p:nvSpPr>
        <p:spPr>
          <a:xfrm>
            <a:off x="509389" y="4586553"/>
            <a:ext cx="6036348" cy="406400"/>
          </a:xfrm>
          <a:custGeom>
            <a:avLst/>
            <a:gdLst>
              <a:gd name="connsiteX0" fmla="*/ 0 w 5956300"/>
              <a:gd name="connsiteY0" fmla="*/ 12700 h 406400"/>
              <a:gd name="connsiteX1" fmla="*/ 292100 w 5956300"/>
              <a:gd name="connsiteY1" fmla="*/ 25400 h 406400"/>
              <a:gd name="connsiteX2" fmla="*/ 444500 w 5956300"/>
              <a:gd name="connsiteY2" fmla="*/ 50800 h 406400"/>
              <a:gd name="connsiteX3" fmla="*/ 977900 w 5956300"/>
              <a:gd name="connsiteY3" fmla="*/ 38100 h 406400"/>
              <a:gd name="connsiteX4" fmla="*/ 1155700 w 5956300"/>
              <a:gd name="connsiteY4" fmla="*/ 12700 h 406400"/>
              <a:gd name="connsiteX5" fmla="*/ 1231900 w 5956300"/>
              <a:gd name="connsiteY5" fmla="*/ 0 h 406400"/>
              <a:gd name="connsiteX6" fmla="*/ 1498600 w 5956300"/>
              <a:gd name="connsiteY6" fmla="*/ 12700 h 406400"/>
              <a:gd name="connsiteX7" fmla="*/ 1638300 w 5956300"/>
              <a:gd name="connsiteY7" fmla="*/ 50800 h 406400"/>
              <a:gd name="connsiteX8" fmla="*/ 1676400 w 5956300"/>
              <a:gd name="connsiteY8" fmla="*/ 63500 h 406400"/>
              <a:gd name="connsiteX9" fmla="*/ 1778000 w 5956300"/>
              <a:gd name="connsiteY9" fmla="*/ 88900 h 406400"/>
              <a:gd name="connsiteX10" fmla="*/ 1816100 w 5956300"/>
              <a:gd name="connsiteY10" fmla="*/ 101600 h 406400"/>
              <a:gd name="connsiteX11" fmla="*/ 1993900 w 5956300"/>
              <a:gd name="connsiteY11" fmla="*/ 127000 h 406400"/>
              <a:gd name="connsiteX12" fmla="*/ 2032000 w 5956300"/>
              <a:gd name="connsiteY12" fmla="*/ 139700 h 406400"/>
              <a:gd name="connsiteX13" fmla="*/ 2362200 w 5956300"/>
              <a:gd name="connsiteY13" fmla="*/ 165100 h 406400"/>
              <a:gd name="connsiteX14" fmla="*/ 2857500 w 5956300"/>
              <a:gd name="connsiteY14" fmla="*/ 190500 h 406400"/>
              <a:gd name="connsiteX15" fmla="*/ 3136900 w 5956300"/>
              <a:gd name="connsiteY15" fmla="*/ 215900 h 406400"/>
              <a:gd name="connsiteX16" fmla="*/ 3213100 w 5956300"/>
              <a:gd name="connsiteY16" fmla="*/ 241300 h 406400"/>
              <a:gd name="connsiteX17" fmla="*/ 3390900 w 5956300"/>
              <a:gd name="connsiteY17" fmla="*/ 266700 h 406400"/>
              <a:gd name="connsiteX18" fmla="*/ 3568700 w 5956300"/>
              <a:gd name="connsiteY18" fmla="*/ 279400 h 406400"/>
              <a:gd name="connsiteX19" fmla="*/ 3632200 w 5956300"/>
              <a:gd name="connsiteY19" fmla="*/ 292100 h 406400"/>
              <a:gd name="connsiteX20" fmla="*/ 3708400 w 5956300"/>
              <a:gd name="connsiteY20" fmla="*/ 304800 h 406400"/>
              <a:gd name="connsiteX21" fmla="*/ 3784600 w 5956300"/>
              <a:gd name="connsiteY21" fmla="*/ 330200 h 406400"/>
              <a:gd name="connsiteX22" fmla="*/ 3822700 w 5956300"/>
              <a:gd name="connsiteY22" fmla="*/ 342900 h 406400"/>
              <a:gd name="connsiteX23" fmla="*/ 3860800 w 5956300"/>
              <a:gd name="connsiteY23" fmla="*/ 355600 h 406400"/>
              <a:gd name="connsiteX24" fmla="*/ 3911600 w 5956300"/>
              <a:gd name="connsiteY24" fmla="*/ 368300 h 406400"/>
              <a:gd name="connsiteX25" fmla="*/ 3975100 w 5956300"/>
              <a:gd name="connsiteY25" fmla="*/ 381000 h 406400"/>
              <a:gd name="connsiteX26" fmla="*/ 4216400 w 5956300"/>
              <a:gd name="connsiteY26" fmla="*/ 393700 h 406400"/>
              <a:gd name="connsiteX27" fmla="*/ 4356100 w 5956300"/>
              <a:gd name="connsiteY27" fmla="*/ 406400 h 406400"/>
              <a:gd name="connsiteX28" fmla="*/ 4800600 w 5956300"/>
              <a:gd name="connsiteY28" fmla="*/ 393700 h 406400"/>
              <a:gd name="connsiteX29" fmla="*/ 4838700 w 5956300"/>
              <a:gd name="connsiteY29" fmla="*/ 368300 h 406400"/>
              <a:gd name="connsiteX30" fmla="*/ 4889500 w 5956300"/>
              <a:gd name="connsiteY30" fmla="*/ 355600 h 406400"/>
              <a:gd name="connsiteX31" fmla="*/ 5003800 w 5956300"/>
              <a:gd name="connsiteY31" fmla="*/ 330200 h 406400"/>
              <a:gd name="connsiteX32" fmla="*/ 5080000 w 5956300"/>
              <a:gd name="connsiteY32" fmla="*/ 304800 h 406400"/>
              <a:gd name="connsiteX33" fmla="*/ 5156200 w 5956300"/>
              <a:gd name="connsiteY33" fmla="*/ 279400 h 406400"/>
              <a:gd name="connsiteX34" fmla="*/ 5194300 w 5956300"/>
              <a:gd name="connsiteY34" fmla="*/ 266700 h 406400"/>
              <a:gd name="connsiteX35" fmla="*/ 5295900 w 5956300"/>
              <a:gd name="connsiteY35" fmla="*/ 241300 h 406400"/>
              <a:gd name="connsiteX36" fmla="*/ 5372100 w 5956300"/>
              <a:gd name="connsiteY36" fmla="*/ 215900 h 406400"/>
              <a:gd name="connsiteX37" fmla="*/ 5499100 w 5956300"/>
              <a:gd name="connsiteY37" fmla="*/ 190500 h 406400"/>
              <a:gd name="connsiteX38" fmla="*/ 5956300 w 5956300"/>
              <a:gd name="connsiteY38" fmla="*/ 17780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956300" h="406400">
                <a:moveTo>
                  <a:pt x="0" y="12700"/>
                </a:moveTo>
                <a:cubicBezTo>
                  <a:pt x="97367" y="16933"/>
                  <a:pt x="194857" y="18917"/>
                  <a:pt x="292100" y="25400"/>
                </a:cubicBezTo>
                <a:cubicBezTo>
                  <a:pt x="339358" y="28551"/>
                  <a:pt x="397085" y="41317"/>
                  <a:pt x="444500" y="50800"/>
                </a:cubicBezTo>
                <a:lnTo>
                  <a:pt x="977900" y="38100"/>
                </a:lnTo>
                <a:cubicBezTo>
                  <a:pt x="1068101" y="34563"/>
                  <a:pt x="1080260" y="26416"/>
                  <a:pt x="1155700" y="12700"/>
                </a:cubicBezTo>
                <a:cubicBezTo>
                  <a:pt x="1181035" y="8094"/>
                  <a:pt x="1206500" y="4233"/>
                  <a:pt x="1231900" y="0"/>
                </a:cubicBezTo>
                <a:cubicBezTo>
                  <a:pt x="1320800" y="4233"/>
                  <a:pt x="1409861" y="5874"/>
                  <a:pt x="1498600" y="12700"/>
                </a:cubicBezTo>
                <a:cubicBezTo>
                  <a:pt x="1545272" y="16290"/>
                  <a:pt x="1595058" y="36386"/>
                  <a:pt x="1638300" y="50800"/>
                </a:cubicBezTo>
                <a:cubicBezTo>
                  <a:pt x="1651000" y="55033"/>
                  <a:pt x="1663413" y="60253"/>
                  <a:pt x="1676400" y="63500"/>
                </a:cubicBezTo>
                <a:cubicBezTo>
                  <a:pt x="1710267" y="71967"/>
                  <a:pt x="1744882" y="77861"/>
                  <a:pt x="1778000" y="88900"/>
                </a:cubicBezTo>
                <a:cubicBezTo>
                  <a:pt x="1790700" y="93133"/>
                  <a:pt x="1802929" y="99205"/>
                  <a:pt x="1816100" y="101600"/>
                </a:cubicBezTo>
                <a:cubicBezTo>
                  <a:pt x="1921832" y="120824"/>
                  <a:pt x="1900195" y="106177"/>
                  <a:pt x="1993900" y="127000"/>
                </a:cubicBezTo>
                <a:cubicBezTo>
                  <a:pt x="2006968" y="129904"/>
                  <a:pt x="2018769" y="137664"/>
                  <a:pt x="2032000" y="139700"/>
                </a:cubicBezTo>
                <a:cubicBezTo>
                  <a:pt x="2111859" y="151986"/>
                  <a:pt x="2299455" y="161178"/>
                  <a:pt x="2362200" y="165100"/>
                </a:cubicBezTo>
                <a:cubicBezTo>
                  <a:pt x="2599324" y="198975"/>
                  <a:pt x="2357550" y="167775"/>
                  <a:pt x="2857500" y="190500"/>
                </a:cubicBezTo>
                <a:cubicBezTo>
                  <a:pt x="2917021" y="193206"/>
                  <a:pt x="3072078" y="209418"/>
                  <a:pt x="3136900" y="215900"/>
                </a:cubicBezTo>
                <a:cubicBezTo>
                  <a:pt x="3162300" y="224367"/>
                  <a:pt x="3186690" y="236898"/>
                  <a:pt x="3213100" y="241300"/>
                </a:cubicBezTo>
                <a:cubicBezTo>
                  <a:pt x="3279796" y="252416"/>
                  <a:pt x="3320967" y="260342"/>
                  <a:pt x="3390900" y="266700"/>
                </a:cubicBezTo>
                <a:cubicBezTo>
                  <a:pt x="3450074" y="272079"/>
                  <a:pt x="3509433" y="275167"/>
                  <a:pt x="3568700" y="279400"/>
                </a:cubicBezTo>
                <a:lnTo>
                  <a:pt x="3632200" y="292100"/>
                </a:lnTo>
                <a:cubicBezTo>
                  <a:pt x="3657535" y="296706"/>
                  <a:pt x="3683418" y="298555"/>
                  <a:pt x="3708400" y="304800"/>
                </a:cubicBezTo>
                <a:cubicBezTo>
                  <a:pt x="3734375" y="311294"/>
                  <a:pt x="3759200" y="321733"/>
                  <a:pt x="3784600" y="330200"/>
                </a:cubicBezTo>
                <a:lnTo>
                  <a:pt x="3822700" y="342900"/>
                </a:lnTo>
                <a:cubicBezTo>
                  <a:pt x="3835400" y="347133"/>
                  <a:pt x="3847813" y="352353"/>
                  <a:pt x="3860800" y="355600"/>
                </a:cubicBezTo>
                <a:cubicBezTo>
                  <a:pt x="3877733" y="359833"/>
                  <a:pt x="3894561" y="364514"/>
                  <a:pt x="3911600" y="368300"/>
                </a:cubicBezTo>
                <a:cubicBezTo>
                  <a:pt x="3932672" y="372983"/>
                  <a:pt x="3953589" y="379207"/>
                  <a:pt x="3975100" y="381000"/>
                </a:cubicBezTo>
                <a:cubicBezTo>
                  <a:pt x="4055366" y="387689"/>
                  <a:pt x="4136034" y="388342"/>
                  <a:pt x="4216400" y="393700"/>
                </a:cubicBezTo>
                <a:cubicBezTo>
                  <a:pt x="4263055" y="396810"/>
                  <a:pt x="4309533" y="402167"/>
                  <a:pt x="4356100" y="406400"/>
                </a:cubicBezTo>
                <a:cubicBezTo>
                  <a:pt x="4504267" y="402167"/>
                  <a:pt x="4652833" y="405366"/>
                  <a:pt x="4800600" y="393700"/>
                </a:cubicBezTo>
                <a:cubicBezTo>
                  <a:pt x="4815816" y="392499"/>
                  <a:pt x="4824671" y="374313"/>
                  <a:pt x="4838700" y="368300"/>
                </a:cubicBezTo>
                <a:cubicBezTo>
                  <a:pt x="4854743" y="361424"/>
                  <a:pt x="4872461" y="359386"/>
                  <a:pt x="4889500" y="355600"/>
                </a:cubicBezTo>
                <a:cubicBezTo>
                  <a:pt x="4936113" y="345242"/>
                  <a:pt x="4959553" y="343474"/>
                  <a:pt x="5003800" y="330200"/>
                </a:cubicBezTo>
                <a:cubicBezTo>
                  <a:pt x="5029445" y="322507"/>
                  <a:pt x="5054600" y="313267"/>
                  <a:pt x="5080000" y="304800"/>
                </a:cubicBezTo>
                <a:lnTo>
                  <a:pt x="5156200" y="279400"/>
                </a:lnTo>
                <a:cubicBezTo>
                  <a:pt x="5168900" y="275167"/>
                  <a:pt x="5181313" y="269947"/>
                  <a:pt x="5194300" y="266700"/>
                </a:cubicBezTo>
                <a:cubicBezTo>
                  <a:pt x="5228167" y="258233"/>
                  <a:pt x="5262782" y="252339"/>
                  <a:pt x="5295900" y="241300"/>
                </a:cubicBezTo>
                <a:cubicBezTo>
                  <a:pt x="5321300" y="232833"/>
                  <a:pt x="5346125" y="222394"/>
                  <a:pt x="5372100" y="215900"/>
                </a:cubicBezTo>
                <a:cubicBezTo>
                  <a:pt x="5415600" y="205025"/>
                  <a:pt x="5453307" y="194163"/>
                  <a:pt x="5499100" y="190500"/>
                </a:cubicBezTo>
                <a:cubicBezTo>
                  <a:pt x="5705131" y="174018"/>
                  <a:pt x="5755582" y="177800"/>
                  <a:pt x="5956300" y="1778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510554" y="4517311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Al</a:t>
            </a:r>
            <a:endParaRPr kumimoji="1" lang="ja-JP" altLang="en-US" sz="2400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03126" y="4813269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Air</a:t>
            </a:r>
            <a:endParaRPr kumimoji="1" lang="ja-JP" altLang="en-US" sz="24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2483293" y="4386717"/>
            <a:ext cx="141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FF00"/>
                </a:solidFill>
              </a:rPr>
              <a:t>PHITS</a:t>
            </a:r>
            <a:r>
              <a:rPr kumimoji="1" lang="ja-JP" altLang="en-US" dirty="0">
                <a:solidFill>
                  <a:srgbClr val="FFFF00"/>
                </a:solidFill>
              </a:rPr>
              <a:t>の飛跡</a:t>
            </a:r>
          </a:p>
        </p:txBody>
      </p:sp>
      <p:cxnSp>
        <p:nvCxnSpPr>
          <p:cNvPr id="33" name="直線矢印コネクタ 32"/>
          <p:cNvCxnSpPr>
            <a:stCxn id="32" idx="1"/>
          </p:cNvCxnSpPr>
          <p:nvPr/>
        </p:nvCxnSpPr>
        <p:spPr>
          <a:xfrm>
            <a:off x="481103" y="2599372"/>
            <a:ext cx="6048622" cy="120568"/>
          </a:xfrm>
          <a:prstGeom prst="straightConnector1">
            <a:avLst/>
          </a:prstGeom>
          <a:ln w="28575">
            <a:solidFill>
              <a:srgbClr val="FFFF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>
            <a:stCxn id="26" idx="1"/>
            <a:endCxn id="34" idx="3"/>
          </p:cNvCxnSpPr>
          <p:nvPr/>
        </p:nvCxnSpPr>
        <p:spPr>
          <a:xfrm>
            <a:off x="498089" y="4609064"/>
            <a:ext cx="1002342" cy="15589"/>
          </a:xfrm>
          <a:prstGeom prst="straightConnector1">
            <a:avLst/>
          </a:prstGeom>
          <a:ln w="28575">
            <a:solidFill>
              <a:srgbClr val="FFFF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1515937" y="4323769"/>
            <a:ext cx="3216" cy="5232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>
            <a:off x="2508394" y="4349495"/>
            <a:ext cx="0" cy="525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>
            <a:off x="3521426" y="4336656"/>
            <a:ext cx="0" cy="525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>
            <a:off x="4541768" y="4336656"/>
            <a:ext cx="0" cy="525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/>
          <p:nvPr/>
        </p:nvCxnSpPr>
        <p:spPr>
          <a:xfrm>
            <a:off x="5545701" y="4336656"/>
            <a:ext cx="0" cy="525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/>
          <p:cNvCxnSpPr>
            <a:endCxn id="34" idx="11"/>
          </p:cNvCxnSpPr>
          <p:nvPr/>
        </p:nvCxnSpPr>
        <p:spPr>
          <a:xfrm>
            <a:off x="1549542" y="4621885"/>
            <a:ext cx="980543" cy="91668"/>
          </a:xfrm>
          <a:prstGeom prst="straightConnector1">
            <a:avLst/>
          </a:prstGeom>
          <a:ln w="28575">
            <a:solidFill>
              <a:srgbClr val="FFFF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矢印コネクタ 59"/>
          <p:cNvCxnSpPr/>
          <p:nvPr/>
        </p:nvCxnSpPr>
        <p:spPr>
          <a:xfrm>
            <a:off x="2492818" y="4707714"/>
            <a:ext cx="1037067" cy="75081"/>
          </a:xfrm>
          <a:prstGeom prst="straightConnector1">
            <a:avLst/>
          </a:prstGeom>
          <a:ln w="28575">
            <a:solidFill>
              <a:srgbClr val="FFFF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/>
          <p:cNvCxnSpPr/>
          <p:nvPr/>
        </p:nvCxnSpPr>
        <p:spPr>
          <a:xfrm>
            <a:off x="3512327" y="4781475"/>
            <a:ext cx="557685" cy="110754"/>
          </a:xfrm>
          <a:prstGeom prst="straightConnector1">
            <a:avLst/>
          </a:prstGeom>
          <a:ln w="28575">
            <a:solidFill>
              <a:srgbClr val="FFFF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/>
          <p:cNvCxnSpPr/>
          <p:nvPr/>
        </p:nvCxnSpPr>
        <p:spPr>
          <a:xfrm>
            <a:off x="4070012" y="4892229"/>
            <a:ext cx="2416041" cy="377846"/>
          </a:xfrm>
          <a:prstGeom prst="straightConnector1">
            <a:avLst/>
          </a:prstGeom>
          <a:ln w="28575">
            <a:solidFill>
              <a:srgbClr val="FFFF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/>
          <p:cNvSpPr txBox="1"/>
          <p:nvPr/>
        </p:nvSpPr>
        <p:spPr>
          <a:xfrm>
            <a:off x="2560915" y="3038030"/>
            <a:ext cx="3111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0000CC"/>
                </a:solidFill>
              </a:rPr>
              <a:t>領域を区切らない場合</a:t>
            </a: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2305235" y="5100114"/>
            <a:ext cx="3623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0000CC"/>
                </a:solidFill>
              </a:rPr>
              <a:t>領域を細かく区切った場合</a:t>
            </a: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6468939" y="5218756"/>
            <a:ext cx="141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PHITS</a:t>
            </a:r>
            <a:r>
              <a:rPr kumimoji="1" lang="ja-JP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の飛跡</a:t>
            </a: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929348" y="3499476"/>
            <a:ext cx="6832320" cy="400110"/>
          </a:xfrm>
          <a:prstGeom prst="rect">
            <a:avLst/>
          </a:prstGeom>
          <a:solidFill>
            <a:srgbClr val="0000CC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rgbClr val="FFFF00"/>
                </a:solidFill>
              </a:rPr>
              <a:t>フィルタ内を長距離飛んでしまい，飛程が短い粒子が増える</a:t>
            </a: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336558" y="5573400"/>
            <a:ext cx="8467383" cy="400110"/>
          </a:xfrm>
          <a:prstGeom prst="rect">
            <a:avLst/>
          </a:prstGeom>
          <a:solidFill>
            <a:srgbClr val="0000CC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rgbClr val="FFFF00"/>
                </a:solidFill>
              </a:rPr>
              <a:t>領域境界でフィルタ内外を判定するため，途中で抜ける粒子を正しく考慮可能</a:t>
            </a:r>
          </a:p>
        </p:txBody>
      </p:sp>
    </p:spTree>
    <p:extLst>
      <p:ext uri="{BB962C8B-B14F-4D97-AF65-F5344CB8AC3E}">
        <p14:creationId xmlns:p14="http://schemas.microsoft.com/office/powerpoint/2010/main" val="3231391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7" y="-103288"/>
            <a:ext cx="8640959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ja-JP" altLang="en-US" sz="4000" dirty="0">
                <a:latin typeface="Century Gothic" panose="020B0502020202020204" pitchFamily="34" charset="0"/>
              </a:rPr>
              <a:t>陽子用フィルタの基本ユニットを作る①</a:t>
            </a:r>
            <a:endParaRPr lang="en-US" altLang="ja-JP" sz="4000" dirty="0">
              <a:latin typeface="Century Gothic" panose="020B0502020202020204" pitchFamily="34" charset="0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223598" y="818043"/>
            <a:ext cx="8840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solidFill>
                  <a:srgbClr val="FF0000"/>
                </a:solidFill>
              </a:rPr>
              <a:t>アルミを</a:t>
            </a:r>
            <a:r>
              <a:rPr kumimoji="1" lang="en-US" altLang="ja-JP" sz="2800" dirty="0">
                <a:solidFill>
                  <a:srgbClr val="FF0000"/>
                </a:solidFill>
              </a:rPr>
              <a:t>0.05cm</a:t>
            </a:r>
            <a:r>
              <a:rPr kumimoji="1" lang="ja-JP" altLang="en-US" sz="2800" dirty="0">
                <a:solidFill>
                  <a:srgbClr val="FF0000"/>
                </a:solidFill>
              </a:rPr>
              <a:t>間隔に細かく区切った</a:t>
            </a:r>
            <a:r>
              <a:rPr kumimoji="1" lang="en-US" altLang="ja-JP" sz="2800" dirty="0">
                <a:solidFill>
                  <a:srgbClr val="FF0000"/>
                </a:solidFill>
              </a:rPr>
              <a:t>universe 1003</a:t>
            </a:r>
            <a:r>
              <a:rPr kumimoji="1" lang="ja-JP" altLang="en-US" sz="2800" dirty="0">
                <a:solidFill>
                  <a:srgbClr val="FF0000"/>
                </a:solidFill>
              </a:rPr>
              <a:t>を作る</a:t>
            </a:r>
          </a:p>
        </p:txBody>
      </p:sp>
      <p:sp>
        <p:nvSpPr>
          <p:cNvPr id="60" name="Text Box 1030"/>
          <p:cNvSpPr txBox="1">
            <a:spLocks noChangeArrowheads="1"/>
          </p:cNvSpPr>
          <p:nvPr/>
        </p:nvSpPr>
        <p:spPr bwMode="auto">
          <a:xfrm>
            <a:off x="2987824" y="1395479"/>
            <a:ext cx="2930033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ridge-cell-</a:t>
            </a: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proton.inp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1" name="Text Box 1031"/>
          <p:cNvSpPr txBox="1">
            <a:spLocks noChangeArrowheads="1"/>
          </p:cNvSpPr>
          <p:nvPr/>
        </p:nvSpPr>
        <p:spPr bwMode="auto">
          <a:xfrm>
            <a:off x="1259632" y="1996049"/>
            <a:ext cx="6696744" cy="12371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2003  0  100 -101 102 -103 -106 104 </a:t>
            </a:r>
            <a:r>
              <a:rPr lang="en-US" altLang="ja-JP" sz="1400" dirty="0" err="1">
                <a:latin typeface="Tahoma" panose="020B0604030504040204" pitchFamily="34" charset="0"/>
              </a:rPr>
              <a:t>lat</a:t>
            </a:r>
            <a:r>
              <a:rPr lang="en-US" altLang="ja-JP" sz="1400" dirty="0">
                <a:latin typeface="Tahoma" panose="020B0604030504040204" pitchFamily="34" charset="0"/>
              </a:rPr>
              <a:t>=1 u=1003  $ Universe for Lattice 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fill = 0:0 0:0 0:99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     1004 1004 1004 1004 1004 1004 1004 1004 1004 1004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2004  2  -2.70 -999 u=1004 $ Universe filled with Al in whole ridge filter area</a:t>
            </a:r>
          </a:p>
        </p:txBody>
      </p:sp>
      <p:cxnSp>
        <p:nvCxnSpPr>
          <p:cNvPr id="21" name="直線コネクタ 20"/>
          <p:cNvCxnSpPr/>
          <p:nvPr/>
        </p:nvCxnSpPr>
        <p:spPr>
          <a:xfrm>
            <a:off x="1835696" y="3149898"/>
            <a:ext cx="175920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2900308" y="3149898"/>
            <a:ext cx="0" cy="423118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/>
          <p:cNvSpPr txBox="1"/>
          <p:nvPr/>
        </p:nvSpPr>
        <p:spPr>
          <a:xfrm>
            <a:off x="683569" y="3534053"/>
            <a:ext cx="3168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Universe1004</a:t>
            </a:r>
            <a:r>
              <a:rPr kumimoji="1" lang="ja-JP" altLang="en-US" sz="2000" dirty="0">
                <a:solidFill>
                  <a:srgbClr val="FF0000"/>
                </a:solidFill>
              </a:rPr>
              <a:t>は，全てアルミで満たされた世界</a:t>
            </a:r>
          </a:p>
        </p:txBody>
      </p:sp>
      <p:cxnSp>
        <p:nvCxnSpPr>
          <p:cNvPr id="26" name="直線コネクタ 25"/>
          <p:cNvCxnSpPr/>
          <p:nvPr/>
        </p:nvCxnSpPr>
        <p:spPr>
          <a:xfrm>
            <a:off x="3673347" y="2276872"/>
            <a:ext cx="1759206" cy="0"/>
          </a:xfrm>
          <a:prstGeom prst="line">
            <a:avLst/>
          </a:prstGeom>
          <a:ln w="28575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>
            <a:off x="4860032" y="2276872"/>
            <a:ext cx="0" cy="2088232"/>
          </a:xfrm>
          <a:prstGeom prst="line">
            <a:avLst/>
          </a:prstGeom>
          <a:ln w="28575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539551" y="4399964"/>
            <a:ext cx="8208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0000CC"/>
                </a:solidFill>
              </a:rPr>
              <a:t>Universe1003</a:t>
            </a:r>
            <a:r>
              <a:rPr kumimoji="1" lang="ja-JP" altLang="en-US" sz="2000" dirty="0">
                <a:solidFill>
                  <a:srgbClr val="0000CC"/>
                </a:solidFill>
              </a:rPr>
              <a:t>は，</a:t>
            </a:r>
            <a:r>
              <a:rPr kumimoji="1" lang="en-US" altLang="ja-JP" sz="2000" dirty="0">
                <a:solidFill>
                  <a:srgbClr val="0000CC"/>
                </a:solidFill>
              </a:rPr>
              <a:t>z</a:t>
            </a:r>
            <a:r>
              <a:rPr kumimoji="1" lang="ja-JP" altLang="en-US" sz="2000" dirty="0">
                <a:solidFill>
                  <a:srgbClr val="0000CC"/>
                </a:solidFill>
              </a:rPr>
              <a:t>方向に</a:t>
            </a:r>
            <a:r>
              <a:rPr kumimoji="1" lang="en-US" altLang="ja-JP" sz="2000" dirty="0">
                <a:solidFill>
                  <a:srgbClr val="0000CC"/>
                </a:solidFill>
              </a:rPr>
              <a:t>0.05cm</a:t>
            </a:r>
            <a:r>
              <a:rPr kumimoji="1" lang="ja-JP" altLang="en-US" sz="2000" dirty="0">
                <a:solidFill>
                  <a:srgbClr val="0000CC"/>
                </a:solidFill>
              </a:rPr>
              <a:t>間隔で</a:t>
            </a:r>
            <a:r>
              <a:rPr kumimoji="1" lang="en-US" altLang="ja-JP" sz="2000" dirty="0">
                <a:solidFill>
                  <a:srgbClr val="0000CC"/>
                </a:solidFill>
              </a:rPr>
              <a:t>100</a:t>
            </a:r>
            <a:r>
              <a:rPr kumimoji="1" lang="ja-JP" altLang="en-US" sz="2000" dirty="0">
                <a:solidFill>
                  <a:srgbClr val="0000CC"/>
                </a:solidFill>
              </a:rPr>
              <a:t>等分されたアルミの</a:t>
            </a:r>
            <a:r>
              <a:rPr kumimoji="1" lang="en-US" altLang="ja-JP" sz="2000" dirty="0">
                <a:solidFill>
                  <a:srgbClr val="0000CC"/>
                </a:solidFill>
              </a:rPr>
              <a:t>Lattice</a:t>
            </a:r>
            <a:r>
              <a:rPr kumimoji="1" lang="ja-JP" altLang="en-US" sz="2000" dirty="0">
                <a:solidFill>
                  <a:srgbClr val="0000CC"/>
                </a:solidFill>
              </a:rPr>
              <a:t>領域</a:t>
            </a:r>
          </a:p>
        </p:txBody>
      </p:sp>
      <p:sp>
        <p:nvSpPr>
          <p:cNvPr id="31" name="Text Box 1031"/>
          <p:cNvSpPr txBox="1">
            <a:spLocks noChangeArrowheads="1"/>
          </p:cNvSpPr>
          <p:nvPr/>
        </p:nvSpPr>
        <p:spPr bwMode="auto">
          <a:xfrm>
            <a:off x="4244421" y="4883385"/>
            <a:ext cx="2376264" cy="12711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</a:t>
            </a:r>
            <a:r>
              <a:rPr lang="en-US" altLang="ja-JP" sz="1400" dirty="0">
                <a:latin typeface="Tahoma" panose="020B060403050404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 </a:t>
            </a:r>
            <a:r>
              <a:rPr lang="pl-PL" altLang="ja-JP" sz="1400" dirty="0">
                <a:latin typeface="Tahoma" panose="020B0604030504040204" pitchFamily="34" charset="0"/>
              </a:rPr>
              <a:t>104          pz    c1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105          pz    c1+5.0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</a:t>
            </a:r>
            <a:r>
              <a:rPr lang="pl-PL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106          pz    c1+0.05</a:t>
            </a:r>
            <a:endParaRPr lang="en-US" altLang="ja-JP" sz="14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</a:p>
        </p:txBody>
      </p:sp>
      <p:sp>
        <p:nvSpPr>
          <p:cNvPr id="32" name="Text Box 1030"/>
          <p:cNvSpPr txBox="1">
            <a:spLocks noChangeArrowheads="1"/>
          </p:cNvSpPr>
          <p:nvPr/>
        </p:nvSpPr>
        <p:spPr bwMode="auto">
          <a:xfrm>
            <a:off x="1386759" y="4884377"/>
            <a:ext cx="2465162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ridge-</a:t>
            </a: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surface.inp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446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4289057"/>
            <a:ext cx="4020237" cy="1642554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527" y="-103288"/>
            <a:ext cx="8640959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ja-JP" altLang="en-US" sz="4000" dirty="0">
                <a:latin typeface="Century Gothic" panose="020B0502020202020204" pitchFamily="34" charset="0"/>
              </a:rPr>
              <a:t>陽子用フィルタの基本ユニットを作る②</a:t>
            </a:r>
            <a:endParaRPr lang="en-US" altLang="ja-JP" sz="4000" dirty="0">
              <a:latin typeface="Century Gothic" panose="020B0502020202020204" pitchFamily="34" charset="0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309468" y="834397"/>
            <a:ext cx="67873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 dirty="0">
                <a:solidFill>
                  <a:srgbClr val="FF0000"/>
                </a:solidFill>
              </a:rPr>
              <a:t>リッジフィルタの領域をアルミの代わりに</a:t>
            </a:r>
            <a:endParaRPr kumimoji="1" lang="en-US" altLang="ja-JP" sz="2800" dirty="0">
              <a:solidFill>
                <a:srgbClr val="FF0000"/>
              </a:solidFill>
            </a:endParaRPr>
          </a:p>
          <a:p>
            <a:pPr algn="ctr"/>
            <a:r>
              <a:rPr kumimoji="1" lang="en-US" altLang="ja-JP" sz="2800" dirty="0">
                <a:solidFill>
                  <a:srgbClr val="FF0000"/>
                </a:solidFill>
              </a:rPr>
              <a:t>Universe 1003</a:t>
            </a:r>
            <a:r>
              <a:rPr kumimoji="1" lang="ja-JP" altLang="en-US" sz="2800" dirty="0">
                <a:solidFill>
                  <a:srgbClr val="FF0000"/>
                </a:solidFill>
              </a:rPr>
              <a:t>（</a:t>
            </a:r>
            <a:r>
              <a:rPr kumimoji="1" lang="en-US" altLang="ja-JP" sz="2800" dirty="0">
                <a:solidFill>
                  <a:srgbClr val="FF0000"/>
                </a:solidFill>
              </a:rPr>
              <a:t>100</a:t>
            </a:r>
            <a:r>
              <a:rPr kumimoji="1" lang="ja-JP" altLang="en-US" sz="2800" dirty="0">
                <a:solidFill>
                  <a:srgbClr val="FF0000"/>
                </a:solidFill>
              </a:rPr>
              <a:t>等分したアルミ）で満たす</a:t>
            </a:r>
          </a:p>
        </p:txBody>
      </p:sp>
      <p:sp>
        <p:nvSpPr>
          <p:cNvPr id="19" name="Text Box 1030"/>
          <p:cNvSpPr txBox="1">
            <a:spLocks noChangeArrowheads="1"/>
          </p:cNvSpPr>
          <p:nvPr/>
        </p:nvSpPr>
        <p:spPr bwMode="auto">
          <a:xfrm>
            <a:off x="714554" y="1840107"/>
            <a:ext cx="1931234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ridge-</a:t>
            </a: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cell.inp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" name="Text Box 1031"/>
          <p:cNvSpPr txBox="1">
            <a:spLocks noChangeArrowheads="1"/>
          </p:cNvSpPr>
          <p:nvPr/>
        </p:nvSpPr>
        <p:spPr bwMode="auto">
          <a:xfrm>
            <a:off x="319833" y="2430328"/>
            <a:ext cx="4396183" cy="12083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  <a:endParaRPr lang="pt-BR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$</a:t>
            </a:r>
            <a:r>
              <a:rPr lang="pt-BR" altLang="ja-JP" sz="1400" dirty="0">
                <a:latin typeface="Tahoma" panose="020B0604030504040204" pitchFamily="34" charset="0"/>
              </a:rPr>
              <a:t> Unit Ridge Filger, Al region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1201 2 -2.70      201 -202 102 -103  301  u=1001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 1202 2 -2.70      202 -203 102 -103  302  u=1001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  <a:endParaRPr lang="pt-BR" altLang="ja-JP" sz="1400" dirty="0">
              <a:latin typeface="Tahoma" panose="020B0604030504040204" pitchFamily="34" charset="0"/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5765677" y="3679636"/>
            <a:ext cx="2416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err="1">
                <a:solidFill>
                  <a:srgbClr val="002060"/>
                </a:solidFill>
              </a:rPr>
              <a:t>Univserse</a:t>
            </a:r>
            <a:r>
              <a:rPr kumimoji="1" lang="en-US" altLang="ja-JP" sz="2800" dirty="0">
                <a:solidFill>
                  <a:srgbClr val="002060"/>
                </a:solidFill>
              </a:rPr>
              <a:t> 1001</a:t>
            </a:r>
            <a:endParaRPr kumimoji="1" lang="ja-JP" altLang="en-US" sz="2800" dirty="0">
              <a:solidFill>
                <a:srgbClr val="002060"/>
              </a:solidFill>
            </a:endParaRPr>
          </a:p>
        </p:txBody>
      </p:sp>
      <p:sp>
        <p:nvSpPr>
          <p:cNvPr id="39" name="Text Box 1030"/>
          <p:cNvSpPr txBox="1">
            <a:spLocks noChangeArrowheads="1"/>
          </p:cNvSpPr>
          <p:nvPr/>
        </p:nvSpPr>
        <p:spPr bwMode="auto">
          <a:xfrm>
            <a:off x="694483" y="4136127"/>
            <a:ext cx="2930033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ridge-cell-</a:t>
            </a: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proton.inp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0" name="Text Box 1031"/>
          <p:cNvSpPr txBox="1">
            <a:spLocks noChangeArrowheads="1"/>
          </p:cNvSpPr>
          <p:nvPr/>
        </p:nvSpPr>
        <p:spPr bwMode="auto">
          <a:xfrm>
            <a:off x="353200" y="4702879"/>
            <a:ext cx="4375392" cy="12153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  <a:endParaRPr lang="pt-BR" altLang="ja-JP" sz="14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$</a:t>
            </a:r>
            <a:r>
              <a:rPr lang="pt-BR" altLang="ja-JP" sz="1400" dirty="0">
                <a:latin typeface="Tahoma" panose="020B0604030504040204" pitchFamily="34" charset="0"/>
              </a:rPr>
              <a:t> Unit Ridge Filger, Al region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1201 </a:t>
            </a:r>
            <a:r>
              <a:rPr lang="pl-PL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r>
              <a:rPr lang="pl-PL" altLang="ja-JP" sz="1400" dirty="0">
                <a:latin typeface="Tahoma" panose="020B0604030504040204" pitchFamily="34" charset="0"/>
              </a:rPr>
              <a:t>  201 -202 102 -103  301  u=1001  </a:t>
            </a:r>
            <a:r>
              <a:rPr lang="pl-PL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fill=1003</a:t>
            </a:r>
            <a:endParaRPr lang="en-US" altLang="ja-JP" sz="14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l-PL" altLang="ja-JP" sz="1400" dirty="0">
                <a:latin typeface="Tahoma" panose="020B0604030504040204" pitchFamily="34" charset="0"/>
              </a:rPr>
              <a:t> 1202 </a:t>
            </a:r>
            <a:r>
              <a:rPr lang="pl-PL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r>
              <a:rPr lang="pl-PL" altLang="ja-JP" sz="1400" dirty="0">
                <a:latin typeface="Tahoma" panose="020B0604030504040204" pitchFamily="34" charset="0"/>
              </a:rPr>
              <a:t>  202 -203 102 -103  302  u=1001  </a:t>
            </a:r>
            <a:r>
              <a:rPr lang="pl-PL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fill=1003</a:t>
            </a:r>
            <a:endParaRPr lang="en-US" altLang="ja-JP" sz="14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…</a:t>
            </a:r>
            <a:endParaRPr lang="pt-BR" altLang="ja-JP" sz="1400" dirty="0">
              <a:latin typeface="Tahoma" panose="020B0604030504040204" pitchFamily="34" charset="0"/>
            </a:endParaRPr>
          </a:p>
        </p:txBody>
      </p:sp>
      <p:sp>
        <p:nvSpPr>
          <p:cNvPr id="3" name="二等辺三角形 2"/>
          <p:cNvSpPr/>
          <p:nvPr/>
        </p:nvSpPr>
        <p:spPr>
          <a:xfrm flipV="1">
            <a:off x="3989640" y="3884517"/>
            <a:ext cx="1308731" cy="26208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4515980" y="5867698"/>
            <a:ext cx="4708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Al</a:t>
            </a:r>
            <a:r>
              <a:rPr lang="ja-JP" altLang="en-US" sz="2400" dirty="0">
                <a:solidFill>
                  <a:srgbClr val="FF0000"/>
                </a:solidFill>
              </a:rPr>
              <a:t>の部分が</a:t>
            </a:r>
            <a:r>
              <a:rPr lang="en-US" altLang="ja-JP" sz="2400" dirty="0">
                <a:solidFill>
                  <a:srgbClr val="FF0000"/>
                </a:solidFill>
              </a:rPr>
              <a:t>Z</a:t>
            </a:r>
            <a:r>
              <a:rPr lang="ja-JP" altLang="en-US" sz="2400" dirty="0">
                <a:solidFill>
                  <a:srgbClr val="FF0000"/>
                </a:solidFill>
              </a:rPr>
              <a:t>方向に分割されている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pic>
        <p:nvPicPr>
          <p:cNvPr id="43" name="図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073653"/>
            <a:ext cx="4020237" cy="1656755"/>
          </a:xfrm>
          <a:prstGeom prst="rect">
            <a:avLst/>
          </a:prstGeom>
        </p:spPr>
      </p:pic>
      <p:sp>
        <p:nvSpPr>
          <p:cNvPr id="36" name="テキスト ボックス 35"/>
          <p:cNvSpPr txBox="1"/>
          <p:nvPr/>
        </p:nvSpPr>
        <p:spPr>
          <a:xfrm>
            <a:off x="5165833" y="2767861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Air</a:t>
            </a:r>
            <a:endParaRPr kumimoji="1" lang="ja-JP" altLang="en-US" sz="28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8186971" y="2767861"/>
            <a:ext cx="474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Al</a:t>
            </a:r>
            <a:endParaRPr kumimoji="1" lang="ja-JP" altLang="en-US" sz="2800" dirty="0"/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5198586" y="4785829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Air</a:t>
            </a:r>
            <a:endParaRPr kumimoji="1" lang="ja-JP" altLang="en-US" sz="2800" dirty="0"/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8096839" y="4844455"/>
            <a:ext cx="474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Al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06483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30389" y="-123021"/>
            <a:ext cx="579519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ja-JP" altLang="en-US" sz="4800" dirty="0">
                <a:latin typeface="Century Gothic" panose="020B0502020202020204" pitchFamily="34" charset="0"/>
              </a:rPr>
              <a:t>線量・深さ分布の比較</a:t>
            </a:r>
            <a:endParaRPr lang="en-US" altLang="ja-JP" sz="4800" dirty="0">
              <a:latin typeface="Century Gothic" panose="020B0502020202020204" pitchFamily="34" charset="0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76795" y="99595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sz="2400" dirty="0"/>
          </a:p>
        </p:txBody>
      </p:sp>
      <p:sp>
        <p:nvSpPr>
          <p:cNvPr id="10" name="Text Box 1030"/>
          <p:cNvSpPr txBox="1">
            <a:spLocks noChangeArrowheads="1"/>
          </p:cNvSpPr>
          <p:nvPr/>
        </p:nvSpPr>
        <p:spPr bwMode="auto">
          <a:xfrm>
            <a:off x="1465462" y="981226"/>
            <a:ext cx="1372492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ridge.inp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38" y="2918563"/>
            <a:ext cx="3405158" cy="2932218"/>
          </a:xfrm>
          <a:prstGeom prst="rect">
            <a:avLst/>
          </a:prstGeom>
        </p:spPr>
      </p:pic>
      <p:sp>
        <p:nvSpPr>
          <p:cNvPr id="19" name="Text Box 1031"/>
          <p:cNvSpPr txBox="1">
            <a:spLocks noChangeArrowheads="1"/>
          </p:cNvSpPr>
          <p:nvPr/>
        </p:nvSpPr>
        <p:spPr bwMode="auto">
          <a:xfrm>
            <a:off x="828799" y="1564653"/>
            <a:ext cx="2663701" cy="12004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[ C e l l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infl: {ridge-cell.inp}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ja-JP" sz="1400" dirty="0">
                <a:latin typeface="Tahoma" panose="020B0604030504040204" pitchFamily="34" charset="0"/>
              </a:rPr>
              <a:t>$infl: {ridge-cell-proton.inp}</a:t>
            </a: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…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496095" y="5820073"/>
            <a:ext cx="3602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0000CC"/>
                </a:solidFill>
              </a:rPr>
              <a:t>フィルタを区切らない場合</a:t>
            </a:r>
          </a:p>
        </p:txBody>
      </p:sp>
      <p:sp>
        <p:nvSpPr>
          <p:cNvPr id="22" name="Text Box 1031"/>
          <p:cNvSpPr txBox="1">
            <a:spLocks noChangeArrowheads="1"/>
          </p:cNvSpPr>
          <p:nvPr/>
        </p:nvSpPr>
        <p:spPr bwMode="auto">
          <a:xfrm>
            <a:off x="5400859" y="1513544"/>
            <a:ext cx="2663701" cy="12004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...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[ C e l l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latin typeface="Tahoma" panose="020B0604030504040204" pitchFamily="34" charset="0"/>
              </a:rPr>
              <a:t>$</a:t>
            </a:r>
            <a:r>
              <a:rPr lang="pt-BR" altLang="ja-JP" sz="1400" dirty="0">
                <a:latin typeface="Tahoma" panose="020B0604030504040204" pitchFamily="34" charset="0"/>
              </a:rPr>
              <a:t>infl: {ridge-cell.inp}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pt-BR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infl: {ridge-cell-proton.inp}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…</a:t>
            </a: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196035" y="5858284"/>
            <a:ext cx="3316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0000CC"/>
                </a:solidFill>
              </a:rPr>
              <a:t>フィルタを区切った場合</a:t>
            </a:r>
          </a:p>
        </p:txBody>
      </p:sp>
      <p:sp>
        <p:nvSpPr>
          <p:cNvPr id="25" name="Text Box 1030"/>
          <p:cNvSpPr txBox="1">
            <a:spLocks noChangeArrowheads="1"/>
          </p:cNvSpPr>
          <p:nvPr/>
        </p:nvSpPr>
        <p:spPr bwMode="auto">
          <a:xfrm>
            <a:off x="6018014" y="944844"/>
            <a:ext cx="1372492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ridge.inp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559" y="2895408"/>
            <a:ext cx="3389841" cy="2953463"/>
          </a:xfrm>
          <a:prstGeom prst="rect">
            <a:avLst/>
          </a:prstGeom>
        </p:spPr>
      </p:pic>
      <p:sp>
        <p:nvSpPr>
          <p:cNvPr id="18" name="Text Box 1030"/>
          <p:cNvSpPr txBox="1">
            <a:spLocks noChangeArrowheads="1"/>
          </p:cNvSpPr>
          <p:nvPr/>
        </p:nvSpPr>
        <p:spPr bwMode="auto">
          <a:xfrm>
            <a:off x="1914208" y="3067924"/>
            <a:ext cx="1383712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dose.eps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7" name="Text Box 1030"/>
          <p:cNvSpPr txBox="1">
            <a:spLocks noChangeArrowheads="1"/>
          </p:cNvSpPr>
          <p:nvPr/>
        </p:nvSpPr>
        <p:spPr bwMode="auto">
          <a:xfrm>
            <a:off x="6465740" y="3074260"/>
            <a:ext cx="1383712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dose.eps</a:t>
            </a:r>
            <a:endParaRPr lang="en-US" altLang="ja-JP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円/楕円 3"/>
          <p:cNvSpPr/>
          <p:nvPr/>
        </p:nvSpPr>
        <p:spPr>
          <a:xfrm>
            <a:off x="6948264" y="4359972"/>
            <a:ext cx="632661" cy="8992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326985" y="3700569"/>
            <a:ext cx="3751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FF0000"/>
                </a:solidFill>
              </a:rPr>
              <a:t>長飛程の陽子が少し増えた</a:t>
            </a:r>
          </a:p>
        </p:txBody>
      </p:sp>
      <p:cxnSp>
        <p:nvCxnSpPr>
          <p:cNvPr id="13" name="直線矢印コネクタ 12"/>
          <p:cNvCxnSpPr/>
          <p:nvPr/>
        </p:nvCxnSpPr>
        <p:spPr>
          <a:xfrm>
            <a:off x="7157596" y="4016417"/>
            <a:ext cx="106998" cy="3682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192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2822" y="-97331"/>
            <a:ext cx="8600256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ja-JP" altLang="en-US" sz="4800" dirty="0">
                <a:latin typeface="Century Gothic" panose="020B0502020202020204" pitchFamily="34" charset="0"/>
              </a:rPr>
              <a:t>実際のリッジフィルタに適用した例</a:t>
            </a:r>
            <a:endParaRPr lang="en-US" altLang="ja-JP" sz="4800" dirty="0">
              <a:latin typeface="Century Gothic" panose="020B0502020202020204" pitchFamily="34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631020" y="5000994"/>
            <a:ext cx="3602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0000CC"/>
                </a:solidFill>
              </a:rPr>
              <a:t>フィルタを区切らない場合</a:t>
            </a: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5575064" y="4975978"/>
            <a:ext cx="3316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0000CC"/>
                </a:solidFill>
              </a:rPr>
              <a:t>フィルタを区切った場合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403" y="1272792"/>
            <a:ext cx="4248135" cy="3659207"/>
          </a:xfrm>
          <a:prstGeom prst="rect">
            <a:avLst/>
          </a:prstGeom>
        </p:spPr>
      </p:pic>
      <p:sp>
        <p:nvSpPr>
          <p:cNvPr id="24" name="テキスト ボックス 23"/>
          <p:cNvSpPr txBox="1"/>
          <p:nvPr/>
        </p:nvSpPr>
        <p:spPr>
          <a:xfrm>
            <a:off x="901268" y="5636966"/>
            <a:ext cx="7446269" cy="400110"/>
          </a:xfrm>
          <a:prstGeom prst="rect">
            <a:avLst/>
          </a:prstGeom>
          <a:solidFill>
            <a:srgbClr val="0000CC"/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rgbClr val="FFFF00"/>
                </a:solidFill>
              </a:rPr>
              <a:t>フィルタを区切ることにより，より平坦な</a:t>
            </a:r>
            <a:r>
              <a:rPr kumimoji="1" lang="en-US" altLang="ja-JP" sz="2000" dirty="0">
                <a:solidFill>
                  <a:srgbClr val="FFFF00"/>
                </a:solidFill>
              </a:rPr>
              <a:t>SOBP</a:t>
            </a:r>
            <a:r>
              <a:rPr kumimoji="1" lang="ja-JP" altLang="en-US" sz="2000" dirty="0">
                <a:solidFill>
                  <a:srgbClr val="FFFF00"/>
                </a:solidFill>
              </a:rPr>
              <a:t>領域を作ることができる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903667" y="6427757"/>
            <a:ext cx="38253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Courtesy of Dr. Matsumoto @ NIRS</a:t>
            </a:r>
            <a:endParaRPr kumimoji="1" lang="ja-JP" altLang="en-US" sz="2000" dirty="0"/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0" y="1269094"/>
            <a:ext cx="4257488" cy="367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47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2716" y="2348880"/>
            <a:ext cx="9105899" cy="1368152"/>
          </a:xfrm>
        </p:spPr>
        <p:txBody>
          <a:bodyPr>
            <a:noAutofit/>
          </a:bodyPr>
          <a:lstStyle/>
          <a:p>
            <a:pPr eaLnBrk="1" hangingPunct="1"/>
            <a:r>
              <a:rPr lang="ja-JP" altLang="en-US" sz="3200" dirty="0">
                <a:latin typeface="Century Gothic" panose="020B0502020202020204" pitchFamily="34" charset="0"/>
              </a:rPr>
              <a:t>実際のリッジフィルタの構造が分からない場合は</a:t>
            </a:r>
            <a:r>
              <a:rPr lang="en-US" altLang="ja-JP" sz="3200" dirty="0">
                <a:latin typeface="Century Gothic" panose="020B0502020202020204" pitchFamily="34" charset="0"/>
              </a:rPr>
              <a:t>adjustment</a:t>
            </a:r>
            <a:r>
              <a:rPr lang="ja-JP" altLang="en-US" sz="3200" dirty="0">
                <a:latin typeface="Century Gothic" panose="020B0502020202020204" pitchFamily="34" charset="0"/>
              </a:rPr>
              <a:t>フォルダを参照</a:t>
            </a:r>
            <a:endParaRPr lang="en-US" altLang="ja-JP" sz="3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30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1353</Words>
  <Application>Microsoft Office PowerPoint</Application>
  <PresentationFormat>画面に合わせる (4:3)</PresentationFormat>
  <Paragraphs>207</Paragraphs>
  <Slides>14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2" baseType="lpstr">
      <vt:lpstr>ＭＳ Ｐゴシック</vt:lpstr>
      <vt:lpstr>Arial</vt:lpstr>
      <vt:lpstr>Arial Black</vt:lpstr>
      <vt:lpstr>Calibri</vt:lpstr>
      <vt:lpstr>Century Gothic</vt:lpstr>
      <vt:lpstr>Tahoma</vt:lpstr>
      <vt:lpstr>Times New Roman</vt:lpstr>
      <vt:lpstr>Office テーマ</vt:lpstr>
      <vt:lpstr>PowerPoint プレゼンテーション</vt:lpstr>
      <vt:lpstr>リッジフィルタとは？</vt:lpstr>
      <vt:lpstr>基本設計</vt:lpstr>
      <vt:lpstr>体系の確認</vt:lpstr>
      <vt:lpstr>基本ユニットを作る</vt:lpstr>
      <vt:lpstr>リッジフィルタ全体を作る</vt:lpstr>
      <vt:lpstr>リッジフィルタを置く</vt:lpstr>
      <vt:lpstr>線量・深さ分布の確認</vt:lpstr>
      <vt:lpstr>陽子用リッジフィルタ特有*の設計</vt:lpstr>
      <vt:lpstr>陽子用フィルタの基本ユニットを作る①</vt:lpstr>
      <vt:lpstr>陽子用フィルタの基本ユニットを作る②</vt:lpstr>
      <vt:lpstr>線量・深さ分布の比較</vt:lpstr>
      <vt:lpstr>実際のリッジフィルタに適用した例</vt:lpstr>
      <vt:lpstr>実際のリッジフィルタの構造が分からない場合はadjustmentフォルダを参照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PHITS</dc:title>
  <dc:creator>tatsu</dc:creator>
  <cp:lastModifiedBy>Victor</cp:lastModifiedBy>
  <cp:revision>45</cp:revision>
  <dcterms:created xsi:type="dcterms:W3CDTF">2015-06-05T13:25:37Z</dcterms:created>
  <dcterms:modified xsi:type="dcterms:W3CDTF">2022-03-28T01:51:31Z</dcterms:modified>
</cp:coreProperties>
</file>