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41" r:id="rId1"/>
  </p:sldMasterIdLst>
  <p:notesMasterIdLst>
    <p:notesMasterId r:id="rId6"/>
  </p:notesMasterIdLst>
  <p:handoutMasterIdLst>
    <p:handoutMasterId r:id="rId7"/>
  </p:handoutMasterIdLst>
  <p:sldIdLst>
    <p:sldId id="719" r:id="rId2"/>
    <p:sldId id="722" r:id="rId3"/>
    <p:sldId id="720" r:id="rId4"/>
    <p:sldId id="721" r:id="rId5"/>
  </p:sldIdLst>
  <p:sldSz cx="9144000" cy="6858000" type="screen4x3"/>
  <p:notesSz cx="7099300" cy="10234613"/>
  <p:defaultTextStyle>
    <a:defPPr>
      <a:defRPr lang="ja-JP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50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50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50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50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50" charset="-128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50" charset="-128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50" charset="-128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50" charset="-128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50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0066"/>
    <a:srgbClr val="CC66FF"/>
    <a:srgbClr val="FF00FF"/>
    <a:srgbClr val="CCFFFF"/>
    <a:srgbClr val="996633"/>
    <a:srgbClr val="00FFFF"/>
    <a:srgbClr val="66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間スタイル 2 - アクセント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809" autoAdjust="0"/>
    <p:restoredTop sz="97698" autoAdjust="0"/>
  </p:normalViewPr>
  <p:slideViewPr>
    <p:cSldViewPr>
      <p:cViewPr varScale="1">
        <p:scale>
          <a:sx n="110" d="100"/>
          <a:sy n="110" d="100"/>
        </p:scale>
        <p:origin x="1632" y="1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15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defTabSz="990600" eaLnBrk="1" hangingPunct="1">
              <a:defRPr sz="1300">
                <a:latin typeface="Times New Roman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defTabSz="990600" eaLnBrk="1" hangingPunct="1">
              <a:defRPr sz="1300">
                <a:latin typeface="Times New Roman" charset="0"/>
                <a:ea typeface="ＭＳ Ｐゴシック" pitchFamily="50" charset="-128"/>
              </a:defRPr>
            </a:lvl1pPr>
          </a:lstStyle>
          <a:p>
            <a:pPr>
              <a:defRPr/>
            </a:pPr>
            <a:fld id="{69890BFF-DF4E-4199-90B7-BD084B77C606}" type="datetimeFigureOut">
              <a:rPr lang="ja-JP" altLang="en-US"/>
              <a:pPr>
                <a:defRPr/>
              </a:pPr>
              <a:t>2025/1/8</a:t>
            </a:fld>
            <a:endParaRPr lang="ja-JP" altLang="en-US"/>
          </a:p>
        </p:txBody>
      </p:sp>
      <p:sp>
        <p:nvSpPr>
          <p:cNvPr id="481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defTabSz="990600" eaLnBrk="1" hangingPunct="1">
              <a:defRPr sz="1300">
                <a:latin typeface="Times New Roman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481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defTabSz="990600" eaLnBrk="1" hangingPunct="1">
              <a:defRPr sz="1300"/>
            </a:lvl1pPr>
          </a:lstStyle>
          <a:p>
            <a:fld id="{9E6F98A9-1FCA-40DE-897B-9EAE8990F06A}" type="slidenum">
              <a:rPr lang="ja-JP" altLang="en-US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0764438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480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38600" y="0"/>
            <a:ext cx="30480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charset="0"/>
                <a:ea typeface="ＭＳ Ｐゴシック" pitchFamily="50" charset="-128"/>
              </a:defRPr>
            </a:lvl1pPr>
          </a:lstStyle>
          <a:p>
            <a:pPr>
              <a:defRPr/>
            </a:pPr>
            <a:fld id="{25E1BC64-318F-4D1E-A2BA-7C24DAE0C77E}" type="datetimeFigureOut">
              <a:rPr lang="ja-JP" altLang="en-US"/>
              <a:pPr>
                <a:defRPr/>
              </a:pPr>
              <a:t>2025/1/8</a:t>
            </a:fld>
            <a:endParaRPr lang="ja-JP" altLang="en-US"/>
          </a:p>
        </p:txBody>
      </p:sp>
      <p:sp>
        <p:nvSpPr>
          <p:cNvPr id="1638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041400" y="762000"/>
            <a:ext cx="5080000" cy="3810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876800"/>
            <a:ext cx="5257800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noProof="0"/>
              <a:t>マスタ テキストの書式設定</a:t>
            </a:r>
          </a:p>
          <a:p>
            <a:pPr lvl="1"/>
            <a:r>
              <a:rPr lang="ja-JP" altLang="en-US" noProof="0"/>
              <a:t>第 2 レベル</a:t>
            </a:r>
          </a:p>
          <a:p>
            <a:pPr lvl="2"/>
            <a:r>
              <a:rPr lang="ja-JP" altLang="en-US" noProof="0"/>
              <a:t>第 3 レベル</a:t>
            </a:r>
          </a:p>
          <a:p>
            <a:pPr lvl="3"/>
            <a:r>
              <a:rPr lang="ja-JP" altLang="en-US" noProof="0"/>
              <a:t>第 4 レベル</a:t>
            </a:r>
          </a:p>
          <a:p>
            <a:pPr lvl="4"/>
            <a:r>
              <a:rPr lang="ja-JP" altLang="en-US" noProof="0"/>
              <a:t>第 5 レベル</a:t>
            </a:r>
          </a:p>
        </p:txBody>
      </p:sp>
      <p:sp>
        <p:nvSpPr>
          <p:cNvPr id="512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5360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512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38600" y="975360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06894374-D2E8-4F37-B6E1-B0449DE07BA0}" type="slidenum">
              <a:rPr lang="ja-JP" altLang="en-US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31519637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Calibri" pitchFamily="34" charset="0"/>
        <a:ea typeface="ＭＳ Ｐゴシック" pitchFamily="50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Calibri" pitchFamily="34" charset="0"/>
        <a:ea typeface="ＭＳ Ｐゴシック" pitchFamily="50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Calibri" pitchFamily="34" charset="0"/>
        <a:ea typeface="ＭＳ Ｐゴシック" pitchFamily="50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Calibri" pitchFamily="34" charset="0"/>
        <a:ea typeface="ＭＳ Ｐゴシック" pitchFamily="50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Calibri" pitchFamily="34" charset="0"/>
        <a:ea typeface="ＭＳ Ｐゴシック" pitchFamily="50" charset="-128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ja-JP" altLang="en-US">
              <a:solidFill>
                <a:srgbClr val="0000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24870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ja-JP" altLang="en-US">
              <a:solidFill>
                <a:srgbClr val="0000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75469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ja-JP" altLang="en-US">
              <a:solidFill>
                <a:srgbClr val="0000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14801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ja-JP" altLang="en-US">
              <a:solidFill>
                <a:srgbClr val="0000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22814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ja-JP" altLang="en-US"/>
              <a:t>マスタ サブタイトルの書式設定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DFDBABC-EA1E-4B05-9697-D92C0CC49408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676119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51D3F2A-31FD-481E-BE85-5F6AF7962CBA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871714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382AB4A-8483-4068-AC17-7EFF42564165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8946160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D93D07E-79C9-4A66-BA23-AF83724B6854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832416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8062994-864D-4A69-AD08-50B4EEB32D3B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9056502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E032FE1-83FB-4D6C-B086-1DDAFA4F1E9F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7119304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01CE9FF-DCE0-4180-8531-E1B9B6721C53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346542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73BC70-1307-4B10-A1D7-42BED4DAF1B9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3161670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ja-JP" altLang="en-US" noProof="0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35B6C10-A8B3-48FA-AAB4-5C79A6990D46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7612864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0A72FFE-E5A4-4B1A-80D1-2C7150615A55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4291595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AC8F940-D656-48A5-9DD2-8F4980D678FF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0115959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タイトルの書式設定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rgbClr val="000000"/>
                </a:solidFill>
              </a:defRPr>
            </a:lvl1pPr>
          </a:lstStyle>
          <a:p>
            <a:fld id="{91DFE2C9-DEE8-43A6-A3D9-C04BBDB17797}" type="slidenum">
              <a:rPr lang="en-US" altLang="ja-JP"/>
              <a:pPr/>
              <a:t>‹#›</a:t>
            </a:fld>
            <a:endParaRPr lang="en-US" altLang="ja-JP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3637D7AA-AC74-43DA-B6CF-DF8206C21F2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6329363"/>
            <a:ext cx="9105900" cy="71437"/>
          </a:xfrm>
          <a:prstGeom prst="rect">
            <a:avLst/>
          </a:prstGeom>
          <a:gradFill rotWithShape="0">
            <a:gsLst>
              <a:gs pos="0">
                <a:srgbClr val="0000CC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ja-JP" altLang="en-US" sz="2400"/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9CE816D6-F27D-4399-BFAE-57EDDD32D3F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422481" y="6400800"/>
            <a:ext cx="7191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fld id="{AF90131B-4F96-472F-A509-C9EBFAFE72DB}" type="slidenum">
              <a:rPr lang="en-US" altLang="ja-JP" sz="2400">
                <a:latin typeface="Tahoma" panose="020B0604030504040204" pitchFamily="34" charset="0"/>
              </a:rPr>
              <a:pPr algn="ctr" eaLnBrk="1" hangingPunct="1">
                <a:spcBef>
                  <a:spcPct val="50000"/>
                </a:spcBef>
                <a:buFontTx/>
                <a:buNone/>
              </a:pPr>
              <a:t>‹#›</a:t>
            </a:fld>
            <a:endParaRPr lang="en-US" altLang="ja-JP" sz="2400" dirty="0">
              <a:latin typeface="Tahoma" panose="020B0604030504040204" pitchFamily="34" charset="0"/>
            </a:endParaRPr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4464A919-F7EE-4915-8ECD-A5DEB43C8331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2" y="6400800"/>
            <a:ext cx="424763" cy="4572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7349" r:id="rId1"/>
    <p:sldLayoutId id="2147487350" r:id="rId2"/>
    <p:sldLayoutId id="2147487351" r:id="rId3"/>
    <p:sldLayoutId id="2147487352" r:id="rId4"/>
    <p:sldLayoutId id="2147487353" r:id="rId5"/>
    <p:sldLayoutId id="2147487354" r:id="rId6"/>
    <p:sldLayoutId id="2147487355" r:id="rId7"/>
    <p:sldLayoutId id="2147487356" r:id="rId8"/>
    <p:sldLayoutId id="2147487357" r:id="rId9"/>
    <p:sldLayoutId id="2147487358" r:id="rId10"/>
    <p:sldLayoutId id="21474873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ＭＳ Ｐゴシック" pitchFamily="50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ＭＳ Ｐゴシック" pitchFamily="50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ＭＳ Ｐゴシック" pitchFamily="50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ＭＳ Ｐゴシック" pitchFamily="50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ＭＳ Ｐゴシック" pitchFamily="50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ＭＳ Ｐゴシック" pitchFamily="50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ＭＳ Ｐゴシック" pitchFamily="50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ＭＳ Ｐゴシック" pitchFamily="50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1763713" y="53975"/>
            <a:ext cx="5083175" cy="896938"/>
          </a:xfrm>
        </p:spPr>
        <p:txBody>
          <a:bodyPr/>
          <a:lstStyle/>
          <a:p>
            <a:pPr eaLnBrk="1" hangingPunct="1"/>
            <a:r>
              <a:rPr lang="ja-JP" altLang="en-US" sz="4000"/>
              <a:t>講習会資料一覧表①</a:t>
            </a:r>
            <a:endParaRPr lang="ja-JP" altLang="en-US" sz="4000">
              <a:latin typeface="Century Gothic" panose="020B0502020202020204" pitchFamily="34" charset="0"/>
            </a:endParaRPr>
          </a:p>
        </p:txBody>
      </p:sp>
      <p:sp>
        <p:nvSpPr>
          <p:cNvPr id="13319" name="Rectangle 8"/>
          <p:cNvSpPr txBox="1">
            <a:spLocks noChangeArrowheads="1"/>
          </p:cNvSpPr>
          <p:nvPr/>
        </p:nvSpPr>
        <p:spPr bwMode="auto">
          <a:xfrm>
            <a:off x="558800" y="936625"/>
            <a:ext cx="6750050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ja-JP" sz="2400" dirty="0">
                <a:solidFill>
                  <a:schemeClr val="accent2"/>
                </a:solidFill>
              </a:rPr>
              <a:t>Startup</a:t>
            </a:r>
            <a:r>
              <a:rPr lang="ja-JP" altLang="en-US" sz="2400" dirty="0">
                <a:solidFill>
                  <a:schemeClr val="accent2"/>
                </a:solidFill>
              </a:rPr>
              <a:t>：はじめに見るべきフォルダ</a:t>
            </a:r>
            <a:endParaRPr lang="en-US" altLang="ja-JP" sz="2400" dirty="0">
              <a:solidFill>
                <a:schemeClr val="accent2"/>
              </a:solidFill>
            </a:endParaRPr>
          </a:p>
        </p:txBody>
      </p:sp>
      <p:sp>
        <p:nvSpPr>
          <p:cNvPr id="13320" name="Rectangle 8"/>
          <p:cNvSpPr txBox="1">
            <a:spLocks noChangeArrowheads="1"/>
          </p:cNvSpPr>
          <p:nvPr/>
        </p:nvSpPr>
        <p:spPr bwMode="auto">
          <a:xfrm>
            <a:off x="755650" y="1489075"/>
            <a:ext cx="8353425" cy="32360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buFont typeface="Wingdings" panose="05000000000000000000" pitchFamily="2" charset="2"/>
              <a:buChar char="ü"/>
            </a:pPr>
            <a:r>
              <a:rPr lang="en-US" altLang="ja-JP" sz="2400" dirty="0">
                <a:solidFill>
                  <a:schemeClr val="accent2"/>
                </a:solidFill>
              </a:rPr>
              <a:t>BasicPhysics-jp.pptx: </a:t>
            </a:r>
          </a:p>
          <a:p>
            <a:pPr eaLnBrk="1" hangingPunct="1">
              <a:buFont typeface="Wingdings" panose="05000000000000000000" pitchFamily="2" charset="2"/>
              <a:buChar char="ü"/>
            </a:pPr>
            <a:endParaRPr lang="en-US" altLang="ja-JP" sz="2400" dirty="0">
              <a:solidFill>
                <a:schemeClr val="accent2"/>
              </a:solidFill>
            </a:endParaRPr>
          </a:p>
          <a:p>
            <a:pPr eaLnBrk="1" hangingPunct="1">
              <a:buFont typeface="Wingdings" panose="05000000000000000000" pitchFamily="2" charset="2"/>
              <a:buChar char="ü"/>
            </a:pPr>
            <a:r>
              <a:rPr lang="en-US" altLang="ja-JP" sz="2400" dirty="0">
                <a:solidFill>
                  <a:schemeClr val="accent2"/>
                </a:solidFill>
              </a:rPr>
              <a:t>Phits-introduction-jp.pptx:</a:t>
            </a:r>
          </a:p>
          <a:p>
            <a:pPr eaLnBrk="1" hangingPunct="1">
              <a:buFont typeface="Wingdings" panose="05000000000000000000" pitchFamily="2" charset="2"/>
              <a:buChar char="ü"/>
            </a:pPr>
            <a:endParaRPr lang="en-US" altLang="ja-JP" sz="2400" dirty="0">
              <a:solidFill>
                <a:schemeClr val="accent2"/>
              </a:solidFill>
            </a:endParaRPr>
          </a:p>
          <a:p>
            <a:pPr eaLnBrk="1" hangingPunct="1">
              <a:buFont typeface="Wingdings" panose="05000000000000000000" pitchFamily="2" charset="2"/>
              <a:buChar char="ü"/>
            </a:pPr>
            <a:r>
              <a:rPr lang="en-US" altLang="ja-JP" sz="2400" dirty="0">
                <a:solidFill>
                  <a:schemeClr val="accent2"/>
                </a:solidFill>
              </a:rPr>
              <a:t>QuickReference-jp.docx</a:t>
            </a:r>
          </a:p>
          <a:p>
            <a:pPr eaLnBrk="1" hangingPunct="1">
              <a:buFont typeface="Wingdings" panose="05000000000000000000" pitchFamily="2" charset="2"/>
              <a:buChar char="ü"/>
            </a:pPr>
            <a:endParaRPr lang="en-US" altLang="ja-JP" sz="2400" dirty="0">
              <a:solidFill>
                <a:schemeClr val="accent2"/>
              </a:solidFill>
            </a:endParaRPr>
          </a:p>
          <a:p>
            <a:pPr eaLnBrk="1" hangingPunct="1">
              <a:buFont typeface="Wingdings" panose="05000000000000000000" pitchFamily="2" charset="2"/>
              <a:buChar char="ü"/>
            </a:pPr>
            <a:r>
              <a:rPr lang="en-US" altLang="ja-JP" sz="2400" dirty="0">
                <a:solidFill>
                  <a:schemeClr val="accent2"/>
                </a:solidFill>
              </a:rPr>
              <a:t>Terminology-jp.docx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7CFFD8A9-D577-4C4A-9EAE-1A856C3F2900}"/>
              </a:ext>
            </a:extLst>
          </p:cNvPr>
          <p:cNvSpPr/>
          <p:nvPr/>
        </p:nvSpPr>
        <p:spPr>
          <a:xfrm>
            <a:off x="1115616" y="1908601"/>
            <a:ext cx="775692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eaLnBrk="1" hangingPunct="1">
              <a:buNone/>
            </a:pPr>
            <a:r>
              <a:rPr lang="en-US" altLang="ja-JP" dirty="0"/>
              <a:t>PHITS</a:t>
            </a:r>
            <a:r>
              <a:rPr lang="ja-JP" altLang="en-US" dirty="0"/>
              <a:t>を使う上で必要となる放射線物理の基礎知識</a:t>
            </a:r>
            <a:endParaRPr lang="en-US" altLang="ja-JP" dirty="0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C3CE233B-A370-487E-B995-1BF2D8F0F8CB}"/>
              </a:ext>
            </a:extLst>
          </p:cNvPr>
          <p:cNvSpPr/>
          <p:nvPr/>
        </p:nvSpPr>
        <p:spPr>
          <a:xfrm>
            <a:off x="1099585" y="2780928"/>
            <a:ext cx="775692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eaLnBrk="1" hangingPunct="1">
              <a:buNone/>
            </a:pPr>
            <a:r>
              <a:rPr lang="en-US" altLang="ja-JP" dirty="0"/>
              <a:t>PHITS</a:t>
            </a:r>
            <a:r>
              <a:rPr lang="ja-JP" altLang="en-US" dirty="0"/>
              <a:t>に含まれる物理モデルや応用例の紹介</a:t>
            </a:r>
            <a:endParaRPr lang="en-US" altLang="ja-JP" dirty="0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33FB1AA2-DB9E-4A72-B20B-77BBDB4974C6}"/>
              </a:ext>
            </a:extLst>
          </p:cNvPr>
          <p:cNvSpPr/>
          <p:nvPr/>
        </p:nvSpPr>
        <p:spPr>
          <a:xfrm>
            <a:off x="1115616" y="3654574"/>
            <a:ext cx="775692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eaLnBrk="1" hangingPunct="1">
              <a:buNone/>
            </a:pPr>
            <a:r>
              <a:rPr lang="en-US" altLang="ja-JP" dirty="0"/>
              <a:t>PHITS</a:t>
            </a:r>
            <a:r>
              <a:rPr lang="ja-JP" altLang="en-US" dirty="0"/>
              <a:t>入力ファイルの基本的な書式をまとめた資料</a:t>
            </a:r>
            <a:endParaRPr lang="en-US" altLang="ja-JP" dirty="0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F8EDAB18-4D7D-4923-9BB1-14A2F58184F0}"/>
              </a:ext>
            </a:extLst>
          </p:cNvPr>
          <p:cNvSpPr/>
          <p:nvPr/>
        </p:nvSpPr>
        <p:spPr>
          <a:xfrm>
            <a:off x="1099585" y="4523043"/>
            <a:ext cx="476855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eaLnBrk="1" hangingPunct="1">
              <a:buNone/>
            </a:pPr>
            <a:r>
              <a:rPr lang="en-US" altLang="ja-JP" dirty="0"/>
              <a:t>PHITS</a:t>
            </a:r>
            <a:r>
              <a:rPr lang="ja-JP" altLang="en-US" dirty="0"/>
              <a:t>講習会で使用する用語集</a:t>
            </a:r>
            <a:endParaRPr lang="en-US" altLang="ja-JP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1763713" y="53975"/>
            <a:ext cx="5083175" cy="896938"/>
          </a:xfrm>
        </p:spPr>
        <p:txBody>
          <a:bodyPr/>
          <a:lstStyle/>
          <a:p>
            <a:pPr eaLnBrk="1" hangingPunct="1"/>
            <a:r>
              <a:rPr lang="ja-JP" altLang="en-US" sz="4000" dirty="0"/>
              <a:t>講習会資料一覧表②</a:t>
            </a:r>
            <a:endParaRPr lang="ja-JP" altLang="en-US" sz="4000" dirty="0">
              <a:latin typeface="Century Gothic" panose="020B0502020202020204" pitchFamily="34" charset="0"/>
            </a:endParaRPr>
          </a:p>
        </p:txBody>
      </p:sp>
      <p:sp>
        <p:nvSpPr>
          <p:cNvPr id="13319" name="Rectangle 8"/>
          <p:cNvSpPr txBox="1">
            <a:spLocks noChangeArrowheads="1"/>
          </p:cNvSpPr>
          <p:nvPr/>
        </p:nvSpPr>
        <p:spPr bwMode="auto">
          <a:xfrm>
            <a:off x="558800" y="936625"/>
            <a:ext cx="6750050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ja-JP" sz="2400">
                <a:solidFill>
                  <a:schemeClr val="accent2"/>
                </a:solidFill>
              </a:rPr>
              <a:t>Basic</a:t>
            </a:r>
            <a:r>
              <a:rPr lang="ja-JP" altLang="en-US" sz="2400">
                <a:solidFill>
                  <a:schemeClr val="accent2"/>
                </a:solidFill>
              </a:rPr>
              <a:t>：基礎実習（基礎的な使用方法を学びます）</a:t>
            </a:r>
            <a:endParaRPr lang="en-US" altLang="ja-JP" sz="2400">
              <a:solidFill>
                <a:schemeClr val="accent2"/>
              </a:solidFill>
            </a:endParaRPr>
          </a:p>
        </p:txBody>
      </p:sp>
      <p:sp>
        <p:nvSpPr>
          <p:cNvPr id="13320" name="Rectangle 8"/>
          <p:cNvSpPr txBox="1">
            <a:spLocks noChangeArrowheads="1"/>
          </p:cNvSpPr>
          <p:nvPr/>
        </p:nvSpPr>
        <p:spPr bwMode="auto">
          <a:xfrm>
            <a:off x="755650" y="1489075"/>
            <a:ext cx="8353425" cy="190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buFont typeface="Wingdings" panose="05000000000000000000" pitchFamily="2" charset="2"/>
              <a:buChar char="ü"/>
            </a:pPr>
            <a:r>
              <a:rPr lang="en-US" altLang="ja-JP" sz="2400"/>
              <a:t>lec01: </a:t>
            </a:r>
            <a:r>
              <a:rPr lang="ja-JP" altLang="en-US" sz="2400"/>
              <a:t>全体概要・ジオメトリの作成・線源の設定</a:t>
            </a:r>
            <a:endParaRPr lang="en-US" altLang="ja-JP" sz="2400"/>
          </a:p>
          <a:p>
            <a:pPr eaLnBrk="1" hangingPunct="1">
              <a:buFont typeface="Wingdings" panose="05000000000000000000" pitchFamily="2" charset="2"/>
              <a:buChar char="ü"/>
            </a:pPr>
            <a:r>
              <a:rPr lang="en-US" altLang="ja-JP" sz="2400"/>
              <a:t>lec02</a:t>
            </a:r>
            <a:r>
              <a:rPr lang="ja-JP" altLang="en-US" sz="2400"/>
              <a:t>：タリーの設定</a:t>
            </a:r>
            <a:endParaRPr lang="en-US" altLang="ja-JP" sz="2400"/>
          </a:p>
          <a:p>
            <a:pPr eaLnBrk="1" hangingPunct="1">
              <a:buFont typeface="Wingdings" panose="05000000000000000000" pitchFamily="2" charset="2"/>
              <a:buChar char="ü"/>
            </a:pPr>
            <a:r>
              <a:rPr lang="en-US" altLang="ja-JP" sz="2400"/>
              <a:t>lec03</a:t>
            </a:r>
            <a:r>
              <a:rPr lang="ja-JP" altLang="en-US" sz="2400"/>
              <a:t>：計算条件の設定（統計誤差，物理モデルの設定など）</a:t>
            </a:r>
            <a:endParaRPr lang="en-US" altLang="ja-JP" sz="2400"/>
          </a:p>
          <a:p>
            <a:pPr eaLnBrk="1" hangingPunct="1">
              <a:buFont typeface="Wingdings" panose="05000000000000000000" pitchFamily="2" charset="2"/>
              <a:buChar char="ü"/>
            </a:pPr>
            <a:r>
              <a:rPr lang="en-US" altLang="ja-JP" sz="2400"/>
              <a:t>homework</a:t>
            </a:r>
            <a:r>
              <a:rPr lang="ja-JP" altLang="en-US" sz="2400"/>
              <a:t>：基礎実習の宿題用ファイル</a:t>
            </a:r>
            <a:endParaRPr lang="en-US" altLang="ja-JP" sz="2400"/>
          </a:p>
        </p:txBody>
      </p:sp>
      <p:sp>
        <p:nvSpPr>
          <p:cNvPr id="13321" name="Rectangle 8"/>
          <p:cNvSpPr txBox="1">
            <a:spLocks noChangeArrowheads="1"/>
          </p:cNvSpPr>
          <p:nvPr/>
        </p:nvSpPr>
        <p:spPr bwMode="auto">
          <a:xfrm>
            <a:off x="558800" y="3357563"/>
            <a:ext cx="6750050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ja-JP" sz="2400">
                <a:solidFill>
                  <a:schemeClr val="accent2"/>
                </a:solidFill>
              </a:rPr>
              <a:t>Exercise</a:t>
            </a:r>
            <a:r>
              <a:rPr lang="ja-JP" altLang="en-US" sz="2400">
                <a:solidFill>
                  <a:schemeClr val="accent2"/>
                </a:solidFill>
              </a:rPr>
              <a:t>：総合実習（実践的な使用方法を学びます）</a:t>
            </a:r>
            <a:endParaRPr lang="en-US" altLang="ja-JP" sz="2400">
              <a:solidFill>
                <a:schemeClr val="accent2"/>
              </a:solidFill>
            </a:endParaRPr>
          </a:p>
        </p:txBody>
      </p:sp>
      <p:sp>
        <p:nvSpPr>
          <p:cNvPr id="13322" name="Rectangle 8"/>
          <p:cNvSpPr txBox="1">
            <a:spLocks noChangeArrowheads="1"/>
          </p:cNvSpPr>
          <p:nvPr/>
        </p:nvSpPr>
        <p:spPr bwMode="auto">
          <a:xfrm>
            <a:off x="762000" y="3860800"/>
            <a:ext cx="7285038" cy="223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buFont typeface="Wingdings" panose="05000000000000000000" pitchFamily="2" charset="2"/>
              <a:buChar char="ü"/>
            </a:pPr>
            <a:r>
              <a:rPr lang="en-US" altLang="ja-JP" sz="2400"/>
              <a:t>misc: </a:t>
            </a:r>
            <a:r>
              <a:rPr lang="ja-JP" altLang="en-US" sz="2400"/>
              <a:t>奨励設定及びツールを使った実習</a:t>
            </a:r>
            <a:endParaRPr lang="en-US" altLang="ja-JP" sz="2400"/>
          </a:p>
          <a:p>
            <a:pPr eaLnBrk="1" hangingPunct="1">
              <a:buFont typeface="Wingdings" panose="05000000000000000000" pitchFamily="2" charset="2"/>
              <a:buChar char="ü"/>
            </a:pPr>
            <a:r>
              <a:rPr lang="en-US" altLang="ja-JP" sz="2400"/>
              <a:t>range</a:t>
            </a:r>
            <a:r>
              <a:rPr lang="ja-JP" altLang="en-US" sz="2400"/>
              <a:t>：</a:t>
            </a:r>
            <a:r>
              <a:rPr lang="en-US" altLang="ja-JP" sz="2400"/>
              <a:t>α</a:t>
            </a:r>
            <a:r>
              <a:rPr lang="ja-JP" altLang="en-US" sz="2400"/>
              <a:t>線，</a:t>
            </a:r>
            <a:r>
              <a:rPr lang="en-US" altLang="ja-JP" sz="2400"/>
              <a:t>β</a:t>
            </a:r>
            <a:r>
              <a:rPr lang="ja-JP" altLang="en-US" sz="2400"/>
              <a:t>線，</a:t>
            </a:r>
            <a:r>
              <a:rPr lang="en-US" altLang="ja-JP" sz="2400"/>
              <a:t>γ</a:t>
            </a:r>
            <a:r>
              <a:rPr lang="ja-JP" altLang="en-US" sz="2400"/>
              <a:t>線，中性子線を止めるには？</a:t>
            </a:r>
            <a:endParaRPr lang="en-US" altLang="ja-JP" sz="2400"/>
          </a:p>
          <a:p>
            <a:pPr eaLnBrk="1" hangingPunct="1">
              <a:buFont typeface="Wingdings" panose="05000000000000000000" pitchFamily="2" charset="2"/>
              <a:buChar char="ü"/>
            </a:pPr>
            <a:r>
              <a:rPr lang="en-US" altLang="ja-JP" sz="2400"/>
              <a:t>snowman</a:t>
            </a:r>
            <a:r>
              <a:rPr lang="ja-JP" altLang="en-US" sz="2400"/>
              <a:t>：陽子ビームで雪だるまを溶かそう！</a:t>
            </a:r>
            <a:endParaRPr lang="en-US" altLang="ja-JP" sz="2400"/>
          </a:p>
          <a:p>
            <a:pPr eaLnBrk="1" hangingPunct="1">
              <a:buFont typeface="Wingdings" panose="05000000000000000000" pitchFamily="2" charset="2"/>
              <a:buChar char="ü"/>
            </a:pPr>
            <a:r>
              <a:rPr lang="en-US" altLang="ja-JP" sz="2400"/>
              <a:t>shield:</a:t>
            </a:r>
            <a:r>
              <a:rPr lang="ja-JP" altLang="en-US" sz="2400"/>
              <a:t>遮蔽設計の演習</a:t>
            </a:r>
            <a:endParaRPr lang="en-US" altLang="ja-JP" sz="2400"/>
          </a:p>
          <a:p>
            <a:pPr eaLnBrk="1" hangingPunct="1">
              <a:buFont typeface="Wingdings" panose="05000000000000000000" pitchFamily="2" charset="2"/>
              <a:buChar char="ü"/>
            </a:pPr>
            <a:r>
              <a:rPr lang="en-US" altLang="ja-JP" sz="2400"/>
              <a:t>shortcourse</a:t>
            </a:r>
            <a:r>
              <a:rPr lang="ja-JP" altLang="en-US" sz="2400"/>
              <a:t>：ショートコース（</a:t>
            </a:r>
            <a:r>
              <a:rPr lang="en-US" altLang="ja-JP" sz="2400"/>
              <a:t>3</a:t>
            </a:r>
            <a:r>
              <a:rPr lang="ja-JP" altLang="en-US" sz="2400"/>
              <a:t>時間）用の資料</a:t>
            </a:r>
            <a:endParaRPr lang="en-US" altLang="ja-JP" sz="2400"/>
          </a:p>
        </p:txBody>
      </p:sp>
    </p:spTree>
    <p:extLst>
      <p:ext uri="{BB962C8B-B14F-4D97-AF65-F5344CB8AC3E}">
        <p14:creationId xmlns:p14="http://schemas.microsoft.com/office/powerpoint/2010/main" val="19835993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2011363" y="88900"/>
            <a:ext cx="5083175" cy="896938"/>
          </a:xfrm>
        </p:spPr>
        <p:txBody>
          <a:bodyPr/>
          <a:lstStyle/>
          <a:p>
            <a:pPr eaLnBrk="1" hangingPunct="1"/>
            <a:r>
              <a:rPr lang="ja-JP" altLang="en-US" sz="4000" dirty="0"/>
              <a:t>講習会資料一覧表③</a:t>
            </a:r>
            <a:endParaRPr lang="ja-JP" altLang="en-US" sz="4000" dirty="0">
              <a:latin typeface="Century Gothic" panose="020B0502020202020204" pitchFamily="34" charset="0"/>
            </a:endParaRPr>
          </a:p>
        </p:txBody>
      </p:sp>
      <p:sp>
        <p:nvSpPr>
          <p:cNvPr id="14343" name="Rectangle 8"/>
          <p:cNvSpPr txBox="1">
            <a:spLocks noChangeArrowheads="1"/>
          </p:cNvSpPr>
          <p:nvPr/>
        </p:nvSpPr>
        <p:spPr bwMode="auto">
          <a:xfrm>
            <a:off x="23394" y="908720"/>
            <a:ext cx="8104188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ja-JP" sz="2400" dirty="0">
                <a:solidFill>
                  <a:schemeClr val="accent2"/>
                </a:solidFill>
              </a:rPr>
              <a:t>Advanced</a:t>
            </a:r>
            <a:r>
              <a:rPr lang="ja-JP" altLang="en-US" sz="2400" dirty="0">
                <a:solidFill>
                  <a:schemeClr val="accent2"/>
                </a:solidFill>
              </a:rPr>
              <a:t>：応用実習（応用的な機能の使用方法を学びます）</a:t>
            </a:r>
            <a:endParaRPr lang="en-US" altLang="ja-JP" sz="2400" dirty="0">
              <a:solidFill>
                <a:schemeClr val="accent2"/>
              </a:solidFill>
            </a:endParaRPr>
          </a:p>
        </p:txBody>
      </p:sp>
      <p:sp>
        <p:nvSpPr>
          <p:cNvPr id="14344" name="正方形/長方形 4"/>
          <p:cNvSpPr>
            <a:spLocks noChangeArrowheads="1"/>
          </p:cNvSpPr>
          <p:nvPr/>
        </p:nvSpPr>
        <p:spPr bwMode="auto">
          <a:xfrm>
            <a:off x="265467" y="1340768"/>
            <a:ext cx="8627013" cy="4524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altLang="ja-JP" sz="1800" dirty="0">
                <a:solidFill>
                  <a:srgbClr val="000000"/>
                </a:solidFill>
              </a:rPr>
              <a:t>autorun: </a:t>
            </a:r>
            <a:r>
              <a:rPr lang="ja-JP" altLang="en-US" sz="1800" dirty="0">
                <a:solidFill>
                  <a:srgbClr val="000000"/>
                </a:solidFill>
              </a:rPr>
              <a:t>スクリプトを使った連続実行</a:t>
            </a:r>
            <a:endParaRPr lang="en-US" altLang="ja-JP" sz="1800" dirty="0">
              <a:solidFill>
                <a:srgbClr val="000000"/>
              </a:solidFill>
            </a:endParaRPr>
          </a:p>
          <a:p>
            <a:pPr eaLnBrk="1" hangingPunct="1"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altLang="ja-JP" sz="1800" dirty="0">
                <a:solidFill>
                  <a:srgbClr val="000000"/>
                </a:solidFill>
              </a:rPr>
              <a:t>cosmic-ray: </a:t>
            </a:r>
            <a:r>
              <a:rPr lang="ja-JP" altLang="en-US" sz="1800" dirty="0">
                <a:solidFill>
                  <a:srgbClr val="000000"/>
                </a:solidFill>
              </a:rPr>
              <a:t>宇宙線線源の使い方</a:t>
            </a:r>
            <a:endParaRPr lang="en-US" altLang="ja-JP" sz="1800" dirty="0">
              <a:solidFill>
                <a:srgbClr val="000000"/>
              </a:solidFill>
            </a:endParaRPr>
          </a:p>
          <a:p>
            <a:pPr eaLnBrk="1" hangingPunct="1"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altLang="ja-JP" sz="1800" dirty="0">
                <a:solidFill>
                  <a:srgbClr val="000000"/>
                </a:solidFill>
              </a:rPr>
              <a:t>DCHAIN1&amp;2: </a:t>
            </a:r>
            <a:r>
              <a:rPr lang="ja-JP" altLang="en-US" sz="1800" dirty="0">
                <a:solidFill>
                  <a:srgbClr val="000000"/>
                </a:solidFill>
              </a:rPr>
              <a:t>誘導放射能計算コード</a:t>
            </a:r>
            <a:r>
              <a:rPr lang="en-US" altLang="ja-JP" sz="1800" dirty="0">
                <a:solidFill>
                  <a:srgbClr val="000000"/>
                </a:solidFill>
              </a:rPr>
              <a:t>DCHAIN</a:t>
            </a:r>
            <a:r>
              <a:rPr lang="ja-JP" altLang="en-US" sz="1800" dirty="0">
                <a:solidFill>
                  <a:srgbClr val="000000"/>
                </a:solidFill>
              </a:rPr>
              <a:t>の使い方</a:t>
            </a:r>
            <a:endParaRPr lang="en-US" altLang="ja-JP" sz="1800" dirty="0">
              <a:solidFill>
                <a:srgbClr val="000000"/>
              </a:solidFill>
            </a:endParaRPr>
          </a:p>
          <a:p>
            <a:pPr eaLnBrk="1" hangingPunct="1"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altLang="ja-JP" sz="1800" dirty="0">
                <a:solidFill>
                  <a:srgbClr val="000000"/>
                </a:solidFill>
              </a:rPr>
              <a:t>detector: </a:t>
            </a:r>
            <a:r>
              <a:rPr lang="ja-JP" altLang="en-US" sz="1800" dirty="0">
                <a:solidFill>
                  <a:srgbClr val="000000"/>
                </a:solidFill>
              </a:rPr>
              <a:t>検出器応答関数計算</a:t>
            </a:r>
            <a:endParaRPr lang="en-US" altLang="ja-JP" sz="1800" dirty="0">
              <a:solidFill>
                <a:srgbClr val="000000"/>
              </a:solidFill>
            </a:endParaRPr>
          </a:p>
          <a:p>
            <a:pPr eaLnBrk="1" hangingPunct="1"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altLang="ja-JP" sz="1800" dirty="0">
                <a:solidFill>
                  <a:srgbClr val="000000"/>
                </a:solidFill>
              </a:rPr>
              <a:t>High-E-N-Phys: </a:t>
            </a:r>
            <a:r>
              <a:rPr lang="ja-JP" altLang="en-US" sz="1800" dirty="0">
                <a:solidFill>
                  <a:srgbClr val="000000"/>
                </a:solidFill>
              </a:rPr>
              <a:t>高エネルギー核反応計算への応用（英語のみ）</a:t>
            </a:r>
            <a:endParaRPr lang="en-US" altLang="ja-JP" sz="1800" dirty="0">
              <a:solidFill>
                <a:srgbClr val="000000"/>
              </a:solidFill>
            </a:endParaRPr>
          </a:p>
          <a:p>
            <a:pPr eaLnBrk="1" hangingPunct="1"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altLang="ja-JP" sz="1800" dirty="0">
                <a:solidFill>
                  <a:srgbClr val="000000"/>
                </a:solidFill>
              </a:rPr>
              <a:t>neutron: </a:t>
            </a:r>
            <a:r>
              <a:rPr lang="ja-JP" altLang="en-US" sz="1800" dirty="0">
                <a:solidFill>
                  <a:srgbClr val="000000"/>
                </a:solidFill>
              </a:rPr>
              <a:t>中性子ビームライン設計（英語のみ）</a:t>
            </a:r>
            <a:endParaRPr lang="en-US" altLang="ja-JP" sz="1800" dirty="0">
              <a:solidFill>
                <a:srgbClr val="000000"/>
              </a:solidFill>
            </a:endParaRPr>
          </a:p>
          <a:p>
            <a:pPr eaLnBrk="1" hangingPunct="1"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altLang="ja-JP" sz="1800" dirty="0">
                <a:solidFill>
                  <a:srgbClr val="000000"/>
                </a:solidFill>
              </a:rPr>
              <a:t>options: [transform], [magnetic field], [multiplier], [counter]</a:t>
            </a:r>
            <a:r>
              <a:rPr lang="ja-JP" altLang="en-US" sz="1800" dirty="0">
                <a:solidFill>
                  <a:srgbClr val="000000"/>
                </a:solidFill>
              </a:rPr>
              <a:t>セクションの使い方</a:t>
            </a:r>
            <a:endParaRPr lang="en-US" altLang="ja-JP" sz="1800" dirty="0">
              <a:solidFill>
                <a:srgbClr val="000000"/>
              </a:solidFill>
            </a:endParaRPr>
          </a:p>
          <a:p>
            <a:pPr eaLnBrk="1" hangingPunct="1"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altLang="ja-JP" sz="1800" dirty="0" err="1">
                <a:solidFill>
                  <a:srgbClr val="000000"/>
                </a:solidFill>
              </a:rPr>
              <a:t>paraview</a:t>
            </a:r>
            <a:r>
              <a:rPr lang="en-US" altLang="ja-JP" sz="1800" dirty="0">
                <a:solidFill>
                  <a:srgbClr val="000000"/>
                </a:solidFill>
              </a:rPr>
              <a:t>: 3</a:t>
            </a:r>
            <a:r>
              <a:rPr lang="ja-JP" altLang="en-US" sz="1800" dirty="0">
                <a:solidFill>
                  <a:srgbClr val="000000"/>
                </a:solidFill>
              </a:rPr>
              <a:t>次元描画ソフト</a:t>
            </a:r>
            <a:r>
              <a:rPr lang="en-US" altLang="ja-JP" sz="1800" dirty="0" err="1">
                <a:solidFill>
                  <a:srgbClr val="000000"/>
                </a:solidFill>
              </a:rPr>
              <a:t>paraview</a:t>
            </a:r>
            <a:r>
              <a:rPr lang="ja-JP" altLang="en-US" sz="1800" dirty="0">
                <a:solidFill>
                  <a:srgbClr val="000000"/>
                </a:solidFill>
              </a:rPr>
              <a:t>の使い方</a:t>
            </a:r>
            <a:endParaRPr lang="en-US" altLang="ja-JP" sz="1800" dirty="0">
              <a:solidFill>
                <a:srgbClr val="000000"/>
              </a:solidFill>
            </a:endParaRPr>
          </a:p>
          <a:p>
            <a:pPr eaLnBrk="1" hangingPunct="1"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altLang="ja-JP" sz="1800" dirty="0">
                <a:solidFill>
                  <a:srgbClr val="000000"/>
                </a:solidFill>
              </a:rPr>
              <a:t>PHIG-3D: PHIG-3D</a:t>
            </a:r>
            <a:r>
              <a:rPr lang="ja-JP" altLang="en-US" sz="1800" dirty="0">
                <a:solidFill>
                  <a:srgbClr val="000000"/>
                </a:solidFill>
              </a:rPr>
              <a:t>の高度な使い方</a:t>
            </a:r>
            <a:endParaRPr lang="en-US" altLang="ja-JP" sz="1800" dirty="0">
              <a:solidFill>
                <a:srgbClr val="000000"/>
              </a:solidFill>
            </a:endParaRPr>
          </a:p>
          <a:p>
            <a:pPr eaLnBrk="1" hangingPunct="1"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altLang="ja-JP" sz="1800" dirty="0">
                <a:solidFill>
                  <a:srgbClr val="000000"/>
                </a:solidFill>
              </a:rPr>
              <a:t>script-advanced: </a:t>
            </a:r>
            <a:r>
              <a:rPr lang="ja-JP" altLang="en-US" sz="1800" dirty="0">
                <a:solidFill>
                  <a:srgbClr val="000000"/>
                </a:solidFill>
              </a:rPr>
              <a:t>高度なスクリプトファイルの作成方法（日本語のみ）</a:t>
            </a:r>
            <a:endParaRPr lang="en-US" altLang="ja-JP" sz="1800" dirty="0">
              <a:solidFill>
                <a:srgbClr val="000000"/>
              </a:solidFill>
            </a:endParaRPr>
          </a:p>
          <a:p>
            <a:pPr eaLnBrk="1" hangingPunct="1"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altLang="ja-JP" sz="1800" dirty="0">
                <a:solidFill>
                  <a:srgbClr val="000000"/>
                </a:solidFill>
              </a:rPr>
              <a:t>shielding: </a:t>
            </a:r>
            <a:r>
              <a:rPr lang="ja-JP" altLang="en-US" sz="1800" dirty="0">
                <a:solidFill>
                  <a:srgbClr val="000000"/>
                </a:solidFill>
              </a:rPr>
              <a:t>遮蔽設計への応用</a:t>
            </a:r>
            <a:endParaRPr lang="en-US" altLang="ja-JP" sz="1800" dirty="0">
              <a:solidFill>
                <a:srgbClr val="000000"/>
              </a:solidFill>
            </a:endParaRPr>
          </a:p>
          <a:p>
            <a:pPr eaLnBrk="1" hangingPunct="1"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altLang="ja-JP" sz="1800" dirty="0" err="1">
                <a:solidFill>
                  <a:srgbClr val="000000"/>
                </a:solidFill>
              </a:rPr>
              <a:t>sourceA</a:t>
            </a:r>
            <a:r>
              <a:rPr lang="ja-JP" altLang="en-US" sz="1800" dirty="0">
                <a:solidFill>
                  <a:srgbClr val="000000"/>
                </a:solidFill>
              </a:rPr>
              <a:t>：エネルギー分布をもつ線源やマルチソースの発生方法</a:t>
            </a:r>
            <a:endParaRPr lang="en-US" altLang="ja-JP" sz="1800" dirty="0">
              <a:solidFill>
                <a:srgbClr val="000000"/>
              </a:solidFill>
            </a:endParaRPr>
          </a:p>
          <a:p>
            <a:pPr eaLnBrk="1" hangingPunct="1"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altLang="ja-JP" sz="1800" dirty="0" err="1">
                <a:solidFill>
                  <a:srgbClr val="000000"/>
                </a:solidFill>
              </a:rPr>
              <a:t>sourceB</a:t>
            </a:r>
            <a:r>
              <a:rPr lang="ja-JP" altLang="en-US" sz="1800" dirty="0">
                <a:solidFill>
                  <a:srgbClr val="000000"/>
                </a:solidFill>
              </a:rPr>
              <a:t>：</a:t>
            </a:r>
            <a:r>
              <a:rPr lang="en-US" altLang="ja-JP" sz="1800" dirty="0">
                <a:solidFill>
                  <a:srgbClr val="000000"/>
                </a:solidFill>
              </a:rPr>
              <a:t>Dump</a:t>
            </a:r>
            <a:r>
              <a:rPr lang="ja-JP" altLang="en-US" sz="1800" dirty="0">
                <a:solidFill>
                  <a:srgbClr val="000000"/>
                </a:solidFill>
              </a:rPr>
              <a:t>を用いたつなぎ計算の方法</a:t>
            </a:r>
            <a:endParaRPr lang="en-US" altLang="ja-JP" sz="1800" dirty="0">
              <a:solidFill>
                <a:srgbClr val="000000"/>
              </a:solidFill>
            </a:endParaRPr>
          </a:p>
          <a:p>
            <a:pPr eaLnBrk="1" hangingPunct="1"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altLang="ja-JP" sz="1800" dirty="0">
                <a:solidFill>
                  <a:srgbClr val="000000"/>
                </a:solidFill>
              </a:rPr>
              <a:t>voxel</a:t>
            </a:r>
            <a:r>
              <a:rPr lang="ja-JP" altLang="en-US" sz="1800" dirty="0">
                <a:solidFill>
                  <a:srgbClr val="000000"/>
                </a:solidFill>
              </a:rPr>
              <a:t>：ボクセルファントムの作り方（</a:t>
            </a:r>
            <a:r>
              <a:rPr lang="en-US" altLang="ja-JP" sz="1800" dirty="0">
                <a:solidFill>
                  <a:srgbClr val="000000"/>
                </a:solidFill>
              </a:rPr>
              <a:t>Lattice, Universe</a:t>
            </a:r>
            <a:r>
              <a:rPr lang="ja-JP" altLang="en-US" sz="1800" dirty="0">
                <a:solidFill>
                  <a:srgbClr val="000000"/>
                </a:solidFill>
              </a:rPr>
              <a:t>の概念）</a:t>
            </a:r>
            <a:endParaRPr lang="en-US" altLang="ja-JP" sz="1800" dirty="0">
              <a:solidFill>
                <a:srgbClr val="000000"/>
              </a:solidFill>
            </a:endParaRPr>
          </a:p>
          <a:p>
            <a:pPr eaLnBrk="1" hangingPunct="1"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altLang="ja-JP" sz="1800" dirty="0">
                <a:solidFill>
                  <a:srgbClr val="000000"/>
                </a:solidFill>
              </a:rPr>
              <a:t>uncertainty: </a:t>
            </a:r>
            <a:r>
              <a:rPr lang="ja-JP" altLang="en-US" sz="1800" dirty="0">
                <a:solidFill>
                  <a:srgbClr val="000000"/>
                </a:solidFill>
              </a:rPr>
              <a:t>統計誤差誤差及び系統誤差の評価方法（日本語のみ）</a:t>
            </a:r>
            <a:endParaRPr lang="en-US" altLang="ja-JP" sz="1800" dirty="0">
              <a:solidFill>
                <a:srgbClr val="000000"/>
              </a:solidFill>
            </a:endParaRPr>
          </a:p>
          <a:p>
            <a:pPr eaLnBrk="1" hangingPunct="1"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altLang="ja-JP" sz="1800" dirty="0">
                <a:solidFill>
                  <a:srgbClr val="000000"/>
                </a:solidFill>
              </a:rPr>
              <a:t>variance-reduction</a:t>
            </a:r>
            <a:r>
              <a:rPr lang="ja-JP" altLang="en-US" sz="1800" dirty="0">
                <a:solidFill>
                  <a:srgbClr val="000000"/>
                </a:solidFill>
              </a:rPr>
              <a:t>：分散低減法の使い方</a:t>
            </a:r>
            <a:r>
              <a:rPr lang="en-US" altLang="ja-JP" sz="1800" dirty="0">
                <a:solidFill>
                  <a:srgbClr val="000000"/>
                </a:solidFill>
              </a:rPr>
              <a:t>([importance], [weight window], [t-</a:t>
            </a:r>
            <a:r>
              <a:rPr lang="en-US" altLang="ja-JP" sz="1800" dirty="0" err="1">
                <a:solidFill>
                  <a:srgbClr val="000000"/>
                </a:solidFill>
              </a:rPr>
              <a:t>wwg</a:t>
            </a:r>
            <a:r>
              <a:rPr lang="en-US" altLang="ja-JP" sz="1800" dirty="0">
                <a:solidFill>
                  <a:srgbClr val="000000"/>
                </a:solidFill>
              </a:rPr>
              <a:t>] etc.)</a:t>
            </a:r>
            <a:endParaRPr lang="en-US" altLang="ja-JP" sz="20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1835150" y="-100013"/>
            <a:ext cx="5083175" cy="896938"/>
          </a:xfrm>
        </p:spPr>
        <p:txBody>
          <a:bodyPr/>
          <a:lstStyle/>
          <a:p>
            <a:pPr eaLnBrk="1" hangingPunct="1"/>
            <a:r>
              <a:rPr lang="ja-JP" altLang="en-US" sz="4000" dirty="0"/>
              <a:t>講習会資料一覧表④</a:t>
            </a:r>
            <a:endParaRPr lang="ja-JP" altLang="en-US" sz="4000" dirty="0">
              <a:latin typeface="Century Gothic" panose="020B0502020202020204" pitchFamily="34" charset="0"/>
            </a:endParaRPr>
          </a:p>
        </p:txBody>
      </p:sp>
      <p:sp>
        <p:nvSpPr>
          <p:cNvPr id="15367" name="Rectangle 8"/>
          <p:cNvSpPr txBox="1">
            <a:spLocks noChangeArrowheads="1"/>
          </p:cNvSpPr>
          <p:nvPr/>
        </p:nvSpPr>
        <p:spPr bwMode="auto">
          <a:xfrm>
            <a:off x="233363" y="625475"/>
            <a:ext cx="8104187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ja-JP" sz="2400">
                <a:solidFill>
                  <a:schemeClr val="accent2"/>
                </a:solidFill>
              </a:rPr>
              <a:t>Therapy</a:t>
            </a:r>
            <a:r>
              <a:rPr lang="ja-JP" altLang="en-US" sz="2400">
                <a:solidFill>
                  <a:schemeClr val="accent2"/>
                </a:solidFill>
              </a:rPr>
              <a:t>：医学応用実習（医学物理計算を念頭においた実習）</a:t>
            </a:r>
            <a:endParaRPr lang="en-US" altLang="ja-JP" sz="2400">
              <a:solidFill>
                <a:schemeClr val="accent2"/>
              </a:solidFill>
            </a:endParaRPr>
          </a:p>
        </p:txBody>
      </p:sp>
      <p:sp>
        <p:nvSpPr>
          <p:cNvPr id="15368" name="正方形/長方形 2"/>
          <p:cNvSpPr>
            <a:spLocks noChangeArrowheads="1"/>
          </p:cNvSpPr>
          <p:nvPr/>
        </p:nvSpPr>
        <p:spPr bwMode="auto">
          <a:xfrm>
            <a:off x="467544" y="1052736"/>
            <a:ext cx="8569325" cy="45550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ts val="300"/>
              </a:spcBef>
              <a:buFont typeface="Wingdings" panose="05000000000000000000" pitchFamily="2" charset="2"/>
              <a:buChar char="ü"/>
            </a:pPr>
            <a:r>
              <a:rPr lang="en-US" altLang="ja-JP" sz="2000" dirty="0">
                <a:solidFill>
                  <a:srgbClr val="000000"/>
                </a:solidFill>
              </a:rPr>
              <a:t>Backscatter: X</a:t>
            </a:r>
            <a:r>
              <a:rPr lang="ja-JP" altLang="en-US" sz="2000" dirty="0">
                <a:solidFill>
                  <a:srgbClr val="000000"/>
                </a:solidFill>
              </a:rPr>
              <a:t>線治療における後方散乱シミュレーション</a:t>
            </a:r>
            <a:endParaRPr lang="en-US" altLang="ja-JP" sz="2000" dirty="0">
              <a:solidFill>
                <a:srgbClr val="000000"/>
              </a:solidFill>
            </a:endParaRPr>
          </a:p>
          <a:p>
            <a:pPr eaLnBrk="1" hangingPunct="1">
              <a:spcBef>
                <a:spcPts val="300"/>
              </a:spcBef>
              <a:buFont typeface="Wingdings" panose="05000000000000000000" pitchFamily="2" charset="2"/>
              <a:buChar char="ü"/>
            </a:pPr>
            <a:r>
              <a:rPr lang="en-US" altLang="ja-JP" sz="2000" dirty="0">
                <a:solidFill>
                  <a:srgbClr val="000000"/>
                </a:solidFill>
              </a:rPr>
              <a:t>basic</a:t>
            </a:r>
            <a:r>
              <a:rPr lang="ja-JP" altLang="en-US" sz="2000" dirty="0">
                <a:solidFill>
                  <a:srgbClr val="000000"/>
                </a:solidFill>
              </a:rPr>
              <a:t>：</a:t>
            </a:r>
            <a:r>
              <a:rPr lang="en-US" altLang="ja-JP" sz="2000" dirty="0">
                <a:solidFill>
                  <a:srgbClr val="000000"/>
                </a:solidFill>
              </a:rPr>
              <a:t>X</a:t>
            </a:r>
            <a:r>
              <a:rPr lang="ja-JP" altLang="en-US" sz="2000" dirty="0">
                <a:solidFill>
                  <a:srgbClr val="000000"/>
                </a:solidFill>
              </a:rPr>
              <a:t>線治療シミュレーションの基礎（基本操作復習編）</a:t>
            </a:r>
            <a:endParaRPr lang="en-US" altLang="ja-JP" sz="2000" dirty="0">
              <a:solidFill>
                <a:srgbClr val="000000"/>
              </a:solidFill>
            </a:endParaRPr>
          </a:p>
          <a:p>
            <a:pPr eaLnBrk="1" hangingPunct="1">
              <a:spcBef>
                <a:spcPts val="300"/>
              </a:spcBef>
              <a:buFont typeface="Wingdings" panose="05000000000000000000" pitchFamily="2" charset="2"/>
              <a:buChar char="ü"/>
            </a:pPr>
            <a:r>
              <a:rPr lang="en-US" altLang="ja-JP" sz="2000" dirty="0">
                <a:solidFill>
                  <a:srgbClr val="000000"/>
                </a:solidFill>
              </a:rPr>
              <a:t>BNCT</a:t>
            </a:r>
            <a:r>
              <a:rPr lang="ja-JP" altLang="en-US" sz="2000" dirty="0">
                <a:solidFill>
                  <a:srgbClr val="000000"/>
                </a:solidFill>
              </a:rPr>
              <a:t>：ホウ素中性子捕捉療法（</a:t>
            </a:r>
            <a:r>
              <a:rPr lang="en-US" altLang="ja-JP" sz="2000" dirty="0">
                <a:solidFill>
                  <a:srgbClr val="000000"/>
                </a:solidFill>
              </a:rPr>
              <a:t>BNCT</a:t>
            </a:r>
            <a:r>
              <a:rPr lang="ja-JP" altLang="en-US" sz="2000" dirty="0">
                <a:solidFill>
                  <a:srgbClr val="000000"/>
                </a:solidFill>
              </a:rPr>
              <a:t>）線量評価</a:t>
            </a:r>
            <a:endParaRPr lang="en-US" altLang="ja-JP" sz="2000" dirty="0">
              <a:solidFill>
                <a:srgbClr val="000000"/>
              </a:solidFill>
            </a:endParaRPr>
          </a:p>
          <a:p>
            <a:pPr eaLnBrk="1" hangingPunct="1">
              <a:spcBef>
                <a:spcPts val="300"/>
              </a:spcBef>
              <a:buFont typeface="Wingdings" panose="05000000000000000000" pitchFamily="2" charset="2"/>
              <a:buChar char="ü"/>
            </a:pPr>
            <a:r>
              <a:rPr lang="en-US" altLang="ja-JP" sz="2000" dirty="0" err="1">
                <a:solidFill>
                  <a:srgbClr val="000000"/>
                </a:solidFill>
              </a:rPr>
              <a:t>ElectronTherapy</a:t>
            </a:r>
            <a:r>
              <a:rPr lang="ja-JP" altLang="en-US" sz="2000" dirty="0">
                <a:solidFill>
                  <a:srgbClr val="000000"/>
                </a:solidFill>
              </a:rPr>
              <a:t>：電子線治療シミュレーションの基礎</a:t>
            </a:r>
            <a:endParaRPr lang="en-US" altLang="ja-JP" sz="2000" dirty="0">
              <a:solidFill>
                <a:srgbClr val="000000"/>
              </a:solidFill>
            </a:endParaRPr>
          </a:p>
          <a:p>
            <a:pPr eaLnBrk="1" hangingPunct="1">
              <a:spcBef>
                <a:spcPts val="300"/>
              </a:spcBef>
              <a:buFont typeface="Wingdings" panose="05000000000000000000" pitchFamily="2" charset="2"/>
              <a:buChar char="ü"/>
            </a:pPr>
            <a:r>
              <a:rPr lang="en-US" altLang="ja-JP" sz="2000" dirty="0">
                <a:solidFill>
                  <a:srgbClr val="000000"/>
                </a:solidFill>
              </a:rPr>
              <a:t>IMRT</a:t>
            </a:r>
            <a:r>
              <a:rPr lang="ja-JP" altLang="en-US" sz="2000" dirty="0">
                <a:solidFill>
                  <a:srgbClr val="000000"/>
                </a:solidFill>
              </a:rPr>
              <a:t>：強度変調放射線治療のシミュレーション</a:t>
            </a:r>
          </a:p>
          <a:p>
            <a:pPr eaLnBrk="1" hangingPunct="1">
              <a:spcBef>
                <a:spcPts val="300"/>
              </a:spcBef>
              <a:buFont typeface="Wingdings" panose="05000000000000000000" pitchFamily="2" charset="2"/>
              <a:buChar char="ü"/>
            </a:pPr>
            <a:r>
              <a:rPr lang="en-US" altLang="ja-JP" sz="2000" dirty="0" err="1">
                <a:solidFill>
                  <a:srgbClr val="000000"/>
                </a:solidFill>
              </a:rPr>
              <a:t>Linac:Linac</a:t>
            </a:r>
            <a:r>
              <a:rPr lang="ja-JP" altLang="en-US" sz="2000" dirty="0">
                <a:solidFill>
                  <a:srgbClr val="000000"/>
                </a:solidFill>
              </a:rPr>
              <a:t>のモデリングと放射化計算</a:t>
            </a:r>
            <a:endParaRPr lang="en-US" altLang="ja-JP" sz="2000" dirty="0">
              <a:solidFill>
                <a:srgbClr val="000000"/>
              </a:solidFill>
            </a:endParaRPr>
          </a:p>
          <a:p>
            <a:pPr eaLnBrk="1" hangingPunct="1">
              <a:spcBef>
                <a:spcPts val="300"/>
              </a:spcBef>
              <a:buFont typeface="Wingdings" panose="05000000000000000000" pitchFamily="2" charset="2"/>
              <a:buChar char="ü"/>
            </a:pPr>
            <a:r>
              <a:rPr lang="en-US" altLang="ja-JP" sz="2000" dirty="0" err="1">
                <a:solidFill>
                  <a:srgbClr val="000000"/>
                </a:solidFill>
              </a:rPr>
              <a:t>PhaseSpaceFile</a:t>
            </a:r>
            <a:r>
              <a:rPr lang="ja-JP" altLang="en-US" sz="2000" dirty="0">
                <a:solidFill>
                  <a:srgbClr val="000000"/>
                </a:solidFill>
              </a:rPr>
              <a:t>：</a:t>
            </a:r>
            <a:r>
              <a:rPr lang="en-US" altLang="ja-JP" sz="2000" dirty="0">
                <a:solidFill>
                  <a:srgbClr val="000000"/>
                </a:solidFill>
              </a:rPr>
              <a:t>IAEA Phase Space File</a:t>
            </a:r>
            <a:r>
              <a:rPr lang="ja-JP" altLang="en-US" sz="2000" dirty="0">
                <a:solidFill>
                  <a:srgbClr val="000000"/>
                </a:solidFill>
              </a:rPr>
              <a:t>を用いたシミュレーション</a:t>
            </a:r>
            <a:endParaRPr lang="en-US" altLang="ja-JP" sz="2000" dirty="0">
              <a:solidFill>
                <a:srgbClr val="000000"/>
              </a:solidFill>
            </a:endParaRPr>
          </a:p>
          <a:p>
            <a:pPr eaLnBrk="1" hangingPunct="1">
              <a:spcBef>
                <a:spcPts val="300"/>
              </a:spcBef>
              <a:buFont typeface="Wingdings" panose="05000000000000000000" pitchFamily="2" charset="2"/>
              <a:buChar char="ü"/>
            </a:pPr>
            <a:r>
              <a:rPr lang="en-US" altLang="ja-JP" sz="2000" dirty="0" err="1">
                <a:solidFill>
                  <a:srgbClr val="000000"/>
                </a:solidFill>
              </a:rPr>
              <a:t>RidgeFilter</a:t>
            </a:r>
            <a:r>
              <a:rPr lang="en-US" altLang="ja-JP" sz="2000" dirty="0">
                <a:solidFill>
                  <a:srgbClr val="000000"/>
                </a:solidFill>
              </a:rPr>
              <a:t>:</a:t>
            </a:r>
            <a:r>
              <a:rPr lang="ja-JP" altLang="en-US" sz="2000" dirty="0">
                <a:solidFill>
                  <a:srgbClr val="000000"/>
                </a:solidFill>
              </a:rPr>
              <a:t>リッジフィルターの作り方（メモ）</a:t>
            </a:r>
            <a:endParaRPr lang="en-US" altLang="ja-JP" sz="2000" dirty="0">
              <a:solidFill>
                <a:srgbClr val="000000"/>
              </a:solidFill>
            </a:endParaRPr>
          </a:p>
          <a:p>
            <a:pPr eaLnBrk="1" hangingPunct="1">
              <a:spcBef>
                <a:spcPts val="300"/>
              </a:spcBef>
              <a:buFont typeface="Wingdings" panose="05000000000000000000" pitchFamily="2" charset="2"/>
              <a:buChar char="ü"/>
            </a:pPr>
            <a:r>
              <a:rPr lang="en-US" altLang="ja-JP" sz="2000" dirty="0" err="1">
                <a:solidFill>
                  <a:srgbClr val="000000"/>
                </a:solidFill>
              </a:rPr>
              <a:t>TreatmentPlanning</a:t>
            </a:r>
            <a:r>
              <a:rPr lang="ja-JP" altLang="en-US" sz="2000" dirty="0">
                <a:solidFill>
                  <a:srgbClr val="000000"/>
                </a:solidFill>
              </a:rPr>
              <a:t>：</a:t>
            </a:r>
            <a:r>
              <a:rPr lang="en-US" altLang="ja-JP" sz="2000" dirty="0">
                <a:solidFill>
                  <a:srgbClr val="000000"/>
                </a:solidFill>
              </a:rPr>
              <a:t>DICOM2PHITS</a:t>
            </a:r>
            <a:r>
              <a:rPr lang="ja-JP" altLang="en-US" sz="2000" dirty="0">
                <a:solidFill>
                  <a:srgbClr val="000000"/>
                </a:solidFill>
              </a:rPr>
              <a:t>を用いた治療計画</a:t>
            </a:r>
            <a:endParaRPr lang="en-US" altLang="ja-JP" sz="2000" dirty="0">
              <a:solidFill>
                <a:srgbClr val="000000"/>
              </a:solidFill>
            </a:endParaRPr>
          </a:p>
          <a:p>
            <a:pPr eaLnBrk="1" hangingPunct="1">
              <a:spcBef>
                <a:spcPts val="300"/>
              </a:spcBef>
              <a:buFont typeface="Wingdings" panose="05000000000000000000" pitchFamily="2" charset="2"/>
              <a:buChar char="ü"/>
            </a:pPr>
            <a:r>
              <a:rPr lang="en-US" altLang="ja-JP" sz="2000" dirty="0" err="1">
                <a:solidFill>
                  <a:srgbClr val="000000"/>
                </a:solidFill>
              </a:rPr>
              <a:t>VarianceReductionXray</a:t>
            </a:r>
            <a:r>
              <a:rPr lang="ja-JP" altLang="en-US" sz="2000" dirty="0">
                <a:solidFill>
                  <a:srgbClr val="000000"/>
                </a:solidFill>
              </a:rPr>
              <a:t>：分散低減法を用いた医学物理計算</a:t>
            </a:r>
            <a:endParaRPr lang="en-US" altLang="ja-JP" sz="2000" dirty="0">
              <a:solidFill>
                <a:srgbClr val="000000"/>
              </a:solidFill>
            </a:endParaRPr>
          </a:p>
          <a:p>
            <a:pPr eaLnBrk="1" hangingPunct="1">
              <a:spcBef>
                <a:spcPts val="300"/>
              </a:spcBef>
              <a:buFont typeface="Wingdings" panose="05000000000000000000" pitchFamily="2" charset="2"/>
              <a:buChar char="ü"/>
            </a:pPr>
            <a:r>
              <a:rPr lang="en-US" altLang="ja-JP" sz="2000" dirty="0">
                <a:solidFill>
                  <a:srgbClr val="000000"/>
                </a:solidFill>
              </a:rPr>
              <a:t>VMAT</a:t>
            </a:r>
            <a:r>
              <a:rPr lang="ja-JP" altLang="en-US" sz="2000" dirty="0">
                <a:solidFill>
                  <a:srgbClr val="000000"/>
                </a:solidFill>
              </a:rPr>
              <a:t>：強度変調回転放射線治療のシミュレーション</a:t>
            </a:r>
          </a:p>
          <a:p>
            <a:pPr eaLnBrk="1" hangingPunct="1">
              <a:spcBef>
                <a:spcPts val="300"/>
              </a:spcBef>
              <a:buFont typeface="Wingdings" panose="05000000000000000000" pitchFamily="2" charset="2"/>
              <a:buChar char="ü"/>
            </a:pPr>
            <a:r>
              <a:rPr lang="en-US" altLang="ja-JP" sz="2000" dirty="0" err="1">
                <a:solidFill>
                  <a:srgbClr val="000000"/>
                </a:solidFill>
              </a:rPr>
              <a:t>XrayTherapy</a:t>
            </a:r>
            <a:r>
              <a:rPr lang="ja-JP" altLang="en-US" sz="2000" dirty="0">
                <a:solidFill>
                  <a:srgbClr val="000000"/>
                </a:solidFill>
              </a:rPr>
              <a:t>：</a:t>
            </a:r>
            <a:r>
              <a:rPr lang="en-US" altLang="ja-JP" sz="2000" dirty="0">
                <a:solidFill>
                  <a:srgbClr val="000000"/>
                </a:solidFill>
              </a:rPr>
              <a:t>X</a:t>
            </a:r>
            <a:r>
              <a:rPr lang="ja-JP" altLang="en-US" sz="2000" dirty="0">
                <a:solidFill>
                  <a:srgbClr val="000000"/>
                </a:solidFill>
              </a:rPr>
              <a:t>線治療シミュレーションの基礎（実践編）</a:t>
            </a:r>
            <a:endParaRPr lang="en-US" altLang="ja-JP" sz="2000" dirty="0">
              <a:solidFill>
                <a:srgbClr val="000000"/>
              </a:solidFill>
            </a:endParaRPr>
          </a:p>
          <a:p>
            <a:pPr eaLnBrk="1" hangingPunct="1">
              <a:spcBef>
                <a:spcPts val="300"/>
              </a:spcBef>
              <a:buFont typeface="Wingdings" panose="05000000000000000000" pitchFamily="2" charset="2"/>
              <a:buChar char="ü"/>
            </a:pPr>
            <a:r>
              <a:rPr lang="en-US" altLang="ja-JP" sz="2000" dirty="0" err="1">
                <a:solidFill>
                  <a:srgbClr val="000000"/>
                </a:solidFill>
              </a:rPr>
              <a:t>XrayTherapyCT</a:t>
            </a:r>
            <a:r>
              <a:rPr lang="ja-JP" altLang="en-US" sz="2000" dirty="0">
                <a:solidFill>
                  <a:srgbClr val="000000"/>
                </a:solidFill>
              </a:rPr>
              <a:t>：ボクセルファントムを用いた</a:t>
            </a:r>
            <a:r>
              <a:rPr lang="en-US" altLang="ja-JP" sz="2000" dirty="0">
                <a:solidFill>
                  <a:srgbClr val="000000"/>
                </a:solidFill>
              </a:rPr>
              <a:t>CT</a:t>
            </a:r>
            <a:r>
              <a:rPr lang="ja-JP" altLang="en-US" sz="2000" dirty="0">
                <a:solidFill>
                  <a:srgbClr val="000000"/>
                </a:solidFill>
              </a:rPr>
              <a:t>シミュレーション</a:t>
            </a:r>
            <a:endParaRPr lang="en-US" altLang="ja-JP" sz="20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5_標準デザイン">
  <a:themeElements>
    <a:clrScheme name="標準デザイン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標準デザイン">
      <a:majorFont>
        <a:latin typeface="Times New Roman"/>
        <a:ea typeface="ＭＳ Ｐゴシック"/>
        <a:cs typeface=""/>
      </a:majorFont>
      <a:minorFont>
        <a:latin typeface="Times New Roman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テーマ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テーマ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34109</TotalTime>
  <Words>511</Words>
  <Application>Microsoft Office PowerPoint</Application>
  <PresentationFormat>画面に合わせる (4:3)</PresentationFormat>
  <Paragraphs>58</Paragraphs>
  <Slides>4</Slides>
  <Notes>4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10" baseType="lpstr">
      <vt:lpstr>Calibri</vt:lpstr>
      <vt:lpstr>Century Gothic</vt:lpstr>
      <vt:lpstr>Tahoma</vt:lpstr>
      <vt:lpstr>Times New Roman</vt:lpstr>
      <vt:lpstr>Wingdings</vt:lpstr>
      <vt:lpstr>5_標準デザイン</vt:lpstr>
      <vt:lpstr>講習会資料一覧表①</vt:lpstr>
      <vt:lpstr>講習会資料一覧表②</vt:lpstr>
      <vt:lpstr>講習会資料一覧表③</vt:lpstr>
      <vt:lpstr>講習会資料一覧表④</vt:lpstr>
    </vt:vector>
  </TitlesOfParts>
  <Company>だいきょーど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PHITS</dc:title>
  <dc:creator>のりひろ</dc:creator>
  <cp:lastModifiedBy>Tatsuhiko Sato</cp:lastModifiedBy>
  <cp:revision>1928</cp:revision>
  <dcterms:created xsi:type="dcterms:W3CDTF">2010-07-09T05:14:57Z</dcterms:created>
  <dcterms:modified xsi:type="dcterms:W3CDTF">2025-01-07T16:42:05Z</dcterms:modified>
</cp:coreProperties>
</file>