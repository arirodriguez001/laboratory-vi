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2"/>
  </p:notesMasterIdLst>
  <p:handoutMasterIdLst>
    <p:handoutMasterId r:id="rId23"/>
  </p:handoutMasterIdLst>
  <p:sldIdLst>
    <p:sldId id="256" r:id="rId2"/>
    <p:sldId id="722" r:id="rId3"/>
    <p:sldId id="705" r:id="rId4"/>
    <p:sldId id="624" r:id="rId5"/>
    <p:sldId id="739" r:id="rId6"/>
    <p:sldId id="725" r:id="rId7"/>
    <p:sldId id="732" r:id="rId8"/>
    <p:sldId id="740" r:id="rId9"/>
    <p:sldId id="741" r:id="rId10"/>
    <p:sldId id="717" r:id="rId11"/>
    <p:sldId id="719" r:id="rId12"/>
    <p:sldId id="742" r:id="rId13"/>
    <p:sldId id="706" r:id="rId14"/>
    <p:sldId id="727" r:id="rId15"/>
    <p:sldId id="707" r:id="rId16"/>
    <p:sldId id="711" r:id="rId17"/>
    <p:sldId id="746" r:id="rId18"/>
    <p:sldId id="743" r:id="rId19"/>
    <p:sldId id="744" r:id="rId20"/>
    <p:sldId id="745" r:id="rId21"/>
  </p:sldIdLst>
  <p:sldSz cx="9144000" cy="6858000" type="screen4x3"/>
  <p:notesSz cx="7099300" cy="10234613"/>
  <p:defaultTextStyle>
    <a:defPPr>
      <a:defRPr lang="ja-JP"/>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00FF"/>
    <a:srgbClr val="CC66FF"/>
    <a:srgbClr val="FF00FF"/>
    <a:srgbClr val="CCFFFF"/>
    <a:srgbClr val="996633"/>
    <a:srgbClr val="00FFFF"/>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6370" autoAdjust="0"/>
  </p:normalViewPr>
  <p:slideViewPr>
    <p:cSldViewPr>
      <p:cViewPr varScale="1">
        <p:scale>
          <a:sx n="110" d="100"/>
          <a:sy n="110" d="100"/>
        </p:scale>
        <p:origin x="1680" y="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215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_rels/viewProps.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slide" Target="slides/slide2.xml"/><Relationship Id="rId1" Type="http://schemas.openxmlformats.org/officeDocument/2006/relationships/slide" Target="slides/slide1.xml"/><Relationship Id="rId5" Type="http://schemas.openxmlformats.org/officeDocument/2006/relationships/slide" Target="slides/slide18.xml"/><Relationship Id="rId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DE245CFB-2BDB-45C6-A874-FA9617720B6B}"/>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eaLnBrk="1" hangingPunct="1">
              <a:defRPr sz="1300">
                <a:latin typeface="Times New Roman" charset="0"/>
                <a:ea typeface="ＭＳ Ｐゴシック" pitchFamily="50" charset="-128"/>
              </a:defRPr>
            </a:lvl1pPr>
          </a:lstStyle>
          <a:p>
            <a:pPr>
              <a:defRPr/>
            </a:pPr>
            <a:endParaRPr lang="ja-JP" altLang="en-US"/>
          </a:p>
        </p:txBody>
      </p:sp>
      <p:sp>
        <p:nvSpPr>
          <p:cNvPr id="48131" name="Rectangle 3">
            <a:extLst>
              <a:ext uri="{FF2B5EF4-FFF2-40B4-BE49-F238E27FC236}">
                <a16:creationId xmlns:a16="http://schemas.microsoft.com/office/drawing/2014/main" id="{90A92026-5D95-4899-8C88-70D00719EE29}"/>
              </a:ext>
            </a:extLst>
          </p:cNvPr>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eaLnBrk="1" hangingPunct="1">
              <a:defRPr sz="1300">
                <a:latin typeface="Times New Roman" charset="0"/>
                <a:ea typeface="ＭＳ Ｐゴシック" pitchFamily="50" charset="-128"/>
              </a:defRPr>
            </a:lvl1pPr>
          </a:lstStyle>
          <a:p>
            <a:pPr>
              <a:defRPr/>
            </a:pPr>
            <a:fld id="{6B5BA9DD-E6A8-4029-B535-08BB3C5124CB}" type="datetimeFigureOut">
              <a:rPr lang="ja-JP" altLang="en-US"/>
              <a:pPr>
                <a:defRPr/>
              </a:pPr>
              <a:t>2025/1/8</a:t>
            </a:fld>
            <a:endParaRPr lang="ja-JP" altLang="en-US"/>
          </a:p>
        </p:txBody>
      </p:sp>
      <p:sp>
        <p:nvSpPr>
          <p:cNvPr id="48132" name="Rectangle 4">
            <a:extLst>
              <a:ext uri="{FF2B5EF4-FFF2-40B4-BE49-F238E27FC236}">
                <a16:creationId xmlns:a16="http://schemas.microsoft.com/office/drawing/2014/main" id="{5540F0BD-9C4B-4F20-938E-5613C53C9A30}"/>
              </a:ext>
            </a:extLst>
          </p:cNvPr>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eaLnBrk="1" hangingPunct="1">
              <a:defRPr sz="1300">
                <a:latin typeface="Times New Roman" charset="0"/>
                <a:ea typeface="ＭＳ Ｐゴシック" pitchFamily="50" charset="-128"/>
              </a:defRPr>
            </a:lvl1pPr>
          </a:lstStyle>
          <a:p>
            <a:pPr>
              <a:defRPr/>
            </a:pPr>
            <a:endParaRPr lang="ja-JP" altLang="en-US"/>
          </a:p>
        </p:txBody>
      </p:sp>
      <p:sp>
        <p:nvSpPr>
          <p:cNvPr id="48133" name="Rectangle 5">
            <a:extLst>
              <a:ext uri="{FF2B5EF4-FFF2-40B4-BE49-F238E27FC236}">
                <a16:creationId xmlns:a16="http://schemas.microsoft.com/office/drawing/2014/main" id="{FB16EF24-D7A0-44DA-8144-1DC117C2F110}"/>
              </a:ext>
            </a:extLst>
          </p:cNvPr>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eaLnBrk="1" hangingPunct="1">
              <a:defRPr sz="1300"/>
            </a:lvl1pPr>
          </a:lstStyle>
          <a:p>
            <a:pPr>
              <a:defRPr/>
            </a:pPr>
            <a:fld id="{4286D761-11CF-4F99-957C-E4DD9B07344F}" type="slidenum">
              <a:rPr lang="ja-JP" altLang="en-US"/>
              <a:pPr>
                <a:defRPr/>
              </a:pPr>
              <a:t>‹#›</a:t>
            </a:fld>
            <a:endParaRPr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BB13043F-F53F-45D1-9655-38A49D854B89}"/>
              </a:ext>
            </a:extLst>
          </p:cNvPr>
          <p:cNvSpPr>
            <a:spLocks noGrp="1" noChangeArrowheads="1"/>
          </p:cNvSpPr>
          <p:nvPr>
            <p:ph type="hdr" sz="quarter"/>
          </p:nvPr>
        </p:nvSpPr>
        <p:spPr bwMode="auto">
          <a:xfrm>
            <a:off x="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ea typeface="ＭＳ Ｐゴシック" pitchFamily="50" charset="-128"/>
              </a:defRPr>
            </a:lvl1pPr>
          </a:lstStyle>
          <a:p>
            <a:pPr>
              <a:defRPr/>
            </a:pPr>
            <a:endParaRPr lang="ja-JP" altLang="en-US"/>
          </a:p>
        </p:txBody>
      </p:sp>
      <p:sp>
        <p:nvSpPr>
          <p:cNvPr id="51203" name="Rectangle 3">
            <a:extLst>
              <a:ext uri="{FF2B5EF4-FFF2-40B4-BE49-F238E27FC236}">
                <a16:creationId xmlns:a16="http://schemas.microsoft.com/office/drawing/2014/main" id="{80FB0470-8CC1-4A7E-B3AE-A7E4BEAC8E6E}"/>
              </a:ext>
            </a:extLst>
          </p:cNvPr>
          <p:cNvSpPr>
            <a:spLocks noGrp="1" noChangeArrowheads="1"/>
          </p:cNvSpPr>
          <p:nvPr>
            <p:ph type="dt" idx="1"/>
          </p:nvPr>
        </p:nvSpPr>
        <p:spPr bwMode="auto">
          <a:xfrm>
            <a:off x="403860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ea typeface="ＭＳ Ｐゴシック" pitchFamily="50" charset="-128"/>
              </a:defRPr>
            </a:lvl1pPr>
          </a:lstStyle>
          <a:p>
            <a:pPr>
              <a:defRPr/>
            </a:pPr>
            <a:fld id="{EB96A271-A944-457B-9CC1-446AE847AFE8}" type="datetimeFigureOut">
              <a:rPr lang="ja-JP" altLang="en-US"/>
              <a:pPr>
                <a:defRPr/>
              </a:pPr>
              <a:t>2025/1/8</a:t>
            </a:fld>
            <a:endParaRPr lang="ja-JP" altLang="en-US"/>
          </a:p>
        </p:txBody>
      </p:sp>
      <p:sp>
        <p:nvSpPr>
          <p:cNvPr id="27652" name="Rectangle 4">
            <a:extLst>
              <a:ext uri="{FF2B5EF4-FFF2-40B4-BE49-F238E27FC236}">
                <a16:creationId xmlns:a16="http://schemas.microsoft.com/office/drawing/2014/main" id="{EF1E3906-84C1-4692-AD3F-CFD29FFB449F}"/>
              </a:ext>
            </a:extLst>
          </p:cNvPr>
          <p:cNvSpPr>
            <a:spLocks noGrp="1" noRot="1" noChangeAspect="1" noChangeArrowheads="1" noTextEdit="1"/>
          </p:cNvSpPr>
          <p:nvPr>
            <p:ph type="sldImg" idx="2"/>
          </p:nvPr>
        </p:nvSpPr>
        <p:spPr bwMode="auto">
          <a:xfrm>
            <a:off x="1041400" y="762000"/>
            <a:ext cx="5080000" cy="3810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a:extLst>
              <a:ext uri="{FF2B5EF4-FFF2-40B4-BE49-F238E27FC236}">
                <a16:creationId xmlns:a16="http://schemas.microsoft.com/office/drawing/2014/main" id="{E1B621CA-FC46-4651-83B5-4634EBFCA647}"/>
              </a:ext>
            </a:extLst>
          </p:cNvPr>
          <p:cNvSpPr>
            <a:spLocks noGrp="1" noChangeArrowheads="1"/>
          </p:cNvSpPr>
          <p:nvPr>
            <p:ph type="body" sz="quarter" idx="3"/>
          </p:nvPr>
        </p:nvSpPr>
        <p:spPr bwMode="auto">
          <a:xfrm>
            <a:off x="914400" y="4876800"/>
            <a:ext cx="5257800" cy="457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2 レベル</a:t>
            </a:r>
          </a:p>
          <a:p>
            <a:pPr lvl="2"/>
            <a:r>
              <a:rPr lang="ja-JP" altLang="en-US" noProof="0"/>
              <a:t>第 3 レベル</a:t>
            </a:r>
          </a:p>
          <a:p>
            <a:pPr lvl="3"/>
            <a:r>
              <a:rPr lang="ja-JP" altLang="en-US" noProof="0"/>
              <a:t>第 4 レベル</a:t>
            </a:r>
          </a:p>
          <a:p>
            <a:pPr lvl="4"/>
            <a:r>
              <a:rPr lang="ja-JP" altLang="en-US" noProof="0"/>
              <a:t>第 5 レベル</a:t>
            </a:r>
          </a:p>
        </p:txBody>
      </p:sp>
      <p:sp>
        <p:nvSpPr>
          <p:cNvPr id="51206" name="Rectangle 6">
            <a:extLst>
              <a:ext uri="{FF2B5EF4-FFF2-40B4-BE49-F238E27FC236}">
                <a16:creationId xmlns:a16="http://schemas.microsoft.com/office/drawing/2014/main" id="{6BA2FFAA-E4E3-4A5F-9E9F-5A259DDB1ACB}"/>
              </a:ext>
            </a:extLst>
          </p:cNvPr>
          <p:cNvSpPr>
            <a:spLocks noGrp="1" noChangeArrowheads="1"/>
          </p:cNvSpPr>
          <p:nvPr>
            <p:ph type="ftr" sz="quarter" idx="4"/>
          </p:nvPr>
        </p:nvSpPr>
        <p:spPr bwMode="auto">
          <a:xfrm>
            <a:off x="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ea typeface="ＭＳ Ｐゴシック" pitchFamily="50" charset="-128"/>
              </a:defRPr>
            </a:lvl1pPr>
          </a:lstStyle>
          <a:p>
            <a:pPr>
              <a:defRPr/>
            </a:pPr>
            <a:endParaRPr lang="ja-JP" altLang="en-US"/>
          </a:p>
        </p:txBody>
      </p:sp>
      <p:sp>
        <p:nvSpPr>
          <p:cNvPr id="51207" name="Rectangle 7">
            <a:extLst>
              <a:ext uri="{FF2B5EF4-FFF2-40B4-BE49-F238E27FC236}">
                <a16:creationId xmlns:a16="http://schemas.microsoft.com/office/drawing/2014/main" id="{50317246-1D0C-4B8E-BB5F-0124782F9AD0}"/>
              </a:ext>
            </a:extLst>
          </p:cNvPr>
          <p:cNvSpPr>
            <a:spLocks noGrp="1" noChangeArrowheads="1"/>
          </p:cNvSpPr>
          <p:nvPr>
            <p:ph type="sldNum" sz="quarter" idx="5"/>
          </p:nvPr>
        </p:nvSpPr>
        <p:spPr bwMode="auto">
          <a:xfrm>
            <a:off x="403860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7421A50-E64A-4D10-8D69-650A3B729D8D}"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1pPr>
    <a:lvl2pPr marL="4572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2pPr>
    <a:lvl3pPr marL="9144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3pPr>
    <a:lvl4pPr marL="13716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4pPr>
    <a:lvl5pPr marL="1828800" algn="l" rtl="0" eaLnBrk="0" fontAlgn="base" hangingPunct="0">
      <a:spcBef>
        <a:spcPct val="30000"/>
      </a:spcBef>
      <a:spcAft>
        <a:spcPct val="0"/>
      </a:spcAft>
      <a:defRPr kumimoji="1" sz="1200" kern="1200">
        <a:solidFill>
          <a:schemeClr val="tx1"/>
        </a:solidFill>
        <a:latin typeface="Calibri" pitchFamily="34" charset="0"/>
        <a:ea typeface="ＭＳ Ｐゴシック"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a:extLst>
              <a:ext uri="{FF2B5EF4-FFF2-40B4-BE49-F238E27FC236}">
                <a16:creationId xmlns:a16="http://schemas.microsoft.com/office/drawing/2014/main" id="{37639383-31DB-4EC2-A69B-F84773604CF8}"/>
              </a:ext>
            </a:extLst>
          </p:cNvPr>
          <p:cNvSpPr>
            <a:spLocks noGrp="1" noRot="1" noChangeAspect="1" noChangeArrowheads="1" noTextEdit="1"/>
          </p:cNvSpPr>
          <p:nvPr>
            <p:ph type="sldImg"/>
          </p:nvPr>
        </p:nvSpPr>
        <p:spPr>
          <a:ln/>
        </p:spPr>
      </p:sp>
      <p:sp>
        <p:nvSpPr>
          <p:cNvPr id="30723" name="Rectangle 1027">
            <a:extLst>
              <a:ext uri="{FF2B5EF4-FFF2-40B4-BE49-F238E27FC236}">
                <a16:creationId xmlns:a16="http://schemas.microsoft.com/office/drawing/2014/main" id="{5B1F5D0F-3FED-4F08-AE83-3341B37F80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a:extLst>
              <a:ext uri="{FF2B5EF4-FFF2-40B4-BE49-F238E27FC236}">
                <a16:creationId xmlns:a16="http://schemas.microsoft.com/office/drawing/2014/main" id="{808A2D9E-B672-4724-B671-E654ABD7160B}"/>
              </a:ext>
            </a:extLst>
          </p:cNvPr>
          <p:cNvSpPr>
            <a:spLocks noGrp="1" noRot="1" noChangeAspect="1" noChangeArrowheads="1" noTextEdit="1"/>
          </p:cNvSpPr>
          <p:nvPr>
            <p:ph type="sldImg"/>
          </p:nvPr>
        </p:nvSpPr>
        <p:spPr>
          <a:ln/>
        </p:spPr>
      </p:sp>
      <p:sp>
        <p:nvSpPr>
          <p:cNvPr id="34819" name="Rectangle 1027">
            <a:extLst>
              <a:ext uri="{FF2B5EF4-FFF2-40B4-BE49-F238E27FC236}">
                <a16:creationId xmlns:a16="http://schemas.microsoft.com/office/drawing/2014/main" id="{6679BDD2-4B3A-4694-A10D-AABB8DF9D5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16DE95F-3C6B-4B03-A8DC-2F1CDD9DDD6F}"/>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704D2CDF-16A9-4CE0-BCCD-D938197916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17F9108-E64C-40E7-9F53-C0F19702BF7F}"/>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415A3D49-3FA9-426A-987F-97F67A910E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FBA3A98-3730-4D39-A467-666A35F80634}"/>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1F1308D-BEF4-496D-821B-86C57E029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dirty="0">
              <a:solidFill>
                <a:srgbClr val="0000CC"/>
              </a:solidFill>
            </a:endParaRPr>
          </a:p>
        </p:txBody>
      </p:sp>
    </p:spTree>
    <p:extLst>
      <p:ext uri="{BB962C8B-B14F-4D97-AF65-F5344CB8AC3E}">
        <p14:creationId xmlns:p14="http://schemas.microsoft.com/office/powerpoint/2010/main" val="1757201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1C4F5BA-A3B4-48B3-BD08-9E7960D34D74}"/>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699CAF7C-6E25-45DC-905C-DC7CCD452E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ja-JP">
              <a:solidFill>
                <a:srgbClr val="0000CC"/>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FBA3A98-3730-4D39-A467-666A35F80634}"/>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1F1308D-BEF4-496D-821B-86C57E029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dirty="0">
              <a:solidFill>
                <a:srgbClr val="0000CC"/>
              </a:solidFill>
            </a:endParaRPr>
          </a:p>
        </p:txBody>
      </p:sp>
    </p:spTree>
    <p:extLst>
      <p:ext uri="{BB962C8B-B14F-4D97-AF65-F5344CB8AC3E}">
        <p14:creationId xmlns:p14="http://schemas.microsoft.com/office/powerpoint/2010/main" val="1745997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FBA3A98-3730-4D39-A467-666A35F80634}"/>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1F1308D-BEF4-496D-821B-86C57E029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dirty="0">
              <a:solidFill>
                <a:srgbClr val="0000CC"/>
              </a:solidFill>
            </a:endParaRPr>
          </a:p>
        </p:txBody>
      </p:sp>
    </p:spTree>
    <p:extLst>
      <p:ext uri="{BB962C8B-B14F-4D97-AF65-F5344CB8AC3E}">
        <p14:creationId xmlns:p14="http://schemas.microsoft.com/office/powerpoint/2010/main" val="1974750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a:extLst>
              <a:ext uri="{FF2B5EF4-FFF2-40B4-BE49-F238E27FC236}">
                <a16:creationId xmlns:a16="http://schemas.microsoft.com/office/drawing/2014/main" id="{808A2D9E-B672-4724-B671-E654ABD7160B}"/>
              </a:ext>
            </a:extLst>
          </p:cNvPr>
          <p:cNvSpPr>
            <a:spLocks noGrp="1" noRot="1" noChangeAspect="1" noChangeArrowheads="1" noTextEdit="1"/>
          </p:cNvSpPr>
          <p:nvPr>
            <p:ph type="sldImg"/>
          </p:nvPr>
        </p:nvSpPr>
        <p:spPr>
          <a:ln/>
        </p:spPr>
      </p:sp>
      <p:sp>
        <p:nvSpPr>
          <p:cNvPr id="34819" name="Rectangle 1027">
            <a:extLst>
              <a:ext uri="{FF2B5EF4-FFF2-40B4-BE49-F238E27FC236}">
                <a16:creationId xmlns:a16="http://schemas.microsoft.com/office/drawing/2014/main" id="{6679BDD2-4B3A-4694-A10D-AABB8DF9D5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4113859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6BE7B43-A368-454B-B9F3-437CC3AF7A60}"/>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37B8D58A-2CBB-43C9-A681-5BFD6B18A3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D97C1FC-039E-4798-AFA2-423106009B93}"/>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3CAD3E1C-6358-4CB6-ABF1-2CA6E5275D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a:extLst>
              <a:ext uri="{FF2B5EF4-FFF2-40B4-BE49-F238E27FC236}">
                <a16:creationId xmlns:a16="http://schemas.microsoft.com/office/drawing/2014/main" id="{808A2D9E-B672-4724-B671-E654ABD7160B}"/>
              </a:ext>
            </a:extLst>
          </p:cNvPr>
          <p:cNvSpPr>
            <a:spLocks noGrp="1" noRot="1" noChangeAspect="1" noChangeArrowheads="1" noTextEdit="1"/>
          </p:cNvSpPr>
          <p:nvPr>
            <p:ph type="sldImg"/>
          </p:nvPr>
        </p:nvSpPr>
        <p:spPr>
          <a:ln/>
        </p:spPr>
      </p:sp>
      <p:sp>
        <p:nvSpPr>
          <p:cNvPr id="34819" name="Rectangle 1027">
            <a:extLst>
              <a:ext uri="{FF2B5EF4-FFF2-40B4-BE49-F238E27FC236}">
                <a16:creationId xmlns:a16="http://schemas.microsoft.com/office/drawing/2014/main" id="{6679BDD2-4B3A-4694-A10D-AABB8DF9D5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276178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4A33F1F-3CE2-43FD-B056-C6AD0783095B}"/>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E4F4A204-9DFC-435B-BD51-5D83F5F1A6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608F6B2-3F92-4F6F-A74D-3D65C350694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B1D11075-1548-4EFF-B970-3E8CC9B77D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ja-JP" altLang="en-US">
                <a:solidFill>
                  <a:srgbClr val="0000CC"/>
                </a:solidFill>
              </a:rPr>
              <a:t>マニュアルは辞書的に使ってください。</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9DFBB0F-BEB0-49D5-8421-587934AC1F00}"/>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D9D31D7-2917-4EDE-BCD4-B752E8650A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D23DF84B-C1A7-4342-9E24-56AE36CD4324}"/>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47E75C4E-AFE5-41C0-A8AB-15FB492685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9DFBB0F-BEB0-49D5-8421-587934AC1F00}"/>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D9D31D7-2917-4EDE-BCD4-B752E8650A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13989553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a:extLst>
              <a:ext uri="{FF2B5EF4-FFF2-40B4-BE49-F238E27FC236}">
                <a16:creationId xmlns:a16="http://schemas.microsoft.com/office/drawing/2014/main" id="{808A2D9E-B672-4724-B671-E654ABD7160B}"/>
              </a:ext>
            </a:extLst>
          </p:cNvPr>
          <p:cNvSpPr>
            <a:spLocks noGrp="1" noRot="1" noChangeAspect="1" noChangeArrowheads="1" noTextEdit="1"/>
          </p:cNvSpPr>
          <p:nvPr>
            <p:ph type="sldImg"/>
          </p:nvPr>
        </p:nvSpPr>
        <p:spPr>
          <a:ln/>
        </p:spPr>
      </p:sp>
      <p:sp>
        <p:nvSpPr>
          <p:cNvPr id="34819" name="Rectangle 1027">
            <a:extLst>
              <a:ext uri="{FF2B5EF4-FFF2-40B4-BE49-F238E27FC236}">
                <a16:creationId xmlns:a16="http://schemas.microsoft.com/office/drawing/2014/main" id="{6679BDD2-4B3A-4694-A10D-AABB8DF9D5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2756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9DFBB0F-BEB0-49D5-8421-587934AC1F00}"/>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D9D31D7-2917-4EDE-BCD4-B752E8650A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1187974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9DFBB0F-BEB0-49D5-8421-587934AC1F00}"/>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D9D31D7-2917-4EDE-BCD4-B752E8650A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ja-JP" altLang="en-US">
              <a:solidFill>
                <a:srgbClr val="0000CC"/>
              </a:solidFill>
            </a:endParaRPr>
          </a:p>
        </p:txBody>
      </p:sp>
    </p:spTree>
    <p:extLst>
      <p:ext uri="{BB962C8B-B14F-4D97-AF65-F5344CB8AC3E}">
        <p14:creationId xmlns:p14="http://schemas.microsoft.com/office/powerpoint/2010/main" val="2243475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1E1F1370-F673-4DF4-8B79-FD53A57CC4AE}"/>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22D8F0FD-551A-4D4C-90BA-0FA47D469AFE}"/>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16C99492-275F-4FFE-8C7E-131C02E21577}"/>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458B1095-005D-474F-9E92-5C95A9717ABC}" type="slidenum">
              <a:rPr lang="en-US" altLang="ja-JP"/>
              <a:pPr>
                <a:defRPr/>
              </a:pPr>
              <a:t>‹#›</a:t>
            </a:fld>
            <a:endParaRPr lang="en-US" altLang="ja-JP"/>
          </a:p>
        </p:txBody>
      </p:sp>
    </p:spTree>
    <p:extLst>
      <p:ext uri="{BB962C8B-B14F-4D97-AF65-F5344CB8AC3E}">
        <p14:creationId xmlns:p14="http://schemas.microsoft.com/office/powerpoint/2010/main" val="52761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5AFA7871-4725-4637-86F4-E83FF9F45903}"/>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5C19E046-82D3-48B1-87C0-E5C27E5209D1}"/>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8A13C2DC-792F-417A-8994-F669746D8AF5}"/>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69E85BFD-9418-44A7-AAC0-DD41F7E836B5}" type="slidenum">
              <a:rPr lang="en-US" altLang="ja-JP"/>
              <a:pPr>
                <a:defRPr/>
              </a:pPr>
              <a:t>‹#›</a:t>
            </a:fld>
            <a:endParaRPr lang="en-US" altLang="ja-JP"/>
          </a:p>
        </p:txBody>
      </p:sp>
    </p:spTree>
    <p:extLst>
      <p:ext uri="{BB962C8B-B14F-4D97-AF65-F5344CB8AC3E}">
        <p14:creationId xmlns:p14="http://schemas.microsoft.com/office/powerpoint/2010/main" val="3242910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24A2D633-A1FA-47DB-86E3-C6DDB63AFA17}"/>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2D2166D7-A5B4-4D22-8B6E-47CF00A54090}"/>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0016A6F7-D1C8-4742-BED6-253487A4EC59}"/>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D47294A9-76B8-4C1F-B745-BD44A943D1AB}" type="slidenum">
              <a:rPr lang="en-US" altLang="ja-JP"/>
              <a:pPr>
                <a:defRPr/>
              </a:pPr>
              <a:t>‹#›</a:t>
            </a:fld>
            <a:endParaRPr lang="en-US" altLang="ja-JP"/>
          </a:p>
        </p:txBody>
      </p:sp>
    </p:spTree>
    <p:extLst>
      <p:ext uri="{BB962C8B-B14F-4D97-AF65-F5344CB8AC3E}">
        <p14:creationId xmlns:p14="http://schemas.microsoft.com/office/powerpoint/2010/main" val="4102768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Date Placeholder 4">
            <a:extLst>
              <a:ext uri="{FF2B5EF4-FFF2-40B4-BE49-F238E27FC236}">
                <a16:creationId xmlns:a16="http://schemas.microsoft.com/office/drawing/2014/main" id="{356D1BE3-EEC1-43E8-95D7-1F8E38291E9A}"/>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6" name="Footer Placeholder 5">
            <a:extLst>
              <a:ext uri="{FF2B5EF4-FFF2-40B4-BE49-F238E27FC236}">
                <a16:creationId xmlns:a16="http://schemas.microsoft.com/office/drawing/2014/main" id="{C8839E06-F3DE-4719-BC79-DD3D24F75CBF}"/>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7" name="Slide Number Placeholder 6">
            <a:extLst>
              <a:ext uri="{FF2B5EF4-FFF2-40B4-BE49-F238E27FC236}">
                <a16:creationId xmlns:a16="http://schemas.microsoft.com/office/drawing/2014/main" id="{0C952123-6C38-46CE-ABA0-DCE646B2D61C}"/>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18AF613D-F5F2-4958-B434-2CA5F8C12FC8}" type="slidenum">
              <a:rPr lang="en-US" altLang="ja-JP"/>
              <a:pPr>
                <a:defRPr/>
              </a:pPr>
              <a:t>‹#›</a:t>
            </a:fld>
            <a:endParaRPr lang="en-US" altLang="ja-JP"/>
          </a:p>
        </p:txBody>
      </p:sp>
    </p:spTree>
    <p:extLst>
      <p:ext uri="{BB962C8B-B14F-4D97-AF65-F5344CB8AC3E}">
        <p14:creationId xmlns:p14="http://schemas.microsoft.com/office/powerpoint/2010/main" val="3023388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7C4431C0-244E-4366-BC63-35FCE7002143}"/>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558DF75F-1C15-4D89-91BD-46AC3913969A}"/>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C7DA2D85-5AAA-4D36-A059-D787CC473ED6}"/>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1482F608-97F4-4905-B4C2-313E4C10490D}" type="slidenum">
              <a:rPr lang="en-US" altLang="ja-JP"/>
              <a:pPr>
                <a:defRPr/>
              </a:pPr>
              <a:t>‹#›</a:t>
            </a:fld>
            <a:endParaRPr lang="en-US" altLang="ja-JP"/>
          </a:p>
        </p:txBody>
      </p:sp>
    </p:spTree>
    <p:extLst>
      <p:ext uri="{BB962C8B-B14F-4D97-AF65-F5344CB8AC3E}">
        <p14:creationId xmlns:p14="http://schemas.microsoft.com/office/powerpoint/2010/main" val="572317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3EAF8C23-8E67-43D4-8F38-88AD7A2D1303}"/>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5E37B0BD-5559-4821-AA62-35FFD541A4FD}"/>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AD34950E-8415-4495-9803-58130ECA99DE}"/>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6D061BA7-F405-4032-A9DE-8E416C083EA6}" type="slidenum">
              <a:rPr lang="en-US" altLang="ja-JP"/>
              <a:pPr>
                <a:defRPr/>
              </a:pPr>
              <a:t>‹#›</a:t>
            </a:fld>
            <a:endParaRPr lang="en-US" altLang="ja-JP"/>
          </a:p>
        </p:txBody>
      </p:sp>
    </p:spTree>
    <p:extLst>
      <p:ext uri="{BB962C8B-B14F-4D97-AF65-F5344CB8AC3E}">
        <p14:creationId xmlns:p14="http://schemas.microsoft.com/office/powerpoint/2010/main" val="34895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92A1E81-7497-418A-BB8B-1A82CCA4197F}"/>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BF504814-E3E2-46E9-A84C-962B4C42569C}"/>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8B848274-F2E6-456C-A404-7BF922CDB94F}"/>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BF010AF6-96B6-4272-8E0B-4D83BB0C65D2}" type="slidenum">
              <a:rPr lang="en-US" altLang="ja-JP"/>
              <a:pPr>
                <a:defRPr/>
              </a:pPr>
              <a:t>‹#›</a:t>
            </a:fld>
            <a:endParaRPr lang="en-US" altLang="ja-JP"/>
          </a:p>
        </p:txBody>
      </p:sp>
    </p:spTree>
    <p:extLst>
      <p:ext uri="{BB962C8B-B14F-4D97-AF65-F5344CB8AC3E}">
        <p14:creationId xmlns:p14="http://schemas.microsoft.com/office/powerpoint/2010/main" val="680972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Date Placeholder 4">
            <a:extLst>
              <a:ext uri="{FF2B5EF4-FFF2-40B4-BE49-F238E27FC236}">
                <a16:creationId xmlns:a16="http://schemas.microsoft.com/office/drawing/2014/main" id="{7AAF033E-36BA-4844-8E80-FA599A8FB3DC}"/>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6" name="Footer Placeholder 5">
            <a:extLst>
              <a:ext uri="{FF2B5EF4-FFF2-40B4-BE49-F238E27FC236}">
                <a16:creationId xmlns:a16="http://schemas.microsoft.com/office/drawing/2014/main" id="{7DC64FDF-5242-4E96-AEF2-62876A7AA605}"/>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7" name="Slide Number Placeholder 6">
            <a:extLst>
              <a:ext uri="{FF2B5EF4-FFF2-40B4-BE49-F238E27FC236}">
                <a16:creationId xmlns:a16="http://schemas.microsoft.com/office/drawing/2014/main" id="{3D2C7DD0-EC43-47F6-A7A6-02F50BE224C6}"/>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FD70568E-B56E-4017-B796-18BF4A6A5979}" type="slidenum">
              <a:rPr lang="en-US" altLang="ja-JP"/>
              <a:pPr>
                <a:defRPr/>
              </a:pPr>
              <a:t>‹#›</a:t>
            </a:fld>
            <a:endParaRPr lang="en-US" altLang="ja-JP"/>
          </a:p>
        </p:txBody>
      </p:sp>
    </p:spTree>
    <p:extLst>
      <p:ext uri="{BB962C8B-B14F-4D97-AF65-F5344CB8AC3E}">
        <p14:creationId xmlns:p14="http://schemas.microsoft.com/office/powerpoint/2010/main" val="3467049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Date Placeholder 4">
            <a:extLst>
              <a:ext uri="{FF2B5EF4-FFF2-40B4-BE49-F238E27FC236}">
                <a16:creationId xmlns:a16="http://schemas.microsoft.com/office/drawing/2014/main" id="{B73A11EE-B37E-4121-BC21-B6725C1430ED}"/>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6" name="Footer Placeholder 5">
            <a:extLst>
              <a:ext uri="{FF2B5EF4-FFF2-40B4-BE49-F238E27FC236}">
                <a16:creationId xmlns:a16="http://schemas.microsoft.com/office/drawing/2014/main" id="{76956996-E873-4420-AEC0-5404298C88E3}"/>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7" name="Slide Number Placeholder 6">
            <a:extLst>
              <a:ext uri="{FF2B5EF4-FFF2-40B4-BE49-F238E27FC236}">
                <a16:creationId xmlns:a16="http://schemas.microsoft.com/office/drawing/2014/main" id="{CBF1C275-A3F3-47D5-AFD8-E2447057A541}"/>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0AC47E6A-59E0-4E2C-AC54-56702F697CF5}" type="slidenum">
              <a:rPr lang="en-US" altLang="ja-JP"/>
              <a:pPr>
                <a:defRPr/>
              </a:pPr>
              <a:t>‹#›</a:t>
            </a:fld>
            <a:endParaRPr lang="en-US" altLang="ja-JP"/>
          </a:p>
        </p:txBody>
      </p:sp>
    </p:spTree>
    <p:extLst>
      <p:ext uri="{BB962C8B-B14F-4D97-AF65-F5344CB8AC3E}">
        <p14:creationId xmlns:p14="http://schemas.microsoft.com/office/powerpoint/2010/main" val="1352031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C696B8FD-9679-4723-A909-F9212F7859EF}"/>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A59E45C9-53B9-4592-B12C-2235D6DF0958}"/>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27765B27-C5B6-4D76-8015-26AAB1D2B4D7}"/>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C2DA5AFE-5408-4D5D-83E8-F3EE1607E86C}" type="slidenum">
              <a:rPr lang="en-US" altLang="ja-JP"/>
              <a:pPr>
                <a:defRPr/>
              </a:pPr>
              <a:t>‹#›</a:t>
            </a:fld>
            <a:endParaRPr lang="en-US" altLang="ja-JP"/>
          </a:p>
        </p:txBody>
      </p:sp>
    </p:spTree>
    <p:extLst>
      <p:ext uri="{BB962C8B-B14F-4D97-AF65-F5344CB8AC3E}">
        <p14:creationId xmlns:p14="http://schemas.microsoft.com/office/powerpoint/2010/main" val="2480302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3BFCE248-30C7-460E-BF66-52C77F60B403}"/>
              </a:ext>
            </a:extLst>
          </p:cNvPr>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B9A476C7-408C-4D4A-84C0-25506F2A53A4}"/>
              </a:ext>
            </a:extLst>
          </p:cNvPr>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1C77C79F-4AB5-4111-B2B5-51287493B638}"/>
              </a:ext>
            </a:extLst>
          </p:cNvPr>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45D69FF6-C447-42EE-BD7C-CE498D2BCA95}" type="slidenum">
              <a:rPr lang="en-US" altLang="ja-JP"/>
              <a:pPr>
                <a:defRPr/>
              </a:pPr>
              <a:t>‹#›</a:t>
            </a:fld>
            <a:endParaRPr lang="en-US" altLang="ja-JP"/>
          </a:p>
        </p:txBody>
      </p:sp>
    </p:spTree>
    <p:extLst>
      <p:ext uri="{BB962C8B-B14F-4D97-AF65-F5344CB8AC3E}">
        <p14:creationId xmlns:p14="http://schemas.microsoft.com/office/powerpoint/2010/main" val="632270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1482838-4A9A-4A0C-A7AB-32581BED717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a:extLst>
              <a:ext uri="{FF2B5EF4-FFF2-40B4-BE49-F238E27FC236}">
                <a16:creationId xmlns:a16="http://schemas.microsoft.com/office/drawing/2014/main" id="{CBDBD7BF-C58E-46B3-B343-676B2DCC2D33}"/>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5">
            <a:extLst>
              <a:ext uri="{FF2B5EF4-FFF2-40B4-BE49-F238E27FC236}">
                <a16:creationId xmlns:a16="http://schemas.microsoft.com/office/drawing/2014/main" id="{BE34A974-33B9-4297-96F7-59AC8B7114E7}"/>
              </a:ext>
            </a:extLst>
          </p:cNvPr>
          <p:cNvSpPr>
            <a:spLocks noChangeArrowheads="1"/>
          </p:cNvSpPr>
          <p:nvPr userDrawn="1"/>
        </p:nvSpPr>
        <p:spPr bwMode="auto">
          <a:xfrm>
            <a:off x="0" y="6329363"/>
            <a:ext cx="9105900" cy="71437"/>
          </a:xfrm>
          <a:prstGeom prst="rect">
            <a:avLst/>
          </a:prstGeom>
          <a:gradFill rotWithShape="0">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endParaRPr lang="ja-JP" altLang="en-US" sz="2400"/>
          </a:p>
        </p:txBody>
      </p:sp>
      <p:sp>
        <p:nvSpPr>
          <p:cNvPr id="8" name="Text Box 8">
            <a:extLst>
              <a:ext uri="{FF2B5EF4-FFF2-40B4-BE49-F238E27FC236}">
                <a16:creationId xmlns:a16="http://schemas.microsoft.com/office/drawing/2014/main" id="{5B3D925F-70F0-4E30-AAE9-5F1285B24D5E}"/>
              </a:ext>
            </a:extLst>
          </p:cNvPr>
          <p:cNvSpPr txBox="1">
            <a:spLocks noChangeArrowheads="1"/>
          </p:cNvSpPr>
          <p:nvPr userDrawn="1"/>
        </p:nvSpPr>
        <p:spPr bwMode="auto">
          <a:xfrm>
            <a:off x="8400910" y="6400800"/>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fld id="{4D935EF4-513D-4706-81F3-F2A3B828D7CE}" type="slidenum">
              <a:rPr lang="en-US" altLang="ja-JP" sz="2400">
                <a:latin typeface="Tahoma" panose="020B0604030504040204" pitchFamily="34" charset="0"/>
              </a:rPr>
              <a:pPr algn="ctr" eaLnBrk="1" hangingPunct="1">
                <a:spcBef>
                  <a:spcPct val="50000"/>
                </a:spcBef>
                <a:buFontTx/>
                <a:buNone/>
              </a:pPr>
              <a:t>‹#›</a:t>
            </a:fld>
            <a:endParaRPr lang="en-US" altLang="ja-JP" sz="2400" dirty="0">
              <a:latin typeface="Tahoma" panose="020B0604030504040204" pitchFamily="34" charset="0"/>
            </a:endParaRPr>
          </a:p>
        </p:txBody>
      </p:sp>
      <p:pic>
        <p:nvPicPr>
          <p:cNvPr id="9" name="図 8">
            <a:extLst>
              <a:ext uri="{FF2B5EF4-FFF2-40B4-BE49-F238E27FC236}">
                <a16:creationId xmlns:a16="http://schemas.microsoft.com/office/drawing/2014/main" id="{F1792063-B4F8-42D9-B8CE-09731EC7726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671" y="6400800"/>
            <a:ext cx="424763" cy="457200"/>
          </a:xfrm>
          <a:prstGeom prst="rect">
            <a:avLst/>
          </a:prstGeom>
        </p:spPr>
      </p:pic>
    </p:spTree>
  </p:cSld>
  <p:clrMap bg1="lt1" tx1="dk1" bg2="lt2" tx2="dk2" accent1="accent1" accent2="accent2" accent3="accent3" accent4="accent4" accent5="accent5" accent6="accent6" hlink="hlink" folHlink="folHlink"/>
  <p:sldLayoutIdLst>
    <p:sldLayoutId id="2147490044" r:id="rId1"/>
    <p:sldLayoutId id="2147490045" r:id="rId2"/>
    <p:sldLayoutId id="2147490046" r:id="rId3"/>
    <p:sldLayoutId id="2147490047" r:id="rId4"/>
    <p:sldLayoutId id="2147490048" r:id="rId5"/>
    <p:sldLayoutId id="2147490049" r:id="rId6"/>
    <p:sldLayoutId id="2147490050" r:id="rId7"/>
    <p:sldLayoutId id="2147490051" r:id="rId8"/>
    <p:sldLayoutId id="2147490052" r:id="rId9"/>
    <p:sldLayoutId id="2147490053" r:id="rId10"/>
    <p:sldLayoutId id="2147490054"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www.youtube.com/watch?v=9_bs6g0n3Hg&amp;fbclid=IwAR3wloN3iNa_ettFEUSNTgDTuNf8MB4ND32YEDhNWVtSDZDgCyFZ7E3mX3w_aem_AWQCmq2D01D7UKsPcChuR0ZlG3et-X5E9RjI0mbj2MiqXF_bKgYMzQNvgG5S43Hn8yGMaI5cvU_ObmbwgmlFlQ7Y" TargetMode="External"/><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youtube.com/playlist?list=PLe8Wrr-sE8vyHULN9411XG5le8039Vz-t" TargetMode="External"/><Relationship Id="rId5" Type="http://schemas.openxmlformats.org/officeDocument/2006/relationships/image" Target="../media/image8.png"/><Relationship Id="rId10" Type="http://schemas.openxmlformats.org/officeDocument/2006/relationships/hyperlink" Target="https://www.youtube.com/watch?v=1WeaFPRXHWI&amp;t=331s" TargetMode="External"/><Relationship Id="rId4" Type="http://schemas.openxmlformats.org/officeDocument/2006/relationships/hyperlink" Target="https://www.youtube.com/watch?v=G6-XTIctRgA" TargetMode="External"/><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hits.jaea.go.jp/contac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meteor.nucl.kyushu-u.ac.jp/phitsforu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198D8B76-A47F-42A3-85CE-04822FA00C26}"/>
              </a:ext>
            </a:extLst>
          </p:cNvPr>
          <p:cNvSpPr>
            <a:spLocks noGrp="1" noChangeArrowheads="1"/>
          </p:cNvSpPr>
          <p:nvPr>
            <p:ph type="subTitle" idx="1"/>
          </p:nvPr>
        </p:nvSpPr>
        <p:spPr>
          <a:xfrm>
            <a:off x="419100" y="3461354"/>
            <a:ext cx="8305800" cy="946150"/>
          </a:xfrm>
        </p:spPr>
        <p:txBody>
          <a:bodyPr/>
          <a:lstStyle/>
          <a:p>
            <a:pPr eaLnBrk="1" hangingPunct="1">
              <a:defRPr/>
            </a:pPr>
            <a:r>
              <a:rPr lang="ja-JP" altLang="en-US" sz="4800" dirty="0">
                <a:solidFill>
                  <a:srgbClr val="010000"/>
                </a:solidFill>
                <a:latin typeface="+mj-ea"/>
                <a:ea typeface="+mj-ea"/>
              </a:rPr>
              <a:t>クイックガイダンス</a:t>
            </a:r>
            <a:endParaRPr lang="en-US" altLang="ja-JP" sz="4800" dirty="0">
              <a:solidFill>
                <a:srgbClr val="010000"/>
              </a:solidFill>
              <a:latin typeface="+mj-ea"/>
              <a:ea typeface="+mj-ea"/>
            </a:endParaRPr>
          </a:p>
        </p:txBody>
      </p:sp>
      <p:sp>
        <p:nvSpPr>
          <p:cNvPr id="10" name="Text Box 15">
            <a:extLst>
              <a:ext uri="{FF2B5EF4-FFF2-40B4-BE49-F238E27FC236}">
                <a16:creationId xmlns:a16="http://schemas.microsoft.com/office/drawing/2014/main" id="{E53E9F7F-5606-4B7B-8DA1-1190AB407712}"/>
              </a:ext>
            </a:extLst>
          </p:cNvPr>
          <p:cNvSpPr txBox="1">
            <a:spLocks noChangeArrowheads="1"/>
          </p:cNvSpPr>
          <p:nvPr/>
        </p:nvSpPr>
        <p:spPr bwMode="auto">
          <a:xfrm>
            <a:off x="3167062" y="5589240"/>
            <a:ext cx="2809875" cy="523220"/>
          </a:xfrm>
          <a:prstGeom prst="rect">
            <a:avLst/>
          </a:prstGeom>
          <a:noFill/>
          <a:ln>
            <a:noFill/>
          </a:ln>
        </p:spPr>
        <p:txBody>
          <a:bodyPr>
            <a:spAutoFit/>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eaLnBrk="1" hangingPunct="1">
              <a:spcBef>
                <a:spcPct val="0"/>
              </a:spcBef>
              <a:buFontTx/>
              <a:buNone/>
              <a:defRPr/>
            </a:pPr>
            <a:r>
              <a:rPr lang="en-US" altLang="ja-JP" sz="2800" dirty="0">
                <a:solidFill>
                  <a:srgbClr val="FF0000"/>
                </a:solidFill>
                <a:latin typeface="+mn-ea"/>
                <a:ea typeface="+mn-ea"/>
              </a:rPr>
              <a:t>2024</a:t>
            </a:r>
            <a:r>
              <a:rPr lang="ja-JP" altLang="en-US" sz="2800" dirty="0">
                <a:solidFill>
                  <a:srgbClr val="FF0000"/>
                </a:solidFill>
                <a:latin typeface="+mn-ea"/>
                <a:ea typeface="+mn-ea"/>
              </a:rPr>
              <a:t>年</a:t>
            </a:r>
            <a:r>
              <a:rPr lang="en-US" altLang="ja-JP" sz="2800" dirty="0">
                <a:solidFill>
                  <a:srgbClr val="FF0000"/>
                </a:solidFill>
                <a:latin typeface="+mn-ea"/>
                <a:ea typeface="+mn-ea"/>
              </a:rPr>
              <a:t>4</a:t>
            </a:r>
            <a:r>
              <a:rPr lang="ja-JP" altLang="en-US" sz="2800" dirty="0">
                <a:solidFill>
                  <a:srgbClr val="FF0000"/>
                </a:solidFill>
                <a:latin typeface="+mn-ea"/>
                <a:ea typeface="+mn-ea"/>
              </a:rPr>
              <a:t>月改訂</a:t>
            </a:r>
            <a:endParaRPr lang="en-US" altLang="ja-JP" sz="2800" dirty="0">
              <a:solidFill>
                <a:srgbClr val="FF0000"/>
              </a:solidFill>
              <a:latin typeface="+mn-ea"/>
              <a:ea typeface="+mn-ea"/>
            </a:endParaRPr>
          </a:p>
        </p:txBody>
      </p:sp>
      <p:pic>
        <p:nvPicPr>
          <p:cNvPr id="11" name="図 10">
            <a:extLst>
              <a:ext uri="{FF2B5EF4-FFF2-40B4-BE49-F238E27FC236}">
                <a16:creationId xmlns:a16="http://schemas.microsoft.com/office/drawing/2014/main" id="{F84F2961-2E19-42E1-865D-6F9E864EE0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717" y="542630"/>
            <a:ext cx="7560523" cy="2855443"/>
          </a:xfrm>
          <a:prstGeom prst="rect">
            <a:avLst/>
          </a:prstGeom>
        </p:spPr>
      </p:pic>
      <p:pic>
        <p:nvPicPr>
          <p:cNvPr id="12" name="図 11">
            <a:extLst>
              <a:ext uri="{FF2B5EF4-FFF2-40B4-BE49-F238E27FC236}">
                <a16:creationId xmlns:a16="http://schemas.microsoft.com/office/drawing/2014/main" id="{DD6206F7-12B8-4915-A267-43C37A91D7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2320" y="105971"/>
            <a:ext cx="1574530" cy="1307034"/>
          </a:xfrm>
          <a:prstGeom prst="rect">
            <a:avLst/>
          </a:prstGeom>
        </p:spPr>
      </p:pic>
      <p:sp>
        <p:nvSpPr>
          <p:cNvPr id="2" name="テキスト ボックス 1">
            <a:extLst>
              <a:ext uri="{FF2B5EF4-FFF2-40B4-BE49-F238E27FC236}">
                <a16:creationId xmlns:a16="http://schemas.microsoft.com/office/drawing/2014/main" id="{3522BA8C-94D1-E5EF-6E13-B0D9CC0D2914}"/>
              </a:ext>
            </a:extLst>
          </p:cNvPr>
          <p:cNvSpPr txBox="1"/>
          <p:nvPr/>
        </p:nvSpPr>
        <p:spPr>
          <a:xfrm>
            <a:off x="2752430" y="4407504"/>
            <a:ext cx="3639138" cy="461665"/>
          </a:xfrm>
          <a:prstGeom prst="rect">
            <a:avLst/>
          </a:prstGeom>
          <a:noFill/>
        </p:spPr>
        <p:txBody>
          <a:bodyPr wrap="none" rtlCol="0">
            <a:spAutoFit/>
          </a:bodyPr>
          <a:lstStyle/>
          <a:p>
            <a:r>
              <a:rPr lang="en-US" altLang="ja-JP" dirty="0" err="1"/>
              <a:t>phits</a:t>
            </a:r>
            <a:r>
              <a:rPr lang="en-US" altLang="ja-JP" dirty="0"/>
              <a:t>/lecture/tutorial-jp.pptx</a:t>
            </a:r>
            <a:endParaRPr kumimoji="1" lang="ja-JP" altLang="en-US" dirty="0"/>
          </a:p>
        </p:txBody>
      </p:sp>
      <p:sp>
        <p:nvSpPr>
          <p:cNvPr id="3" name="テキスト ボックス 2">
            <a:extLst>
              <a:ext uri="{FF2B5EF4-FFF2-40B4-BE49-F238E27FC236}">
                <a16:creationId xmlns:a16="http://schemas.microsoft.com/office/drawing/2014/main" id="{2E85A91A-9FD4-5A39-B752-FCA31B3629B3}"/>
              </a:ext>
            </a:extLst>
          </p:cNvPr>
          <p:cNvSpPr txBox="1"/>
          <p:nvPr/>
        </p:nvSpPr>
        <p:spPr>
          <a:xfrm>
            <a:off x="1309727" y="4869169"/>
            <a:ext cx="6524543" cy="461665"/>
          </a:xfrm>
          <a:prstGeom prst="rect">
            <a:avLst/>
          </a:prstGeom>
          <a:noFill/>
        </p:spPr>
        <p:txBody>
          <a:bodyPr wrap="none" rtlCol="0">
            <a:spAutoFit/>
          </a:bodyPr>
          <a:lstStyle/>
          <a:p>
            <a:r>
              <a:rPr kumimoji="1" lang="ja-JP" altLang="en-US" dirty="0"/>
              <a:t>（インストーラにも同じファイルが含まれています）</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Text Box 7">
            <a:extLst>
              <a:ext uri="{FF2B5EF4-FFF2-40B4-BE49-F238E27FC236}">
                <a16:creationId xmlns:a16="http://schemas.microsoft.com/office/drawing/2014/main" id="{5AB8B299-D49E-420F-B753-87454D8B415D}"/>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33800" name="Rectangle 2">
            <a:extLst>
              <a:ext uri="{FF2B5EF4-FFF2-40B4-BE49-F238E27FC236}">
                <a16:creationId xmlns:a16="http://schemas.microsoft.com/office/drawing/2014/main" id="{F551527C-00DD-4AB4-8B42-8E93F66C30DD}"/>
              </a:ext>
            </a:extLst>
          </p:cNvPr>
          <p:cNvSpPr txBox="1">
            <a:spLocks noChangeArrowheads="1"/>
          </p:cNvSpPr>
          <p:nvPr/>
        </p:nvSpPr>
        <p:spPr bwMode="auto">
          <a:xfrm>
            <a:off x="987425" y="188913"/>
            <a:ext cx="68976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4800" dirty="0">
                <a:solidFill>
                  <a:srgbClr val="000000"/>
                </a:solidFill>
                <a:latin typeface="ＭＳ Ｐゴシック" panose="020B0600070205080204" pitchFamily="50" charset="-128"/>
              </a:rPr>
              <a:t>目次</a:t>
            </a:r>
            <a:endParaRPr lang="en-US" altLang="ja-JP" sz="4800" dirty="0">
              <a:solidFill>
                <a:srgbClr val="000000"/>
              </a:solidFill>
              <a:latin typeface="ＭＳ Ｐゴシック" panose="020B0600070205080204" pitchFamily="50" charset="-128"/>
            </a:endParaRPr>
          </a:p>
        </p:txBody>
      </p:sp>
      <p:sp>
        <p:nvSpPr>
          <p:cNvPr id="2" name="Rectangle 8">
            <a:extLst>
              <a:ext uri="{FF2B5EF4-FFF2-40B4-BE49-F238E27FC236}">
                <a16:creationId xmlns:a16="http://schemas.microsoft.com/office/drawing/2014/main" id="{21656D3D-73B2-D11F-205B-0F5E7FC3F31F}"/>
              </a:ext>
            </a:extLst>
          </p:cNvPr>
          <p:cNvSpPr txBox="1">
            <a:spLocks noChangeArrowheads="1"/>
          </p:cNvSpPr>
          <p:nvPr/>
        </p:nvSpPr>
        <p:spPr bwMode="auto">
          <a:xfrm>
            <a:off x="755576" y="1628800"/>
            <a:ext cx="7835624" cy="3168352"/>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ja-JP" altLang="en-US" dirty="0">
                <a:solidFill>
                  <a:srgbClr val="FF0000"/>
                </a:solidFill>
                <a:latin typeface="Century" pitchFamily="18" charset="0"/>
              </a:rPr>
              <a:t>講習会の事前準備</a:t>
            </a:r>
            <a:endParaRPr lang="en-US" altLang="ja-JP" dirty="0">
              <a:solidFill>
                <a:srgbClr val="FF0000"/>
              </a:solidFill>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講習会での注意事項</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講習会終了時の説明</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講習会に参加できない方への追加情報</a:t>
            </a:r>
            <a:endParaRPr lang="en-US" altLang="ja-JP" dirty="0">
              <a:latin typeface="Century" pitchFamily="18" charset="0"/>
            </a:endParaRPr>
          </a:p>
        </p:txBody>
      </p:sp>
      <p:sp>
        <p:nvSpPr>
          <p:cNvPr id="3" name="テキスト ボックス 2">
            <a:extLst>
              <a:ext uri="{FF2B5EF4-FFF2-40B4-BE49-F238E27FC236}">
                <a16:creationId xmlns:a16="http://schemas.microsoft.com/office/drawing/2014/main" id="{B0777CAE-2BBB-A91E-2E7C-D77E81EA7EB2}"/>
              </a:ext>
            </a:extLst>
          </p:cNvPr>
          <p:cNvSpPr txBox="1"/>
          <p:nvPr/>
        </p:nvSpPr>
        <p:spPr>
          <a:xfrm>
            <a:off x="467544" y="5064058"/>
            <a:ext cx="8408071" cy="830997"/>
          </a:xfrm>
          <a:prstGeom prst="rect">
            <a:avLst/>
          </a:prstGeom>
          <a:noFill/>
        </p:spPr>
        <p:txBody>
          <a:bodyPr wrap="none" rtlCol="0">
            <a:spAutoFit/>
          </a:bodyPr>
          <a:lstStyle/>
          <a:p>
            <a:r>
              <a:rPr kumimoji="1" lang="ja-JP" altLang="en-US" dirty="0"/>
              <a:t>本資料は、講習会に参加される方を前提に作成しています。</a:t>
            </a:r>
            <a:endParaRPr kumimoji="1" lang="en-US" altLang="ja-JP" dirty="0"/>
          </a:p>
          <a:p>
            <a:r>
              <a:rPr lang="ja-JP" altLang="en-US" dirty="0"/>
              <a:t>講習会に参加されない方は、最後の項目にも目を通してください</a:t>
            </a:r>
            <a:endParaRPr kumimoji="1" lang="ja-JP"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E4F9249-5EF2-43AD-BBAE-8ECE5777B091}"/>
              </a:ext>
            </a:extLst>
          </p:cNvPr>
          <p:cNvSpPr>
            <a:spLocks noGrp="1" noChangeArrowheads="1"/>
          </p:cNvSpPr>
          <p:nvPr>
            <p:ph type="title"/>
          </p:nvPr>
        </p:nvSpPr>
        <p:spPr>
          <a:xfrm>
            <a:off x="1897063" y="0"/>
            <a:ext cx="4805362" cy="692150"/>
          </a:xfrm>
        </p:spPr>
        <p:txBody>
          <a:bodyPr/>
          <a:lstStyle/>
          <a:p>
            <a:pPr eaLnBrk="1" hangingPunct="1"/>
            <a:r>
              <a:rPr lang="en-US" altLang="ja-JP" sz="4000"/>
              <a:t>PHITS</a:t>
            </a:r>
            <a:r>
              <a:rPr lang="ja-JP" altLang="en-US" sz="4000"/>
              <a:t>のインストール</a:t>
            </a:r>
            <a:endParaRPr lang="ja-JP" altLang="en-US" sz="4000">
              <a:latin typeface="Century Gothic" panose="020B0502020202020204" pitchFamily="34" charset="0"/>
            </a:endParaRPr>
          </a:p>
        </p:txBody>
      </p:sp>
      <p:sp>
        <p:nvSpPr>
          <p:cNvPr id="37893" name="Text Box 5">
            <a:extLst>
              <a:ext uri="{FF2B5EF4-FFF2-40B4-BE49-F238E27FC236}">
                <a16:creationId xmlns:a16="http://schemas.microsoft.com/office/drawing/2014/main" id="{B5460C93-B55A-49C9-96C3-64DA139CFA0C}"/>
              </a:ext>
            </a:extLst>
          </p:cNvPr>
          <p:cNvSpPr txBox="1">
            <a:spLocks noChangeArrowheads="1"/>
          </p:cNvSpPr>
          <p:nvPr/>
        </p:nvSpPr>
        <p:spPr bwMode="auto">
          <a:xfrm>
            <a:off x="591482" y="6460120"/>
            <a:ext cx="79563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1800" dirty="0">
                <a:solidFill>
                  <a:srgbClr val="000000"/>
                </a:solidFill>
                <a:latin typeface="Tahoma" panose="020B0604030504040204" pitchFamily="34" charset="0"/>
              </a:rPr>
              <a:t>*</a:t>
            </a:r>
            <a:r>
              <a:rPr lang="ja-JP" altLang="en-US" sz="1800" dirty="0">
                <a:solidFill>
                  <a:srgbClr val="000000"/>
                </a:solidFill>
                <a:latin typeface="Tahoma" panose="020B0604030504040204" pitchFamily="34" charset="0"/>
              </a:rPr>
              <a:t>セカンドボタンクリック、トラックパットで</a:t>
            </a:r>
            <a:r>
              <a:rPr lang="en-US" altLang="ja-JP" sz="1800" dirty="0">
                <a:solidFill>
                  <a:srgbClr val="000000"/>
                </a:solidFill>
                <a:latin typeface="Tahoma" panose="020B0604030504040204" pitchFamily="34" charset="0"/>
              </a:rPr>
              <a:t>2</a:t>
            </a:r>
            <a:r>
              <a:rPr lang="ja-JP" altLang="en-US" sz="1800" dirty="0">
                <a:solidFill>
                  <a:srgbClr val="000000"/>
                </a:solidFill>
                <a:latin typeface="Tahoma" panose="020B0604030504040204" pitchFamily="34" charset="0"/>
              </a:rPr>
              <a:t>本指タップ、もしくは</a:t>
            </a:r>
            <a:r>
              <a:rPr lang="en-US" altLang="ja-JP" sz="1800" dirty="0">
                <a:solidFill>
                  <a:srgbClr val="000000"/>
                </a:solidFill>
                <a:latin typeface="Tahoma" panose="020B0604030504040204" pitchFamily="34" charset="0"/>
              </a:rPr>
              <a:t>Ctrl+</a:t>
            </a:r>
            <a:r>
              <a:rPr lang="ja-JP" altLang="en-US" sz="1800" dirty="0">
                <a:solidFill>
                  <a:srgbClr val="000000"/>
                </a:solidFill>
                <a:latin typeface="Tahoma" panose="020B0604030504040204" pitchFamily="34" charset="0"/>
              </a:rPr>
              <a:t>クリックでも可</a:t>
            </a:r>
            <a:endParaRPr lang="en-US" altLang="ja-JP" sz="1800" dirty="0">
              <a:solidFill>
                <a:srgbClr val="000000"/>
              </a:solidFill>
              <a:latin typeface="Tahoma" panose="020B0604030504040204" pitchFamily="34" charset="0"/>
            </a:endParaRPr>
          </a:p>
        </p:txBody>
      </p:sp>
      <p:sp>
        <p:nvSpPr>
          <p:cNvPr id="40967" name="Rectangle 8">
            <a:extLst>
              <a:ext uri="{FF2B5EF4-FFF2-40B4-BE49-F238E27FC236}">
                <a16:creationId xmlns:a16="http://schemas.microsoft.com/office/drawing/2014/main" id="{B3F4D340-C477-46C2-8203-CFC030794110}"/>
              </a:ext>
            </a:extLst>
          </p:cNvPr>
          <p:cNvSpPr txBox="1">
            <a:spLocks noChangeArrowheads="1"/>
          </p:cNvSpPr>
          <p:nvPr/>
        </p:nvSpPr>
        <p:spPr bwMode="auto">
          <a:xfrm>
            <a:off x="615156" y="602060"/>
            <a:ext cx="7629252" cy="3025775"/>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buFontTx/>
              <a:buNone/>
              <a:defRPr/>
            </a:pPr>
            <a:r>
              <a:rPr lang="en-US" altLang="ja-JP" sz="2400" dirty="0">
                <a:solidFill>
                  <a:schemeClr val="accent2"/>
                </a:solidFill>
                <a:latin typeface="Century" pitchFamily="18" charset="0"/>
              </a:rPr>
              <a:t>Windows</a:t>
            </a:r>
            <a:r>
              <a:rPr lang="ja-JP" altLang="en-US" sz="2400" dirty="0">
                <a:solidFill>
                  <a:schemeClr val="accent2"/>
                </a:solidFill>
                <a:latin typeface="Century" pitchFamily="18" charset="0"/>
              </a:rPr>
              <a:t>、</a:t>
            </a:r>
            <a:r>
              <a:rPr lang="en-US" altLang="ja-JP" sz="2400" dirty="0">
                <a:solidFill>
                  <a:schemeClr val="accent2"/>
                </a:solidFill>
                <a:latin typeface="Century" pitchFamily="18" charset="0"/>
              </a:rPr>
              <a:t>Mac</a:t>
            </a:r>
            <a:r>
              <a:rPr lang="ja-JP" altLang="en-US" sz="2400" dirty="0">
                <a:solidFill>
                  <a:schemeClr val="accent2"/>
                </a:solidFill>
                <a:latin typeface="Century" pitchFamily="18" charset="0"/>
              </a:rPr>
              <a:t>、</a:t>
            </a:r>
            <a:r>
              <a:rPr lang="en-US" altLang="ja-JP" sz="2400" dirty="0">
                <a:solidFill>
                  <a:schemeClr val="accent2"/>
                </a:solidFill>
                <a:latin typeface="Century" pitchFamily="18" charset="0"/>
              </a:rPr>
              <a:t>Linux</a:t>
            </a:r>
            <a:r>
              <a:rPr lang="ja-JP" altLang="en-US" sz="2400" dirty="0">
                <a:solidFill>
                  <a:schemeClr val="accent2"/>
                </a:solidFill>
                <a:latin typeface="Century" pitchFamily="18" charset="0"/>
              </a:rPr>
              <a:t>用のインストーラーが</a:t>
            </a:r>
            <a:r>
              <a:rPr lang="en-US" altLang="ja-JP" sz="2400" dirty="0">
                <a:solidFill>
                  <a:schemeClr val="accent2"/>
                </a:solidFill>
                <a:latin typeface="Century" pitchFamily="18" charset="0"/>
              </a:rPr>
              <a:t>win, mac, </a:t>
            </a:r>
            <a:r>
              <a:rPr lang="en-US" altLang="ja-JP" sz="2400" dirty="0" err="1">
                <a:solidFill>
                  <a:schemeClr val="accent2"/>
                </a:solidFill>
                <a:latin typeface="Century" pitchFamily="18" charset="0"/>
              </a:rPr>
              <a:t>linux</a:t>
            </a:r>
            <a:r>
              <a:rPr lang="ja-JP" altLang="en-US" sz="2400" dirty="0">
                <a:solidFill>
                  <a:schemeClr val="accent2"/>
                </a:solidFill>
                <a:latin typeface="Century" pitchFamily="18" charset="0"/>
              </a:rPr>
              <a:t>フォルダにそれぞれ用意されています</a:t>
            </a:r>
            <a:endParaRPr lang="en-US" altLang="ja-JP" sz="2400" dirty="0">
              <a:solidFill>
                <a:schemeClr val="accent2"/>
              </a:solidFill>
              <a:latin typeface="Century" pitchFamily="18" charset="0"/>
            </a:endParaRPr>
          </a:p>
          <a:p>
            <a:pPr marL="342900" indent="-342900" eaLnBrk="1" hangingPunct="1">
              <a:spcBef>
                <a:spcPts val="1200"/>
              </a:spcBef>
              <a:defRPr/>
            </a:pPr>
            <a:r>
              <a:rPr lang="en-US" altLang="ja-JP" sz="2000" dirty="0">
                <a:solidFill>
                  <a:srgbClr val="000000"/>
                </a:solidFill>
                <a:latin typeface="Century" pitchFamily="18" charset="0"/>
              </a:rPr>
              <a:t>Windows: </a:t>
            </a:r>
            <a:r>
              <a:rPr lang="en-US" altLang="ja-JP" sz="2000" dirty="0">
                <a:solidFill>
                  <a:srgbClr val="FF0000"/>
                </a:solidFill>
                <a:latin typeface="Century" pitchFamily="18" charset="0"/>
              </a:rPr>
              <a:t>win</a:t>
            </a:r>
            <a:r>
              <a:rPr lang="ja-JP" altLang="en-US" sz="2000" dirty="0">
                <a:solidFill>
                  <a:srgbClr val="000000"/>
                </a:solidFill>
                <a:latin typeface="Century" pitchFamily="18" charset="0"/>
              </a:rPr>
              <a:t>フォルダ中の</a:t>
            </a:r>
            <a:r>
              <a:rPr lang="en-US" altLang="ja-JP" sz="2000" dirty="0">
                <a:solidFill>
                  <a:srgbClr val="FF0000"/>
                </a:solidFill>
                <a:latin typeface="Century" pitchFamily="18" charset="0"/>
              </a:rPr>
              <a:t>instruction-jpn.pptx</a:t>
            </a:r>
            <a:r>
              <a:rPr lang="ja-JP" altLang="en-US" sz="2000" dirty="0">
                <a:solidFill>
                  <a:srgbClr val="000000"/>
                </a:solidFill>
                <a:latin typeface="Century" pitchFamily="18" charset="0"/>
              </a:rPr>
              <a:t>を参照。</a:t>
            </a:r>
            <a:r>
              <a:rPr lang="en-US" altLang="ja-JP" sz="2000" dirty="0">
                <a:solidFill>
                  <a:srgbClr val="FF0000"/>
                </a:solidFill>
                <a:latin typeface="Century" pitchFamily="18" charset="0"/>
              </a:rPr>
              <a:t>phits_setup_win.exe</a:t>
            </a:r>
            <a:r>
              <a:rPr lang="ja-JP" altLang="en-US" sz="2000" dirty="0">
                <a:solidFill>
                  <a:srgbClr val="000000"/>
                </a:solidFill>
                <a:latin typeface="Century" pitchFamily="18" charset="0"/>
              </a:rPr>
              <a:t>をダブルクリックして</a:t>
            </a:r>
            <a:r>
              <a:rPr lang="en-US" altLang="ja-JP" sz="2000" dirty="0">
                <a:solidFill>
                  <a:srgbClr val="000000"/>
                </a:solidFill>
                <a:latin typeface="Century" pitchFamily="18" charset="0"/>
              </a:rPr>
              <a:t>PHITS</a:t>
            </a:r>
            <a:r>
              <a:rPr lang="ja-JP" altLang="en-US" sz="2000" dirty="0">
                <a:solidFill>
                  <a:srgbClr val="000000"/>
                </a:solidFill>
                <a:latin typeface="Century" pitchFamily="18" charset="0"/>
              </a:rPr>
              <a:t>をインストールしてください。上記ファイルがない場合は、ウィルス対策ソフトにより隔離されている可能性が高いので、復元してください。</a:t>
            </a:r>
            <a:endParaRPr lang="en-US" altLang="ja-JP" sz="2000" dirty="0">
              <a:solidFill>
                <a:srgbClr val="000000"/>
              </a:solidFill>
              <a:latin typeface="Century" pitchFamily="18" charset="0"/>
            </a:endParaRPr>
          </a:p>
          <a:p>
            <a:pPr marL="342900" indent="-342900" eaLnBrk="1" hangingPunct="1">
              <a:spcBef>
                <a:spcPts val="1200"/>
              </a:spcBef>
              <a:defRPr/>
            </a:pPr>
            <a:r>
              <a:rPr lang="en-US" altLang="ja-JP" sz="2000" dirty="0">
                <a:solidFill>
                  <a:srgbClr val="000000"/>
                </a:solidFill>
                <a:latin typeface="Century" pitchFamily="18" charset="0"/>
              </a:rPr>
              <a:t>Mac: </a:t>
            </a:r>
            <a:r>
              <a:rPr lang="en-US" altLang="ja-JP" sz="2000" dirty="0">
                <a:solidFill>
                  <a:srgbClr val="FF0000"/>
                </a:solidFill>
                <a:latin typeface="Century" pitchFamily="18" charset="0"/>
              </a:rPr>
              <a:t>mac</a:t>
            </a:r>
            <a:r>
              <a:rPr lang="ja-JP" altLang="en-US" sz="2000" dirty="0">
                <a:solidFill>
                  <a:srgbClr val="000000"/>
                </a:solidFill>
                <a:latin typeface="Century" pitchFamily="18" charset="0"/>
              </a:rPr>
              <a:t>フォルダ中の</a:t>
            </a:r>
            <a:r>
              <a:rPr lang="en-US" altLang="ja-JP" sz="2000" dirty="0">
                <a:solidFill>
                  <a:srgbClr val="FF0000"/>
                </a:solidFill>
                <a:latin typeface="Century" pitchFamily="18" charset="0"/>
              </a:rPr>
              <a:t>README-jpn.pdf</a:t>
            </a:r>
            <a:r>
              <a:rPr lang="ja-JP" altLang="en-US" sz="2000" dirty="0">
                <a:solidFill>
                  <a:srgbClr val="000000"/>
                </a:solidFill>
                <a:latin typeface="Century" pitchFamily="18" charset="0"/>
              </a:rPr>
              <a:t>を参照。</a:t>
            </a:r>
            <a:r>
              <a:rPr lang="en-US" altLang="ja-JP" sz="2000" dirty="0" err="1">
                <a:solidFill>
                  <a:srgbClr val="FF0000"/>
                </a:solidFill>
                <a:latin typeface="Century" pitchFamily="18" charset="0"/>
              </a:rPr>
              <a:t>phits_installer.command</a:t>
            </a:r>
            <a:r>
              <a:rPr lang="ja-JP" altLang="en-US" sz="2000" dirty="0">
                <a:solidFill>
                  <a:srgbClr val="000000"/>
                </a:solidFill>
                <a:latin typeface="Century" pitchFamily="18" charset="0"/>
              </a:rPr>
              <a:t>を右クリック*し、ショートカットメニューから「開く」を選択して</a:t>
            </a:r>
            <a:r>
              <a:rPr lang="en-US" altLang="ja-JP" sz="2000" dirty="0">
                <a:solidFill>
                  <a:srgbClr val="000000"/>
                </a:solidFill>
                <a:latin typeface="Century" pitchFamily="18" charset="0"/>
              </a:rPr>
              <a:t>Automatic</a:t>
            </a:r>
            <a:r>
              <a:rPr lang="ja-JP" altLang="en-US" sz="2000" dirty="0">
                <a:solidFill>
                  <a:srgbClr val="000000"/>
                </a:solidFill>
                <a:latin typeface="Century" pitchFamily="18" charset="0"/>
              </a:rPr>
              <a:t>を選択。</a:t>
            </a:r>
            <a:endParaRPr lang="en-US" altLang="ja-JP" sz="2000" dirty="0">
              <a:solidFill>
                <a:srgbClr val="000000"/>
              </a:solidFill>
              <a:latin typeface="Century" pitchFamily="18" charset="0"/>
            </a:endParaRPr>
          </a:p>
        </p:txBody>
      </p:sp>
      <p:sp>
        <p:nvSpPr>
          <p:cNvPr id="37896" name="正方形/長方形 4">
            <a:extLst>
              <a:ext uri="{FF2B5EF4-FFF2-40B4-BE49-F238E27FC236}">
                <a16:creationId xmlns:a16="http://schemas.microsoft.com/office/drawing/2014/main" id="{D0EBE7BA-6A8A-47CA-8689-E0BDE62BD865}"/>
              </a:ext>
            </a:extLst>
          </p:cNvPr>
          <p:cNvSpPr>
            <a:spLocks noChangeArrowheads="1"/>
          </p:cNvSpPr>
          <p:nvPr/>
        </p:nvSpPr>
        <p:spPr bwMode="auto">
          <a:xfrm>
            <a:off x="96838" y="4387035"/>
            <a:ext cx="8950324" cy="1908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ts val="600"/>
              </a:spcBef>
              <a:buFont typeface="Wingdings" panose="05000000000000000000" pitchFamily="2" charset="2"/>
              <a:buChar char="ü"/>
            </a:pPr>
            <a:r>
              <a:rPr lang="en-US" altLang="ja-JP" sz="1800" dirty="0">
                <a:solidFill>
                  <a:srgbClr val="000000"/>
                </a:solidFill>
                <a:latin typeface="Century" panose="02040604050505020304" pitchFamily="18" charset="0"/>
              </a:rPr>
              <a:t>PHITS</a:t>
            </a:r>
            <a:r>
              <a:rPr lang="ja-JP" altLang="en-US" sz="1800" dirty="0">
                <a:solidFill>
                  <a:srgbClr val="000000"/>
                </a:solidFill>
                <a:latin typeface="Century" panose="02040604050505020304" pitchFamily="18" charset="0"/>
              </a:rPr>
              <a:t>は約</a:t>
            </a:r>
            <a:r>
              <a:rPr lang="en-US" altLang="ja-JP" sz="1800" dirty="0">
                <a:solidFill>
                  <a:srgbClr val="000000"/>
                </a:solidFill>
                <a:latin typeface="Century" panose="02040604050505020304" pitchFamily="18" charset="0"/>
              </a:rPr>
              <a:t>10GB</a:t>
            </a:r>
            <a:r>
              <a:rPr lang="ja-JP" altLang="en-US" sz="1800" dirty="0">
                <a:solidFill>
                  <a:srgbClr val="000000"/>
                </a:solidFill>
                <a:latin typeface="Century" panose="02040604050505020304" pitchFamily="18" charset="0"/>
              </a:rPr>
              <a:t>のディスクスペースを使用します。</a:t>
            </a:r>
            <a:endParaRPr lang="en-US" altLang="ja-JP" sz="1800" dirty="0">
              <a:solidFill>
                <a:srgbClr val="000000"/>
              </a:solidFill>
              <a:latin typeface="Century" panose="02040604050505020304" pitchFamily="18" charset="0"/>
            </a:endParaRPr>
          </a:p>
          <a:p>
            <a:pPr>
              <a:spcBef>
                <a:spcPts val="600"/>
              </a:spcBef>
              <a:buFont typeface="Wingdings" panose="05000000000000000000" pitchFamily="2" charset="2"/>
              <a:buChar char="ü"/>
            </a:pPr>
            <a:r>
              <a:rPr lang="ja-JP" altLang="en-US" sz="1800" dirty="0">
                <a:solidFill>
                  <a:srgbClr val="000000"/>
                </a:solidFill>
                <a:latin typeface="Century" panose="02040604050505020304" pitchFamily="18" charset="0"/>
              </a:rPr>
              <a:t>インストール先のフォルダは，特別な理由がある場合を除いて初期設定（デフォルト）から変更しないで下さい。ただし，</a:t>
            </a:r>
            <a:r>
              <a:rPr lang="en-US" altLang="ja-JP" sz="1800" dirty="0">
                <a:solidFill>
                  <a:srgbClr val="000000"/>
                </a:solidFill>
                <a:latin typeface="Century" panose="02040604050505020304" pitchFamily="18" charset="0"/>
              </a:rPr>
              <a:t>Mac</a:t>
            </a:r>
            <a:r>
              <a:rPr lang="ja-JP" altLang="en-US" sz="1800" dirty="0">
                <a:solidFill>
                  <a:srgbClr val="000000"/>
                </a:solidFill>
                <a:latin typeface="Century" panose="02040604050505020304" pitchFamily="18" charset="0"/>
              </a:rPr>
              <a:t>の場合でユーザー名に日本語やスペースが入っている場合は，</a:t>
            </a:r>
            <a:r>
              <a:rPr lang="en-US" altLang="ja-JP" sz="1800" dirty="0">
                <a:solidFill>
                  <a:srgbClr val="000000"/>
                </a:solidFill>
                <a:latin typeface="Century" panose="02040604050505020304" pitchFamily="18" charset="0"/>
              </a:rPr>
              <a:t>/Users</a:t>
            </a:r>
            <a:r>
              <a:rPr lang="ja-JP" altLang="en-US" sz="1800" dirty="0">
                <a:solidFill>
                  <a:srgbClr val="000000"/>
                </a:solidFill>
                <a:latin typeface="Century" panose="02040604050505020304" pitchFamily="18" charset="0"/>
              </a:rPr>
              <a:t>を指定して下さい</a:t>
            </a:r>
            <a:endParaRPr lang="en-US" altLang="ja-JP" sz="1800" dirty="0">
              <a:solidFill>
                <a:srgbClr val="000000"/>
              </a:solidFill>
              <a:latin typeface="Century" panose="02040604050505020304" pitchFamily="18" charset="0"/>
            </a:endParaRPr>
          </a:p>
          <a:p>
            <a:pPr>
              <a:spcBef>
                <a:spcPts val="600"/>
              </a:spcBef>
              <a:buFont typeface="Wingdings" panose="05000000000000000000" pitchFamily="2" charset="2"/>
              <a:buChar char="ü"/>
            </a:pPr>
            <a:r>
              <a:rPr lang="ja-JP" altLang="en-US" sz="1800" dirty="0"/>
              <a:t>既に</a:t>
            </a:r>
            <a:r>
              <a:rPr lang="ja-JP" altLang="en-US" sz="1800" dirty="0">
                <a:solidFill>
                  <a:srgbClr val="000000"/>
                </a:solidFill>
                <a:latin typeface="Century" panose="02040604050505020304" pitchFamily="18" charset="0"/>
              </a:rPr>
              <a:t>初期設定フォルダに古いバージョンの</a:t>
            </a:r>
            <a:r>
              <a:rPr lang="en-US" altLang="ja-JP" sz="1800" dirty="0"/>
              <a:t>PHITS</a:t>
            </a:r>
            <a:r>
              <a:rPr lang="ja-JP" altLang="en-US" sz="1800" dirty="0"/>
              <a:t>がインストールされている場合は，残したいファイルのバックアップを取った上で同じフォルダに上書きインストールしてください。</a:t>
            </a:r>
          </a:p>
        </p:txBody>
      </p:sp>
      <p:sp>
        <p:nvSpPr>
          <p:cNvPr id="37897" name="テキスト ボックス 9">
            <a:extLst>
              <a:ext uri="{FF2B5EF4-FFF2-40B4-BE49-F238E27FC236}">
                <a16:creationId xmlns:a16="http://schemas.microsoft.com/office/drawing/2014/main" id="{C841D61F-6DB9-45D2-A3FA-37B39C92822C}"/>
              </a:ext>
            </a:extLst>
          </p:cNvPr>
          <p:cNvSpPr txBox="1">
            <a:spLocks noChangeArrowheads="1"/>
          </p:cNvSpPr>
          <p:nvPr/>
        </p:nvSpPr>
        <p:spPr bwMode="auto">
          <a:xfrm>
            <a:off x="3131840" y="3925073"/>
            <a:ext cx="2493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algn="ctr"/>
            <a:r>
              <a:rPr lang="ja-JP" altLang="en-US" dirty="0">
                <a:solidFill>
                  <a:schemeClr val="accent2"/>
                </a:solidFill>
                <a:latin typeface="Century" panose="02040604050505020304" pitchFamily="18" charset="0"/>
              </a:rPr>
              <a:t>共通注意事項</a:t>
            </a:r>
            <a:endParaRPr lang="en-US" altLang="ja-JP" dirty="0">
              <a:solidFill>
                <a:schemeClr val="accent2"/>
              </a:solidFill>
              <a:latin typeface="Century" panose="020406040505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FC26380-8597-4AB9-AF2B-A9A5E2BFFD8C}"/>
              </a:ext>
            </a:extLst>
          </p:cNvPr>
          <p:cNvSpPr>
            <a:spLocks noGrp="1" noChangeArrowheads="1"/>
          </p:cNvSpPr>
          <p:nvPr>
            <p:ph type="title"/>
          </p:nvPr>
        </p:nvSpPr>
        <p:spPr>
          <a:xfrm>
            <a:off x="2268538" y="-6350"/>
            <a:ext cx="4235450" cy="896938"/>
          </a:xfrm>
        </p:spPr>
        <p:txBody>
          <a:bodyPr/>
          <a:lstStyle/>
          <a:p>
            <a:pPr eaLnBrk="1" hangingPunct="1"/>
            <a:r>
              <a:rPr lang="en-US" altLang="ja-JP" sz="4000"/>
              <a:t>PHITS</a:t>
            </a:r>
            <a:r>
              <a:rPr lang="ja-JP" altLang="en-US" sz="4000"/>
              <a:t>の実行方法</a:t>
            </a:r>
            <a:endParaRPr lang="ja-JP" altLang="en-US" sz="4000">
              <a:latin typeface="Century Gothic" panose="020B0502020202020204" pitchFamily="34" charset="0"/>
            </a:endParaRPr>
          </a:p>
        </p:txBody>
      </p:sp>
      <p:sp>
        <p:nvSpPr>
          <p:cNvPr id="40967" name="Rectangle 8">
            <a:extLst>
              <a:ext uri="{FF2B5EF4-FFF2-40B4-BE49-F238E27FC236}">
                <a16:creationId xmlns:a16="http://schemas.microsoft.com/office/drawing/2014/main" id="{7C48A1B6-7807-4A53-B4F5-4AC433B41E1C}"/>
              </a:ext>
            </a:extLst>
          </p:cNvPr>
          <p:cNvSpPr txBox="1">
            <a:spLocks noChangeArrowheads="1"/>
          </p:cNvSpPr>
          <p:nvPr/>
        </p:nvSpPr>
        <p:spPr bwMode="auto">
          <a:xfrm>
            <a:off x="446088" y="836613"/>
            <a:ext cx="8226425" cy="4176712"/>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buFontTx/>
              <a:buNone/>
              <a:defRPr/>
            </a:pPr>
            <a:r>
              <a:rPr lang="ja-JP" altLang="en-US" sz="2400" dirty="0">
                <a:solidFill>
                  <a:srgbClr val="000000"/>
                </a:solidFill>
                <a:latin typeface="Century" pitchFamily="18" charset="0"/>
              </a:rPr>
              <a:t>インストールが完了したら、指定した場所（例</a:t>
            </a:r>
            <a:r>
              <a:rPr lang="en-US" altLang="ja-JP" sz="2400" dirty="0">
                <a:solidFill>
                  <a:srgbClr val="000000"/>
                </a:solidFill>
                <a:latin typeface="Century" pitchFamily="18" charset="0"/>
              </a:rPr>
              <a:t>c:\</a:t>
            </a:r>
            <a:r>
              <a:rPr lang="ja-JP" altLang="en-US" sz="2400" dirty="0">
                <a:solidFill>
                  <a:srgbClr val="000000"/>
                </a:solidFill>
                <a:latin typeface="Century" pitchFamily="18" charset="0"/>
              </a:rPr>
              <a:t>）に作成された</a:t>
            </a:r>
            <a:r>
              <a:rPr lang="en-US" altLang="ja-JP" sz="2400" dirty="0">
                <a:solidFill>
                  <a:srgbClr val="000000"/>
                </a:solidFill>
                <a:latin typeface="Century" pitchFamily="18" charset="0"/>
              </a:rPr>
              <a:t>/</a:t>
            </a:r>
            <a:r>
              <a:rPr lang="en-US" altLang="ja-JP" sz="2400" dirty="0" err="1">
                <a:solidFill>
                  <a:srgbClr val="000000"/>
                </a:solidFill>
                <a:latin typeface="Century" pitchFamily="18" charset="0"/>
              </a:rPr>
              <a:t>phits</a:t>
            </a:r>
            <a:r>
              <a:rPr lang="en-US" altLang="ja-JP" sz="2400" dirty="0">
                <a:solidFill>
                  <a:srgbClr val="000000"/>
                </a:solidFill>
                <a:latin typeface="Century" pitchFamily="18" charset="0"/>
              </a:rPr>
              <a:t>/</a:t>
            </a:r>
            <a:r>
              <a:rPr lang="ja-JP" altLang="en-US" sz="2400" dirty="0">
                <a:solidFill>
                  <a:srgbClr val="000000"/>
                </a:solidFill>
                <a:latin typeface="Century" pitchFamily="18" charset="0"/>
              </a:rPr>
              <a:t>フォルダにある</a:t>
            </a:r>
            <a:r>
              <a:rPr lang="en-US" altLang="ja-JP" sz="2400" dirty="0">
                <a:solidFill>
                  <a:srgbClr val="000000"/>
                </a:solidFill>
                <a:latin typeface="Century" pitchFamily="18" charset="0"/>
              </a:rPr>
              <a:t>/lecture/basic/lec01/</a:t>
            </a:r>
            <a:r>
              <a:rPr lang="ja-JP" altLang="en-US" sz="2400" dirty="0">
                <a:solidFill>
                  <a:srgbClr val="000000"/>
                </a:solidFill>
                <a:latin typeface="Century" pitchFamily="18" charset="0"/>
              </a:rPr>
              <a:t>フォルダを開き、その中にある</a:t>
            </a:r>
            <a:r>
              <a:rPr lang="en-US" altLang="ja-JP" sz="2400" dirty="0">
                <a:solidFill>
                  <a:srgbClr val="FF0000"/>
                </a:solidFill>
                <a:latin typeface="Century" pitchFamily="18" charset="0"/>
              </a:rPr>
              <a:t>lec01.inp</a:t>
            </a:r>
            <a:r>
              <a:rPr lang="ja-JP" altLang="en-US" sz="2400" dirty="0">
                <a:solidFill>
                  <a:srgbClr val="000000"/>
                </a:solidFill>
                <a:latin typeface="Century" pitchFamily="18" charset="0"/>
              </a:rPr>
              <a:t>というファイルをインプットとして</a:t>
            </a:r>
            <a:r>
              <a:rPr lang="en-US" altLang="ja-JP" sz="2400" dirty="0">
                <a:solidFill>
                  <a:srgbClr val="000000"/>
                </a:solidFill>
                <a:latin typeface="Century" pitchFamily="18" charset="0"/>
              </a:rPr>
              <a:t>PHITS</a:t>
            </a:r>
            <a:r>
              <a:rPr lang="ja-JP" altLang="en-US" sz="2400" dirty="0">
                <a:solidFill>
                  <a:srgbClr val="000000"/>
                </a:solidFill>
                <a:latin typeface="Century" pitchFamily="18" charset="0"/>
              </a:rPr>
              <a:t>を実行してみてください。</a:t>
            </a:r>
            <a:endParaRPr lang="en-US" altLang="ja-JP" sz="2400" dirty="0">
              <a:solidFill>
                <a:srgbClr val="000000"/>
              </a:solidFill>
              <a:latin typeface="Century" pitchFamily="18" charset="0"/>
            </a:endParaRPr>
          </a:p>
          <a:p>
            <a:pPr eaLnBrk="1" hangingPunct="1">
              <a:buFontTx/>
              <a:buNone/>
              <a:defRPr/>
            </a:pPr>
            <a:endParaRPr lang="en-US" altLang="ja-JP" sz="2400" dirty="0">
              <a:solidFill>
                <a:srgbClr val="000000"/>
              </a:solidFill>
              <a:latin typeface="Century" pitchFamily="18" charset="0"/>
            </a:endParaRPr>
          </a:p>
          <a:p>
            <a:pPr eaLnBrk="1" hangingPunct="1">
              <a:buFontTx/>
              <a:buNone/>
              <a:defRPr/>
            </a:pPr>
            <a:r>
              <a:rPr lang="ja-JP" altLang="en-US" sz="2400" dirty="0">
                <a:solidFill>
                  <a:srgbClr val="FF0000"/>
                </a:solidFill>
                <a:latin typeface="Century" pitchFamily="18" charset="0"/>
              </a:rPr>
              <a:t>実行方法</a:t>
            </a:r>
            <a:endParaRPr lang="en-US" altLang="ja-JP" sz="2400" dirty="0">
              <a:solidFill>
                <a:srgbClr val="FF0000"/>
              </a:solidFill>
              <a:latin typeface="Century" pitchFamily="18" charset="0"/>
            </a:endParaRPr>
          </a:p>
          <a:p>
            <a:pPr marL="342900" indent="-342900" eaLnBrk="1" hangingPunct="1">
              <a:defRPr/>
            </a:pPr>
            <a:r>
              <a:rPr lang="en-US" altLang="ja-JP" sz="2400" dirty="0">
                <a:solidFill>
                  <a:schemeClr val="accent2"/>
                </a:solidFill>
                <a:latin typeface="Century" pitchFamily="18" charset="0"/>
              </a:rPr>
              <a:t>Windows: </a:t>
            </a:r>
            <a:r>
              <a:rPr lang="ja-JP" altLang="en-US" sz="2400" dirty="0">
                <a:latin typeface="Century" pitchFamily="18" charset="0"/>
              </a:rPr>
              <a:t>インプットファイルを選択し、右クリックして「送る」→「</a:t>
            </a:r>
            <a:r>
              <a:rPr lang="en-US" altLang="ja-JP" sz="2400" dirty="0">
                <a:latin typeface="Century" pitchFamily="18" charset="0"/>
              </a:rPr>
              <a:t>PHITS</a:t>
            </a:r>
            <a:r>
              <a:rPr lang="ja-JP" altLang="en-US" sz="2400" dirty="0">
                <a:latin typeface="Century" pitchFamily="18" charset="0"/>
              </a:rPr>
              <a:t>」を選択する*</a:t>
            </a:r>
            <a:endParaRPr lang="en-US" altLang="ja-JP" sz="2400" dirty="0">
              <a:latin typeface="Century" pitchFamily="18" charset="0"/>
            </a:endParaRPr>
          </a:p>
          <a:p>
            <a:pPr marL="342900" indent="-342900" eaLnBrk="1" hangingPunct="1">
              <a:defRPr/>
            </a:pPr>
            <a:r>
              <a:rPr lang="en-US" altLang="ja-JP" sz="2400" dirty="0">
                <a:solidFill>
                  <a:schemeClr val="accent2"/>
                </a:solidFill>
                <a:latin typeface="Century" pitchFamily="18" charset="0"/>
              </a:rPr>
              <a:t>Mac: </a:t>
            </a:r>
            <a:r>
              <a:rPr lang="ja-JP" altLang="en-US" sz="2400" dirty="0">
                <a:solidFill>
                  <a:srgbClr val="000000"/>
                </a:solidFill>
                <a:latin typeface="Century" pitchFamily="18" charset="0"/>
              </a:rPr>
              <a:t>インプットファイルを</a:t>
            </a:r>
            <a:r>
              <a:rPr lang="en-US" altLang="ja-JP" sz="2400" dirty="0">
                <a:solidFill>
                  <a:srgbClr val="000000"/>
                </a:solidFill>
                <a:latin typeface="Century" pitchFamily="18" charset="0"/>
              </a:rPr>
              <a:t>Dock</a:t>
            </a:r>
            <a:r>
              <a:rPr lang="ja-JP" altLang="en-US" sz="2400" dirty="0">
                <a:solidFill>
                  <a:srgbClr val="000000"/>
                </a:solidFill>
                <a:latin typeface="Century" pitchFamily="18" charset="0"/>
              </a:rPr>
              <a:t>にある青い</a:t>
            </a:r>
            <a:r>
              <a:rPr lang="en-US" altLang="ja-JP" sz="2400" dirty="0">
                <a:solidFill>
                  <a:srgbClr val="000000"/>
                </a:solidFill>
                <a:latin typeface="Century" pitchFamily="18" charset="0"/>
              </a:rPr>
              <a:t>PHITS</a:t>
            </a:r>
            <a:r>
              <a:rPr lang="ja-JP" altLang="en-US" sz="2400" dirty="0">
                <a:solidFill>
                  <a:srgbClr val="000000"/>
                </a:solidFill>
                <a:latin typeface="Century" pitchFamily="18" charset="0"/>
              </a:rPr>
              <a:t>アイコンにドラッグ＆ドロップする。</a:t>
            </a:r>
            <a:endParaRPr lang="en-US" altLang="ja-JP" sz="2400" dirty="0">
              <a:solidFill>
                <a:srgbClr val="000000"/>
              </a:solidFill>
              <a:latin typeface="Century" pitchFamily="18" charset="0"/>
            </a:endParaRPr>
          </a:p>
        </p:txBody>
      </p:sp>
      <p:sp>
        <p:nvSpPr>
          <p:cNvPr id="39944" name="テキスト ボックス 9">
            <a:extLst>
              <a:ext uri="{FF2B5EF4-FFF2-40B4-BE49-F238E27FC236}">
                <a16:creationId xmlns:a16="http://schemas.microsoft.com/office/drawing/2014/main" id="{4FF360AE-D112-4352-9E6E-FA748EE64D31}"/>
              </a:ext>
            </a:extLst>
          </p:cNvPr>
          <p:cNvSpPr txBox="1">
            <a:spLocks noChangeArrowheads="1"/>
          </p:cNvSpPr>
          <p:nvPr/>
        </p:nvSpPr>
        <p:spPr bwMode="auto">
          <a:xfrm>
            <a:off x="671513" y="5256213"/>
            <a:ext cx="7747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24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24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24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ja-JP" altLang="en-US" dirty="0">
                <a:latin typeface="Century" panose="02040604050505020304" pitchFamily="18" charset="0"/>
              </a:rPr>
              <a:t>詳細は、各フォルダの</a:t>
            </a:r>
            <a:r>
              <a:rPr lang="en-US" altLang="ja-JP" dirty="0">
                <a:latin typeface="Century" panose="02040604050505020304" pitchFamily="18" charset="0"/>
              </a:rPr>
              <a:t>instruction</a:t>
            </a:r>
            <a:r>
              <a:rPr lang="ja-JP" altLang="en-US" dirty="0">
                <a:latin typeface="Century" panose="02040604050505020304" pitchFamily="18" charset="0"/>
              </a:rPr>
              <a:t>もしくは</a:t>
            </a:r>
            <a:r>
              <a:rPr lang="en-US" altLang="ja-JP" dirty="0">
                <a:latin typeface="Century" panose="02040604050505020304" pitchFamily="18" charset="0"/>
              </a:rPr>
              <a:t>readme</a:t>
            </a:r>
            <a:r>
              <a:rPr lang="ja-JP" altLang="en-US" dirty="0">
                <a:latin typeface="Century" panose="02040604050505020304" pitchFamily="18" charset="0"/>
              </a:rPr>
              <a:t>ファイルを参照してください</a:t>
            </a:r>
            <a:endParaRPr lang="en-US" altLang="ja-JP" dirty="0">
              <a:latin typeface="Century" panose="02040604050505020304" pitchFamily="18" charset="0"/>
            </a:endParaRPr>
          </a:p>
        </p:txBody>
      </p:sp>
      <p:sp>
        <p:nvSpPr>
          <p:cNvPr id="5" name="テキスト ボックス 4">
            <a:extLst>
              <a:ext uri="{FF2B5EF4-FFF2-40B4-BE49-F238E27FC236}">
                <a16:creationId xmlns:a16="http://schemas.microsoft.com/office/drawing/2014/main" id="{A7774BDF-B9D4-9A20-7B14-1659247D3105}"/>
              </a:ext>
            </a:extLst>
          </p:cNvPr>
          <p:cNvSpPr txBox="1"/>
          <p:nvPr/>
        </p:nvSpPr>
        <p:spPr>
          <a:xfrm>
            <a:off x="579741" y="6453336"/>
            <a:ext cx="7870328" cy="369332"/>
          </a:xfrm>
          <a:prstGeom prst="rect">
            <a:avLst/>
          </a:prstGeom>
          <a:noFill/>
        </p:spPr>
        <p:txBody>
          <a:bodyPr wrap="square">
            <a:spAutoFit/>
          </a:bodyPr>
          <a:lstStyle/>
          <a:p>
            <a:r>
              <a:rPr kumimoji="1" lang="ja-JP"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50" charset="-128"/>
                <a:cs typeface="+mn-cs"/>
              </a:rPr>
              <a:t>*</a:t>
            </a:r>
            <a:r>
              <a:rPr kumimoji="1" lang="en-US" altLang="ja-JP"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50" charset="-128"/>
                <a:cs typeface="+mn-cs"/>
              </a:rPr>
              <a:t>Windows11</a:t>
            </a:r>
            <a:r>
              <a:rPr kumimoji="1" lang="ja-JP"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50" charset="-128"/>
                <a:cs typeface="+mn-cs"/>
              </a:rPr>
              <a:t>の場合は、「その他のオプションを表示」に「送る」が含まれています</a:t>
            </a:r>
            <a:endParaRPr lang="ja-JP"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7" name="Rectangle 8">
            <a:extLst>
              <a:ext uri="{FF2B5EF4-FFF2-40B4-BE49-F238E27FC236}">
                <a16:creationId xmlns:a16="http://schemas.microsoft.com/office/drawing/2014/main" id="{1EB375E3-BBE0-4F3A-9FE9-EDD441402EEA}"/>
              </a:ext>
            </a:extLst>
          </p:cNvPr>
          <p:cNvSpPr txBox="1">
            <a:spLocks noChangeArrowheads="1"/>
          </p:cNvSpPr>
          <p:nvPr/>
        </p:nvSpPr>
        <p:spPr bwMode="auto">
          <a:xfrm>
            <a:off x="385653" y="1091374"/>
            <a:ext cx="8570355" cy="802036"/>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ts val="1800"/>
              </a:spcBef>
              <a:buNone/>
              <a:defRPr/>
            </a:pPr>
            <a:r>
              <a:rPr lang="en-US" altLang="ja-JP" sz="2000" dirty="0">
                <a:solidFill>
                  <a:srgbClr val="FF0000"/>
                </a:solidFill>
                <a:latin typeface="Century" pitchFamily="18" charset="0"/>
              </a:rPr>
              <a:t>lec01.inp</a:t>
            </a:r>
            <a:r>
              <a:rPr lang="ja-JP" altLang="en-US" sz="2000" dirty="0">
                <a:solidFill>
                  <a:srgbClr val="000000"/>
                </a:solidFill>
                <a:latin typeface="Century" pitchFamily="18" charset="0"/>
              </a:rPr>
              <a:t>を</a:t>
            </a:r>
            <a:r>
              <a:rPr lang="en-US" altLang="ja-JP" sz="2000" dirty="0">
                <a:solidFill>
                  <a:srgbClr val="000000"/>
                </a:solidFill>
                <a:latin typeface="Century" pitchFamily="18" charset="0"/>
              </a:rPr>
              <a:t>PHITS-Pad</a:t>
            </a:r>
            <a:r>
              <a:rPr lang="ja-JP" altLang="en-US" sz="2000" dirty="0">
                <a:solidFill>
                  <a:srgbClr val="000000"/>
                </a:solidFill>
                <a:latin typeface="Century" pitchFamily="18" charset="0"/>
              </a:rPr>
              <a:t>（</a:t>
            </a:r>
            <a:r>
              <a:rPr lang="en-US" altLang="ja-JP" sz="2000" dirty="0">
                <a:solidFill>
                  <a:srgbClr val="000000"/>
                </a:solidFill>
                <a:latin typeface="Century" pitchFamily="18" charset="0"/>
              </a:rPr>
              <a:t>Windows</a:t>
            </a:r>
            <a:r>
              <a:rPr lang="ja-JP" altLang="en-US" sz="2000" dirty="0">
                <a:solidFill>
                  <a:srgbClr val="000000"/>
                </a:solidFill>
                <a:latin typeface="Century" pitchFamily="18" charset="0"/>
              </a:rPr>
              <a:t>の場合は</a:t>
            </a:r>
            <a:r>
              <a:rPr lang="en-US" altLang="ja-JP" sz="2000" dirty="0" err="1">
                <a:solidFill>
                  <a:srgbClr val="000000"/>
                </a:solidFill>
                <a:latin typeface="Century" pitchFamily="18" charset="0"/>
              </a:rPr>
              <a:t>NotePad</a:t>
            </a:r>
            <a:r>
              <a:rPr lang="en-US" altLang="ja-JP" sz="2000" dirty="0">
                <a:solidFill>
                  <a:srgbClr val="000000"/>
                </a:solidFill>
                <a:latin typeface="Century" pitchFamily="18" charset="0"/>
              </a:rPr>
              <a:t>++</a:t>
            </a:r>
            <a:r>
              <a:rPr lang="ja-JP" altLang="en-US" sz="2000" dirty="0">
                <a:solidFill>
                  <a:srgbClr val="000000"/>
                </a:solidFill>
                <a:latin typeface="Century" pitchFamily="18" charset="0"/>
              </a:rPr>
              <a:t>や</a:t>
            </a:r>
            <a:r>
              <a:rPr lang="en-US" altLang="ja-JP" sz="2000" dirty="0" err="1">
                <a:solidFill>
                  <a:srgbClr val="000000"/>
                </a:solidFill>
                <a:latin typeface="Century" pitchFamily="18" charset="0"/>
              </a:rPr>
              <a:t>TeraPad</a:t>
            </a:r>
            <a:r>
              <a:rPr lang="ja-JP" altLang="en-US" sz="2000" dirty="0">
                <a:solidFill>
                  <a:srgbClr val="000000"/>
                </a:solidFill>
                <a:latin typeface="Century" pitchFamily="18" charset="0"/>
              </a:rPr>
              <a:t>でも可）で開いて</a:t>
            </a:r>
            <a:r>
              <a:rPr lang="ja-JP" altLang="en-US" sz="2000" dirty="0">
                <a:latin typeface="Century" pitchFamily="18" charset="0"/>
              </a:rPr>
              <a:t>上のメニューバーから「プログラム」をクリックし「</a:t>
            </a:r>
            <a:r>
              <a:rPr lang="en-US" altLang="ja-JP" sz="2000" dirty="0">
                <a:latin typeface="Century" pitchFamily="18" charset="0"/>
              </a:rPr>
              <a:t>PHITS</a:t>
            </a:r>
            <a:r>
              <a:rPr lang="ja-JP" altLang="en-US" sz="2000" dirty="0">
                <a:latin typeface="Century" pitchFamily="18" charset="0"/>
              </a:rPr>
              <a:t>」を実行</a:t>
            </a:r>
            <a:endParaRPr lang="en-US" altLang="ja-JP" sz="2000" dirty="0">
              <a:latin typeface="Century" pitchFamily="18" charset="0"/>
            </a:endParaRPr>
          </a:p>
        </p:txBody>
      </p:sp>
      <p:sp>
        <p:nvSpPr>
          <p:cNvPr id="9" name="正方形/長方形 4">
            <a:extLst>
              <a:ext uri="{FF2B5EF4-FFF2-40B4-BE49-F238E27FC236}">
                <a16:creationId xmlns:a16="http://schemas.microsoft.com/office/drawing/2014/main" id="{2F065BA9-E786-422A-8214-A10C7D7BCE83}"/>
              </a:ext>
            </a:extLst>
          </p:cNvPr>
          <p:cNvSpPr>
            <a:spLocks noChangeArrowheads="1"/>
          </p:cNvSpPr>
          <p:nvPr/>
        </p:nvSpPr>
        <p:spPr bwMode="auto">
          <a:xfrm>
            <a:off x="719572" y="5495688"/>
            <a:ext cx="77048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ts val="600"/>
              </a:spcBef>
              <a:buFontTx/>
              <a:buNone/>
            </a:pPr>
            <a:r>
              <a:rPr lang="ja-JP" altLang="en-US" sz="1800" dirty="0"/>
              <a:t>うまく動作しない場合は、</a:t>
            </a:r>
            <a:r>
              <a:rPr lang="en-US" altLang="ja-JP" sz="1800" dirty="0"/>
              <a:t>win, mac, </a:t>
            </a:r>
            <a:r>
              <a:rPr lang="en-US" altLang="ja-JP" sz="1800" dirty="0" err="1"/>
              <a:t>lin</a:t>
            </a:r>
            <a:r>
              <a:rPr lang="ja-JP" altLang="en-US" sz="1800" dirty="0"/>
              <a:t>フォルダのインストラクション資料を参考に修正してください</a:t>
            </a:r>
            <a:endParaRPr lang="en-US" altLang="ja-JP" sz="1800" dirty="0"/>
          </a:p>
        </p:txBody>
      </p:sp>
      <p:pic>
        <p:nvPicPr>
          <p:cNvPr id="3" name="図 2">
            <a:extLst>
              <a:ext uri="{FF2B5EF4-FFF2-40B4-BE49-F238E27FC236}">
                <a16:creationId xmlns:a16="http://schemas.microsoft.com/office/drawing/2014/main" id="{7732BDE4-9E95-F4DF-0DFD-B1CCDFEFF9A5}"/>
              </a:ext>
            </a:extLst>
          </p:cNvPr>
          <p:cNvPicPr>
            <a:picLocks noChangeAspect="1"/>
          </p:cNvPicPr>
          <p:nvPr/>
        </p:nvPicPr>
        <p:blipFill>
          <a:blip r:embed="rId3"/>
          <a:stretch>
            <a:fillRect/>
          </a:stretch>
        </p:blipFill>
        <p:spPr>
          <a:xfrm>
            <a:off x="1763688" y="2181679"/>
            <a:ext cx="5904656" cy="3003297"/>
          </a:xfrm>
          <a:prstGeom prst="rect">
            <a:avLst/>
          </a:prstGeom>
        </p:spPr>
      </p:pic>
      <p:sp>
        <p:nvSpPr>
          <p:cNvPr id="5" name="Rectangle 2">
            <a:extLst>
              <a:ext uri="{FF2B5EF4-FFF2-40B4-BE49-F238E27FC236}">
                <a16:creationId xmlns:a16="http://schemas.microsoft.com/office/drawing/2014/main" id="{495C16F5-76CC-783A-A889-EA6305C1E426}"/>
              </a:ext>
            </a:extLst>
          </p:cNvPr>
          <p:cNvSpPr txBox="1">
            <a:spLocks noChangeArrowheads="1"/>
          </p:cNvSpPr>
          <p:nvPr/>
        </p:nvSpPr>
        <p:spPr bwMode="auto">
          <a:xfrm>
            <a:off x="899592" y="91693"/>
            <a:ext cx="7266546" cy="80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eaLnBrk="1" hangingPunct="1"/>
            <a:r>
              <a:rPr lang="ja-JP" altLang="en-US" sz="4000" kern="0" dirty="0"/>
              <a:t>テキストエディタからの実行確認</a:t>
            </a:r>
            <a:endParaRPr lang="ja-JP" altLang="en-US" sz="4000" kern="0" dirty="0">
              <a:latin typeface="Century Gothic" panose="020B0502020202020204" pitchFamily="34" charset="0"/>
            </a:endParaRPr>
          </a:p>
        </p:txBody>
      </p:sp>
      <p:sp>
        <p:nvSpPr>
          <p:cNvPr id="6" name="楕円 5">
            <a:extLst>
              <a:ext uri="{FF2B5EF4-FFF2-40B4-BE49-F238E27FC236}">
                <a16:creationId xmlns:a16="http://schemas.microsoft.com/office/drawing/2014/main" id="{33F96A08-2E9D-34AC-8AE1-AD9FE7BAD6F9}"/>
              </a:ext>
            </a:extLst>
          </p:cNvPr>
          <p:cNvSpPr/>
          <p:nvPr/>
        </p:nvSpPr>
        <p:spPr>
          <a:xfrm>
            <a:off x="3450642" y="2366939"/>
            <a:ext cx="648072" cy="2775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B0D9FF2-DBE0-C167-26CF-1F3E4055D79D}"/>
              </a:ext>
            </a:extLst>
          </p:cNvPr>
          <p:cNvSpPr txBox="1"/>
          <p:nvPr/>
        </p:nvSpPr>
        <p:spPr>
          <a:xfrm>
            <a:off x="4098714" y="2136367"/>
            <a:ext cx="2541080" cy="369332"/>
          </a:xfrm>
          <a:prstGeom prst="rect">
            <a:avLst/>
          </a:prstGeom>
          <a:noFill/>
        </p:spPr>
        <p:txBody>
          <a:bodyPr wrap="none" rtlCol="0">
            <a:spAutoFit/>
          </a:bodyPr>
          <a:lstStyle/>
          <a:p>
            <a:r>
              <a:rPr kumimoji="1" lang="en-US" altLang="ja-JP" sz="1800" dirty="0">
                <a:solidFill>
                  <a:srgbClr val="FF0000"/>
                </a:solidFill>
              </a:rPr>
              <a:t>PHITS-Pad</a:t>
            </a:r>
            <a:r>
              <a:rPr kumimoji="1" lang="ja-JP" altLang="en-US" sz="1800" dirty="0">
                <a:solidFill>
                  <a:srgbClr val="FF0000"/>
                </a:solidFill>
              </a:rPr>
              <a:t>の場合はココ</a:t>
            </a:r>
          </a:p>
        </p:txBody>
      </p:sp>
    </p:spTree>
    <p:extLst>
      <p:ext uri="{BB962C8B-B14F-4D97-AF65-F5344CB8AC3E}">
        <p14:creationId xmlns:p14="http://schemas.microsoft.com/office/powerpoint/2010/main" val="2963737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826CD37-534A-4714-9685-541EB7CDD357}"/>
              </a:ext>
            </a:extLst>
          </p:cNvPr>
          <p:cNvSpPr>
            <a:spLocks noGrp="1" noChangeArrowheads="1"/>
          </p:cNvSpPr>
          <p:nvPr>
            <p:ph type="title"/>
          </p:nvPr>
        </p:nvSpPr>
        <p:spPr>
          <a:xfrm>
            <a:off x="1441450" y="22225"/>
            <a:ext cx="5903913" cy="896938"/>
          </a:xfrm>
        </p:spPr>
        <p:txBody>
          <a:bodyPr/>
          <a:lstStyle/>
          <a:p>
            <a:pPr eaLnBrk="1" hangingPunct="1"/>
            <a:r>
              <a:rPr lang="en-US" altLang="ja-JP" sz="4000"/>
              <a:t>PHITS</a:t>
            </a:r>
            <a:r>
              <a:rPr lang="ja-JP" altLang="en-US" sz="4000"/>
              <a:t>の実行結果の確認</a:t>
            </a:r>
            <a:endParaRPr lang="ja-JP" altLang="en-US" sz="4000">
              <a:latin typeface="Century Gothic" panose="020B0502020202020204" pitchFamily="34" charset="0"/>
            </a:endParaRPr>
          </a:p>
        </p:txBody>
      </p:sp>
      <p:sp>
        <p:nvSpPr>
          <p:cNvPr id="41990" name="Rectangle 8">
            <a:extLst>
              <a:ext uri="{FF2B5EF4-FFF2-40B4-BE49-F238E27FC236}">
                <a16:creationId xmlns:a16="http://schemas.microsoft.com/office/drawing/2014/main" id="{90191D03-E607-4791-9844-5FF412983746}"/>
              </a:ext>
            </a:extLst>
          </p:cNvPr>
          <p:cNvSpPr txBox="1">
            <a:spLocks noChangeArrowheads="1"/>
          </p:cNvSpPr>
          <p:nvPr/>
        </p:nvSpPr>
        <p:spPr bwMode="auto">
          <a:xfrm>
            <a:off x="539750" y="777875"/>
            <a:ext cx="82264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a:solidFill>
                  <a:srgbClr val="000000"/>
                </a:solidFill>
                <a:latin typeface="Century" panose="02040604050505020304" pitchFamily="18" charset="0"/>
              </a:rPr>
              <a:t>実行が成功すると、</a:t>
            </a:r>
            <a:r>
              <a:rPr lang="en-US" altLang="ja-JP" sz="2400">
                <a:solidFill>
                  <a:srgbClr val="000000"/>
                </a:solidFill>
                <a:latin typeface="Century" panose="02040604050505020304" pitchFamily="18" charset="0"/>
              </a:rPr>
              <a:t> phits.out, track_xz.out, track_xz.eps, track_xz_err.out, track_xz_err.eps, batch.out</a:t>
            </a:r>
            <a:r>
              <a:rPr lang="ja-JP" altLang="en-US" sz="2400">
                <a:solidFill>
                  <a:srgbClr val="000000"/>
                </a:solidFill>
                <a:latin typeface="Century" panose="02040604050505020304" pitchFamily="18" charset="0"/>
              </a:rPr>
              <a:t>といったファイルが作成されますので，</a:t>
            </a:r>
            <a:r>
              <a:rPr lang="en-US" altLang="ja-JP" sz="2400">
                <a:solidFill>
                  <a:srgbClr val="FF0000"/>
                </a:solidFill>
                <a:latin typeface="Century" panose="02040604050505020304" pitchFamily="18" charset="0"/>
              </a:rPr>
              <a:t>track_xz.eps</a:t>
            </a:r>
            <a:r>
              <a:rPr lang="ja-JP" altLang="en-US" sz="2400">
                <a:solidFill>
                  <a:srgbClr val="000000"/>
                </a:solidFill>
                <a:latin typeface="Century" panose="02040604050505020304" pitchFamily="18" charset="0"/>
              </a:rPr>
              <a:t>をダブルクリックして</a:t>
            </a:r>
            <a:r>
              <a:rPr lang="en-US" altLang="ja-JP" sz="2400">
                <a:solidFill>
                  <a:srgbClr val="000000"/>
                </a:solidFill>
                <a:latin typeface="Century" panose="02040604050505020304" pitchFamily="18" charset="0"/>
              </a:rPr>
              <a:t>eps</a:t>
            </a:r>
            <a:r>
              <a:rPr lang="ja-JP" altLang="en-US" sz="2400">
                <a:solidFill>
                  <a:srgbClr val="000000"/>
                </a:solidFill>
                <a:latin typeface="Century" panose="02040604050505020304" pitchFamily="18" charset="0"/>
              </a:rPr>
              <a:t>画像が閲覧できることを確認してください。</a:t>
            </a:r>
            <a:endParaRPr lang="en-US" altLang="ja-JP" sz="2400">
              <a:solidFill>
                <a:srgbClr val="000000"/>
              </a:solidFill>
              <a:latin typeface="Century" panose="02040604050505020304" pitchFamily="18" charset="0"/>
            </a:endParaRPr>
          </a:p>
        </p:txBody>
      </p:sp>
      <p:sp>
        <p:nvSpPr>
          <p:cNvPr id="2" name="正方形/長方形 4">
            <a:extLst>
              <a:ext uri="{FF2B5EF4-FFF2-40B4-BE49-F238E27FC236}">
                <a16:creationId xmlns:a16="http://schemas.microsoft.com/office/drawing/2014/main" id="{9F09E920-3B51-095A-509D-EB657994DBF9}"/>
              </a:ext>
            </a:extLst>
          </p:cNvPr>
          <p:cNvSpPr>
            <a:spLocks noChangeArrowheads="1"/>
          </p:cNvSpPr>
          <p:nvPr/>
        </p:nvSpPr>
        <p:spPr bwMode="auto">
          <a:xfrm>
            <a:off x="588443" y="5603489"/>
            <a:ext cx="79928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ts val="600"/>
              </a:spcBef>
              <a:buFontTx/>
              <a:buNone/>
            </a:pPr>
            <a:r>
              <a:rPr lang="ja-JP" altLang="en-US" sz="1800" dirty="0"/>
              <a:t>うまく動作しない場合は、</a:t>
            </a:r>
            <a:r>
              <a:rPr lang="en-US" altLang="ja-JP" sz="1800" dirty="0"/>
              <a:t>win, mac, </a:t>
            </a:r>
            <a:r>
              <a:rPr lang="en-US" altLang="ja-JP" sz="1800" dirty="0" err="1"/>
              <a:t>lin</a:t>
            </a:r>
            <a:r>
              <a:rPr lang="ja-JP" altLang="en-US" sz="1800" dirty="0"/>
              <a:t>フォルダのインストラクション資料を参考に修正してください</a:t>
            </a:r>
            <a:endParaRPr lang="en-US" altLang="ja-JP" sz="1800" dirty="0"/>
          </a:p>
        </p:txBody>
      </p:sp>
      <p:sp>
        <p:nvSpPr>
          <p:cNvPr id="4" name="テキスト ボックス 2">
            <a:extLst>
              <a:ext uri="{FF2B5EF4-FFF2-40B4-BE49-F238E27FC236}">
                <a16:creationId xmlns:a16="http://schemas.microsoft.com/office/drawing/2014/main" id="{03764C08-CF04-8327-FC32-F1E71A0C3401}"/>
              </a:ext>
            </a:extLst>
          </p:cNvPr>
          <p:cNvSpPr txBox="1">
            <a:spLocks noChangeArrowheads="1"/>
          </p:cNvSpPr>
          <p:nvPr/>
        </p:nvSpPr>
        <p:spPr bwMode="auto">
          <a:xfrm>
            <a:off x="576263" y="2389188"/>
            <a:ext cx="1730375" cy="460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2400"/>
              <a:t>track_xz.eps</a:t>
            </a:r>
            <a:endParaRPr lang="ja-JP" altLang="en-US" sz="2400"/>
          </a:p>
        </p:txBody>
      </p:sp>
      <p:pic>
        <p:nvPicPr>
          <p:cNvPr id="5" name="図 4">
            <a:extLst>
              <a:ext uri="{FF2B5EF4-FFF2-40B4-BE49-F238E27FC236}">
                <a16:creationId xmlns:a16="http://schemas.microsoft.com/office/drawing/2014/main" id="{D46B1AF5-8E71-C5A2-9F6C-9DA3AF12A339}"/>
              </a:ext>
            </a:extLst>
          </p:cNvPr>
          <p:cNvPicPr>
            <a:picLocks noChangeAspect="1"/>
          </p:cNvPicPr>
          <p:nvPr/>
        </p:nvPicPr>
        <p:blipFill>
          <a:blip r:embed="rId3"/>
          <a:srcRect l="16926" t="8977" r="16926" b="3117"/>
          <a:stretch/>
        </p:blipFill>
        <p:spPr>
          <a:xfrm>
            <a:off x="2483768" y="2378559"/>
            <a:ext cx="4514902" cy="32249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BB02DD5-DCDD-4F22-83BA-DB006F89E529}"/>
              </a:ext>
            </a:extLst>
          </p:cNvPr>
          <p:cNvSpPr>
            <a:spLocks noGrp="1" noChangeArrowheads="1"/>
          </p:cNvSpPr>
          <p:nvPr>
            <p:ph type="title"/>
          </p:nvPr>
        </p:nvSpPr>
        <p:spPr>
          <a:xfrm>
            <a:off x="22796" y="-3392"/>
            <a:ext cx="9073008" cy="896938"/>
          </a:xfrm>
        </p:spPr>
        <p:txBody>
          <a:bodyPr/>
          <a:lstStyle/>
          <a:p>
            <a:pPr eaLnBrk="1" hangingPunct="1"/>
            <a:r>
              <a:rPr lang="ja-JP" altLang="en-US" sz="3200" dirty="0"/>
              <a:t>３次元幾何学形状可視化ソフト</a:t>
            </a:r>
            <a:r>
              <a:rPr lang="en-US" altLang="ja-JP" sz="3200" dirty="0"/>
              <a:t>PHIG-3D</a:t>
            </a:r>
            <a:r>
              <a:rPr lang="ja-JP" altLang="en-US" sz="3200" dirty="0"/>
              <a:t>の動作確認</a:t>
            </a:r>
            <a:endParaRPr lang="ja-JP" altLang="en-US" sz="3200" dirty="0">
              <a:latin typeface="Century Gothic" panose="020B0502020202020204" pitchFamily="34" charset="0"/>
            </a:endParaRPr>
          </a:p>
        </p:txBody>
      </p:sp>
      <p:sp>
        <p:nvSpPr>
          <p:cNvPr id="40967" name="Rectangle 8">
            <a:extLst>
              <a:ext uri="{FF2B5EF4-FFF2-40B4-BE49-F238E27FC236}">
                <a16:creationId xmlns:a16="http://schemas.microsoft.com/office/drawing/2014/main" id="{1EB375E3-BBE0-4F3A-9FE9-EDD441402EEA}"/>
              </a:ext>
            </a:extLst>
          </p:cNvPr>
          <p:cNvSpPr txBox="1">
            <a:spLocks noChangeArrowheads="1"/>
          </p:cNvSpPr>
          <p:nvPr/>
        </p:nvSpPr>
        <p:spPr bwMode="auto">
          <a:xfrm>
            <a:off x="179512" y="766160"/>
            <a:ext cx="8964488" cy="582217"/>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spcBef>
                <a:spcPts val="1800"/>
              </a:spcBef>
              <a:buNone/>
              <a:defRPr/>
            </a:pPr>
            <a:r>
              <a:rPr lang="en-US" altLang="ja-JP" sz="2400" dirty="0">
                <a:solidFill>
                  <a:srgbClr val="000000"/>
                </a:solidFill>
                <a:latin typeface="Century" pitchFamily="18" charset="0"/>
              </a:rPr>
              <a:t>PHITS</a:t>
            </a:r>
            <a:r>
              <a:rPr lang="ja-JP" altLang="en-US" sz="2400" dirty="0">
                <a:solidFill>
                  <a:srgbClr val="000000"/>
                </a:solidFill>
                <a:latin typeface="Century" pitchFamily="18" charset="0"/>
              </a:rPr>
              <a:t>実行確認を行ったフォルダ（</a:t>
            </a:r>
            <a:r>
              <a:rPr lang="en-US" altLang="ja-JP" sz="2400" dirty="0">
                <a:solidFill>
                  <a:srgbClr val="000000"/>
                </a:solidFill>
                <a:latin typeface="Century" pitchFamily="18" charset="0"/>
              </a:rPr>
              <a:t>/</a:t>
            </a:r>
            <a:r>
              <a:rPr lang="en-US" altLang="ja-JP" sz="2400" dirty="0" err="1">
                <a:solidFill>
                  <a:srgbClr val="000000"/>
                </a:solidFill>
                <a:latin typeface="Century" pitchFamily="18" charset="0"/>
              </a:rPr>
              <a:t>phits</a:t>
            </a:r>
            <a:r>
              <a:rPr lang="en-US" altLang="ja-JP" sz="2400" dirty="0">
                <a:solidFill>
                  <a:srgbClr val="000000"/>
                </a:solidFill>
                <a:latin typeface="Century" pitchFamily="18" charset="0"/>
              </a:rPr>
              <a:t>/lecture/basic/lec01/</a:t>
            </a:r>
            <a:r>
              <a:rPr lang="ja-JP" altLang="en-US" sz="2400" dirty="0">
                <a:solidFill>
                  <a:srgbClr val="000000"/>
                </a:solidFill>
                <a:latin typeface="Century" pitchFamily="18" charset="0"/>
              </a:rPr>
              <a:t>）で</a:t>
            </a:r>
            <a:endParaRPr lang="en-US" altLang="ja-JP" sz="2400" dirty="0">
              <a:latin typeface="Century" pitchFamily="18" charset="0"/>
            </a:endParaRPr>
          </a:p>
        </p:txBody>
      </p:sp>
      <p:sp>
        <p:nvSpPr>
          <p:cNvPr id="11" name="テキスト ボックス 10">
            <a:extLst>
              <a:ext uri="{FF2B5EF4-FFF2-40B4-BE49-F238E27FC236}">
                <a16:creationId xmlns:a16="http://schemas.microsoft.com/office/drawing/2014/main" id="{2D5F5A81-7E36-47C0-A602-61BFB3AFF9D3}"/>
              </a:ext>
            </a:extLst>
          </p:cNvPr>
          <p:cNvSpPr txBox="1"/>
          <p:nvPr/>
        </p:nvSpPr>
        <p:spPr>
          <a:xfrm>
            <a:off x="467544" y="1257292"/>
            <a:ext cx="8208912" cy="830997"/>
          </a:xfrm>
          <a:prstGeom prst="rect">
            <a:avLst/>
          </a:prstGeom>
          <a:noFill/>
        </p:spPr>
        <p:txBody>
          <a:bodyPr wrap="square">
            <a:spAutoFit/>
          </a:bodyPr>
          <a:lstStyle/>
          <a:p>
            <a:r>
              <a:rPr lang="ja-JP" altLang="en-US" dirty="0">
                <a:latin typeface="Century" pitchFamily="18" charset="0"/>
              </a:rPr>
              <a:t>（</a:t>
            </a:r>
            <a:r>
              <a:rPr lang="en-US" altLang="ja-JP" dirty="0">
                <a:latin typeface="Century" pitchFamily="18" charset="0"/>
              </a:rPr>
              <a:t>Windows</a:t>
            </a:r>
            <a:r>
              <a:rPr lang="ja-JP" altLang="en-US" dirty="0">
                <a:latin typeface="Century" pitchFamily="18" charset="0"/>
              </a:rPr>
              <a:t>）</a:t>
            </a:r>
            <a:endParaRPr lang="en-US" altLang="ja-JP" dirty="0">
              <a:latin typeface="Century" pitchFamily="18" charset="0"/>
            </a:endParaRPr>
          </a:p>
          <a:p>
            <a:r>
              <a:rPr lang="ja-JP" altLang="en-US" dirty="0">
                <a:latin typeface="Century" pitchFamily="18" charset="0"/>
              </a:rPr>
              <a:t> 　　</a:t>
            </a:r>
            <a:r>
              <a:rPr lang="en-US" altLang="ja-JP" dirty="0">
                <a:solidFill>
                  <a:srgbClr val="FF0000"/>
                </a:solidFill>
                <a:latin typeface="Century" pitchFamily="18" charset="0"/>
              </a:rPr>
              <a:t>lec01.inp</a:t>
            </a:r>
            <a:r>
              <a:rPr lang="ja-JP" altLang="en-US" dirty="0">
                <a:solidFill>
                  <a:srgbClr val="000000"/>
                </a:solidFill>
                <a:latin typeface="Century" pitchFamily="18" charset="0"/>
              </a:rPr>
              <a:t>を右クリックして、</a:t>
            </a:r>
            <a:r>
              <a:rPr lang="ja-JP" altLang="en-US" dirty="0">
                <a:latin typeface="Century" pitchFamily="18" charset="0"/>
              </a:rPr>
              <a:t>「送る」→「</a:t>
            </a:r>
            <a:r>
              <a:rPr lang="en-US" altLang="ja-JP" dirty="0">
                <a:latin typeface="Century" pitchFamily="18" charset="0"/>
              </a:rPr>
              <a:t>PHIG-3D</a:t>
            </a:r>
            <a:r>
              <a:rPr lang="ja-JP" altLang="en-US" dirty="0">
                <a:latin typeface="Century" pitchFamily="18" charset="0"/>
              </a:rPr>
              <a:t>」を選択</a:t>
            </a:r>
            <a:endParaRPr lang="ja-JP" altLang="en-US" dirty="0"/>
          </a:p>
        </p:txBody>
      </p:sp>
      <p:sp>
        <p:nvSpPr>
          <p:cNvPr id="12" name="テキスト ボックス 11">
            <a:extLst>
              <a:ext uri="{FF2B5EF4-FFF2-40B4-BE49-F238E27FC236}">
                <a16:creationId xmlns:a16="http://schemas.microsoft.com/office/drawing/2014/main" id="{46A02EE1-C896-49FA-AFC1-24000096400E}"/>
              </a:ext>
            </a:extLst>
          </p:cNvPr>
          <p:cNvSpPr txBox="1"/>
          <p:nvPr/>
        </p:nvSpPr>
        <p:spPr>
          <a:xfrm>
            <a:off x="467544" y="1978475"/>
            <a:ext cx="8208912" cy="830997"/>
          </a:xfrm>
          <a:prstGeom prst="rect">
            <a:avLst/>
          </a:prstGeom>
          <a:noFill/>
        </p:spPr>
        <p:txBody>
          <a:bodyPr wrap="square">
            <a:spAutoFit/>
          </a:bodyPr>
          <a:lstStyle/>
          <a:p>
            <a:r>
              <a:rPr lang="ja-JP" altLang="en-US" dirty="0">
                <a:latin typeface="Century" pitchFamily="18" charset="0"/>
              </a:rPr>
              <a:t>（</a:t>
            </a:r>
            <a:r>
              <a:rPr lang="en-US" altLang="ja-JP" dirty="0">
                <a:latin typeface="Century" pitchFamily="18" charset="0"/>
              </a:rPr>
              <a:t>Mac</a:t>
            </a:r>
            <a:r>
              <a:rPr lang="ja-JP" altLang="en-US" dirty="0">
                <a:latin typeface="Century" pitchFamily="18" charset="0"/>
              </a:rPr>
              <a:t>）</a:t>
            </a:r>
            <a:endParaRPr lang="en-US" altLang="ja-JP" dirty="0">
              <a:latin typeface="Century" pitchFamily="18" charset="0"/>
            </a:endParaRPr>
          </a:p>
          <a:p>
            <a:r>
              <a:rPr lang="ja-JP" altLang="en-US" dirty="0">
                <a:latin typeface="Century" pitchFamily="18" charset="0"/>
              </a:rPr>
              <a:t> 　　</a:t>
            </a:r>
            <a:r>
              <a:rPr lang="en-US" altLang="ja-JP" dirty="0">
                <a:solidFill>
                  <a:srgbClr val="FF0000"/>
                </a:solidFill>
                <a:latin typeface="Century" pitchFamily="18" charset="0"/>
              </a:rPr>
              <a:t>lec01.inp</a:t>
            </a:r>
            <a:r>
              <a:rPr lang="ja-JP" altLang="en-US" dirty="0">
                <a:solidFill>
                  <a:srgbClr val="000000"/>
                </a:solidFill>
                <a:latin typeface="Century" pitchFamily="18" charset="0"/>
              </a:rPr>
              <a:t>を</a:t>
            </a:r>
            <a:r>
              <a:rPr lang="en-US" altLang="ja-JP" dirty="0">
                <a:solidFill>
                  <a:srgbClr val="000000"/>
                </a:solidFill>
                <a:latin typeface="Century" pitchFamily="18" charset="0"/>
              </a:rPr>
              <a:t>PHIG-3D</a:t>
            </a:r>
            <a:r>
              <a:rPr lang="ja-JP" altLang="en-US" dirty="0">
                <a:solidFill>
                  <a:srgbClr val="000000"/>
                </a:solidFill>
                <a:latin typeface="Century" pitchFamily="18" charset="0"/>
              </a:rPr>
              <a:t>のアイコンにドラッグ＆ドロップ</a:t>
            </a:r>
            <a:endParaRPr lang="ja-JP" altLang="en-US" dirty="0"/>
          </a:p>
        </p:txBody>
      </p:sp>
      <p:sp>
        <p:nvSpPr>
          <p:cNvPr id="3" name="テキスト ボックス 2">
            <a:extLst>
              <a:ext uri="{FF2B5EF4-FFF2-40B4-BE49-F238E27FC236}">
                <a16:creationId xmlns:a16="http://schemas.microsoft.com/office/drawing/2014/main" id="{B0559167-1FD2-45C0-9453-1CBF98F5994D}"/>
              </a:ext>
            </a:extLst>
          </p:cNvPr>
          <p:cNvSpPr txBox="1"/>
          <p:nvPr/>
        </p:nvSpPr>
        <p:spPr>
          <a:xfrm>
            <a:off x="77056" y="5760817"/>
            <a:ext cx="8964488" cy="461665"/>
          </a:xfrm>
          <a:prstGeom prst="rect">
            <a:avLst/>
          </a:prstGeom>
          <a:noFill/>
        </p:spPr>
        <p:txBody>
          <a:bodyPr wrap="square" rtlCol="0">
            <a:spAutoFit/>
          </a:bodyPr>
          <a:lstStyle/>
          <a:p>
            <a:pPr algn="ctr"/>
            <a:r>
              <a:rPr kumimoji="1" lang="ja-JP" altLang="en-US" dirty="0"/>
              <a:t>描画ボタンを押した後、このような画面が出れば成功です</a:t>
            </a:r>
            <a:endParaRPr kumimoji="1" lang="en-US" altLang="ja-JP" dirty="0"/>
          </a:p>
        </p:txBody>
      </p:sp>
      <p:sp>
        <p:nvSpPr>
          <p:cNvPr id="7" name="正方形/長方形 4">
            <a:extLst>
              <a:ext uri="{FF2B5EF4-FFF2-40B4-BE49-F238E27FC236}">
                <a16:creationId xmlns:a16="http://schemas.microsoft.com/office/drawing/2014/main" id="{AAD28CA9-8801-E271-4EC0-A5D9F1904A47}"/>
              </a:ext>
            </a:extLst>
          </p:cNvPr>
          <p:cNvSpPr>
            <a:spLocks noChangeArrowheads="1"/>
          </p:cNvSpPr>
          <p:nvPr/>
        </p:nvSpPr>
        <p:spPr bwMode="auto">
          <a:xfrm>
            <a:off x="345047" y="6453393"/>
            <a:ext cx="84371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ts val="600"/>
              </a:spcBef>
              <a:buFontTx/>
              <a:buNone/>
            </a:pPr>
            <a:r>
              <a:rPr lang="ja-JP" altLang="en-US" sz="1600" dirty="0"/>
              <a:t>うまく動作しない場合は、</a:t>
            </a:r>
            <a:r>
              <a:rPr lang="en-US" altLang="ja-JP" sz="1600" dirty="0"/>
              <a:t>win, mac, </a:t>
            </a:r>
            <a:r>
              <a:rPr lang="en-US" altLang="ja-JP" sz="1600" dirty="0" err="1"/>
              <a:t>lin</a:t>
            </a:r>
            <a:r>
              <a:rPr lang="ja-JP" altLang="en-US" sz="1600" dirty="0"/>
              <a:t>フォルダのインストラクション資料を参考に修正してください</a:t>
            </a:r>
            <a:endParaRPr lang="en-US" altLang="ja-JP" sz="1600" dirty="0"/>
          </a:p>
        </p:txBody>
      </p:sp>
      <p:pic>
        <p:nvPicPr>
          <p:cNvPr id="5" name="図 4">
            <a:extLst>
              <a:ext uri="{FF2B5EF4-FFF2-40B4-BE49-F238E27FC236}">
                <a16:creationId xmlns:a16="http://schemas.microsoft.com/office/drawing/2014/main" id="{C6CE3588-9D0C-124D-4E08-7A924D1990C1}"/>
              </a:ext>
            </a:extLst>
          </p:cNvPr>
          <p:cNvPicPr>
            <a:picLocks noChangeAspect="1"/>
          </p:cNvPicPr>
          <p:nvPr/>
        </p:nvPicPr>
        <p:blipFill>
          <a:blip r:embed="rId3"/>
          <a:stretch>
            <a:fillRect/>
          </a:stretch>
        </p:blipFill>
        <p:spPr>
          <a:xfrm>
            <a:off x="2513118" y="2929857"/>
            <a:ext cx="4297276" cy="2739730"/>
          </a:xfrm>
          <a:prstGeom prst="rect">
            <a:avLst/>
          </a:prstGeom>
        </p:spPr>
      </p:pic>
      <p:sp>
        <p:nvSpPr>
          <p:cNvPr id="8" name="楕円 7">
            <a:extLst>
              <a:ext uri="{FF2B5EF4-FFF2-40B4-BE49-F238E27FC236}">
                <a16:creationId xmlns:a16="http://schemas.microsoft.com/office/drawing/2014/main" id="{B07D6787-E36F-C55A-3521-C98B95DF6F2B}"/>
              </a:ext>
            </a:extLst>
          </p:cNvPr>
          <p:cNvSpPr/>
          <p:nvPr/>
        </p:nvSpPr>
        <p:spPr>
          <a:xfrm>
            <a:off x="2972715" y="5214211"/>
            <a:ext cx="504056" cy="2775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BA51C223-1E4C-849D-474D-6044B7694C23}"/>
              </a:ext>
            </a:extLst>
          </p:cNvPr>
          <p:cNvSpPr txBox="1"/>
          <p:nvPr/>
        </p:nvSpPr>
        <p:spPr>
          <a:xfrm>
            <a:off x="1892595" y="4957096"/>
            <a:ext cx="1241045" cy="369332"/>
          </a:xfrm>
          <a:prstGeom prst="rect">
            <a:avLst/>
          </a:prstGeom>
          <a:noFill/>
        </p:spPr>
        <p:txBody>
          <a:bodyPr wrap="none" rtlCol="0">
            <a:spAutoFit/>
          </a:bodyPr>
          <a:lstStyle/>
          <a:p>
            <a:r>
              <a:rPr kumimoji="1" lang="ja-JP" altLang="en-US" sz="1800" dirty="0">
                <a:solidFill>
                  <a:srgbClr val="FF0000"/>
                </a:solidFill>
              </a:rPr>
              <a:t>描画ボタン</a:t>
            </a:r>
          </a:p>
        </p:txBody>
      </p:sp>
    </p:spTree>
    <p:extLst>
      <p:ext uri="{BB962C8B-B14F-4D97-AF65-F5344CB8AC3E}">
        <p14:creationId xmlns:p14="http://schemas.microsoft.com/office/powerpoint/2010/main" val="181439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BB02DD5-DCDD-4F22-83BA-DB006F89E529}"/>
              </a:ext>
            </a:extLst>
          </p:cNvPr>
          <p:cNvSpPr>
            <a:spLocks noGrp="1" noChangeArrowheads="1"/>
          </p:cNvSpPr>
          <p:nvPr>
            <p:ph type="title"/>
          </p:nvPr>
        </p:nvSpPr>
        <p:spPr>
          <a:xfrm>
            <a:off x="22796" y="-3392"/>
            <a:ext cx="9073008" cy="896938"/>
          </a:xfrm>
        </p:spPr>
        <p:txBody>
          <a:bodyPr/>
          <a:lstStyle/>
          <a:p>
            <a:pPr eaLnBrk="1" hangingPunct="1"/>
            <a:r>
              <a:rPr lang="en-US" altLang="ja-JP" sz="3600" dirty="0"/>
              <a:t>YouTube</a:t>
            </a:r>
            <a:r>
              <a:rPr lang="ja-JP" altLang="en-US" sz="3600" dirty="0"/>
              <a:t>動画で予習（必須ではありません）</a:t>
            </a:r>
            <a:endParaRPr lang="ja-JP" altLang="en-US" sz="3600" dirty="0">
              <a:latin typeface="Century Gothic" panose="020B0502020202020204" pitchFamily="34" charset="0"/>
            </a:endParaRPr>
          </a:p>
        </p:txBody>
      </p:sp>
      <p:pic>
        <p:nvPicPr>
          <p:cNvPr id="5" name="図 4">
            <a:extLst>
              <a:ext uri="{FF2B5EF4-FFF2-40B4-BE49-F238E27FC236}">
                <a16:creationId xmlns:a16="http://schemas.microsoft.com/office/drawing/2014/main" id="{96800BFE-1EC7-81D9-3F21-E40471A86ACF}"/>
              </a:ext>
            </a:extLst>
          </p:cNvPr>
          <p:cNvPicPr>
            <a:picLocks noChangeAspect="1"/>
          </p:cNvPicPr>
          <p:nvPr/>
        </p:nvPicPr>
        <p:blipFill rotWithShape="1">
          <a:blip r:embed="rId3"/>
          <a:srcRect t="7300" b="11589"/>
          <a:stretch/>
        </p:blipFill>
        <p:spPr>
          <a:xfrm>
            <a:off x="251520" y="893546"/>
            <a:ext cx="2086560" cy="951986"/>
          </a:xfrm>
          <a:prstGeom prst="rect">
            <a:avLst/>
          </a:prstGeom>
        </p:spPr>
      </p:pic>
      <p:sp>
        <p:nvSpPr>
          <p:cNvPr id="16" name="テキスト ボックス 15">
            <a:extLst>
              <a:ext uri="{FF2B5EF4-FFF2-40B4-BE49-F238E27FC236}">
                <a16:creationId xmlns:a16="http://schemas.microsoft.com/office/drawing/2014/main" id="{05660D59-5D8D-5394-F647-9591BAAFF75E}"/>
              </a:ext>
            </a:extLst>
          </p:cNvPr>
          <p:cNvSpPr txBox="1"/>
          <p:nvPr/>
        </p:nvSpPr>
        <p:spPr>
          <a:xfrm>
            <a:off x="2585672" y="1047769"/>
            <a:ext cx="3835858" cy="615553"/>
          </a:xfrm>
          <a:prstGeom prst="rect">
            <a:avLst/>
          </a:prstGeom>
          <a:noFill/>
        </p:spPr>
        <p:txBody>
          <a:bodyPr wrap="none" rtlCol="0">
            <a:spAutoFit/>
          </a:bodyPr>
          <a:lstStyle/>
          <a:p>
            <a:r>
              <a:rPr kumimoji="1" lang="ja-JP" altLang="en-US" sz="2000" dirty="0"/>
              <a:t>プロモーション動画</a:t>
            </a:r>
            <a:endParaRPr kumimoji="1" lang="en-US" altLang="ja-JP" sz="2000" dirty="0"/>
          </a:p>
          <a:p>
            <a:r>
              <a:rPr lang="en-US" altLang="ja-JP" sz="1400" dirty="0">
                <a:solidFill>
                  <a:srgbClr val="0000FF"/>
                </a:solidFill>
                <a:hlinkClick r:id="rId4">
                  <a:extLst>
                    <a:ext uri="{A12FA001-AC4F-418D-AE19-62706E023703}">
                      <ahyp:hlinkClr xmlns:ahyp="http://schemas.microsoft.com/office/drawing/2018/hyperlinkcolor" val="tx"/>
                    </a:ext>
                  </a:extLst>
                </a:hlinkClick>
              </a:rPr>
              <a:t>https://www.youtube.com/watch?v=G6-XTIctRgA</a:t>
            </a:r>
            <a:endParaRPr kumimoji="1" lang="ja-JP" altLang="en-US" sz="1400" dirty="0">
              <a:solidFill>
                <a:srgbClr val="0000FF"/>
              </a:solidFill>
            </a:endParaRPr>
          </a:p>
        </p:txBody>
      </p:sp>
      <p:pic>
        <p:nvPicPr>
          <p:cNvPr id="20" name="図 19">
            <a:extLst>
              <a:ext uri="{FF2B5EF4-FFF2-40B4-BE49-F238E27FC236}">
                <a16:creationId xmlns:a16="http://schemas.microsoft.com/office/drawing/2014/main" id="{7BA16721-E35B-C05F-CE90-73841E5FB0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867" y="2060848"/>
            <a:ext cx="2067213" cy="1190791"/>
          </a:xfrm>
          <a:prstGeom prst="rect">
            <a:avLst/>
          </a:prstGeom>
        </p:spPr>
      </p:pic>
      <p:sp>
        <p:nvSpPr>
          <p:cNvPr id="21" name="テキスト ボックス 20">
            <a:extLst>
              <a:ext uri="{FF2B5EF4-FFF2-40B4-BE49-F238E27FC236}">
                <a16:creationId xmlns:a16="http://schemas.microsoft.com/office/drawing/2014/main" id="{12403570-8A96-DA34-130A-2A7A83AD9E9F}"/>
              </a:ext>
            </a:extLst>
          </p:cNvPr>
          <p:cNvSpPr txBox="1"/>
          <p:nvPr/>
        </p:nvSpPr>
        <p:spPr>
          <a:xfrm>
            <a:off x="2555776" y="2333077"/>
            <a:ext cx="6190862" cy="615553"/>
          </a:xfrm>
          <a:prstGeom prst="rect">
            <a:avLst/>
          </a:prstGeom>
          <a:noFill/>
        </p:spPr>
        <p:txBody>
          <a:bodyPr wrap="none" rtlCol="0">
            <a:spAutoFit/>
          </a:bodyPr>
          <a:lstStyle/>
          <a:p>
            <a:r>
              <a:rPr kumimoji="1" lang="ja-JP" altLang="en-US" sz="2000" dirty="0"/>
              <a:t>講習会資料読み上げ動画（機械音声）</a:t>
            </a:r>
            <a:endParaRPr kumimoji="1" lang="en-US" altLang="ja-JP" sz="2000" dirty="0"/>
          </a:p>
          <a:p>
            <a:r>
              <a:rPr lang="ja-JP" altLang="en-US" sz="1400" dirty="0">
                <a:solidFill>
                  <a:srgbClr val="0000FF"/>
                </a:solidFill>
                <a:hlinkClick r:id="rId6">
                  <a:extLst>
                    <a:ext uri="{A12FA001-AC4F-418D-AE19-62706E023703}">
                      <ahyp:hlinkClr xmlns:ahyp="http://schemas.microsoft.com/office/drawing/2018/hyperlinkcolor" val="tx"/>
                    </a:ext>
                  </a:extLst>
                </a:hlinkClick>
              </a:rPr>
              <a:t>https://www.youtube.com/playlist?list=PLe8Wrr-sE8vyHULN9411XG5le8039Vz-t</a:t>
            </a:r>
            <a:endParaRPr lang="ja-JP" altLang="en-US" sz="1400" dirty="0">
              <a:solidFill>
                <a:srgbClr val="0000FF"/>
              </a:solidFill>
            </a:endParaRPr>
          </a:p>
        </p:txBody>
      </p:sp>
      <p:pic>
        <p:nvPicPr>
          <p:cNvPr id="27" name="図 26">
            <a:extLst>
              <a:ext uri="{FF2B5EF4-FFF2-40B4-BE49-F238E27FC236}">
                <a16:creationId xmlns:a16="http://schemas.microsoft.com/office/drawing/2014/main" id="{4AB828DF-EB62-8535-20C7-B3900C08B4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5536" y="3429000"/>
            <a:ext cx="1872208" cy="1170130"/>
          </a:xfrm>
          <a:prstGeom prst="rect">
            <a:avLst/>
          </a:prstGeom>
        </p:spPr>
      </p:pic>
      <p:sp>
        <p:nvSpPr>
          <p:cNvPr id="28" name="テキスト ボックス 27">
            <a:extLst>
              <a:ext uri="{FF2B5EF4-FFF2-40B4-BE49-F238E27FC236}">
                <a16:creationId xmlns:a16="http://schemas.microsoft.com/office/drawing/2014/main" id="{44635F71-F515-4C49-7C6F-6DCE60DD9DA5}"/>
              </a:ext>
            </a:extLst>
          </p:cNvPr>
          <p:cNvSpPr txBox="1"/>
          <p:nvPr/>
        </p:nvSpPr>
        <p:spPr>
          <a:xfrm>
            <a:off x="2557602" y="3706288"/>
            <a:ext cx="4158511" cy="615553"/>
          </a:xfrm>
          <a:prstGeom prst="rect">
            <a:avLst/>
          </a:prstGeom>
          <a:noFill/>
        </p:spPr>
        <p:txBody>
          <a:bodyPr wrap="none" rtlCol="0">
            <a:spAutoFit/>
          </a:bodyPr>
          <a:lstStyle/>
          <a:p>
            <a:r>
              <a:rPr lang="ja-JP" altLang="en-US" sz="2000" i="0" dirty="0">
                <a:solidFill>
                  <a:srgbClr val="444444"/>
                </a:solidFill>
                <a:effectLst/>
                <a:latin typeface="+mj-ea"/>
                <a:ea typeface="+mj-ea"/>
              </a:rPr>
              <a:t>モンテカルロ法をサイコロで科学する</a:t>
            </a:r>
            <a:endParaRPr lang="en-US" altLang="ja-JP" sz="2000" i="0" dirty="0">
              <a:solidFill>
                <a:srgbClr val="444444"/>
              </a:solidFill>
              <a:effectLst/>
              <a:latin typeface="+mj-ea"/>
              <a:ea typeface="+mj-ea"/>
            </a:endParaRPr>
          </a:p>
          <a:p>
            <a:r>
              <a:rPr lang="en-US" altLang="ja-JP" sz="1400" b="0" i="0" u="sng" dirty="0">
                <a:solidFill>
                  <a:srgbClr val="0000FF"/>
                </a:solidFill>
                <a:effectLst/>
                <a:cs typeface="Times New Roman" panose="02020603050405020304" pitchFamily="18" charset="0"/>
                <a:hlinkClick r:id="rId8">
                  <a:extLst>
                    <a:ext uri="{A12FA001-AC4F-418D-AE19-62706E023703}">
                      <ahyp:hlinkClr xmlns:ahyp="http://schemas.microsoft.com/office/drawing/2018/hyperlinkcolor" val="tx"/>
                    </a:ext>
                  </a:extLst>
                </a:hlinkClick>
              </a:rPr>
              <a:t>https://www.youtube.com/watch?v=9_bs6g0n3Hg</a:t>
            </a:r>
            <a:endParaRPr lang="ja-JP" altLang="en-US" sz="1800" dirty="0">
              <a:solidFill>
                <a:srgbClr val="0000FF"/>
              </a:solidFill>
              <a:cs typeface="Times New Roman" panose="02020603050405020304" pitchFamily="18" charset="0"/>
            </a:endParaRPr>
          </a:p>
        </p:txBody>
      </p:sp>
      <p:pic>
        <p:nvPicPr>
          <p:cNvPr id="30" name="図 29">
            <a:extLst>
              <a:ext uri="{FF2B5EF4-FFF2-40B4-BE49-F238E27FC236}">
                <a16:creationId xmlns:a16="http://schemas.microsoft.com/office/drawing/2014/main" id="{EC6A8F14-4524-F097-090F-00BBC8507B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3059" y="4794324"/>
            <a:ext cx="1872208" cy="1170130"/>
          </a:xfrm>
          <a:prstGeom prst="rect">
            <a:avLst/>
          </a:prstGeom>
        </p:spPr>
      </p:pic>
      <p:sp>
        <p:nvSpPr>
          <p:cNvPr id="31" name="テキスト ボックス 30">
            <a:extLst>
              <a:ext uri="{FF2B5EF4-FFF2-40B4-BE49-F238E27FC236}">
                <a16:creationId xmlns:a16="http://schemas.microsoft.com/office/drawing/2014/main" id="{6A176053-5755-462C-1505-5DBD581F2354}"/>
              </a:ext>
            </a:extLst>
          </p:cNvPr>
          <p:cNvSpPr txBox="1"/>
          <p:nvPr/>
        </p:nvSpPr>
        <p:spPr>
          <a:xfrm>
            <a:off x="2555776" y="5071612"/>
            <a:ext cx="4632615" cy="615553"/>
          </a:xfrm>
          <a:prstGeom prst="rect">
            <a:avLst/>
          </a:prstGeom>
          <a:noFill/>
        </p:spPr>
        <p:txBody>
          <a:bodyPr wrap="none" rtlCol="0">
            <a:spAutoFit/>
          </a:bodyPr>
          <a:lstStyle/>
          <a:p>
            <a:r>
              <a:rPr lang="ja-JP" altLang="en-US" sz="2000" i="0" dirty="0">
                <a:solidFill>
                  <a:srgbClr val="444444"/>
                </a:solidFill>
                <a:effectLst/>
                <a:latin typeface="+mj-ea"/>
                <a:ea typeface="+mj-ea"/>
              </a:rPr>
              <a:t>パペット落語で丸わかり「フィッツ！」</a:t>
            </a:r>
            <a:endParaRPr lang="en-US" altLang="ja-JP" sz="2000" i="0" dirty="0">
              <a:solidFill>
                <a:srgbClr val="444444"/>
              </a:solidFill>
              <a:effectLst/>
              <a:latin typeface="+mj-ea"/>
              <a:ea typeface="+mj-ea"/>
            </a:endParaRPr>
          </a:p>
          <a:p>
            <a:r>
              <a:rPr lang="en-US" altLang="ja-JP" sz="1400" b="0" i="0" u="sng" dirty="0">
                <a:solidFill>
                  <a:srgbClr val="0000FF"/>
                </a:solidFill>
                <a:effectLst/>
                <a:cs typeface="Times New Roman" panose="02020603050405020304" pitchFamily="18" charset="0"/>
                <a:hlinkClick r:id="rId10">
                  <a:extLst>
                    <a:ext uri="{A12FA001-AC4F-418D-AE19-62706E023703}">
                      <ahyp:hlinkClr xmlns:ahyp="http://schemas.microsoft.com/office/drawing/2018/hyperlinkcolor" val="tx"/>
                    </a:ext>
                  </a:extLst>
                </a:hlinkClick>
              </a:rPr>
              <a:t>https://www.youtube.com/watch?v=1WeaFPRXHWI&amp;t=331s</a:t>
            </a:r>
            <a:endParaRPr lang="ja-JP" altLang="en-US" sz="1800" dirty="0">
              <a:solidFill>
                <a:srgbClr val="0000FF"/>
              </a:solidFill>
              <a:cs typeface="Times New Roman" panose="02020603050405020304" pitchFamily="18" charset="0"/>
            </a:endParaRPr>
          </a:p>
        </p:txBody>
      </p:sp>
    </p:spTree>
    <p:extLst>
      <p:ext uri="{BB962C8B-B14F-4D97-AF65-F5344CB8AC3E}">
        <p14:creationId xmlns:p14="http://schemas.microsoft.com/office/powerpoint/2010/main" val="3854604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Text Box 7">
            <a:extLst>
              <a:ext uri="{FF2B5EF4-FFF2-40B4-BE49-F238E27FC236}">
                <a16:creationId xmlns:a16="http://schemas.microsoft.com/office/drawing/2014/main" id="{5AB8B299-D49E-420F-B753-87454D8B415D}"/>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33800" name="Rectangle 2">
            <a:extLst>
              <a:ext uri="{FF2B5EF4-FFF2-40B4-BE49-F238E27FC236}">
                <a16:creationId xmlns:a16="http://schemas.microsoft.com/office/drawing/2014/main" id="{F551527C-00DD-4AB4-8B42-8E93F66C30DD}"/>
              </a:ext>
            </a:extLst>
          </p:cNvPr>
          <p:cNvSpPr txBox="1">
            <a:spLocks noChangeArrowheads="1"/>
          </p:cNvSpPr>
          <p:nvPr/>
        </p:nvSpPr>
        <p:spPr bwMode="auto">
          <a:xfrm>
            <a:off x="987425" y="188913"/>
            <a:ext cx="68976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4800" dirty="0">
                <a:solidFill>
                  <a:srgbClr val="000000"/>
                </a:solidFill>
                <a:latin typeface="ＭＳ Ｐゴシック" panose="020B0600070205080204" pitchFamily="50" charset="-128"/>
              </a:rPr>
              <a:t>目次</a:t>
            </a:r>
            <a:endParaRPr lang="en-US" altLang="ja-JP" sz="4800" dirty="0">
              <a:solidFill>
                <a:srgbClr val="000000"/>
              </a:solidFill>
              <a:latin typeface="ＭＳ Ｐゴシック" panose="020B0600070205080204" pitchFamily="50" charset="-128"/>
            </a:endParaRPr>
          </a:p>
        </p:txBody>
      </p:sp>
      <p:sp>
        <p:nvSpPr>
          <p:cNvPr id="2" name="Rectangle 8">
            <a:extLst>
              <a:ext uri="{FF2B5EF4-FFF2-40B4-BE49-F238E27FC236}">
                <a16:creationId xmlns:a16="http://schemas.microsoft.com/office/drawing/2014/main" id="{21656D3D-73B2-D11F-205B-0F5E7FC3F31F}"/>
              </a:ext>
            </a:extLst>
          </p:cNvPr>
          <p:cNvSpPr txBox="1">
            <a:spLocks noChangeArrowheads="1"/>
          </p:cNvSpPr>
          <p:nvPr/>
        </p:nvSpPr>
        <p:spPr bwMode="auto">
          <a:xfrm>
            <a:off x="755576" y="1628800"/>
            <a:ext cx="7835624" cy="3168352"/>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講習会の事前準備</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solidFill>
                  <a:srgbClr val="FF0000"/>
                </a:solidFill>
                <a:latin typeface="Century" pitchFamily="18" charset="0"/>
              </a:rPr>
              <a:t>講習会での注意事項</a:t>
            </a:r>
            <a:endParaRPr lang="en-US" altLang="ja-JP" dirty="0">
              <a:solidFill>
                <a:srgbClr val="FF0000"/>
              </a:solidFill>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講習会終了時の説明</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講習会に参加できない方への追加情報</a:t>
            </a:r>
            <a:endParaRPr lang="en-US" altLang="ja-JP" dirty="0">
              <a:latin typeface="Century" pitchFamily="18" charset="0"/>
            </a:endParaRPr>
          </a:p>
        </p:txBody>
      </p:sp>
      <p:sp>
        <p:nvSpPr>
          <p:cNvPr id="3" name="テキスト ボックス 2">
            <a:extLst>
              <a:ext uri="{FF2B5EF4-FFF2-40B4-BE49-F238E27FC236}">
                <a16:creationId xmlns:a16="http://schemas.microsoft.com/office/drawing/2014/main" id="{B0777CAE-2BBB-A91E-2E7C-D77E81EA7EB2}"/>
              </a:ext>
            </a:extLst>
          </p:cNvPr>
          <p:cNvSpPr txBox="1"/>
          <p:nvPr/>
        </p:nvSpPr>
        <p:spPr>
          <a:xfrm>
            <a:off x="467544" y="5064058"/>
            <a:ext cx="8408071" cy="830997"/>
          </a:xfrm>
          <a:prstGeom prst="rect">
            <a:avLst/>
          </a:prstGeom>
          <a:noFill/>
        </p:spPr>
        <p:txBody>
          <a:bodyPr wrap="none" rtlCol="0">
            <a:spAutoFit/>
          </a:bodyPr>
          <a:lstStyle/>
          <a:p>
            <a:r>
              <a:rPr kumimoji="1" lang="ja-JP" altLang="en-US" dirty="0"/>
              <a:t>本資料は、講習会に参加される方を前提に作成しています。</a:t>
            </a:r>
            <a:endParaRPr kumimoji="1" lang="en-US" altLang="ja-JP" dirty="0"/>
          </a:p>
          <a:p>
            <a:r>
              <a:rPr lang="ja-JP" altLang="en-US" dirty="0"/>
              <a:t>講習会に参加されない方は、最後の項目にも目を通してください</a:t>
            </a:r>
            <a:endParaRPr kumimoji="1" lang="ja-JP" altLang="en-US" dirty="0"/>
          </a:p>
        </p:txBody>
      </p:sp>
    </p:spTree>
    <p:extLst>
      <p:ext uri="{BB962C8B-B14F-4D97-AF65-F5344CB8AC3E}">
        <p14:creationId xmlns:p14="http://schemas.microsoft.com/office/powerpoint/2010/main" val="204267115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61C8F4A-8B62-4ECD-B613-D2706774DAAB}"/>
              </a:ext>
            </a:extLst>
          </p:cNvPr>
          <p:cNvSpPr>
            <a:spLocks noGrp="1" noChangeArrowheads="1"/>
          </p:cNvSpPr>
          <p:nvPr>
            <p:ph type="title"/>
          </p:nvPr>
        </p:nvSpPr>
        <p:spPr>
          <a:xfrm>
            <a:off x="284163" y="404664"/>
            <a:ext cx="4752975" cy="628650"/>
          </a:xfrm>
        </p:spPr>
        <p:txBody>
          <a:bodyPr/>
          <a:lstStyle/>
          <a:p>
            <a:pPr eaLnBrk="1" hangingPunct="1"/>
            <a:r>
              <a:rPr lang="ja-JP" altLang="en-US" sz="2800" dirty="0">
                <a:solidFill>
                  <a:schemeClr val="accent2"/>
                </a:solidFill>
              </a:rPr>
              <a:t>ノートパソコンの電源について</a:t>
            </a:r>
            <a:endParaRPr lang="ja-JP" altLang="en-US" sz="2800" dirty="0">
              <a:solidFill>
                <a:schemeClr val="accent2"/>
              </a:solidFill>
              <a:latin typeface="Century Gothic" panose="020B0502020202020204" pitchFamily="34" charset="0"/>
            </a:endParaRPr>
          </a:p>
        </p:txBody>
      </p:sp>
      <p:sp>
        <p:nvSpPr>
          <p:cNvPr id="48135" name="Rectangle 8">
            <a:extLst>
              <a:ext uri="{FF2B5EF4-FFF2-40B4-BE49-F238E27FC236}">
                <a16:creationId xmlns:a16="http://schemas.microsoft.com/office/drawing/2014/main" id="{A6C3395F-EED7-4B15-BB1A-205F0DAA0AB9}"/>
              </a:ext>
            </a:extLst>
          </p:cNvPr>
          <p:cNvSpPr txBox="1">
            <a:spLocks noChangeArrowheads="1"/>
          </p:cNvSpPr>
          <p:nvPr/>
        </p:nvSpPr>
        <p:spPr bwMode="auto">
          <a:xfrm>
            <a:off x="595313" y="999170"/>
            <a:ext cx="7926387"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a:solidFill>
                  <a:srgbClr val="000000"/>
                </a:solidFill>
              </a:rPr>
              <a:t>　　講習会では、ノートパソコンの</a:t>
            </a:r>
            <a:r>
              <a:rPr lang="en-US" altLang="ja-JP" sz="2400">
                <a:solidFill>
                  <a:srgbClr val="000000"/>
                </a:solidFill>
              </a:rPr>
              <a:t>AC</a:t>
            </a:r>
            <a:r>
              <a:rPr lang="ja-JP" altLang="en-US" sz="2400">
                <a:solidFill>
                  <a:srgbClr val="000000"/>
                </a:solidFill>
              </a:rPr>
              <a:t>アダプターをコンセントにつなぎ電源を確保した状態で受講してください。電源を確保していないと、パソコンの設定によっては省電力設定が有効となり、</a:t>
            </a:r>
            <a:r>
              <a:rPr lang="en-US" altLang="ja-JP" sz="2400">
                <a:solidFill>
                  <a:srgbClr val="000000"/>
                </a:solidFill>
              </a:rPr>
              <a:t>PHITS</a:t>
            </a:r>
            <a:r>
              <a:rPr lang="ja-JP" altLang="en-US" sz="2400">
                <a:solidFill>
                  <a:srgbClr val="000000"/>
                </a:solidFill>
              </a:rPr>
              <a:t>を実行した場合の計算時間が長くなってしまう場合があります。</a:t>
            </a:r>
            <a:endParaRPr lang="en-US" altLang="ja-JP" sz="2400">
              <a:solidFill>
                <a:srgbClr val="000000"/>
              </a:solidFill>
            </a:endParaRPr>
          </a:p>
        </p:txBody>
      </p:sp>
      <p:sp>
        <p:nvSpPr>
          <p:cNvPr id="9" name="Rectangle 2">
            <a:extLst>
              <a:ext uri="{FF2B5EF4-FFF2-40B4-BE49-F238E27FC236}">
                <a16:creationId xmlns:a16="http://schemas.microsoft.com/office/drawing/2014/main" id="{10E48D63-950C-44A7-A2EA-E948F563F6E9}"/>
              </a:ext>
            </a:extLst>
          </p:cNvPr>
          <p:cNvSpPr txBox="1">
            <a:spLocks noChangeArrowheads="1"/>
          </p:cNvSpPr>
          <p:nvPr/>
        </p:nvSpPr>
        <p:spPr bwMode="auto">
          <a:xfrm>
            <a:off x="284163" y="3166108"/>
            <a:ext cx="4752975" cy="628650"/>
          </a:xfrm>
          <a:prstGeom prst="rect">
            <a:avLst/>
          </a:prstGeom>
          <a:noFill/>
          <a:ln>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algn="l" eaLnBrk="1" hangingPunct="1">
              <a:defRPr/>
            </a:pPr>
            <a:r>
              <a:rPr lang="ja-JP" altLang="en-US" sz="2800" kern="0" dirty="0">
                <a:solidFill>
                  <a:schemeClr val="accent2"/>
                </a:solidFill>
              </a:rPr>
              <a:t>講習会の進行速度について</a:t>
            </a:r>
            <a:endParaRPr lang="ja-JP" altLang="en-US" sz="2800" kern="0" dirty="0">
              <a:solidFill>
                <a:schemeClr val="accent2"/>
              </a:solidFill>
              <a:latin typeface="Century Gothic" panose="020B0502020202020204" pitchFamily="34" charset="0"/>
            </a:endParaRPr>
          </a:p>
        </p:txBody>
      </p:sp>
      <p:sp>
        <p:nvSpPr>
          <p:cNvPr id="48138" name="Rectangle 8">
            <a:extLst>
              <a:ext uri="{FF2B5EF4-FFF2-40B4-BE49-F238E27FC236}">
                <a16:creationId xmlns:a16="http://schemas.microsoft.com/office/drawing/2014/main" id="{D36702F0-16F4-4AF8-997D-AD04319F4EF6}"/>
              </a:ext>
            </a:extLst>
          </p:cNvPr>
          <p:cNvSpPr txBox="1">
            <a:spLocks noChangeArrowheads="1"/>
          </p:cNvSpPr>
          <p:nvPr/>
        </p:nvSpPr>
        <p:spPr bwMode="auto">
          <a:xfrm>
            <a:off x="684213" y="3759833"/>
            <a:ext cx="80645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a:solidFill>
                  <a:srgbClr val="000000"/>
                </a:solidFill>
              </a:rPr>
              <a:t>　　初級コースでは，放射線輸送計算コードを使用したことがない方を主対象としています。</a:t>
            </a:r>
            <a:r>
              <a:rPr lang="en-US" altLang="ja-JP" sz="2400">
                <a:solidFill>
                  <a:srgbClr val="000000"/>
                </a:solidFill>
              </a:rPr>
              <a:t>MCNP</a:t>
            </a:r>
            <a:r>
              <a:rPr lang="ja-JP" altLang="en-US" sz="2400">
                <a:solidFill>
                  <a:srgbClr val="000000"/>
                </a:solidFill>
              </a:rPr>
              <a:t>や</a:t>
            </a:r>
            <a:r>
              <a:rPr lang="en-US" altLang="ja-JP" sz="2400">
                <a:solidFill>
                  <a:srgbClr val="000000"/>
                </a:solidFill>
              </a:rPr>
              <a:t>GEANT4</a:t>
            </a:r>
            <a:r>
              <a:rPr lang="ja-JP" altLang="en-US" sz="2400">
                <a:solidFill>
                  <a:srgbClr val="000000"/>
                </a:solidFill>
              </a:rPr>
              <a:t>の使用経験のある方は，講習会のペースに合わせずにどんどん先に進んでいただいて問題ありません。より実践的</a:t>
            </a:r>
            <a:r>
              <a:rPr lang="en-US" altLang="ja-JP" sz="2400">
                <a:solidFill>
                  <a:srgbClr val="000000"/>
                </a:solidFill>
              </a:rPr>
              <a:t>&amp;</a:t>
            </a:r>
            <a:r>
              <a:rPr lang="ja-JP" altLang="en-US" sz="2400">
                <a:solidFill>
                  <a:srgbClr val="000000"/>
                </a:solidFill>
              </a:rPr>
              <a:t>高度な使い方に関する講習資料は</a:t>
            </a:r>
            <a:r>
              <a:rPr lang="en-US" altLang="ja-JP" sz="2400">
                <a:solidFill>
                  <a:srgbClr val="000000"/>
                </a:solidFill>
              </a:rPr>
              <a:t>exercise</a:t>
            </a:r>
            <a:r>
              <a:rPr lang="ja-JP" altLang="en-US" sz="2400">
                <a:solidFill>
                  <a:srgbClr val="000000"/>
                </a:solidFill>
              </a:rPr>
              <a:t>や</a:t>
            </a:r>
            <a:r>
              <a:rPr lang="en-US" altLang="ja-JP" sz="2400">
                <a:solidFill>
                  <a:srgbClr val="000000"/>
                </a:solidFill>
              </a:rPr>
              <a:t>advanced</a:t>
            </a:r>
            <a:r>
              <a:rPr lang="ja-JP" altLang="en-US" sz="2400">
                <a:solidFill>
                  <a:srgbClr val="000000"/>
                </a:solidFill>
              </a:rPr>
              <a:t>フォルダにあります。各講習会資料の内容は</a:t>
            </a:r>
            <a:r>
              <a:rPr lang="en-US" altLang="ja-JP" sz="2400">
                <a:solidFill>
                  <a:srgbClr val="000000"/>
                </a:solidFill>
              </a:rPr>
              <a:t>TableOfContents-jp.ppt</a:t>
            </a:r>
            <a:r>
              <a:rPr lang="ja-JP" altLang="en-US" sz="2400">
                <a:solidFill>
                  <a:srgbClr val="000000"/>
                </a:solidFill>
              </a:rPr>
              <a:t>をご参照ください。</a:t>
            </a:r>
            <a:endParaRPr lang="en-US" altLang="ja-JP" sz="24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4D2FF0F0-78AA-428B-A825-806A3BEB7818}"/>
              </a:ext>
            </a:extLst>
          </p:cNvPr>
          <p:cNvSpPr txBox="1">
            <a:spLocks noChangeArrowheads="1"/>
          </p:cNvSpPr>
          <p:nvPr/>
        </p:nvSpPr>
        <p:spPr bwMode="auto">
          <a:xfrm>
            <a:off x="300410" y="234479"/>
            <a:ext cx="6265863" cy="628650"/>
          </a:xfrm>
          <a:prstGeom prst="rect">
            <a:avLst/>
          </a:prstGeom>
          <a:noFill/>
          <a:ln>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algn="l" eaLnBrk="1" hangingPunct="1">
              <a:defRPr/>
            </a:pPr>
            <a:r>
              <a:rPr lang="ja-JP" altLang="en-US" sz="2800" kern="0" dirty="0">
                <a:solidFill>
                  <a:schemeClr val="accent2"/>
                </a:solidFill>
              </a:rPr>
              <a:t>インストールフォルダ名について</a:t>
            </a:r>
            <a:endParaRPr lang="en-US" altLang="ja-JP" sz="2800" kern="0" dirty="0">
              <a:solidFill>
                <a:schemeClr val="accent2"/>
              </a:solidFill>
            </a:endParaRPr>
          </a:p>
        </p:txBody>
      </p:sp>
      <p:sp>
        <p:nvSpPr>
          <p:cNvPr id="50186" name="Rectangle 8">
            <a:extLst>
              <a:ext uri="{FF2B5EF4-FFF2-40B4-BE49-F238E27FC236}">
                <a16:creationId xmlns:a16="http://schemas.microsoft.com/office/drawing/2014/main" id="{DC00069A-B3E3-4A0C-A196-414DA14FF697}"/>
              </a:ext>
            </a:extLst>
          </p:cNvPr>
          <p:cNvSpPr txBox="1">
            <a:spLocks noChangeArrowheads="1"/>
          </p:cNvSpPr>
          <p:nvPr/>
        </p:nvSpPr>
        <p:spPr bwMode="auto">
          <a:xfrm>
            <a:off x="611560" y="764704"/>
            <a:ext cx="7721600"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dirty="0">
                <a:solidFill>
                  <a:srgbClr val="000000"/>
                </a:solidFill>
              </a:rPr>
              <a:t>　</a:t>
            </a:r>
            <a:r>
              <a:rPr lang="en-US" altLang="ja-JP" sz="2400" dirty="0">
                <a:solidFill>
                  <a:srgbClr val="000000"/>
                </a:solidFill>
              </a:rPr>
              <a:t>Windows</a:t>
            </a:r>
            <a:r>
              <a:rPr lang="ja-JP" altLang="en-US" sz="2400" dirty="0">
                <a:solidFill>
                  <a:srgbClr val="000000"/>
                </a:solidFill>
              </a:rPr>
              <a:t>の場合，サンプルインプットが全て</a:t>
            </a:r>
            <a:r>
              <a:rPr lang="en-US" altLang="ja-JP" sz="2400" dirty="0">
                <a:solidFill>
                  <a:srgbClr val="000000"/>
                </a:solidFill>
              </a:rPr>
              <a:t>c:</a:t>
            </a:r>
            <a:r>
              <a:rPr lang="ja-JP" altLang="en-US" sz="2400" dirty="0">
                <a:solidFill>
                  <a:srgbClr val="000000"/>
                </a:solidFill>
              </a:rPr>
              <a:t>ドライブ直下（デフォルトフォルダ）にインストールすることを想定しているため，インストール時のフォルダ名の変更はお薦めしません。また，</a:t>
            </a:r>
            <a:r>
              <a:rPr lang="en-US" altLang="ja-JP" sz="2400" dirty="0">
                <a:solidFill>
                  <a:srgbClr val="000000"/>
                </a:solidFill>
              </a:rPr>
              <a:t>Windows, Mac</a:t>
            </a:r>
            <a:r>
              <a:rPr lang="ja-JP" altLang="en-US" sz="2400" dirty="0">
                <a:solidFill>
                  <a:srgbClr val="000000"/>
                </a:solidFill>
              </a:rPr>
              <a:t>ともに，インストール後にフォルダ名を変更したりインストールしたフォルダを移動することはできません。</a:t>
            </a:r>
            <a:endParaRPr lang="en-US" altLang="ja-JP" sz="2400" dirty="0">
              <a:solidFill>
                <a:srgbClr val="000000"/>
              </a:solidFill>
            </a:endParaRPr>
          </a:p>
        </p:txBody>
      </p:sp>
      <p:sp>
        <p:nvSpPr>
          <p:cNvPr id="2" name="Rectangle 2">
            <a:extLst>
              <a:ext uri="{FF2B5EF4-FFF2-40B4-BE49-F238E27FC236}">
                <a16:creationId xmlns:a16="http://schemas.microsoft.com/office/drawing/2014/main" id="{8731F146-9D6D-03A1-9B89-BEECEE8F6342}"/>
              </a:ext>
            </a:extLst>
          </p:cNvPr>
          <p:cNvSpPr txBox="1">
            <a:spLocks noChangeArrowheads="1"/>
          </p:cNvSpPr>
          <p:nvPr/>
        </p:nvSpPr>
        <p:spPr bwMode="auto">
          <a:xfrm>
            <a:off x="323528" y="3284984"/>
            <a:ext cx="6265863" cy="628650"/>
          </a:xfrm>
          <a:prstGeom prst="rect">
            <a:avLst/>
          </a:prstGeom>
          <a:noFill/>
          <a:ln>
            <a:noFill/>
          </a:ln>
        </p:spPr>
        <p:txBody>
          <a:bodyPr anchor="ct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charset="0"/>
                <a:ea typeface="ＭＳ Ｐゴシック" pitchFamily="50" charset="-128"/>
              </a:defRPr>
            </a:lvl9pPr>
          </a:lstStyle>
          <a:p>
            <a:pPr algn="l" eaLnBrk="1" hangingPunct="1">
              <a:defRPr/>
            </a:pPr>
            <a:r>
              <a:rPr lang="ja-JP" altLang="en-US" sz="2800" kern="0" dirty="0">
                <a:solidFill>
                  <a:schemeClr val="accent2"/>
                </a:solidFill>
              </a:rPr>
              <a:t>作業フォルダ・ファイル名について</a:t>
            </a:r>
            <a:endParaRPr lang="en-US" altLang="ja-JP" sz="2800" kern="0" dirty="0">
              <a:solidFill>
                <a:schemeClr val="accent2"/>
              </a:solidFill>
            </a:endParaRPr>
          </a:p>
        </p:txBody>
      </p:sp>
      <p:sp>
        <p:nvSpPr>
          <p:cNvPr id="3" name="Rectangle 8">
            <a:extLst>
              <a:ext uri="{FF2B5EF4-FFF2-40B4-BE49-F238E27FC236}">
                <a16:creationId xmlns:a16="http://schemas.microsoft.com/office/drawing/2014/main" id="{ED1024B4-5AD9-DF9E-07E6-A85D772A919F}"/>
              </a:ext>
            </a:extLst>
          </p:cNvPr>
          <p:cNvSpPr txBox="1">
            <a:spLocks noChangeArrowheads="1"/>
          </p:cNvSpPr>
          <p:nvPr/>
        </p:nvSpPr>
        <p:spPr bwMode="auto">
          <a:xfrm>
            <a:off x="611560" y="3913635"/>
            <a:ext cx="772160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a:solidFill>
                  <a:srgbClr val="000000"/>
                </a:solidFill>
              </a:rPr>
              <a:t>作業フォルダ名や</a:t>
            </a:r>
            <a:r>
              <a:rPr lang="ja-JP" altLang="en-US" sz="2400" dirty="0">
                <a:solidFill>
                  <a:srgbClr val="000000"/>
                </a:solidFill>
              </a:rPr>
              <a:t>ファイル名に関しては自由に変更可能です。ただし、日本語フォント及び（全角・半角）スペースが混じったフォルダ名・ファイル名はエラーを起こす場合があるので使用しないでください。</a:t>
            </a:r>
            <a:endParaRPr lang="en-US" altLang="ja-JP" sz="2400" dirty="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Text Box 7">
            <a:extLst>
              <a:ext uri="{FF2B5EF4-FFF2-40B4-BE49-F238E27FC236}">
                <a16:creationId xmlns:a16="http://schemas.microsoft.com/office/drawing/2014/main" id="{5AB8B299-D49E-420F-B753-87454D8B415D}"/>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33800" name="Rectangle 2">
            <a:extLst>
              <a:ext uri="{FF2B5EF4-FFF2-40B4-BE49-F238E27FC236}">
                <a16:creationId xmlns:a16="http://schemas.microsoft.com/office/drawing/2014/main" id="{F551527C-00DD-4AB4-8B42-8E93F66C30DD}"/>
              </a:ext>
            </a:extLst>
          </p:cNvPr>
          <p:cNvSpPr txBox="1">
            <a:spLocks noChangeArrowheads="1"/>
          </p:cNvSpPr>
          <p:nvPr/>
        </p:nvSpPr>
        <p:spPr bwMode="auto">
          <a:xfrm>
            <a:off x="987425" y="188913"/>
            <a:ext cx="68976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4800" dirty="0">
                <a:solidFill>
                  <a:srgbClr val="000000"/>
                </a:solidFill>
                <a:latin typeface="ＭＳ Ｐゴシック" panose="020B0600070205080204" pitchFamily="50" charset="-128"/>
              </a:rPr>
              <a:t>目次</a:t>
            </a:r>
            <a:endParaRPr lang="en-US" altLang="ja-JP" sz="4800" dirty="0">
              <a:solidFill>
                <a:srgbClr val="000000"/>
              </a:solidFill>
              <a:latin typeface="ＭＳ Ｐゴシック" panose="020B0600070205080204" pitchFamily="50" charset="-128"/>
            </a:endParaRPr>
          </a:p>
        </p:txBody>
      </p:sp>
      <p:sp>
        <p:nvSpPr>
          <p:cNvPr id="2" name="Rectangle 8">
            <a:extLst>
              <a:ext uri="{FF2B5EF4-FFF2-40B4-BE49-F238E27FC236}">
                <a16:creationId xmlns:a16="http://schemas.microsoft.com/office/drawing/2014/main" id="{21656D3D-73B2-D11F-205B-0F5E7FC3F31F}"/>
              </a:ext>
            </a:extLst>
          </p:cNvPr>
          <p:cNvSpPr txBox="1">
            <a:spLocks noChangeArrowheads="1"/>
          </p:cNvSpPr>
          <p:nvPr/>
        </p:nvSpPr>
        <p:spPr bwMode="auto">
          <a:xfrm>
            <a:off x="755576" y="1628800"/>
            <a:ext cx="7835624" cy="3168352"/>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講習会の事前準備</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講習会での注意事項</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solidFill>
                  <a:srgbClr val="FF0000"/>
                </a:solidFill>
                <a:latin typeface="Century" pitchFamily="18" charset="0"/>
              </a:rPr>
              <a:t>講習会終了時の説明</a:t>
            </a:r>
            <a:endParaRPr lang="en-US" altLang="ja-JP" dirty="0">
              <a:solidFill>
                <a:srgbClr val="FF0000"/>
              </a:solidFill>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講習会に参加できない方への追加情報</a:t>
            </a:r>
            <a:endParaRPr lang="en-US" altLang="ja-JP" dirty="0">
              <a:latin typeface="Century" pitchFamily="18" charset="0"/>
            </a:endParaRPr>
          </a:p>
        </p:txBody>
      </p:sp>
      <p:sp>
        <p:nvSpPr>
          <p:cNvPr id="3" name="テキスト ボックス 2">
            <a:extLst>
              <a:ext uri="{FF2B5EF4-FFF2-40B4-BE49-F238E27FC236}">
                <a16:creationId xmlns:a16="http://schemas.microsoft.com/office/drawing/2014/main" id="{B0777CAE-2BBB-A91E-2E7C-D77E81EA7EB2}"/>
              </a:ext>
            </a:extLst>
          </p:cNvPr>
          <p:cNvSpPr txBox="1"/>
          <p:nvPr/>
        </p:nvSpPr>
        <p:spPr>
          <a:xfrm>
            <a:off x="467544" y="5064058"/>
            <a:ext cx="8408071" cy="830997"/>
          </a:xfrm>
          <a:prstGeom prst="rect">
            <a:avLst/>
          </a:prstGeom>
          <a:noFill/>
        </p:spPr>
        <p:txBody>
          <a:bodyPr wrap="none" rtlCol="0">
            <a:spAutoFit/>
          </a:bodyPr>
          <a:lstStyle/>
          <a:p>
            <a:r>
              <a:rPr kumimoji="1" lang="ja-JP" altLang="en-US" dirty="0"/>
              <a:t>本資料は、講習会に参加される方を前提に作成しています。</a:t>
            </a:r>
            <a:endParaRPr kumimoji="1" lang="en-US" altLang="ja-JP" dirty="0"/>
          </a:p>
          <a:p>
            <a:r>
              <a:rPr lang="ja-JP" altLang="en-US" dirty="0"/>
              <a:t>講習会に参加されない方は、最後の項目にも目を通してください</a:t>
            </a:r>
            <a:endParaRPr kumimoji="1" lang="ja-JP" altLang="en-US" dirty="0"/>
          </a:p>
        </p:txBody>
      </p:sp>
    </p:spTree>
    <p:extLst>
      <p:ext uri="{BB962C8B-B14F-4D97-AF65-F5344CB8AC3E}">
        <p14:creationId xmlns:p14="http://schemas.microsoft.com/office/powerpoint/2010/main" val="276964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4F8BACD-5D00-4EC9-9BB5-BFC26DB4AA5B}"/>
              </a:ext>
            </a:extLst>
          </p:cNvPr>
          <p:cNvSpPr>
            <a:spLocks noGrp="1" noChangeArrowheads="1"/>
          </p:cNvSpPr>
          <p:nvPr>
            <p:ph type="title"/>
          </p:nvPr>
        </p:nvSpPr>
        <p:spPr>
          <a:xfrm>
            <a:off x="1763713" y="115888"/>
            <a:ext cx="5316537" cy="896937"/>
          </a:xfrm>
        </p:spPr>
        <p:txBody>
          <a:bodyPr/>
          <a:lstStyle/>
          <a:p>
            <a:pPr eaLnBrk="1" hangingPunct="1"/>
            <a:r>
              <a:rPr lang="en-US" altLang="ja-JP" sz="4000"/>
              <a:t>PHITS</a:t>
            </a:r>
            <a:r>
              <a:rPr lang="ja-JP" altLang="en-US" sz="4000"/>
              <a:t>のフォルダ構造</a:t>
            </a:r>
            <a:endParaRPr lang="ja-JP" altLang="en-US" sz="4000">
              <a:latin typeface="Century Gothic" panose="020B0502020202020204" pitchFamily="34" charset="0"/>
            </a:endParaRPr>
          </a:p>
        </p:txBody>
      </p:sp>
      <p:sp>
        <p:nvSpPr>
          <p:cNvPr id="54277" name="Text Box 5">
            <a:extLst>
              <a:ext uri="{FF2B5EF4-FFF2-40B4-BE49-F238E27FC236}">
                <a16:creationId xmlns:a16="http://schemas.microsoft.com/office/drawing/2014/main" id="{B8E95EE0-16AC-4A83-9945-638996E85590}"/>
              </a:ext>
            </a:extLst>
          </p:cNvPr>
          <p:cNvSpPr txBox="1">
            <a:spLocks noChangeArrowheads="1"/>
          </p:cNvSpPr>
          <p:nvPr/>
        </p:nvSpPr>
        <p:spPr bwMode="auto">
          <a:xfrm>
            <a:off x="2197100" y="64008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Folder tree</a:t>
            </a:r>
          </a:p>
        </p:txBody>
      </p:sp>
      <p:sp>
        <p:nvSpPr>
          <p:cNvPr id="40967" name="Rectangle 8">
            <a:extLst>
              <a:ext uri="{FF2B5EF4-FFF2-40B4-BE49-F238E27FC236}">
                <a16:creationId xmlns:a16="http://schemas.microsoft.com/office/drawing/2014/main" id="{55E55CD3-29DB-4AA2-9598-D7F0CDFCBB20}"/>
              </a:ext>
            </a:extLst>
          </p:cNvPr>
          <p:cNvSpPr txBox="1">
            <a:spLocks noChangeArrowheads="1"/>
          </p:cNvSpPr>
          <p:nvPr/>
        </p:nvSpPr>
        <p:spPr bwMode="auto">
          <a:xfrm>
            <a:off x="439738" y="1012825"/>
            <a:ext cx="8226425" cy="5224463"/>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eaLnBrk="1" hangingPunct="1">
              <a:buFontTx/>
              <a:buNone/>
              <a:defRPr/>
            </a:pPr>
            <a:r>
              <a:rPr lang="ja-JP" altLang="en-US" sz="2400" dirty="0">
                <a:solidFill>
                  <a:srgbClr val="000000"/>
                </a:solidFill>
                <a:latin typeface="Century" pitchFamily="18" charset="0"/>
              </a:rPr>
              <a:t>インストールによって作成された</a:t>
            </a:r>
            <a:r>
              <a:rPr lang="en-US" altLang="ja-JP" sz="2400" dirty="0">
                <a:solidFill>
                  <a:srgbClr val="000000"/>
                </a:solidFill>
                <a:latin typeface="Century" pitchFamily="18" charset="0"/>
              </a:rPr>
              <a:t>/</a:t>
            </a:r>
            <a:r>
              <a:rPr lang="en-US" altLang="ja-JP" sz="2400" dirty="0" err="1">
                <a:solidFill>
                  <a:srgbClr val="000000"/>
                </a:solidFill>
                <a:latin typeface="Century" pitchFamily="18" charset="0"/>
              </a:rPr>
              <a:t>phits</a:t>
            </a:r>
            <a:r>
              <a:rPr lang="en-US" altLang="ja-JP" sz="2400" dirty="0">
                <a:solidFill>
                  <a:srgbClr val="000000"/>
                </a:solidFill>
                <a:latin typeface="Century" pitchFamily="18" charset="0"/>
              </a:rPr>
              <a:t>/</a:t>
            </a:r>
            <a:r>
              <a:rPr lang="ja-JP" altLang="en-US" sz="2400" dirty="0">
                <a:solidFill>
                  <a:srgbClr val="000000"/>
                </a:solidFill>
                <a:latin typeface="Century" pitchFamily="18" charset="0"/>
              </a:rPr>
              <a:t>フォルダには、以下のフォルダが入っています。</a:t>
            </a:r>
            <a:endParaRPr lang="en-US" altLang="ja-JP" sz="24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/bin/ ------ PHITS</a:t>
            </a:r>
            <a:r>
              <a:rPr lang="ja-JP" altLang="en-US" sz="2000" dirty="0">
                <a:solidFill>
                  <a:srgbClr val="000000"/>
                </a:solidFill>
                <a:latin typeface="Century" pitchFamily="18" charset="0"/>
              </a:rPr>
              <a:t>などの実行ファイルとシェルスクリプト</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/data/ ------ PHITS</a:t>
            </a:r>
            <a:r>
              <a:rPr lang="ja-JP" altLang="en-US" sz="2000" dirty="0">
                <a:solidFill>
                  <a:srgbClr val="000000"/>
                </a:solidFill>
                <a:latin typeface="Century" pitchFamily="18" charset="0"/>
              </a:rPr>
              <a:t>で使用するデータファイル</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a:t>
            </a:r>
            <a:r>
              <a:rPr lang="en-US" altLang="ja-JP" sz="2000" dirty="0" err="1">
                <a:solidFill>
                  <a:srgbClr val="000000"/>
                </a:solidFill>
                <a:latin typeface="Century" pitchFamily="18" charset="0"/>
              </a:rPr>
              <a:t>dchain-sp</a:t>
            </a:r>
            <a:r>
              <a:rPr lang="en-US" altLang="ja-JP" sz="2000" dirty="0">
                <a:solidFill>
                  <a:srgbClr val="000000"/>
                </a:solidFill>
                <a:latin typeface="Century" pitchFamily="18" charset="0"/>
              </a:rPr>
              <a:t>/ ------ </a:t>
            </a:r>
            <a:r>
              <a:rPr lang="ja-JP" altLang="en-US" sz="2000" dirty="0">
                <a:solidFill>
                  <a:srgbClr val="000000"/>
                </a:solidFill>
                <a:latin typeface="Century" pitchFamily="18" charset="0"/>
              </a:rPr>
              <a:t>残留放射能を評価するプログラム</a:t>
            </a:r>
            <a:r>
              <a:rPr lang="en-US" altLang="ja-JP" sz="2000" dirty="0">
                <a:solidFill>
                  <a:srgbClr val="000000"/>
                </a:solidFill>
                <a:latin typeface="Century" pitchFamily="18" charset="0"/>
              </a:rPr>
              <a:t>DCHAIN-SP</a:t>
            </a:r>
            <a:r>
              <a:rPr lang="ja-JP" altLang="en-US" sz="2000" dirty="0">
                <a:solidFill>
                  <a:srgbClr val="000000"/>
                </a:solidFill>
                <a:latin typeface="Century" pitchFamily="18" charset="0"/>
              </a:rPr>
              <a:t>一式</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/document/ ------ </a:t>
            </a:r>
            <a:r>
              <a:rPr lang="ja-JP" altLang="en-US" sz="2000" dirty="0">
                <a:solidFill>
                  <a:srgbClr val="000000"/>
                </a:solidFill>
                <a:latin typeface="Century" pitchFamily="18" charset="0"/>
              </a:rPr>
              <a:t>最近の変更点などをまとめたドキュメント</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/lecture/ ------ </a:t>
            </a:r>
            <a:r>
              <a:rPr lang="ja-JP" altLang="en-US" sz="2000" dirty="0">
                <a:solidFill>
                  <a:srgbClr val="000000"/>
                </a:solidFill>
                <a:latin typeface="Century" pitchFamily="18" charset="0"/>
              </a:rPr>
              <a:t>講習会資料</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/manual/ ------ PHITS</a:t>
            </a:r>
            <a:r>
              <a:rPr lang="ja-JP" altLang="en-US" sz="2000" dirty="0">
                <a:solidFill>
                  <a:srgbClr val="000000"/>
                </a:solidFill>
                <a:latin typeface="Century" pitchFamily="18" charset="0"/>
              </a:rPr>
              <a:t>と</a:t>
            </a:r>
            <a:r>
              <a:rPr lang="en-US" altLang="ja-JP" sz="2000" dirty="0">
                <a:solidFill>
                  <a:srgbClr val="000000"/>
                </a:solidFill>
                <a:latin typeface="Century" pitchFamily="18" charset="0"/>
              </a:rPr>
              <a:t>ANGEL</a:t>
            </a:r>
            <a:r>
              <a:rPr lang="ja-JP" altLang="en-US" sz="2000" dirty="0">
                <a:solidFill>
                  <a:srgbClr val="000000"/>
                </a:solidFill>
                <a:latin typeface="Century" pitchFamily="18" charset="0"/>
              </a:rPr>
              <a:t>のマニュアル</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/phig3d/  ------ 3</a:t>
            </a:r>
            <a:r>
              <a:rPr lang="ja-JP" altLang="en-US" sz="2000" dirty="0">
                <a:solidFill>
                  <a:srgbClr val="000000"/>
                </a:solidFill>
                <a:latin typeface="Century" pitchFamily="18" charset="0"/>
              </a:rPr>
              <a:t>次元幾何学形状可視化ソフト</a:t>
            </a:r>
            <a:r>
              <a:rPr lang="en-US" altLang="ja-JP" sz="2000" dirty="0">
                <a:solidFill>
                  <a:srgbClr val="000000"/>
                </a:solidFill>
                <a:latin typeface="Century" pitchFamily="18" charset="0"/>
              </a:rPr>
              <a:t>PHIG-3D</a:t>
            </a:r>
            <a:r>
              <a:rPr lang="ja-JP" altLang="en-US" sz="2000" dirty="0">
                <a:solidFill>
                  <a:srgbClr val="000000"/>
                </a:solidFill>
                <a:latin typeface="Century" pitchFamily="18" charset="0"/>
              </a:rPr>
              <a:t>の関連ファイル</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/recommendation/ ------ </a:t>
            </a:r>
            <a:r>
              <a:rPr lang="ja-JP" altLang="en-US" sz="2000" dirty="0">
                <a:solidFill>
                  <a:srgbClr val="000000"/>
                </a:solidFill>
                <a:latin typeface="Century" pitchFamily="18" charset="0"/>
              </a:rPr>
              <a:t>各目的に応じたサンプルインプット</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/sample/ ------ </a:t>
            </a:r>
            <a:r>
              <a:rPr lang="ja-JP" altLang="en-US" sz="2000" dirty="0">
                <a:solidFill>
                  <a:srgbClr val="000000"/>
                </a:solidFill>
                <a:latin typeface="Century" pitchFamily="18" charset="0"/>
              </a:rPr>
              <a:t>サンプルインプット（ベンチマーク，</a:t>
            </a:r>
            <a:r>
              <a:rPr lang="en-US" altLang="ja-JP" sz="2000" dirty="0">
                <a:solidFill>
                  <a:srgbClr val="000000"/>
                </a:solidFill>
                <a:latin typeface="Century" pitchFamily="18" charset="0"/>
              </a:rPr>
              <a:t>surface, tally</a:t>
            </a:r>
            <a:r>
              <a:rPr lang="ja-JP" altLang="en-US" sz="2000" dirty="0">
                <a:solidFill>
                  <a:srgbClr val="000000"/>
                </a:solidFill>
                <a:latin typeface="Century" pitchFamily="18" charset="0"/>
              </a:rPr>
              <a:t>）</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a:t>
            </a:r>
            <a:r>
              <a:rPr lang="en-US" altLang="ja-JP" sz="2000" dirty="0" err="1">
                <a:solidFill>
                  <a:srgbClr val="000000"/>
                </a:solidFill>
                <a:latin typeface="Century" pitchFamily="18" charset="0"/>
              </a:rPr>
              <a:t>src</a:t>
            </a:r>
            <a:r>
              <a:rPr lang="en-US" altLang="ja-JP" sz="2000" dirty="0">
                <a:solidFill>
                  <a:srgbClr val="000000"/>
                </a:solidFill>
                <a:latin typeface="Century" pitchFamily="18" charset="0"/>
              </a:rPr>
              <a:t>/ ------ FORTRAN</a:t>
            </a:r>
            <a:r>
              <a:rPr lang="ja-JP" altLang="en-US" sz="2000" dirty="0">
                <a:solidFill>
                  <a:srgbClr val="000000"/>
                </a:solidFill>
                <a:latin typeface="Century" pitchFamily="18" charset="0"/>
              </a:rPr>
              <a:t>形式で書かれたソースファイル</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/utility/ ------ </a:t>
            </a:r>
            <a:r>
              <a:rPr lang="ja-JP" altLang="en-US" sz="2000" dirty="0">
                <a:solidFill>
                  <a:srgbClr val="000000"/>
                </a:solidFill>
                <a:latin typeface="Century" pitchFamily="18" charset="0"/>
              </a:rPr>
              <a:t>便利な機能や使い方、外部プログラム</a:t>
            </a:r>
            <a:endParaRPr lang="en-US" altLang="ja-JP" sz="2000" dirty="0">
              <a:solidFill>
                <a:srgbClr val="000000"/>
              </a:solidFill>
              <a:latin typeface="Century" pitchFamily="18" charset="0"/>
            </a:endParaRPr>
          </a:p>
          <a:p>
            <a:pPr marL="342900" indent="-342900" eaLnBrk="1" hangingPunct="1">
              <a:defRPr/>
            </a:pPr>
            <a:r>
              <a:rPr lang="en-US" altLang="ja-JP" sz="2000" dirty="0">
                <a:solidFill>
                  <a:srgbClr val="000000"/>
                </a:solidFill>
                <a:latin typeface="Century" pitchFamily="18" charset="0"/>
              </a:rPr>
              <a:t>/XS/ ------ </a:t>
            </a:r>
            <a:r>
              <a:rPr lang="ja-JP" altLang="en-US" sz="2000" dirty="0">
                <a:solidFill>
                  <a:srgbClr val="000000"/>
                </a:solidFill>
                <a:latin typeface="Century" pitchFamily="18" charset="0"/>
              </a:rPr>
              <a:t>核・原子データライブラリー</a:t>
            </a:r>
            <a:endParaRPr lang="en-US" altLang="ja-JP" sz="2000" dirty="0">
              <a:solidFill>
                <a:srgbClr val="000000"/>
              </a:solidFill>
              <a:latin typeface="Century"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32A3E85-6F75-42DD-B7BF-A07A78B14EAD}"/>
              </a:ext>
            </a:extLst>
          </p:cNvPr>
          <p:cNvSpPr>
            <a:spLocks noGrp="1" noChangeArrowheads="1"/>
          </p:cNvSpPr>
          <p:nvPr>
            <p:ph type="title"/>
          </p:nvPr>
        </p:nvSpPr>
        <p:spPr>
          <a:xfrm>
            <a:off x="1763713" y="115888"/>
            <a:ext cx="5316537" cy="896937"/>
          </a:xfrm>
        </p:spPr>
        <p:txBody>
          <a:bodyPr/>
          <a:lstStyle/>
          <a:p>
            <a:pPr eaLnBrk="1" hangingPunct="1"/>
            <a:r>
              <a:rPr lang="en-US" altLang="ja-JP" sz="4000"/>
              <a:t>Utility</a:t>
            </a:r>
            <a:r>
              <a:rPr lang="ja-JP" altLang="en-US" sz="4000"/>
              <a:t>フォルダ</a:t>
            </a:r>
            <a:endParaRPr lang="ja-JP" altLang="en-US" sz="4000">
              <a:latin typeface="Century Gothic" panose="020B0502020202020204" pitchFamily="34" charset="0"/>
            </a:endParaRPr>
          </a:p>
        </p:txBody>
      </p:sp>
      <p:sp>
        <p:nvSpPr>
          <p:cNvPr id="15365" name="Text Box 5">
            <a:extLst>
              <a:ext uri="{FF2B5EF4-FFF2-40B4-BE49-F238E27FC236}">
                <a16:creationId xmlns:a16="http://schemas.microsoft.com/office/drawing/2014/main" id="{43BB5811-910B-463B-9AB3-B40C24646162}"/>
              </a:ext>
            </a:extLst>
          </p:cNvPr>
          <p:cNvSpPr txBox="1">
            <a:spLocks noChangeArrowheads="1"/>
          </p:cNvSpPr>
          <p:nvPr/>
        </p:nvSpPr>
        <p:spPr bwMode="auto">
          <a:xfrm>
            <a:off x="2197100" y="64008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Utility folder</a:t>
            </a:r>
          </a:p>
        </p:txBody>
      </p:sp>
      <p:sp>
        <p:nvSpPr>
          <p:cNvPr id="15367" name="Rectangle 8">
            <a:extLst>
              <a:ext uri="{FF2B5EF4-FFF2-40B4-BE49-F238E27FC236}">
                <a16:creationId xmlns:a16="http://schemas.microsoft.com/office/drawing/2014/main" id="{A575A7DE-ECD6-43B6-883E-5A9E26D82838}"/>
              </a:ext>
            </a:extLst>
          </p:cNvPr>
          <p:cNvSpPr txBox="1">
            <a:spLocks noChangeArrowheads="1"/>
          </p:cNvSpPr>
          <p:nvPr/>
        </p:nvSpPr>
        <p:spPr bwMode="auto">
          <a:xfrm>
            <a:off x="439738" y="1012825"/>
            <a:ext cx="8226425" cy="522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r>
              <a:rPr lang="en-US" altLang="ja-JP" sz="2000" dirty="0">
                <a:solidFill>
                  <a:srgbClr val="000000"/>
                </a:solidFill>
                <a:latin typeface="Century" panose="02040604050505020304" pitchFamily="18" charset="0"/>
              </a:rPr>
              <a:t>/animation/ ------ PHITS</a:t>
            </a:r>
            <a:r>
              <a:rPr lang="ja-JP" altLang="en-US" sz="2000" dirty="0">
                <a:solidFill>
                  <a:srgbClr val="000000"/>
                </a:solidFill>
                <a:latin typeface="Century" panose="02040604050505020304" pitchFamily="18" charset="0"/>
              </a:rPr>
              <a:t>の出力ファイルの</a:t>
            </a:r>
            <a:r>
              <a:rPr lang="en-US" altLang="ja-JP" sz="2000" dirty="0">
                <a:solidFill>
                  <a:srgbClr val="000000"/>
                </a:solidFill>
                <a:latin typeface="Century" panose="02040604050505020304" pitchFamily="18" charset="0"/>
              </a:rPr>
              <a:t>GIF</a:t>
            </a:r>
            <a:r>
              <a:rPr lang="ja-JP" altLang="en-US" sz="2000" dirty="0">
                <a:solidFill>
                  <a:srgbClr val="000000"/>
                </a:solidFill>
                <a:latin typeface="Century" panose="02040604050505020304" pitchFamily="18" charset="0"/>
              </a:rPr>
              <a:t>アニメーション化</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/FLUENT/ ------ </a:t>
            </a:r>
            <a:r>
              <a:rPr lang="ja-JP" altLang="en-US" sz="2000" dirty="0">
                <a:solidFill>
                  <a:srgbClr val="000000"/>
                </a:solidFill>
                <a:latin typeface="Century" panose="02040604050505020304" pitchFamily="18" charset="0"/>
              </a:rPr>
              <a:t>熱流体解析コードとの連成計算</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/icru90/ ------</a:t>
            </a:r>
            <a:r>
              <a:rPr lang="ja-JP" altLang="en-US" sz="2000" dirty="0">
                <a:solidFill>
                  <a:srgbClr val="000000"/>
                </a:solidFill>
                <a:latin typeface="Century" panose="02040604050505020304" pitchFamily="18" charset="0"/>
              </a:rPr>
              <a:t> </a:t>
            </a:r>
            <a:r>
              <a:rPr lang="en-US" altLang="ja-JP" sz="2000" dirty="0">
                <a:solidFill>
                  <a:srgbClr val="000000"/>
                </a:solidFill>
                <a:latin typeface="Century" panose="02040604050505020304" pitchFamily="18" charset="0"/>
              </a:rPr>
              <a:t>ICRU90</a:t>
            </a:r>
            <a:r>
              <a:rPr lang="ja-JP" altLang="en-US" sz="2000" dirty="0">
                <a:solidFill>
                  <a:srgbClr val="000000"/>
                </a:solidFill>
                <a:latin typeface="Century" panose="02040604050505020304" pitchFamily="18" charset="0"/>
              </a:rPr>
              <a:t>による阻止能データベース</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magmap</a:t>
            </a:r>
            <a:r>
              <a:rPr lang="en-US" altLang="ja-JP" sz="2000" dirty="0">
                <a:solidFill>
                  <a:srgbClr val="000000"/>
                </a:solidFill>
                <a:latin typeface="Century" panose="02040604050505020304" pitchFamily="18" charset="0"/>
              </a:rPr>
              <a:t>/ ------ </a:t>
            </a:r>
            <a:r>
              <a:rPr lang="ja-JP" altLang="en-US" sz="2000" dirty="0">
                <a:solidFill>
                  <a:srgbClr val="000000"/>
                </a:solidFill>
                <a:latin typeface="Century" panose="02040604050505020304" pitchFamily="18" charset="0"/>
              </a:rPr>
              <a:t>磁場マップ</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ParaView</a:t>
            </a:r>
            <a:r>
              <a:rPr lang="en-US" altLang="ja-JP" sz="2000" dirty="0">
                <a:solidFill>
                  <a:srgbClr val="000000"/>
                </a:solidFill>
                <a:latin typeface="Century" panose="02040604050505020304" pitchFamily="18" charset="0"/>
              </a:rPr>
              <a:t>/ ------ 3</a:t>
            </a:r>
            <a:r>
              <a:rPr lang="ja-JP" altLang="en-US" sz="2000" dirty="0">
                <a:solidFill>
                  <a:srgbClr val="000000"/>
                </a:solidFill>
                <a:latin typeface="Century" panose="02040604050505020304" pitchFamily="18" charset="0"/>
              </a:rPr>
              <a:t>次元可視化ソフトウェア</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/PSFC4PHITS/ ------ Phase Space File Converter for PHITS</a:t>
            </a: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RTphits</a:t>
            </a:r>
            <a:r>
              <a:rPr lang="en-US" altLang="ja-JP" sz="2000" dirty="0">
                <a:solidFill>
                  <a:srgbClr val="000000"/>
                </a:solidFill>
                <a:latin typeface="Century" panose="02040604050505020304" pitchFamily="18" charset="0"/>
              </a:rPr>
              <a:t>/ ------ Radio Therapy package based on PHITS</a:t>
            </a:r>
          </a:p>
          <a:p>
            <a:pPr eaLnBrk="1" hangingPunct="1"/>
            <a:r>
              <a:rPr lang="en-US" altLang="ja-JP" sz="2000" dirty="0">
                <a:solidFill>
                  <a:srgbClr val="000000"/>
                </a:solidFill>
                <a:latin typeface="Century" panose="02040604050505020304" pitchFamily="18" charset="0"/>
              </a:rPr>
              <a:t>/script/ ------ PHITS</a:t>
            </a:r>
            <a:r>
              <a:rPr lang="ja-JP" altLang="en-US" sz="2000" dirty="0">
                <a:solidFill>
                  <a:srgbClr val="000000"/>
                </a:solidFill>
                <a:latin typeface="Century" panose="02040604050505020304" pitchFamily="18" charset="0"/>
              </a:rPr>
              <a:t>の連続実行のための専用スクリプト</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ShieldingDistribution</a:t>
            </a:r>
            <a:r>
              <a:rPr lang="en-US" altLang="ja-JP" sz="2000" dirty="0">
                <a:solidFill>
                  <a:srgbClr val="000000"/>
                </a:solidFill>
                <a:latin typeface="Century" panose="02040604050505020304" pitchFamily="18" charset="0"/>
              </a:rPr>
              <a:t>/ ------ Ray Trace</a:t>
            </a:r>
            <a:r>
              <a:rPr lang="ja-JP" altLang="en-US" sz="2000" dirty="0">
                <a:solidFill>
                  <a:srgbClr val="000000"/>
                </a:solidFill>
                <a:latin typeface="Century" panose="02040604050505020304" pitchFamily="18" charset="0"/>
              </a:rPr>
              <a:t>法を用いた遮蔽厚計算</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SimpleGEO</a:t>
            </a:r>
            <a:r>
              <a:rPr lang="en-US" altLang="ja-JP" sz="2000" dirty="0">
                <a:solidFill>
                  <a:srgbClr val="000000"/>
                </a:solidFill>
                <a:latin typeface="Century" panose="02040604050505020304" pitchFamily="18" charset="0"/>
              </a:rPr>
              <a:t>/ ------ GUI</a:t>
            </a:r>
            <a:r>
              <a:rPr lang="ja-JP" altLang="en-US" sz="2000" dirty="0">
                <a:solidFill>
                  <a:srgbClr val="000000"/>
                </a:solidFill>
                <a:latin typeface="Century" panose="02040604050505020304" pitchFamily="18" charset="0"/>
              </a:rPr>
              <a:t>ベースの</a:t>
            </a:r>
            <a:r>
              <a:rPr lang="en-US" altLang="ja-JP" sz="2000" dirty="0">
                <a:solidFill>
                  <a:srgbClr val="000000"/>
                </a:solidFill>
                <a:latin typeface="Century" panose="02040604050505020304" pitchFamily="18" charset="0"/>
              </a:rPr>
              <a:t>3</a:t>
            </a:r>
            <a:r>
              <a:rPr lang="ja-JP" altLang="en-US" sz="2000" dirty="0">
                <a:solidFill>
                  <a:srgbClr val="000000"/>
                </a:solidFill>
                <a:latin typeface="Century" panose="02040604050505020304" pitchFamily="18" charset="0"/>
              </a:rPr>
              <a:t>次元体系作成ソフトウェア</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sumtally</a:t>
            </a:r>
            <a:r>
              <a:rPr lang="en-US" altLang="ja-JP" sz="2000" dirty="0">
                <a:solidFill>
                  <a:srgbClr val="000000"/>
                </a:solidFill>
                <a:latin typeface="Century" panose="02040604050505020304" pitchFamily="18" charset="0"/>
              </a:rPr>
              <a:t>/ ------ </a:t>
            </a:r>
            <a:r>
              <a:rPr lang="ja-JP" altLang="en-US" sz="2000" dirty="0">
                <a:solidFill>
                  <a:srgbClr val="000000"/>
                </a:solidFill>
                <a:latin typeface="Century" panose="02040604050505020304" pitchFamily="18" charset="0"/>
              </a:rPr>
              <a:t>複数のタリー結果を足し合わせる</a:t>
            </a:r>
            <a:r>
              <a:rPr lang="en-US" altLang="ja-JP" sz="2000" dirty="0" err="1">
                <a:solidFill>
                  <a:srgbClr val="000000"/>
                </a:solidFill>
                <a:latin typeface="Century" panose="02040604050505020304" pitchFamily="18" charset="0"/>
              </a:rPr>
              <a:t>sumtally</a:t>
            </a:r>
            <a:r>
              <a:rPr lang="ja-JP" altLang="en-US" sz="2000" dirty="0">
                <a:solidFill>
                  <a:srgbClr val="000000"/>
                </a:solidFill>
                <a:latin typeface="Century" panose="02040604050505020304" pitchFamily="18" charset="0"/>
              </a:rPr>
              <a:t>機能</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SuperMC</a:t>
            </a:r>
            <a:r>
              <a:rPr lang="en-US" altLang="ja-JP" sz="2000" dirty="0">
                <a:solidFill>
                  <a:srgbClr val="000000"/>
                </a:solidFill>
                <a:latin typeface="Century" panose="02040604050505020304" pitchFamily="18" charset="0"/>
              </a:rPr>
              <a:t>/ ------ CAD</a:t>
            </a:r>
            <a:r>
              <a:rPr lang="ja-JP" altLang="en-US" sz="2000" dirty="0">
                <a:solidFill>
                  <a:srgbClr val="000000"/>
                </a:solidFill>
                <a:latin typeface="Century" panose="02040604050505020304" pitchFamily="18" charset="0"/>
              </a:rPr>
              <a:t>形式の体系ファイルの変換</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TetraGEOM</a:t>
            </a:r>
            <a:r>
              <a:rPr lang="en-US" altLang="ja-JP" sz="2000" dirty="0">
                <a:solidFill>
                  <a:srgbClr val="000000"/>
                </a:solidFill>
                <a:latin typeface="Century" panose="02040604050505020304" pitchFamily="18" charset="0"/>
              </a:rPr>
              <a:t>/ ------</a:t>
            </a:r>
            <a:r>
              <a:rPr lang="ja-JP" altLang="en-US" sz="2000" dirty="0">
                <a:solidFill>
                  <a:srgbClr val="000000"/>
                </a:solidFill>
                <a:latin typeface="Century" panose="02040604050505020304" pitchFamily="18" charset="0"/>
              </a:rPr>
              <a:t> 四面体連続形状の使い方</a:t>
            </a:r>
            <a:endParaRPr lang="en-US" altLang="ja-JP" sz="2000" dirty="0">
              <a:solidFill>
                <a:srgbClr val="000000"/>
              </a:solidFill>
              <a:latin typeface="Century" panose="02040604050505020304" pitchFamily="18" charset="0"/>
            </a:endParaRPr>
          </a:p>
          <a:p>
            <a:pPr eaLnBrk="1" hangingPunct="1"/>
            <a:r>
              <a:rPr lang="en-US" altLang="ja-JP" sz="2000" dirty="0">
                <a:solidFill>
                  <a:srgbClr val="000000"/>
                </a:solidFill>
                <a:latin typeface="Century" panose="02040604050505020304" pitchFamily="18" charset="0"/>
              </a:rPr>
              <a:t>/</a:t>
            </a:r>
            <a:r>
              <a:rPr lang="en-US" altLang="ja-JP" sz="2000" dirty="0" err="1">
                <a:solidFill>
                  <a:srgbClr val="000000"/>
                </a:solidFill>
                <a:latin typeface="Century" panose="02040604050505020304" pitchFamily="18" charset="0"/>
              </a:rPr>
              <a:t>usrtally</a:t>
            </a:r>
            <a:r>
              <a:rPr lang="en-US" altLang="ja-JP" sz="2000" dirty="0">
                <a:solidFill>
                  <a:srgbClr val="000000"/>
                </a:solidFill>
                <a:latin typeface="Century" panose="02040604050505020304" pitchFamily="18" charset="0"/>
              </a:rPr>
              <a:t>/ ------ </a:t>
            </a:r>
            <a:r>
              <a:rPr lang="ja-JP" altLang="en-US" sz="2000" dirty="0">
                <a:solidFill>
                  <a:srgbClr val="000000"/>
                </a:solidFill>
                <a:latin typeface="Century" panose="02040604050505020304" pitchFamily="18" charset="0"/>
              </a:rPr>
              <a:t>ユーザー定義タリー</a:t>
            </a:r>
            <a:r>
              <a:rPr lang="en-US" altLang="ja-JP" sz="2000" dirty="0">
                <a:solidFill>
                  <a:srgbClr val="000000"/>
                </a:solidFill>
                <a:latin typeface="Century" panose="02040604050505020304" pitchFamily="18" charset="0"/>
              </a:rPr>
              <a:t>[t-</a:t>
            </a:r>
            <a:r>
              <a:rPr lang="en-US" altLang="ja-JP" sz="2000" dirty="0" err="1">
                <a:solidFill>
                  <a:srgbClr val="000000"/>
                </a:solidFill>
                <a:latin typeface="Century" panose="02040604050505020304" pitchFamily="18" charset="0"/>
              </a:rPr>
              <a:t>userdefined</a:t>
            </a:r>
            <a:r>
              <a:rPr lang="en-US" altLang="ja-JP" sz="2000" dirty="0">
                <a:solidFill>
                  <a:srgbClr val="000000"/>
                </a:solidFill>
                <a:latin typeface="Century" panose="02040604050505020304" pitchFamily="18" charset="0"/>
              </a:rPr>
              <a:t>]</a:t>
            </a:r>
            <a:r>
              <a:rPr lang="ja-JP" altLang="en-US" sz="2000" dirty="0">
                <a:solidFill>
                  <a:srgbClr val="000000"/>
                </a:solidFill>
                <a:latin typeface="Century" panose="02040604050505020304" pitchFamily="18" charset="0"/>
              </a:rPr>
              <a:t>のサンプル</a:t>
            </a:r>
            <a:endParaRPr lang="en-US" altLang="ja-JP" sz="2000" dirty="0">
              <a:solidFill>
                <a:srgbClr val="000000"/>
              </a:solidFill>
              <a:latin typeface="Century" panose="020406040505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C256C3A-8048-44D2-9E0F-D641BB22308F}"/>
              </a:ext>
            </a:extLst>
          </p:cNvPr>
          <p:cNvSpPr>
            <a:spLocks noGrp="1" noChangeArrowheads="1"/>
          </p:cNvSpPr>
          <p:nvPr>
            <p:ph type="title"/>
          </p:nvPr>
        </p:nvSpPr>
        <p:spPr>
          <a:xfrm>
            <a:off x="1857375" y="155575"/>
            <a:ext cx="5675313" cy="896938"/>
          </a:xfrm>
        </p:spPr>
        <p:txBody>
          <a:bodyPr/>
          <a:lstStyle/>
          <a:p>
            <a:pPr eaLnBrk="1" hangingPunct="1"/>
            <a:r>
              <a:rPr lang="en-US" altLang="ja-JP" sz="4000"/>
              <a:t>PHITS</a:t>
            </a:r>
            <a:r>
              <a:rPr lang="ja-JP" altLang="en-US" sz="4000"/>
              <a:t>コードのライセンス</a:t>
            </a:r>
            <a:endParaRPr lang="ja-JP" altLang="en-US" sz="4000">
              <a:latin typeface="Century Gothic" panose="020B0502020202020204" pitchFamily="34" charset="0"/>
            </a:endParaRPr>
          </a:p>
        </p:txBody>
      </p:sp>
      <p:sp>
        <p:nvSpPr>
          <p:cNvPr id="56325" name="Text Box 5">
            <a:extLst>
              <a:ext uri="{FF2B5EF4-FFF2-40B4-BE49-F238E27FC236}">
                <a16:creationId xmlns:a16="http://schemas.microsoft.com/office/drawing/2014/main" id="{92B338DB-337D-4039-A784-8C8B3590AD1F}"/>
              </a:ext>
            </a:extLst>
          </p:cNvPr>
          <p:cNvSpPr txBox="1">
            <a:spLocks noChangeArrowheads="1"/>
          </p:cNvSpPr>
          <p:nvPr/>
        </p:nvSpPr>
        <p:spPr bwMode="auto">
          <a:xfrm>
            <a:off x="2197100" y="64008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License</a:t>
            </a:r>
          </a:p>
        </p:txBody>
      </p:sp>
      <p:sp>
        <p:nvSpPr>
          <p:cNvPr id="56327" name="Rectangle 8">
            <a:extLst>
              <a:ext uri="{FF2B5EF4-FFF2-40B4-BE49-F238E27FC236}">
                <a16:creationId xmlns:a16="http://schemas.microsoft.com/office/drawing/2014/main" id="{B34FBD21-6806-428D-A82B-0CB204D14F2D}"/>
              </a:ext>
            </a:extLst>
          </p:cNvPr>
          <p:cNvSpPr txBox="1">
            <a:spLocks noChangeArrowheads="1"/>
          </p:cNvSpPr>
          <p:nvPr/>
        </p:nvSpPr>
        <p:spPr bwMode="auto">
          <a:xfrm>
            <a:off x="528638" y="1052513"/>
            <a:ext cx="833278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a:solidFill>
                  <a:srgbClr val="000000"/>
                </a:solidFill>
                <a:latin typeface="Century" panose="02040604050505020304" pitchFamily="18" charset="0"/>
              </a:rPr>
              <a:t>お配りした利用許諾書によって</a:t>
            </a:r>
            <a:r>
              <a:rPr lang="en-US" altLang="ja-JP" sz="2400">
                <a:solidFill>
                  <a:srgbClr val="000000"/>
                </a:solidFill>
                <a:latin typeface="Century" panose="02040604050505020304" pitchFamily="18" charset="0"/>
              </a:rPr>
              <a:t>PHITS</a:t>
            </a:r>
            <a:r>
              <a:rPr lang="ja-JP" altLang="en-US" sz="2400">
                <a:solidFill>
                  <a:srgbClr val="000000"/>
                </a:solidFill>
                <a:latin typeface="Century" panose="02040604050505020304" pitchFamily="18" charset="0"/>
              </a:rPr>
              <a:t>の利用が認められるのは、許諾された本人のみです。個人ライセンスとなりますので、ご注意ください。</a:t>
            </a:r>
            <a:endParaRPr lang="en-US" altLang="ja-JP" sz="2400">
              <a:solidFill>
                <a:srgbClr val="000000"/>
              </a:solidFill>
              <a:latin typeface="Century" panose="02040604050505020304" pitchFamily="18" charset="0"/>
            </a:endParaRPr>
          </a:p>
          <a:p>
            <a:pPr eaLnBrk="1" hangingPunct="1">
              <a:buFontTx/>
              <a:buNone/>
            </a:pPr>
            <a:r>
              <a:rPr lang="ja-JP" altLang="en-US" sz="2400">
                <a:solidFill>
                  <a:srgbClr val="000000"/>
                </a:solidFill>
                <a:latin typeface="Century" panose="02040604050505020304" pitchFamily="18" charset="0"/>
              </a:rPr>
              <a:t>（別途</a:t>
            </a:r>
            <a:r>
              <a:rPr lang="en-US" altLang="ja-JP" sz="2400">
                <a:solidFill>
                  <a:srgbClr val="000000"/>
                </a:solidFill>
                <a:latin typeface="Century" panose="02040604050505020304" pitchFamily="18" charset="0"/>
              </a:rPr>
              <a:t>RIST</a:t>
            </a:r>
            <a:r>
              <a:rPr lang="ja-JP" altLang="en-US" sz="2400">
                <a:solidFill>
                  <a:srgbClr val="000000"/>
                </a:solidFill>
                <a:latin typeface="Century" panose="02040604050505020304" pitchFamily="18" charset="0"/>
              </a:rPr>
              <a:t>の原子力コードセンターに申請していただければ、大学の講義やゼミで利用できる教育版のライセンスを入手可能です。）</a:t>
            </a:r>
            <a:endParaRPr lang="en-US" altLang="ja-JP" sz="2400">
              <a:solidFill>
                <a:srgbClr val="000000"/>
              </a:solidFill>
              <a:latin typeface="Century" panose="02040604050505020304" pitchFamily="18" charset="0"/>
            </a:endParaRPr>
          </a:p>
          <a:p>
            <a:pPr eaLnBrk="1" hangingPunct="1">
              <a:buFontTx/>
              <a:buNone/>
            </a:pPr>
            <a:endParaRPr lang="en-US" altLang="ja-JP" sz="2400">
              <a:solidFill>
                <a:srgbClr val="000000"/>
              </a:solidFill>
              <a:latin typeface="Century" panose="02040604050505020304" pitchFamily="18" charset="0"/>
            </a:endParaRPr>
          </a:p>
          <a:p>
            <a:pPr eaLnBrk="1" hangingPunct="1">
              <a:buFontTx/>
              <a:buNone/>
            </a:pPr>
            <a:r>
              <a:rPr lang="en-US" altLang="ja-JP" sz="2400">
                <a:solidFill>
                  <a:srgbClr val="000000"/>
                </a:solidFill>
                <a:latin typeface="Century" panose="02040604050505020304" pitchFamily="18" charset="0"/>
              </a:rPr>
              <a:t>PHITS</a:t>
            </a:r>
            <a:r>
              <a:rPr lang="ja-JP" altLang="en-US" sz="2400">
                <a:solidFill>
                  <a:srgbClr val="000000"/>
                </a:solidFill>
                <a:latin typeface="Century" panose="02040604050505020304" pitchFamily="18" charset="0"/>
              </a:rPr>
              <a:t>は利用者が管理できる計算機（パソコン）にインストールし、第</a:t>
            </a:r>
            <a:r>
              <a:rPr lang="en-US" altLang="ja-JP" sz="2400">
                <a:solidFill>
                  <a:srgbClr val="000000"/>
                </a:solidFill>
                <a:latin typeface="Century" panose="02040604050505020304" pitchFamily="18" charset="0"/>
              </a:rPr>
              <a:t>3</a:t>
            </a:r>
            <a:r>
              <a:rPr lang="ja-JP" altLang="en-US" sz="2400">
                <a:solidFill>
                  <a:srgbClr val="000000"/>
                </a:solidFill>
                <a:latin typeface="Century" panose="02040604050505020304" pitchFamily="18" charset="0"/>
              </a:rPr>
              <a:t>者が容易に利用できないようにしてください。特に、国外やテロ組織への流出がないようご注意ください。</a:t>
            </a:r>
            <a:endParaRPr lang="en-US" altLang="ja-JP" sz="2400">
              <a:solidFill>
                <a:srgbClr val="000000"/>
              </a:solidFill>
              <a:latin typeface="Century" panose="020406040505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58FD4F2-B24E-40A3-B559-B6AE22B6B040}"/>
              </a:ext>
            </a:extLst>
          </p:cNvPr>
          <p:cNvSpPr>
            <a:spLocks noGrp="1" noChangeArrowheads="1"/>
          </p:cNvSpPr>
          <p:nvPr>
            <p:ph type="title"/>
          </p:nvPr>
        </p:nvSpPr>
        <p:spPr>
          <a:xfrm>
            <a:off x="1719263" y="0"/>
            <a:ext cx="5680075" cy="896938"/>
          </a:xfrm>
        </p:spPr>
        <p:txBody>
          <a:bodyPr/>
          <a:lstStyle/>
          <a:p>
            <a:pPr eaLnBrk="1" hangingPunct="1"/>
            <a:r>
              <a:rPr lang="ja-JP" altLang="en-US" sz="4000" dirty="0">
                <a:latin typeface="Century Gothic" panose="020B0502020202020204" pitchFamily="34" charset="0"/>
              </a:rPr>
              <a:t>メーリングリストへの登録</a:t>
            </a:r>
          </a:p>
        </p:txBody>
      </p:sp>
      <p:sp>
        <p:nvSpPr>
          <p:cNvPr id="58373" name="Text Box 5">
            <a:extLst>
              <a:ext uri="{FF2B5EF4-FFF2-40B4-BE49-F238E27FC236}">
                <a16:creationId xmlns:a16="http://schemas.microsoft.com/office/drawing/2014/main" id="{38C7DEEF-FABD-4C22-8FD8-0A90C42792AE}"/>
              </a:ext>
            </a:extLst>
          </p:cNvPr>
          <p:cNvSpPr txBox="1">
            <a:spLocks noChangeArrowheads="1"/>
          </p:cNvSpPr>
          <p:nvPr/>
        </p:nvSpPr>
        <p:spPr bwMode="auto">
          <a:xfrm>
            <a:off x="2197100" y="64008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dirty="0">
                <a:solidFill>
                  <a:srgbClr val="000000"/>
                </a:solidFill>
                <a:latin typeface="Tahoma" panose="020B0604030504040204" pitchFamily="34" charset="0"/>
              </a:rPr>
              <a:t>Mailing list</a:t>
            </a:r>
          </a:p>
        </p:txBody>
      </p:sp>
      <p:sp>
        <p:nvSpPr>
          <p:cNvPr id="58375" name="Rectangle 8">
            <a:extLst>
              <a:ext uri="{FF2B5EF4-FFF2-40B4-BE49-F238E27FC236}">
                <a16:creationId xmlns:a16="http://schemas.microsoft.com/office/drawing/2014/main" id="{77CEE62E-E051-43C9-AEA0-4D3EF3393F7E}"/>
              </a:ext>
            </a:extLst>
          </p:cNvPr>
          <p:cNvSpPr txBox="1">
            <a:spLocks noChangeArrowheads="1"/>
          </p:cNvSpPr>
          <p:nvPr/>
        </p:nvSpPr>
        <p:spPr bwMode="auto">
          <a:xfrm>
            <a:off x="395288" y="765175"/>
            <a:ext cx="8332787" cy="2641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en-US" altLang="ja-JP" sz="2000" dirty="0">
                <a:solidFill>
                  <a:srgbClr val="000000"/>
                </a:solidFill>
                <a:latin typeface="Century" panose="02040604050505020304" pitchFamily="18" charset="0"/>
              </a:rPr>
              <a:t>PHITS</a:t>
            </a:r>
            <a:r>
              <a:rPr lang="ja-JP" altLang="en-US" sz="2000" dirty="0">
                <a:solidFill>
                  <a:srgbClr val="000000"/>
                </a:solidFill>
                <a:latin typeface="Century" panose="02040604050505020304" pitchFamily="18" charset="0"/>
              </a:rPr>
              <a:t>事務局では、</a:t>
            </a:r>
            <a:r>
              <a:rPr lang="en-US" altLang="ja-JP" sz="2000" dirty="0">
                <a:solidFill>
                  <a:srgbClr val="000000"/>
                </a:solidFill>
                <a:latin typeface="Century" panose="02040604050505020304" pitchFamily="18" charset="0"/>
              </a:rPr>
              <a:t>PHITS</a:t>
            </a:r>
            <a:r>
              <a:rPr lang="ja-JP" altLang="en-US" sz="2000" dirty="0">
                <a:solidFill>
                  <a:srgbClr val="000000"/>
                </a:solidFill>
                <a:latin typeface="Century" panose="02040604050505020304" pitchFamily="18" charset="0"/>
              </a:rPr>
              <a:t>の最新版への更新方法や今後の講習会の予定をお知らせするためにメーリングリストを利用しています。今後継続して</a:t>
            </a:r>
            <a:r>
              <a:rPr lang="en-US" altLang="ja-JP" sz="2000" dirty="0">
                <a:solidFill>
                  <a:srgbClr val="000000"/>
                </a:solidFill>
                <a:latin typeface="Century" panose="02040604050505020304" pitchFamily="18" charset="0"/>
              </a:rPr>
              <a:t>PHITS</a:t>
            </a:r>
            <a:r>
              <a:rPr lang="ja-JP" altLang="en-US" sz="2000" dirty="0">
                <a:solidFill>
                  <a:srgbClr val="000000"/>
                </a:solidFill>
                <a:latin typeface="Century" panose="02040604050505020304" pitchFamily="18" charset="0"/>
              </a:rPr>
              <a:t>をご利用になる予定の方は</a:t>
            </a:r>
            <a:r>
              <a:rPr lang="ja-JP" altLang="en-US" sz="2000" dirty="0">
                <a:solidFill>
                  <a:srgbClr val="FF0000"/>
                </a:solidFill>
                <a:latin typeface="Century" panose="02040604050505020304" pitchFamily="18" charset="0"/>
              </a:rPr>
              <a:t>必ずメーリングリストに登録してください</a:t>
            </a:r>
            <a:r>
              <a:rPr lang="ja-JP" altLang="en-US" sz="2000" dirty="0">
                <a:solidFill>
                  <a:srgbClr val="000000"/>
                </a:solidFill>
                <a:latin typeface="Century" panose="02040604050505020304" pitchFamily="18" charset="0"/>
              </a:rPr>
              <a:t>。この登録は、講習会の前に手続きをしていただいたコードの利用申請とは別なのでご注意ください。登録は</a:t>
            </a:r>
            <a:r>
              <a:rPr lang="en-US" altLang="ja-JP" sz="2000" dirty="0">
                <a:solidFill>
                  <a:schemeClr val="accent2"/>
                </a:solidFill>
                <a:latin typeface="Century" panose="02040604050505020304" pitchFamily="18" charset="0"/>
                <a:hlinkClick r:id="rId3">
                  <a:extLst>
                    <a:ext uri="{A12FA001-AC4F-418D-AE19-62706E023703}">
                      <ahyp:hlinkClr xmlns:ahyp="http://schemas.microsoft.com/office/drawing/2018/hyperlinkcolor" val="tx"/>
                    </a:ext>
                  </a:extLst>
                </a:hlinkClick>
              </a:rPr>
              <a:t>PHITS</a:t>
            </a:r>
            <a:r>
              <a:rPr lang="ja-JP" altLang="en-US" sz="2000" dirty="0">
                <a:solidFill>
                  <a:schemeClr val="accent2"/>
                </a:solidFill>
                <a:latin typeface="Century" panose="02040604050505020304" pitchFamily="18" charset="0"/>
                <a:hlinkClick r:id="rId3">
                  <a:extLst>
                    <a:ext uri="{A12FA001-AC4F-418D-AE19-62706E023703}">
                      <ahyp:hlinkClr xmlns:ahyp="http://schemas.microsoft.com/office/drawing/2018/hyperlinkcolor" val="tx"/>
                    </a:ext>
                  </a:extLst>
                </a:hlinkClick>
              </a:rPr>
              <a:t>ホームページ</a:t>
            </a:r>
            <a:r>
              <a:rPr lang="ja-JP" altLang="en-US" sz="2000" dirty="0">
                <a:solidFill>
                  <a:srgbClr val="000000"/>
                </a:solidFill>
                <a:latin typeface="Century" panose="02040604050505020304" pitchFamily="18" charset="0"/>
              </a:rPr>
              <a:t>より簡単に行えます。また、質問も同ホームページにて受け付けておりますが、技術的な質問には、できるだけ</a:t>
            </a:r>
            <a:r>
              <a:rPr lang="en-US" altLang="ja-JP" sz="2000" dirty="0">
                <a:solidFill>
                  <a:schemeClr val="accent2"/>
                </a:solidFill>
                <a:latin typeface="Century" panose="02040604050505020304" pitchFamily="18" charset="0"/>
                <a:hlinkClick r:id="rId4">
                  <a:extLst>
                    <a:ext uri="{A12FA001-AC4F-418D-AE19-62706E023703}">
                      <ahyp:hlinkClr xmlns:ahyp="http://schemas.microsoft.com/office/drawing/2018/hyperlinkcolor" val="tx"/>
                    </a:ext>
                  </a:extLst>
                </a:hlinkClick>
              </a:rPr>
              <a:t>PHITS</a:t>
            </a:r>
            <a:r>
              <a:rPr lang="ja-JP" altLang="en-US" sz="2000" dirty="0">
                <a:solidFill>
                  <a:schemeClr val="accent2"/>
                </a:solidFill>
                <a:latin typeface="Century" panose="02040604050505020304" pitchFamily="18" charset="0"/>
                <a:hlinkClick r:id="rId4">
                  <a:extLst>
                    <a:ext uri="{A12FA001-AC4F-418D-AE19-62706E023703}">
                      <ahyp:hlinkClr xmlns:ahyp="http://schemas.microsoft.com/office/drawing/2018/hyperlinkcolor" val="tx"/>
                    </a:ext>
                  </a:extLst>
                </a:hlinkClick>
              </a:rPr>
              <a:t>掲示板</a:t>
            </a:r>
            <a:r>
              <a:rPr lang="ja-JP" altLang="en-US" sz="2000" dirty="0">
                <a:solidFill>
                  <a:srgbClr val="000000"/>
                </a:solidFill>
                <a:latin typeface="Century" panose="02040604050505020304" pitchFamily="18" charset="0"/>
              </a:rPr>
              <a:t>をご活用下さい。</a:t>
            </a:r>
            <a:endParaRPr lang="en-US" altLang="ja-JP" sz="2000" dirty="0">
              <a:solidFill>
                <a:srgbClr val="000000"/>
              </a:solidFill>
              <a:latin typeface="Century" panose="02040604050505020304" pitchFamily="18" charset="0"/>
            </a:endParaRPr>
          </a:p>
        </p:txBody>
      </p:sp>
      <p:sp>
        <p:nvSpPr>
          <p:cNvPr id="58377" name="正方形/長方形 2">
            <a:extLst>
              <a:ext uri="{FF2B5EF4-FFF2-40B4-BE49-F238E27FC236}">
                <a16:creationId xmlns:a16="http://schemas.microsoft.com/office/drawing/2014/main" id="{43330234-52F9-47DD-9537-9E89576E5CD8}"/>
              </a:ext>
            </a:extLst>
          </p:cNvPr>
          <p:cNvSpPr>
            <a:spLocks noChangeArrowheads="1"/>
          </p:cNvSpPr>
          <p:nvPr/>
        </p:nvSpPr>
        <p:spPr bwMode="auto">
          <a:xfrm>
            <a:off x="395288" y="5589240"/>
            <a:ext cx="33297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ja-JP" altLang="en-US" sz="2000" u="sng" dirty="0">
                <a:solidFill>
                  <a:srgbClr val="0000FF"/>
                </a:solidFill>
              </a:rPr>
              <a:t>https://phits.jaea.go.jp/contact/</a:t>
            </a:r>
          </a:p>
        </p:txBody>
      </p:sp>
      <p:grpSp>
        <p:nvGrpSpPr>
          <p:cNvPr id="2" name="グループ化 1">
            <a:extLst>
              <a:ext uri="{FF2B5EF4-FFF2-40B4-BE49-F238E27FC236}">
                <a16:creationId xmlns:a16="http://schemas.microsoft.com/office/drawing/2014/main" id="{9B405EDD-EBF6-4D98-9509-59DA1C82EAEC}"/>
              </a:ext>
            </a:extLst>
          </p:cNvPr>
          <p:cNvGrpSpPr/>
          <p:nvPr/>
        </p:nvGrpSpPr>
        <p:grpSpPr>
          <a:xfrm>
            <a:off x="127845" y="3186894"/>
            <a:ext cx="3816424" cy="2373801"/>
            <a:chOff x="1939925" y="2662238"/>
            <a:chExt cx="5153025" cy="3205162"/>
          </a:xfrm>
        </p:grpSpPr>
        <p:pic>
          <p:nvPicPr>
            <p:cNvPr id="58376" name="図 1">
              <a:extLst>
                <a:ext uri="{FF2B5EF4-FFF2-40B4-BE49-F238E27FC236}">
                  <a16:creationId xmlns:a16="http://schemas.microsoft.com/office/drawing/2014/main" id="{769AB790-C1A9-4B55-97EF-74C199BFA93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39925" y="2662238"/>
              <a:ext cx="5153025" cy="320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円/楕円 4">
              <a:extLst>
                <a:ext uri="{FF2B5EF4-FFF2-40B4-BE49-F238E27FC236}">
                  <a16:creationId xmlns:a16="http://schemas.microsoft.com/office/drawing/2014/main" id="{F0D9718D-1A5C-45E3-8780-0BCCB035D5B3}"/>
                </a:ext>
              </a:extLst>
            </p:cNvPr>
            <p:cNvSpPr/>
            <p:nvPr/>
          </p:nvSpPr>
          <p:spPr>
            <a:xfrm>
              <a:off x="5940425" y="3067050"/>
              <a:ext cx="650875" cy="2905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grpSp>
      <p:pic>
        <p:nvPicPr>
          <p:cNvPr id="12" name="図 11">
            <a:extLst>
              <a:ext uri="{FF2B5EF4-FFF2-40B4-BE49-F238E27FC236}">
                <a16:creationId xmlns:a16="http://schemas.microsoft.com/office/drawing/2014/main" id="{F58BC4FF-2051-4F06-BBCE-95B32BE9D980}"/>
              </a:ext>
            </a:extLst>
          </p:cNvPr>
          <p:cNvPicPr>
            <a:picLocks noChangeAspect="1"/>
          </p:cNvPicPr>
          <p:nvPr/>
        </p:nvPicPr>
        <p:blipFill rotWithShape="1">
          <a:blip r:embed="rId6"/>
          <a:srcRect t="1297"/>
          <a:stretch/>
        </p:blipFill>
        <p:spPr>
          <a:xfrm>
            <a:off x="4247709" y="3427619"/>
            <a:ext cx="4575743" cy="1803395"/>
          </a:xfrm>
          <a:prstGeom prst="rect">
            <a:avLst/>
          </a:prstGeom>
        </p:spPr>
      </p:pic>
      <p:sp>
        <p:nvSpPr>
          <p:cNvPr id="13" name="テキスト ボックス 12">
            <a:extLst>
              <a:ext uri="{FF2B5EF4-FFF2-40B4-BE49-F238E27FC236}">
                <a16:creationId xmlns:a16="http://schemas.microsoft.com/office/drawing/2014/main" id="{28668C78-C5A3-4709-A8BB-B7F97E618F37}"/>
              </a:ext>
            </a:extLst>
          </p:cNvPr>
          <p:cNvSpPr txBox="1"/>
          <p:nvPr/>
        </p:nvSpPr>
        <p:spPr>
          <a:xfrm>
            <a:off x="4125942" y="5211483"/>
            <a:ext cx="4932041" cy="400110"/>
          </a:xfrm>
          <a:prstGeom prst="rect">
            <a:avLst/>
          </a:prstGeom>
          <a:noFill/>
        </p:spPr>
        <p:txBody>
          <a:bodyPr wrap="square" rtlCol="0">
            <a:spAutoFit/>
          </a:bodyPr>
          <a:lstStyle/>
          <a:p>
            <a:pPr algn="ctr"/>
            <a:r>
              <a:rPr lang="en-US" altLang="ja-JP" sz="2000" dirty="0">
                <a:solidFill>
                  <a:schemeClr val="accent2"/>
                </a:solidFill>
                <a:hlinkClick r:id="rId4">
                  <a:extLst>
                    <a:ext uri="{A12FA001-AC4F-418D-AE19-62706E023703}">
                      <ahyp:hlinkClr xmlns:ahyp="http://schemas.microsoft.com/office/drawing/2018/hyperlinkcolor" val="tx"/>
                    </a:ext>
                  </a:extLst>
                </a:hlinkClick>
              </a:rPr>
              <a:t>https://meteor.nucl.kyushu-u.ac.jp/phitsforum/</a:t>
            </a:r>
            <a:endParaRPr kumimoji="1" lang="en-US" altLang="ja-JP" dirty="0">
              <a:solidFill>
                <a:schemeClr val="accent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C256C3A-8048-44D2-9E0F-D641BB22308F}"/>
              </a:ext>
            </a:extLst>
          </p:cNvPr>
          <p:cNvSpPr>
            <a:spLocks noGrp="1" noChangeArrowheads="1"/>
          </p:cNvSpPr>
          <p:nvPr>
            <p:ph type="title"/>
          </p:nvPr>
        </p:nvSpPr>
        <p:spPr>
          <a:xfrm>
            <a:off x="1857375" y="155575"/>
            <a:ext cx="5675313" cy="896938"/>
          </a:xfrm>
        </p:spPr>
        <p:txBody>
          <a:bodyPr/>
          <a:lstStyle/>
          <a:p>
            <a:pPr eaLnBrk="1" hangingPunct="1"/>
            <a:r>
              <a:rPr lang="ja-JP" altLang="en-US" sz="4000" dirty="0">
                <a:latin typeface="Century Gothic" panose="020B0502020202020204" pitchFamily="34" charset="0"/>
              </a:rPr>
              <a:t>最後に</a:t>
            </a:r>
          </a:p>
        </p:txBody>
      </p:sp>
      <p:sp>
        <p:nvSpPr>
          <p:cNvPr id="56327" name="Rectangle 8">
            <a:extLst>
              <a:ext uri="{FF2B5EF4-FFF2-40B4-BE49-F238E27FC236}">
                <a16:creationId xmlns:a16="http://schemas.microsoft.com/office/drawing/2014/main" id="{B34FBD21-6806-428D-A82B-0CB204D14F2D}"/>
              </a:ext>
            </a:extLst>
          </p:cNvPr>
          <p:cNvSpPr txBox="1">
            <a:spLocks noChangeArrowheads="1"/>
          </p:cNvSpPr>
          <p:nvPr/>
        </p:nvSpPr>
        <p:spPr bwMode="auto">
          <a:xfrm>
            <a:off x="426082" y="1055372"/>
            <a:ext cx="853789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buFontTx/>
              <a:buNone/>
            </a:pPr>
            <a:r>
              <a:rPr lang="ja-JP" altLang="en-US" sz="2400" dirty="0">
                <a:solidFill>
                  <a:srgbClr val="000000"/>
                </a:solidFill>
                <a:latin typeface="Century" panose="02040604050505020304" pitchFamily="18" charset="0"/>
              </a:rPr>
              <a:t>実験と違って計算はいつでもできるので後回しにしがちです。</a:t>
            </a:r>
            <a:endParaRPr lang="en-US" altLang="ja-JP" sz="2400" dirty="0">
              <a:solidFill>
                <a:srgbClr val="000000"/>
              </a:solidFill>
              <a:latin typeface="Century" panose="02040604050505020304" pitchFamily="18" charset="0"/>
            </a:endParaRPr>
          </a:p>
          <a:p>
            <a:pPr eaLnBrk="1" hangingPunct="1">
              <a:buFontTx/>
              <a:buNone/>
            </a:pPr>
            <a:endParaRPr lang="en-US" altLang="ja-JP" sz="2400" dirty="0">
              <a:solidFill>
                <a:srgbClr val="000000"/>
              </a:solidFill>
              <a:latin typeface="Century" panose="02040604050505020304" pitchFamily="18" charset="0"/>
            </a:endParaRPr>
          </a:p>
          <a:p>
            <a:pPr eaLnBrk="1" hangingPunct="1">
              <a:buFontTx/>
              <a:buNone/>
            </a:pPr>
            <a:r>
              <a:rPr lang="ja-JP" altLang="en-US" sz="2400" dirty="0">
                <a:solidFill>
                  <a:srgbClr val="000000"/>
                </a:solidFill>
                <a:latin typeface="Century" panose="02040604050505020304" pitchFamily="18" charset="0"/>
              </a:rPr>
              <a:t>しかし、計算コードの利用を一度やめると使い方を思い出すのに苦労するので、計算を開始するハードルが上がります。</a:t>
            </a:r>
            <a:endParaRPr lang="en-US" altLang="ja-JP" sz="2400" dirty="0">
              <a:solidFill>
                <a:srgbClr val="000000"/>
              </a:solidFill>
              <a:latin typeface="Century" panose="02040604050505020304" pitchFamily="18" charset="0"/>
            </a:endParaRPr>
          </a:p>
          <a:p>
            <a:pPr eaLnBrk="1" hangingPunct="1">
              <a:buFontTx/>
              <a:buNone/>
            </a:pPr>
            <a:endParaRPr lang="en-US" altLang="ja-JP" sz="2400" dirty="0">
              <a:solidFill>
                <a:srgbClr val="000000"/>
              </a:solidFill>
              <a:latin typeface="Century" panose="02040604050505020304" pitchFamily="18" charset="0"/>
            </a:endParaRPr>
          </a:p>
          <a:p>
            <a:pPr eaLnBrk="1" hangingPunct="1">
              <a:buFontTx/>
              <a:buNone/>
            </a:pPr>
            <a:r>
              <a:rPr lang="ja-JP" altLang="en-US" sz="2400" dirty="0">
                <a:solidFill>
                  <a:srgbClr val="000000"/>
                </a:solidFill>
                <a:latin typeface="Century" panose="02040604050505020304" pitchFamily="18" charset="0"/>
              </a:rPr>
              <a:t>したがって、</a:t>
            </a:r>
            <a:r>
              <a:rPr lang="ja-JP" altLang="en-US" sz="2400" dirty="0">
                <a:solidFill>
                  <a:srgbClr val="FF0000"/>
                </a:solidFill>
                <a:latin typeface="Century" panose="02040604050505020304" pitchFamily="18" charset="0"/>
              </a:rPr>
              <a:t>できれば１週間以内に</a:t>
            </a:r>
            <a:r>
              <a:rPr lang="en-US" altLang="ja-JP" sz="2400" dirty="0">
                <a:solidFill>
                  <a:srgbClr val="FF0000"/>
                </a:solidFill>
                <a:latin typeface="Century" panose="02040604050505020304" pitchFamily="18" charset="0"/>
              </a:rPr>
              <a:t>PHITS</a:t>
            </a:r>
            <a:r>
              <a:rPr lang="ja-JP" altLang="en-US" sz="2400" dirty="0">
                <a:solidFill>
                  <a:srgbClr val="FF0000"/>
                </a:solidFill>
                <a:latin typeface="Century" panose="02040604050505020304" pitchFamily="18" charset="0"/>
              </a:rPr>
              <a:t>を使った計算を何か行ってください</a:t>
            </a:r>
            <a:r>
              <a:rPr lang="ja-JP" altLang="en-US" sz="2400" dirty="0">
                <a:latin typeface="Century" panose="02040604050505020304" pitchFamily="18" charset="0"/>
              </a:rPr>
              <a:t>。さもなければ、今回の講習会で習得した知識が</a:t>
            </a:r>
            <a:r>
              <a:rPr lang="ja-JP" altLang="en-US" sz="2400" dirty="0">
                <a:solidFill>
                  <a:srgbClr val="000000"/>
                </a:solidFill>
                <a:latin typeface="Century" panose="02040604050505020304" pitchFamily="18" charset="0"/>
              </a:rPr>
              <a:t>忘却の彼方に消えてしまう確率が極めて高くなるでしょう。</a:t>
            </a:r>
            <a:endParaRPr lang="en-US" altLang="ja-JP" sz="2400" dirty="0">
              <a:solidFill>
                <a:srgbClr val="000000"/>
              </a:solidFill>
              <a:latin typeface="Century" panose="02040604050505020304" pitchFamily="18" charset="0"/>
            </a:endParaRPr>
          </a:p>
          <a:p>
            <a:pPr eaLnBrk="1" hangingPunct="1">
              <a:buFontTx/>
              <a:buNone/>
            </a:pPr>
            <a:endParaRPr lang="en-US" altLang="ja-JP" sz="2400" dirty="0">
              <a:solidFill>
                <a:srgbClr val="000000"/>
              </a:solidFill>
              <a:latin typeface="Century" panose="02040604050505020304" pitchFamily="18" charset="0"/>
            </a:endParaRPr>
          </a:p>
          <a:p>
            <a:pPr eaLnBrk="1" hangingPunct="1">
              <a:buFontTx/>
              <a:buNone/>
            </a:pPr>
            <a:r>
              <a:rPr lang="ja-JP" altLang="en-US" sz="2400" dirty="0">
                <a:solidFill>
                  <a:srgbClr val="000000"/>
                </a:solidFill>
                <a:latin typeface="Century" panose="02040604050505020304" pitchFamily="18" charset="0"/>
              </a:rPr>
              <a:t>みなさんの研究や仕事に</a:t>
            </a:r>
            <a:r>
              <a:rPr lang="en-US" altLang="ja-JP" sz="2400" dirty="0">
                <a:solidFill>
                  <a:srgbClr val="000000"/>
                </a:solidFill>
                <a:latin typeface="Century" panose="02040604050505020304" pitchFamily="18" charset="0"/>
              </a:rPr>
              <a:t>PHITS</a:t>
            </a:r>
            <a:r>
              <a:rPr lang="ja-JP" altLang="en-US" sz="2400" dirty="0">
                <a:solidFill>
                  <a:srgbClr val="000000"/>
                </a:solidFill>
                <a:latin typeface="Century" panose="02040604050505020304" pitchFamily="18" charset="0"/>
              </a:rPr>
              <a:t>が役立つことを期待しております。</a:t>
            </a:r>
            <a:endParaRPr lang="en-US" altLang="ja-JP" sz="2400" dirty="0">
              <a:solidFill>
                <a:srgbClr val="000000"/>
              </a:solidFill>
              <a:latin typeface="Century" panose="02040604050505020304" pitchFamily="18" charset="0"/>
            </a:endParaRPr>
          </a:p>
        </p:txBody>
      </p:sp>
      <p:sp>
        <p:nvSpPr>
          <p:cNvPr id="2" name="テキスト ボックス 1">
            <a:extLst>
              <a:ext uri="{FF2B5EF4-FFF2-40B4-BE49-F238E27FC236}">
                <a16:creationId xmlns:a16="http://schemas.microsoft.com/office/drawing/2014/main" id="{64252887-75BF-105B-48BC-E098DBC0C66D}"/>
              </a:ext>
            </a:extLst>
          </p:cNvPr>
          <p:cNvSpPr txBox="1"/>
          <p:nvPr/>
        </p:nvSpPr>
        <p:spPr>
          <a:xfrm>
            <a:off x="3347864" y="5571795"/>
            <a:ext cx="3150221" cy="461665"/>
          </a:xfrm>
          <a:prstGeom prst="rect">
            <a:avLst/>
          </a:prstGeom>
          <a:noFill/>
        </p:spPr>
        <p:txBody>
          <a:bodyPr wrap="none" rtlCol="0">
            <a:spAutoFit/>
          </a:bodyPr>
          <a:lstStyle/>
          <a:p>
            <a:r>
              <a:rPr kumimoji="1" lang="en-US" altLang="ja-JP" dirty="0"/>
              <a:t>PHITS</a:t>
            </a:r>
            <a:r>
              <a:rPr kumimoji="1" lang="ja-JP" altLang="en-US" dirty="0"/>
              <a:t>開発チーム一同</a:t>
            </a:r>
          </a:p>
        </p:txBody>
      </p:sp>
      <p:sp>
        <p:nvSpPr>
          <p:cNvPr id="3" name="Text Box 5">
            <a:extLst>
              <a:ext uri="{FF2B5EF4-FFF2-40B4-BE49-F238E27FC236}">
                <a16:creationId xmlns:a16="http://schemas.microsoft.com/office/drawing/2014/main" id="{ACA6C2A6-4CD8-58CD-FDB3-1A13D5E300B3}"/>
              </a:ext>
            </a:extLst>
          </p:cNvPr>
          <p:cNvSpPr txBox="1">
            <a:spLocks noChangeArrowheads="1"/>
          </p:cNvSpPr>
          <p:nvPr/>
        </p:nvSpPr>
        <p:spPr bwMode="auto">
          <a:xfrm>
            <a:off x="1477020" y="6400800"/>
            <a:ext cx="61193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ja-JP" altLang="en-US" sz="2400" dirty="0">
                <a:solidFill>
                  <a:srgbClr val="000000"/>
                </a:solidFill>
                <a:latin typeface="Tahoma" panose="020B0604030504040204" pitchFamily="34" charset="0"/>
              </a:rPr>
              <a:t>（講習会アンケートの回答もお願いします。）</a:t>
            </a:r>
            <a:endParaRPr lang="en-US" altLang="ja-JP" sz="2400" dirty="0">
              <a:solidFill>
                <a:srgbClr val="000000"/>
              </a:solidFill>
              <a:latin typeface="Tahoma" panose="020B0604030504040204" pitchFamily="34" charset="0"/>
            </a:endParaRPr>
          </a:p>
        </p:txBody>
      </p:sp>
    </p:spTree>
    <p:extLst>
      <p:ext uri="{BB962C8B-B14F-4D97-AF65-F5344CB8AC3E}">
        <p14:creationId xmlns:p14="http://schemas.microsoft.com/office/powerpoint/2010/main" val="1602539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Text Box 7">
            <a:extLst>
              <a:ext uri="{FF2B5EF4-FFF2-40B4-BE49-F238E27FC236}">
                <a16:creationId xmlns:a16="http://schemas.microsoft.com/office/drawing/2014/main" id="{5AB8B299-D49E-420F-B753-87454D8B415D}"/>
              </a:ext>
            </a:extLst>
          </p:cNvPr>
          <p:cNvSpPr txBox="1">
            <a:spLocks noChangeArrowheads="1"/>
          </p:cNvSpPr>
          <p:nvPr/>
        </p:nvSpPr>
        <p:spPr bwMode="auto">
          <a:xfrm>
            <a:off x="3276600" y="6400800"/>
            <a:ext cx="280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50000"/>
              </a:spcBef>
              <a:buFontTx/>
              <a:buNone/>
            </a:pPr>
            <a:r>
              <a:rPr lang="en-US" altLang="ja-JP" sz="2400">
                <a:solidFill>
                  <a:srgbClr val="000000"/>
                </a:solidFill>
                <a:latin typeface="Tahoma" panose="020B0604030504040204" pitchFamily="34" charset="0"/>
              </a:rPr>
              <a:t>Table of contents</a:t>
            </a:r>
          </a:p>
        </p:txBody>
      </p:sp>
      <p:sp>
        <p:nvSpPr>
          <p:cNvPr id="33800" name="Rectangle 2">
            <a:extLst>
              <a:ext uri="{FF2B5EF4-FFF2-40B4-BE49-F238E27FC236}">
                <a16:creationId xmlns:a16="http://schemas.microsoft.com/office/drawing/2014/main" id="{F551527C-00DD-4AB4-8B42-8E93F66C30DD}"/>
              </a:ext>
            </a:extLst>
          </p:cNvPr>
          <p:cNvSpPr txBox="1">
            <a:spLocks noChangeArrowheads="1"/>
          </p:cNvSpPr>
          <p:nvPr/>
        </p:nvSpPr>
        <p:spPr bwMode="auto">
          <a:xfrm>
            <a:off x="987425" y="188913"/>
            <a:ext cx="68976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ja-JP" altLang="en-US" sz="4800" dirty="0">
                <a:solidFill>
                  <a:srgbClr val="000000"/>
                </a:solidFill>
                <a:latin typeface="ＭＳ Ｐゴシック" panose="020B0600070205080204" pitchFamily="50" charset="-128"/>
              </a:rPr>
              <a:t>目次</a:t>
            </a:r>
            <a:endParaRPr lang="en-US" altLang="ja-JP" sz="4800" dirty="0">
              <a:solidFill>
                <a:srgbClr val="000000"/>
              </a:solidFill>
              <a:latin typeface="ＭＳ Ｐゴシック" panose="020B0600070205080204" pitchFamily="50" charset="-128"/>
            </a:endParaRPr>
          </a:p>
        </p:txBody>
      </p:sp>
      <p:sp>
        <p:nvSpPr>
          <p:cNvPr id="2" name="Rectangle 8">
            <a:extLst>
              <a:ext uri="{FF2B5EF4-FFF2-40B4-BE49-F238E27FC236}">
                <a16:creationId xmlns:a16="http://schemas.microsoft.com/office/drawing/2014/main" id="{21656D3D-73B2-D11F-205B-0F5E7FC3F31F}"/>
              </a:ext>
            </a:extLst>
          </p:cNvPr>
          <p:cNvSpPr txBox="1">
            <a:spLocks noChangeArrowheads="1"/>
          </p:cNvSpPr>
          <p:nvPr/>
        </p:nvSpPr>
        <p:spPr bwMode="auto">
          <a:xfrm>
            <a:off x="755576" y="1628800"/>
            <a:ext cx="7835624" cy="3168352"/>
          </a:xfrm>
          <a:prstGeom prst="rect">
            <a:avLst/>
          </a:prstGeom>
          <a:noFill/>
          <a:ln>
            <a:noFill/>
          </a:ln>
        </p:spPr>
        <p:txBody>
          <a:bodyPr/>
          <a:lstStyle>
            <a:lvl1pPr>
              <a:spcBef>
                <a:spcPct val="20000"/>
              </a:spcBef>
              <a:buChar char="•"/>
              <a:defRPr kumimoji="1" sz="3200">
                <a:solidFill>
                  <a:schemeClr val="tx1"/>
                </a:solidFill>
                <a:latin typeface="Times New Roman" pitchFamily="18" charset="0"/>
                <a:ea typeface="ＭＳ Ｐゴシック" charset="-128"/>
              </a:defRPr>
            </a:lvl1pPr>
            <a:lvl2pPr marL="742950" indent="-285750">
              <a:spcBef>
                <a:spcPct val="20000"/>
              </a:spcBef>
              <a:buChar char="–"/>
              <a:defRPr kumimoji="1" sz="2800">
                <a:solidFill>
                  <a:schemeClr val="tx1"/>
                </a:solidFill>
                <a:latin typeface="Times New Roman" pitchFamily="18" charset="0"/>
                <a:ea typeface="ＭＳ Ｐゴシック" charset="-128"/>
              </a:defRPr>
            </a:lvl2pPr>
            <a:lvl3pPr marL="1143000" indent="-228600">
              <a:spcBef>
                <a:spcPct val="20000"/>
              </a:spcBef>
              <a:buChar char="•"/>
              <a:defRPr kumimoji="1" sz="2400">
                <a:solidFill>
                  <a:schemeClr val="tx1"/>
                </a:solidFill>
                <a:latin typeface="Times New Roman" pitchFamily="18" charset="0"/>
                <a:ea typeface="ＭＳ Ｐゴシック" charset="-128"/>
              </a:defRPr>
            </a:lvl3pPr>
            <a:lvl4pPr marL="1600200" indent="-228600">
              <a:spcBef>
                <a:spcPct val="20000"/>
              </a:spcBef>
              <a:buChar char="–"/>
              <a:defRPr kumimoji="1" sz="2000">
                <a:solidFill>
                  <a:schemeClr val="tx1"/>
                </a:solidFill>
                <a:latin typeface="Times New Roman" pitchFamily="18" charset="0"/>
                <a:ea typeface="ＭＳ Ｐゴシック" charset="-128"/>
              </a:defRPr>
            </a:lvl4pPr>
            <a:lvl5pPr marL="2057400" indent="-228600">
              <a:spcBef>
                <a:spcPct val="20000"/>
              </a:spcBef>
              <a:buChar char="»"/>
              <a:defRPr kumimoji="1" sz="2000">
                <a:solidFill>
                  <a:schemeClr val="tx1"/>
                </a:solidFill>
                <a:latin typeface="Times New Roman" pitchFamily="18" charset="0"/>
                <a:ea typeface="ＭＳ Ｐゴシック"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charset="-128"/>
              </a:defRPr>
            </a:lvl9pPr>
          </a:lstStyle>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講習会の事前準備</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講習会での注意事項</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latin typeface="Century" pitchFamily="18" charset="0"/>
              </a:rPr>
              <a:t>講習会終了時の説明</a:t>
            </a:r>
            <a:endParaRPr lang="en-US" altLang="ja-JP" dirty="0">
              <a:latin typeface="Century" pitchFamily="18" charset="0"/>
            </a:endParaRPr>
          </a:p>
          <a:p>
            <a:pPr marL="342900" indent="-342900" eaLnBrk="1" hangingPunct="1">
              <a:spcBef>
                <a:spcPts val="2400"/>
              </a:spcBef>
              <a:buFont typeface="Wingdings" panose="05000000000000000000" pitchFamily="2" charset="2"/>
              <a:buChar char="ü"/>
              <a:defRPr/>
            </a:pPr>
            <a:r>
              <a:rPr lang="ja-JP" altLang="en-US" dirty="0">
                <a:solidFill>
                  <a:srgbClr val="FF0000"/>
                </a:solidFill>
                <a:latin typeface="Century" pitchFamily="18" charset="0"/>
              </a:rPr>
              <a:t>講習会に参加できない方への追加情報</a:t>
            </a:r>
            <a:endParaRPr lang="en-US" altLang="ja-JP" dirty="0">
              <a:solidFill>
                <a:srgbClr val="FF0000"/>
              </a:solidFill>
              <a:latin typeface="Century" pitchFamily="18" charset="0"/>
            </a:endParaRPr>
          </a:p>
        </p:txBody>
      </p:sp>
      <p:sp>
        <p:nvSpPr>
          <p:cNvPr id="3" name="テキスト ボックス 2">
            <a:extLst>
              <a:ext uri="{FF2B5EF4-FFF2-40B4-BE49-F238E27FC236}">
                <a16:creationId xmlns:a16="http://schemas.microsoft.com/office/drawing/2014/main" id="{B0777CAE-2BBB-A91E-2E7C-D77E81EA7EB2}"/>
              </a:ext>
            </a:extLst>
          </p:cNvPr>
          <p:cNvSpPr txBox="1"/>
          <p:nvPr/>
        </p:nvSpPr>
        <p:spPr>
          <a:xfrm>
            <a:off x="467544" y="5064058"/>
            <a:ext cx="8408071" cy="830997"/>
          </a:xfrm>
          <a:prstGeom prst="rect">
            <a:avLst/>
          </a:prstGeom>
          <a:noFill/>
        </p:spPr>
        <p:txBody>
          <a:bodyPr wrap="none" rtlCol="0">
            <a:spAutoFit/>
          </a:bodyPr>
          <a:lstStyle/>
          <a:p>
            <a:r>
              <a:rPr kumimoji="1" lang="ja-JP" altLang="en-US" dirty="0"/>
              <a:t>本資料は、講習会に参加される方を前提に作成しています。</a:t>
            </a:r>
            <a:endParaRPr kumimoji="1" lang="en-US" altLang="ja-JP" dirty="0"/>
          </a:p>
          <a:p>
            <a:r>
              <a:rPr lang="ja-JP" altLang="en-US" dirty="0"/>
              <a:t>講習会に参加されない方は、最後の項目にも目を通してください</a:t>
            </a:r>
            <a:endParaRPr kumimoji="1" lang="ja-JP" altLang="en-US" dirty="0"/>
          </a:p>
        </p:txBody>
      </p:sp>
    </p:spTree>
    <p:extLst>
      <p:ext uri="{BB962C8B-B14F-4D97-AF65-F5344CB8AC3E}">
        <p14:creationId xmlns:p14="http://schemas.microsoft.com/office/powerpoint/2010/main" val="93655517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7" name="Rectangle 8">
            <a:extLst>
              <a:ext uri="{FF2B5EF4-FFF2-40B4-BE49-F238E27FC236}">
                <a16:creationId xmlns:a16="http://schemas.microsoft.com/office/drawing/2014/main" id="{B34FBD21-6806-428D-A82B-0CB204D14F2D}"/>
              </a:ext>
            </a:extLst>
          </p:cNvPr>
          <p:cNvSpPr txBox="1">
            <a:spLocks noChangeArrowheads="1"/>
          </p:cNvSpPr>
          <p:nvPr/>
        </p:nvSpPr>
        <p:spPr bwMode="auto">
          <a:xfrm>
            <a:off x="251520" y="916605"/>
            <a:ext cx="8784976" cy="445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342900" indent="-342900" eaLnBrk="1" hangingPunct="1">
              <a:buFont typeface="Wingdings" panose="05000000000000000000" pitchFamily="2" charset="2"/>
              <a:buChar char="ü"/>
            </a:pPr>
            <a:r>
              <a:rPr lang="ja-JP" altLang="en-US" sz="2000" dirty="0">
                <a:solidFill>
                  <a:srgbClr val="000000"/>
                </a:solidFill>
                <a:latin typeface="Century" panose="02040604050505020304" pitchFamily="18" charset="0"/>
              </a:rPr>
              <a:t>初級講習会では、</a:t>
            </a:r>
            <a:r>
              <a:rPr lang="en-US" altLang="ja-JP" sz="2000" dirty="0" err="1">
                <a:solidFill>
                  <a:srgbClr val="000000"/>
                </a:solidFill>
                <a:latin typeface="Century" panose="02040604050505020304" pitchFamily="18" charset="0"/>
              </a:rPr>
              <a:t>phits</a:t>
            </a:r>
            <a:r>
              <a:rPr lang="en-US" altLang="ja-JP" sz="2000" dirty="0">
                <a:solidFill>
                  <a:srgbClr val="000000"/>
                </a:solidFill>
                <a:latin typeface="Century" panose="02040604050505020304" pitchFamily="18" charset="0"/>
              </a:rPr>
              <a:t>/lecture</a:t>
            </a:r>
            <a:r>
              <a:rPr lang="ja-JP" altLang="en-US" sz="2000" dirty="0">
                <a:solidFill>
                  <a:srgbClr val="000000"/>
                </a:solidFill>
                <a:latin typeface="Century" panose="02040604050505020304" pitchFamily="18" charset="0"/>
              </a:rPr>
              <a:t>フォルダにある</a:t>
            </a:r>
            <a:r>
              <a:rPr lang="en-US" altLang="ja-JP" sz="2000" dirty="0">
                <a:solidFill>
                  <a:srgbClr val="FF0000"/>
                </a:solidFill>
                <a:latin typeface="Century" panose="02040604050505020304" pitchFamily="18" charset="0"/>
              </a:rPr>
              <a:t>basic/lec01</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basic/lec02</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basic/lec03</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exercise/range</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exercise/snowman</a:t>
            </a:r>
            <a:r>
              <a:rPr lang="ja-JP" altLang="en-US" sz="2000" dirty="0">
                <a:solidFill>
                  <a:srgbClr val="000000"/>
                </a:solidFill>
                <a:latin typeface="Century" panose="02040604050505020304" pitchFamily="18" charset="0"/>
              </a:rPr>
              <a:t>を実施しますので、まずは、これらの順に従って</a:t>
            </a:r>
            <a:r>
              <a:rPr lang="en-US" altLang="ja-JP" sz="2000" dirty="0">
                <a:solidFill>
                  <a:srgbClr val="000000"/>
                </a:solidFill>
                <a:latin typeface="Century" panose="02040604050505020304" pitchFamily="18" charset="0"/>
              </a:rPr>
              <a:t>YouTube</a:t>
            </a:r>
            <a:r>
              <a:rPr lang="ja-JP" altLang="en-US" sz="2000" dirty="0">
                <a:solidFill>
                  <a:srgbClr val="000000"/>
                </a:solidFill>
                <a:latin typeface="Century" panose="02040604050505020304" pitchFamily="18" charset="0"/>
              </a:rPr>
              <a:t>講習会読み上げ動画などを見ながら自習してください。ただし、</a:t>
            </a:r>
            <a:r>
              <a:rPr lang="en-US" altLang="ja-JP" sz="2000" dirty="0">
                <a:solidFill>
                  <a:srgbClr val="000000"/>
                </a:solidFill>
                <a:latin typeface="Century" panose="02040604050505020304" pitchFamily="18" charset="0"/>
              </a:rPr>
              <a:t>YouTube</a:t>
            </a:r>
            <a:r>
              <a:rPr lang="ja-JP" altLang="en-US" sz="2000" dirty="0">
                <a:solidFill>
                  <a:srgbClr val="000000"/>
                </a:solidFill>
                <a:latin typeface="Century" panose="02040604050505020304" pitchFamily="18" charset="0"/>
              </a:rPr>
              <a:t>動画は古い</a:t>
            </a:r>
            <a:r>
              <a:rPr lang="en-US" altLang="ja-JP" sz="2000" dirty="0">
                <a:solidFill>
                  <a:srgbClr val="000000"/>
                </a:solidFill>
                <a:latin typeface="Century" panose="02040604050505020304" pitchFamily="18" charset="0"/>
              </a:rPr>
              <a:t>version</a:t>
            </a:r>
            <a:r>
              <a:rPr lang="ja-JP" altLang="en-US" sz="2000" dirty="0">
                <a:solidFill>
                  <a:srgbClr val="000000"/>
                </a:solidFill>
                <a:latin typeface="Century" panose="02040604050505020304" pitchFamily="18" charset="0"/>
              </a:rPr>
              <a:t>ですので、最新版と比べて多少内容が異なることにご注意ください。</a:t>
            </a:r>
            <a:endParaRPr lang="en-US" altLang="ja-JP" sz="2000" dirty="0">
              <a:solidFill>
                <a:srgbClr val="000000"/>
              </a:solidFill>
              <a:latin typeface="Century" panose="02040604050505020304" pitchFamily="18" charset="0"/>
            </a:endParaRPr>
          </a:p>
          <a:p>
            <a:pPr marL="342900" indent="-342900" eaLnBrk="1" hangingPunct="1">
              <a:buFont typeface="Wingdings" panose="05000000000000000000" pitchFamily="2" charset="2"/>
              <a:buChar char="ü"/>
            </a:pPr>
            <a:endParaRPr lang="en-US" altLang="ja-JP" sz="2000" dirty="0">
              <a:solidFill>
                <a:srgbClr val="000000"/>
              </a:solidFill>
              <a:latin typeface="Century" panose="02040604050505020304" pitchFamily="18" charset="0"/>
            </a:endParaRPr>
          </a:p>
          <a:p>
            <a:pPr marL="342900" indent="-342900" eaLnBrk="1" hangingPunct="1">
              <a:buFont typeface="Wingdings" panose="05000000000000000000" pitchFamily="2" charset="2"/>
              <a:buChar char="ü"/>
            </a:pPr>
            <a:r>
              <a:rPr lang="ja-JP" altLang="en-US" sz="2000" dirty="0">
                <a:solidFill>
                  <a:srgbClr val="000000"/>
                </a:solidFill>
                <a:latin typeface="Century" panose="02040604050505020304" pitchFamily="18" charset="0"/>
              </a:rPr>
              <a:t>中級講習会では、主に</a:t>
            </a:r>
            <a:r>
              <a:rPr lang="en-US" altLang="ja-JP" sz="2000" dirty="0" err="1">
                <a:solidFill>
                  <a:srgbClr val="000000"/>
                </a:solidFill>
                <a:latin typeface="Century" panose="02040604050505020304" pitchFamily="18" charset="0"/>
              </a:rPr>
              <a:t>phits</a:t>
            </a:r>
            <a:r>
              <a:rPr lang="en-US" altLang="ja-JP" sz="2000" dirty="0">
                <a:solidFill>
                  <a:srgbClr val="000000"/>
                </a:solidFill>
                <a:latin typeface="Century" panose="02040604050505020304" pitchFamily="18" charset="0"/>
              </a:rPr>
              <a:t>/lecture/advanced</a:t>
            </a:r>
            <a:r>
              <a:rPr lang="ja-JP" altLang="en-US" sz="2000" dirty="0">
                <a:solidFill>
                  <a:srgbClr val="000000"/>
                </a:solidFill>
                <a:latin typeface="Century" panose="02040604050505020304" pitchFamily="18" charset="0"/>
              </a:rPr>
              <a:t>フォルダにある</a:t>
            </a:r>
            <a:r>
              <a:rPr lang="en-US" altLang="ja-JP" sz="2000" dirty="0" err="1">
                <a:solidFill>
                  <a:srgbClr val="FF0000"/>
                </a:solidFill>
                <a:latin typeface="Century" panose="02040604050505020304" pitchFamily="18" charset="0"/>
              </a:rPr>
              <a:t>sourceA</a:t>
            </a:r>
            <a:r>
              <a:rPr lang="ja-JP" altLang="en-US" sz="2000" dirty="0">
                <a:solidFill>
                  <a:srgbClr val="000000"/>
                </a:solidFill>
                <a:latin typeface="Century" panose="02040604050505020304" pitchFamily="18" charset="0"/>
              </a:rPr>
              <a:t>（複雑な線源設定）</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variance-reduction</a:t>
            </a:r>
            <a:r>
              <a:rPr lang="ja-JP" altLang="en-US" sz="2000" dirty="0">
                <a:solidFill>
                  <a:srgbClr val="000000"/>
                </a:solidFill>
                <a:latin typeface="Century" panose="02040604050505020304" pitchFamily="18" charset="0"/>
              </a:rPr>
              <a:t>（分散低減法）</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options</a:t>
            </a:r>
            <a:r>
              <a:rPr lang="ja-JP" altLang="en-US" sz="2000" dirty="0">
                <a:solidFill>
                  <a:srgbClr val="000000"/>
                </a:solidFill>
                <a:latin typeface="Century" panose="02040604050505020304" pitchFamily="18" charset="0"/>
              </a:rPr>
              <a:t>（便利な機能）</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autorun</a:t>
            </a:r>
            <a:r>
              <a:rPr lang="ja-JP" altLang="en-US" sz="2000" dirty="0">
                <a:solidFill>
                  <a:srgbClr val="000000"/>
                </a:solidFill>
                <a:latin typeface="Century" panose="02040604050505020304" pitchFamily="18" charset="0"/>
              </a:rPr>
              <a:t>（</a:t>
            </a:r>
            <a:r>
              <a:rPr lang="en-US" altLang="ja-JP" sz="2000" dirty="0">
                <a:solidFill>
                  <a:srgbClr val="000000"/>
                </a:solidFill>
                <a:latin typeface="Century" panose="02040604050505020304" pitchFamily="18" charset="0"/>
              </a:rPr>
              <a:t>PHITS</a:t>
            </a:r>
            <a:r>
              <a:rPr lang="ja-JP" altLang="en-US" sz="2000" dirty="0">
                <a:solidFill>
                  <a:srgbClr val="000000"/>
                </a:solidFill>
                <a:latin typeface="Century" panose="02040604050505020304" pitchFamily="18" charset="0"/>
              </a:rPr>
              <a:t>の連続実行）を実施します。また、目的別講習会として同フォルダにある</a:t>
            </a:r>
            <a:r>
              <a:rPr lang="en-US" altLang="ja-JP" sz="2000" dirty="0" err="1">
                <a:solidFill>
                  <a:srgbClr val="FF0000"/>
                </a:solidFill>
                <a:latin typeface="Century" panose="02040604050505020304" pitchFamily="18" charset="0"/>
              </a:rPr>
              <a:t>cosmicray</a:t>
            </a:r>
            <a:r>
              <a:rPr lang="ja-JP" altLang="en-US" sz="2000" dirty="0">
                <a:solidFill>
                  <a:srgbClr val="000000"/>
                </a:solidFill>
                <a:latin typeface="Century" panose="02040604050505020304" pitchFamily="18" charset="0"/>
              </a:rPr>
              <a:t>（宇宙線計算）</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DCHAIN1</a:t>
            </a:r>
            <a:r>
              <a:rPr lang="ja-JP" altLang="en-US" sz="2000" dirty="0">
                <a:solidFill>
                  <a:srgbClr val="000000"/>
                </a:solidFill>
                <a:latin typeface="Century" panose="02040604050505020304" pitchFamily="18" charset="0"/>
              </a:rPr>
              <a:t>（誘導放射能計算）</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detector</a:t>
            </a:r>
            <a:r>
              <a:rPr lang="ja-JP" altLang="en-US" sz="2000" dirty="0">
                <a:solidFill>
                  <a:srgbClr val="000000"/>
                </a:solidFill>
                <a:latin typeface="Century" panose="02040604050505020304" pitchFamily="18" charset="0"/>
              </a:rPr>
              <a:t>（検出器応答関数計算）</a:t>
            </a:r>
            <a:r>
              <a:rPr lang="en-US" altLang="ja-JP" sz="2000" dirty="0">
                <a:solidFill>
                  <a:srgbClr val="000000"/>
                </a:solidFill>
                <a:latin typeface="Century" panose="02040604050505020304" pitchFamily="18" charset="0"/>
              </a:rPr>
              <a:t>, </a:t>
            </a:r>
            <a:r>
              <a:rPr lang="en-US" altLang="ja-JP" sz="2000" dirty="0">
                <a:solidFill>
                  <a:srgbClr val="FF0000"/>
                </a:solidFill>
                <a:latin typeface="Century" panose="02040604050505020304" pitchFamily="18" charset="0"/>
              </a:rPr>
              <a:t>shielding</a:t>
            </a:r>
            <a:r>
              <a:rPr lang="ja-JP" altLang="en-US" sz="2000" dirty="0">
                <a:solidFill>
                  <a:srgbClr val="000000"/>
                </a:solidFill>
                <a:latin typeface="Century" panose="02040604050505020304" pitchFamily="18" charset="0"/>
              </a:rPr>
              <a:t>（遮蔽計算）</a:t>
            </a:r>
            <a:r>
              <a:rPr lang="en-US" altLang="ja-JP" sz="2000" dirty="0">
                <a:solidFill>
                  <a:srgbClr val="000000"/>
                </a:solidFill>
                <a:latin typeface="Century" panose="02040604050505020304" pitchFamily="18" charset="0"/>
              </a:rPr>
              <a:t>, </a:t>
            </a:r>
            <a:r>
              <a:rPr lang="ja-JP" altLang="en-US" sz="2000" dirty="0">
                <a:solidFill>
                  <a:srgbClr val="000000"/>
                </a:solidFill>
                <a:latin typeface="Century" panose="02040604050505020304" pitchFamily="18" charset="0"/>
              </a:rPr>
              <a:t>及び</a:t>
            </a:r>
            <a:r>
              <a:rPr lang="en-US" altLang="ja-JP" sz="2000" dirty="0" err="1">
                <a:solidFill>
                  <a:srgbClr val="000000"/>
                </a:solidFill>
                <a:latin typeface="Century" panose="02040604050505020304" pitchFamily="18" charset="0"/>
              </a:rPr>
              <a:t>phits</a:t>
            </a:r>
            <a:r>
              <a:rPr lang="en-US" altLang="ja-JP" sz="2000" dirty="0">
                <a:solidFill>
                  <a:srgbClr val="000000"/>
                </a:solidFill>
                <a:latin typeface="Century" panose="02040604050505020304" pitchFamily="18" charset="0"/>
              </a:rPr>
              <a:t>/lecture/therapy</a:t>
            </a:r>
            <a:r>
              <a:rPr lang="ja-JP" altLang="en-US" sz="2000" dirty="0">
                <a:solidFill>
                  <a:srgbClr val="000000"/>
                </a:solidFill>
                <a:latin typeface="Century" panose="02040604050505020304" pitchFamily="18" charset="0"/>
              </a:rPr>
              <a:t>フォルダにある</a:t>
            </a:r>
            <a:r>
              <a:rPr lang="en-US" altLang="ja-JP" sz="2000" dirty="0">
                <a:solidFill>
                  <a:srgbClr val="FF0000"/>
                </a:solidFill>
                <a:latin typeface="Century" panose="02040604050505020304" pitchFamily="18" charset="0"/>
              </a:rPr>
              <a:t>BNCT</a:t>
            </a:r>
            <a:r>
              <a:rPr lang="ja-JP" altLang="en-US" sz="2000" dirty="0">
                <a:solidFill>
                  <a:srgbClr val="000000"/>
                </a:solidFill>
                <a:latin typeface="Century" panose="02040604050505020304" pitchFamily="18" charset="0"/>
              </a:rPr>
              <a:t>（</a:t>
            </a:r>
            <a:r>
              <a:rPr lang="en-US" altLang="ja-JP" sz="2000" dirty="0">
                <a:solidFill>
                  <a:srgbClr val="000000"/>
                </a:solidFill>
                <a:latin typeface="Century" panose="02040604050505020304" pitchFamily="18" charset="0"/>
              </a:rPr>
              <a:t>BNCT</a:t>
            </a:r>
            <a:r>
              <a:rPr lang="ja-JP" altLang="en-US" sz="2000" dirty="0">
                <a:solidFill>
                  <a:srgbClr val="000000"/>
                </a:solidFill>
                <a:latin typeface="Century" panose="02040604050505020304" pitchFamily="18" charset="0"/>
              </a:rPr>
              <a:t>線量計算）</a:t>
            </a:r>
            <a:r>
              <a:rPr lang="en-US" altLang="ja-JP" sz="2000" dirty="0">
                <a:solidFill>
                  <a:srgbClr val="000000"/>
                </a:solidFill>
                <a:latin typeface="Century" panose="02040604050505020304" pitchFamily="18" charset="0"/>
              </a:rPr>
              <a:t>, </a:t>
            </a:r>
            <a:r>
              <a:rPr lang="en-US" altLang="ja-JP" sz="2000" dirty="0" err="1">
                <a:solidFill>
                  <a:srgbClr val="FF0000"/>
                </a:solidFill>
                <a:latin typeface="Century" panose="02040604050505020304" pitchFamily="18" charset="0"/>
              </a:rPr>
              <a:t>XrayTherapy</a:t>
            </a:r>
            <a:r>
              <a:rPr lang="ja-JP" altLang="en-US" sz="2000" dirty="0">
                <a:solidFill>
                  <a:srgbClr val="000000"/>
                </a:solidFill>
                <a:latin typeface="Century" panose="02040604050505020304" pitchFamily="18" charset="0"/>
              </a:rPr>
              <a:t>（</a:t>
            </a:r>
            <a:r>
              <a:rPr lang="en-US" altLang="ja-JP" sz="2000" dirty="0">
                <a:solidFill>
                  <a:srgbClr val="000000"/>
                </a:solidFill>
                <a:latin typeface="Century" panose="02040604050505020304" pitchFamily="18" charset="0"/>
              </a:rPr>
              <a:t>X</a:t>
            </a:r>
            <a:r>
              <a:rPr lang="ja-JP" altLang="en-US" sz="2000" dirty="0">
                <a:solidFill>
                  <a:srgbClr val="000000"/>
                </a:solidFill>
                <a:latin typeface="Century" panose="02040604050505020304" pitchFamily="18" charset="0"/>
              </a:rPr>
              <a:t>線治療線量計算）もよく実施しますので、これらの中からご自身の関連項目を見つけて参考にしてください。</a:t>
            </a:r>
            <a:endParaRPr lang="en-US" altLang="ja-JP" sz="2000" dirty="0">
              <a:solidFill>
                <a:srgbClr val="000000"/>
              </a:solidFill>
              <a:latin typeface="Century" panose="02040604050505020304" pitchFamily="18" charset="0"/>
            </a:endParaRPr>
          </a:p>
          <a:p>
            <a:pPr marL="342900" indent="-342900" eaLnBrk="1" hangingPunct="1">
              <a:buFont typeface="Wingdings" panose="05000000000000000000" pitchFamily="2" charset="2"/>
              <a:buChar char="ü"/>
            </a:pPr>
            <a:endParaRPr lang="en-US" altLang="ja-JP" sz="2000" dirty="0">
              <a:solidFill>
                <a:srgbClr val="000000"/>
              </a:solidFill>
              <a:latin typeface="Century" panose="02040604050505020304" pitchFamily="18" charset="0"/>
            </a:endParaRPr>
          </a:p>
        </p:txBody>
      </p:sp>
      <p:sp>
        <p:nvSpPr>
          <p:cNvPr id="2" name="Rectangle 2">
            <a:extLst>
              <a:ext uri="{FF2B5EF4-FFF2-40B4-BE49-F238E27FC236}">
                <a16:creationId xmlns:a16="http://schemas.microsoft.com/office/drawing/2014/main" id="{1271BF52-184B-4492-0218-24CDDB1F06EB}"/>
              </a:ext>
            </a:extLst>
          </p:cNvPr>
          <p:cNvSpPr>
            <a:spLocks noGrp="1" noChangeArrowheads="1"/>
          </p:cNvSpPr>
          <p:nvPr>
            <p:ph type="title"/>
          </p:nvPr>
        </p:nvSpPr>
        <p:spPr>
          <a:xfrm>
            <a:off x="1719263" y="0"/>
            <a:ext cx="5680075" cy="896938"/>
          </a:xfrm>
        </p:spPr>
        <p:txBody>
          <a:bodyPr/>
          <a:lstStyle/>
          <a:p>
            <a:pPr eaLnBrk="1" hangingPunct="1"/>
            <a:r>
              <a:rPr lang="ja-JP" altLang="en-US" sz="4000">
                <a:latin typeface="Century Gothic" panose="020B0502020202020204" pitchFamily="34" charset="0"/>
              </a:rPr>
              <a:t>奨励講習会資料</a:t>
            </a:r>
            <a:endParaRPr lang="ja-JP" altLang="en-US" sz="4000" dirty="0">
              <a:latin typeface="Century Gothic" panose="020B0502020202020204" pitchFamily="34" charset="0"/>
            </a:endParaRPr>
          </a:p>
        </p:txBody>
      </p:sp>
    </p:spTree>
    <p:extLst>
      <p:ext uri="{BB962C8B-B14F-4D97-AF65-F5344CB8AC3E}">
        <p14:creationId xmlns:p14="http://schemas.microsoft.com/office/powerpoint/2010/main" val="1271891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7" name="Rectangle 8">
            <a:extLst>
              <a:ext uri="{FF2B5EF4-FFF2-40B4-BE49-F238E27FC236}">
                <a16:creationId xmlns:a16="http://schemas.microsoft.com/office/drawing/2014/main" id="{B34FBD21-6806-428D-A82B-0CB204D14F2D}"/>
              </a:ext>
            </a:extLst>
          </p:cNvPr>
          <p:cNvSpPr txBox="1">
            <a:spLocks noChangeArrowheads="1"/>
          </p:cNvSpPr>
          <p:nvPr/>
        </p:nvSpPr>
        <p:spPr bwMode="auto">
          <a:xfrm>
            <a:off x="332437" y="1340768"/>
            <a:ext cx="8280920"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marL="342900" indent="-342900" eaLnBrk="1" hangingPunct="1">
              <a:buFont typeface="Wingdings" panose="05000000000000000000" pitchFamily="2" charset="2"/>
              <a:buChar char="ü"/>
            </a:pPr>
            <a:r>
              <a:rPr lang="en-US" altLang="ja-JP" sz="2000" dirty="0">
                <a:solidFill>
                  <a:srgbClr val="000000"/>
                </a:solidFill>
                <a:latin typeface="Century" panose="02040604050505020304" pitchFamily="18" charset="0"/>
              </a:rPr>
              <a:t>[parameters]</a:t>
            </a:r>
            <a:r>
              <a:rPr lang="ja-JP" altLang="en-US" sz="2000" dirty="0">
                <a:solidFill>
                  <a:srgbClr val="000000"/>
                </a:solidFill>
                <a:latin typeface="Century" panose="02040604050505020304" pitchFamily="18" charset="0"/>
              </a:rPr>
              <a:t>セクションを決定する上で最も重要となるのは、電子輸送（</a:t>
            </a:r>
            <a:r>
              <a:rPr lang="en-US" altLang="ja-JP" sz="2000" dirty="0">
                <a:solidFill>
                  <a:srgbClr val="000000"/>
                </a:solidFill>
                <a:latin typeface="Century" panose="02040604050505020304" pitchFamily="18" charset="0"/>
              </a:rPr>
              <a:t>EGS</a:t>
            </a:r>
            <a:r>
              <a:rPr lang="ja-JP" altLang="en-US" sz="2000" dirty="0">
                <a:solidFill>
                  <a:srgbClr val="000000"/>
                </a:solidFill>
                <a:latin typeface="Century" panose="02040604050505020304" pitchFamily="18" charset="0"/>
              </a:rPr>
              <a:t>モード）、イベントジェネレータモード、</a:t>
            </a:r>
            <a:r>
              <a:rPr lang="en-US" altLang="ja-JP" sz="2000" dirty="0">
                <a:solidFill>
                  <a:srgbClr val="000000"/>
                </a:solidFill>
                <a:latin typeface="Century" panose="02040604050505020304" pitchFamily="18" charset="0"/>
              </a:rPr>
              <a:t>JENDL-5</a:t>
            </a:r>
            <a:r>
              <a:rPr lang="ja-JP" altLang="en-US" sz="2000" dirty="0">
                <a:solidFill>
                  <a:srgbClr val="000000"/>
                </a:solidFill>
                <a:latin typeface="Century" panose="02040604050505020304" pitchFamily="18" charset="0"/>
              </a:rPr>
              <a:t>の利用の有無です。それらの利用の有無など、設定の判断に迷う場合は、</a:t>
            </a:r>
            <a:r>
              <a:rPr lang="en-US" altLang="ja-JP" sz="2000" dirty="0" err="1">
                <a:solidFill>
                  <a:srgbClr val="FF0000"/>
                </a:solidFill>
                <a:latin typeface="Century" panose="02040604050505020304" pitchFamily="18" charset="0"/>
              </a:rPr>
              <a:t>phits</a:t>
            </a:r>
            <a:r>
              <a:rPr lang="en-US" altLang="ja-JP" sz="2000" dirty="0">
                <a:solidFill>
                  <a:srgbClr val="FF0000"/>
                </a:solidFill>
                <a:latin typeface="Century" panose="02040604050505020304" pitchFamily="18" charset="0"/>
              </a:rPr>
              <a:t>/recommendation/readme-jpn.doc</a:t>
            </a:r>
            <a:r>
              <a:rPr lang="ja-JP" altLang="en-US" sz="2000" dirty="0">
                <a:solidFill>
                  <a:srgbClr val="000000"/>
                </a:solidFill>
                <a:latin typeface="Century" panose="02040604050505020304" pitchFamily="18" charset="0"/>
              </a:rPr>
              <a:t>を読み，自分の行いたい計算と近い条件の入力ファイルの</a:t>
            </a:r>
            <a:r>
              <a:rPr lang="en-US" altLang="ja-JP" sz="2000" dirty="0">
                <a:solidFill>
                  <a:srgbClr val="000000"/>
                </a:solidFill>
                <a:latin typeface="Century" panose="02040604050505020304" pitchFamily="18" charset="0"/>
              </a:rPr>
              <a:t>[parameters]</a:t>
            </a:r>
            <a:r>
              <a:rPr lang="ja-JP" altLang="en-US" sz="2000" dirty="0">
                <a:solidFill>
                  <a:srgbClr val="000000"/>
                </a:solidFill>
                <a:latin typeface="Century" panose="02040604050505020304" pitchFamily="18" charset="0"/>
              </a:rPr>
              <a:t>セクションをコピー＆ペーストしてください。</a:t>
            </a:r>
            <a:endParaRPr lang="en-US" altLang="ja-JP" sz="2000" dirty="0">
              <a:solidFill>
                <a:srgbClr val="000000"/>
              </a:solidFill>
              <a:latin typeface="Century" panose="02040604050505020304" pitchFamily="18" charset="0"/>
            </a:endParaRPr>
          </a:p>
          <a:p>
            <a:pPr marL="342900" indent="-342900" eaLnBrk="1" hangingPunct="1">
              <a:buFont typeface="Wingdings" panose="05000000000000000000" pitchFamily="2" charset="2"/>
              <a:buChar char="ü"/>
            </a:pPr>
            <a:endParaRPr lang="en-US" altLang="ja-JP" sz="2000" dirty="0">
              <a:solidFill>
                <a:srgbClr val="000000"/>
              </a:solidFill>
              <a:latin typeface="Century" panose="02040604050505020304" pitchFamily="18" charset="0"/>
            </a:endParaRPr>
          </a:p>
          <a:p>
            <a:pPr marL="342900" indent="-342900" eaLnBrk="1" hangingPunct="1">
              <a:buFont typeface="Wingdings" panose="05000000000000000000" pitchFamily="2" charset="2"/>
              <a:buChar char="ü"/>
            </a:pPr>
            <a:r>
              <a:rPr lang="ja-JP" altLang="en-US" sz="2000" dirty="0">
                <a:solidFill>
                  <a:srgbClr val="000000"/>
                </a:solidFill>
                <a:latin typeface="Century" panose="02040604050505020304" pitchFamily="18" charset="0"/>
              </a:rPr>
              <a:t>タリーは設定項目が多いので、</a:t>
            </a:r>
            <a:r>
              <a:rPr lang="en-US" altLang="ja-JP" sz="2000" dirty="0" err="1">
                <a:solidFill>
                  <a:srgbClr val="FF0000"/>
                </a:solidFill>
                <a:latin typeface="Century" panose="02040604050505020304" pitchFamily="18" charset="0"/>
              </a:rPr>
              <a:t>phits</a:t>
            </a:r>
            <a:r>
              <a:rPr lang="en-US" altLang="ja-JP" sz="2000" dirty="0">
                <a:solidFill>
                  <a:srgbClr val="FF0000"/>
                </a:solidFill>
                <a:latin typeface="Century" panose="02040604050505020304" pitchFamily="18" charset="0"/>
              </a:rPr>
              <a:t>/sample/tally</a:t>
            </a:r>
            <a:r>
              <a:rPr lang="ja-JP" altLang="en-US" sz="2000" dirty="0">
                <a:solidFill>
                  <a:srgbClr val="000000"/>
                </a:solidFill>
                <a:latin typeface="Century" panose="02040604050505020304" pitchFamily="18" charset="0"/>
              </a:rPr>
              <a:t>から必要なタリーを探してコピー＆ペーストすると便利です。</a:t>
            </a:r>
            <a:endParaRPr lang="en-US" altLang="ja-JP" sz="2000" dirty="0">
              <a:solidFill>
                <a:srgbClr val="000000"/>
              </a:solidFill>
              <a:latin typeface="Century" panose="02040604050505020304" pitchFamily="18" charset="0"/>
            </a:endParaRPr>
          </a:p>
          <a:p>
            <a:pPr marL="342900" indent="-342900" eaLnBrk="1" hangingPunct="1">
              <a:buFont typeface="Wingdings" panose="05000000000000000000" pitchFamily="2" charset="2"/>
              <a:buChar char="ü"/>
            </a:pPr>
            <a:endParaRPr lang="en-US" altLang="ja-JP" sz="2000" dirty="0">
              <a:solidFill>
                <a:srgbClr val="000000"/>
              </a:solidFill>
              <a:latin typeface="Century" panose="02040604050505020304" pitchFamily="18" charset="0"/>
            </a:endParaRPr>
          </a:p>
          <a:p>
            <a:pPr marL="342900" indent="-342900" eaLnBrk="1" hangingPunct="1">
              <a:buFont typeface="Wingdings" panose="05000000000000000000" pitchFamily="2" charset="2"/>
              <a:buChar char="ü"/>
            </a:pPr>
            <a:r>
              <a:rPr lang="ja-JP" altLang="en-US" sz="2000" dirty="0">
                <a:solidFill>
                  <a:srgbClr val="000000"/>
                </a:solidFill>
                <a:latin typeface="Century" panose="02040604050505020304" pitchFamily="18" charset="0"/>
              </a:rPr>
              <a:t>タリー以外にも複雑な線源の設定や</a:t>
            </a:r>
            <a:r>
              <a:rPr lang="en-US" altLang="ja-JP" sz="2000" dirty="0">
                <a:solidFill>
                  <a:srgbClr val="000000"/>
                </a:solidFill>
                <a:latin typeface="Century" panose="02040604050505020304" pitchFamily="18" charset="0"/>
              </a:rPr>
              <a:t>ICRP</a:t>
            </a:r>
            <a:r>
              <a:rPr lang="ja-JP" altLang="en-US" sz="2000" dirty="0">
                <a:solidFill>
                  <a:srgbClr val="000000"/>
                </a:solidFill>
                <a:latin typeface="Century" panose="02040604050505020304" pitchFamily="18" charset="0"/>
              </a:rPr>
              <a:t>ファントム（ボクセル＆メッシュタイプ）など様々なサンプルファイルがありますのでご活用ください</a:t>
            </a:r>
            <a:endParaRPr lang="en-US" altLang="ja-JP" sz="2000" dirty="0">
              <a:solidFill>
                <a:srgbClr val="000000"/>
              </a:solidFill>
              <a:latin typeface="Century" panose="02040604050505020304" pitchFamily="18" charset="0"/>
            </a:endParaRPr>
          </a:p>
        </p:txBody>
      </p:sp>
      <p:sp>
        <p:nvSpPr>
          <p:cNvPr id="2" name="Rectangle 2">
            <a:extLst>
              <a:ext uri="{FF2B5EF4-FFF2-40B4-BE49-F238E27FC236}">
                <a16:creationId xmlns:a16="http://schemas.microsoft.com/office/drawing/2014/main" id="{EB538EE7-A453-5F4B-6D8C-A201507CF757}"/>
              </a:ext>
            </a:extLst>
          </p:cNvPr>
          <p:cNvSpPr>
            <a:spLocks noGrp="1" noChangeArrowheads="1"/>
          </p:cNvSpPr>
          <p:nvPr>
            <p:ph type="title"/>
          </p:nvPr>
        </p:nvSpPr>
        <p:spPr>
          <a:xfrm>
            <a:off x="327571" y="116632"/>
            <a:ext cx="8280400" cy="792163"/>
          </a:xfrm>
        </p:spPr>
        <p:txBody>
          <a:bodyPr/>
          <a:lstStyle/>
          <a:p>
            <a:pPr eaLnBrk="1" hangingPunct="1"/>
            <a:r>
              <a:rPr lang="ja-JP" altLang="en-US" sz="4000" dirty="0">
                <a:latin typeface="Times New Roman 見出し"/>
              </a:rPr>
              <a:t>サンプルファイルの利用</a:t>
            </a:r>
          </a:p>
        </p:txBody>
      </p:sp>
    </p:spTree>
    <p:extLst>
      <p:ext uri="{BB962C8B-B14F-4D97-AF65-F5344CB8AC3E}">
        <p14:creationId xmlns:p14="http://schemas.microsoft.com/office/powerpoint/2010/main" val="4056541388"/>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38608</TotalTime>
  <Words>2227</Words>
  <Application>Microsoft Office PowerPoint</Application>
  <PresentationFormat>画面に合わせる (4:3)</PresentationFormat>
  <Paragraphs>150</Paragraphs>
  <Slides>20</Slides>
  <Notes>20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20</vt:i4>
      </vt:variant>
    </vt:vector>
  </HeadingPairs>
  <TitlesOfParts>
    <vt:vector size="29" baseType="lpstr">
      <vt:lpstr>ＭＳ Ｐゴシック</vt:lpstr>
      <vt:lpstr>Times New Roman 見出し</vt:lpstr>
      <vt:lpstr>Calibri</vt:lpstr>
      <vt:lpstr>Century</vt:lpstr>
      <vt:lpstr>Century Gothic</vt:lpstr>
      <vt:lpstr>Tahoma</vt:lpstr>
      <vt:lpstr>Times New Roman</vt:lpstr>
      <vt:lpstr>Wingdings</vt:lpstr>
      <vt:lpstr>標準デザイン</vt:lpstr>
      <vt:lpstr>PowerPoint プレゼンテーション</vt:lpstr>
      <vt:lpstr>PowerPoint プレゼンテーション</vt:lpstr>
      <vt:lpstr>PHITSのインストール</vt:lpstr>
      <vt:lpstr>PHITSの実行方法</vt:lpstr>
      <vt:lpstr>PowerPoint プレゼンテーション</vt:lpstr>
      <vt:lpstr>PHITSの実行結果の確認</vt:lpstr>
      <vt:lpstr>３次元幾何学形状可視化ソフトPHIG-3Dの動作確認</vt:lpstr>
      <vt:lpstr>YouTube動画で予習（必須ではありません）</vt:lpstr>
      <vt:lpstr>PowerPoint プレゼンテーション</vt:lpstr>
      <vt:lpstr>ノートパソコンの電源について</vt:lpstr>
      <vt:lpstr>PowerPoint プレゼンテーション</vt:lpstr>
      <vt:lpstr>PowerPoint プレゼンテーション</vt:lpstr>
      <vt:lpstr>PHITSのフォルダ構造</vt:lpstr>
      <vt:lpstr>Utilityフォルダ</vt:lpstr>
      <vt:lpstr>PHITSコードのライセンス</vt:lpstr>
      <vt:lpstr>メーリングリストへの登録</vt:lpstr>
      <vt:lpstr>最後に</vt:lpstr>
      <vt:lpstr>PowerPoint プレゼンテーション</vt:lpstr>
      <vt:lpstr>奨励講習会資料</vt:lpstr>
      <vt:lpstr>サンプルファイルの利用</vt:lpstr>
    </vt:vector>
  </TitlesOfParts>
  <Company>だいきょーど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PHITS</dc:title>
  <dc:creator>のりひろ</dc:creator>
  <cp:lastModifiedBy>Tatsuhiko Sato</cp:lastModifiedBy>
  <cp:revision>2028</cp:revision>
  <dcterms:created xsi:type="dcterms:W3CDTF">2010-07-09T05:14:57Z</dcterms:created>
  <dcterms:modified xsi:type="dcterms:W3CDTF">2025-01-07T16:07:28Z</dcterms:modified>
</cp:coreProperties>
</file>